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4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638800"/>
            <a:ext cx="106680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09600"/>
            <a:ext cx="10668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 BCA Semester V • Machine Learning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609600"/>
            <a:ext cx="1714500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587972"/>
            <a:ext cx="9801225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0" sz="3900" i="0" u="none">
                <a:solidFill>
                  <a:srgbClr val="F8FAFC"/>
                </a:solidFill>
                <a:latin typeface="Plus Jakarta Sans ExtraBold"/>
              </a:rPr>
              <a:t>Foundations of 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48037"/>
            <a:ext cx="9334500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From Theoretical Bounds to Practical Model Generalization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3908077"/>
            <a:ext cx="6858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5838825"/>
            <a:ext cx="3733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Prescribed Primary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048375"/>
            <a:ext cx="3733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 SemiBold"/>
              </a:rPr>
              <a:t>Ethem Alpaydın — </a:t>
            </a:r>
            <a:r>
              <a:rPr b="0" sz="1200" i="1" u="none">
                <a:solidFill>
                  <a:srgbClr val="CBD5E1"/>
                </a:solidFill>
                <a:latin typeface="Plus Jakarta Sans SemiBold"/>
              </a:rPr>
              <a:t>Introduction to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7350" y="5838825"/>
            <a:ext cx="2152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64748B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7350" y="6048375"/>
            <a:ext cx="2152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CBD5E1"/>
                </a:solidFill>
                <a:latin typeface="Plus Jakarta Sans SemiBold"/>
              </a:rPr>
              <a:t>BCA Undergraduate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4279"/>
            <a:ext cx="1843980" cy="164574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730" y="2950964"/>
            <a:ext cx="1843980" cy="18323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860" y="3044279"/>
            <a:ext cx="1843980" cy="16457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991" y="3044279"/>
            <a:ext cx="1843980" cy="16457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121" y="2950964"/>
            <a:ext cx="1843980" cy="1832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LECTURE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Conceptual Progression of Unit-I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5980" y="379095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8110" y="379095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241" y="3790950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2371" y="3790950"/>
            <a:ext cx="1333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625" y="3310979"/>
            <a:ext cx="838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01 • THEORY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596729"/>
            <a:ext cx="151612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PAC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892004"/>
            <a:ext cx="144393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How many training examples guarantee true learning?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1755" y="3217664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JetBrains Mono"/>
              </a:rPr>
              <a:t>02 • REALITY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1755" y="3503414"/>
            <a:ext cx="151612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1755" y="3798689"/>
            <a:ext cx="144393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Handling measurement error and unobserved latent factors.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3885" y="3310979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JetBrains Mono"/>
              </a:rPr>
              <a:t>03 •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3885" y="3596729"/>
            <a:ext cx="151612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Multiple 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3885" y="3892004"/>
            <a:ext cx="144393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Decomposing multi-class tasks into binary decision boundaries.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6016" y="3310979"/>
            <a:ext cx="1066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JetBrains Mono"/>
              </a:rPr>
              <a:t>04 • NUMERICAL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6016" y="3596729"/>
            <a:ext cx="151612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016" y="3892004"/>
            <a:ext cx="144393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Predicting continuous quantities using least squares fitting.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8146" y="3217664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JetBrains Mono"/>
              </a:rPr>
              <a:t>05 •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8146" y="3503414"/>
            <a:ext cx="151612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Model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8146" y="3798689"/>
            <a:ext cx="144393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Balancing model complexity to maximize generalization.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794" y="2809875"/>
            <a:ext cx="5174605" cy="2152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12852"/>
            <a:ext cx="5455294" cy="923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TOPIC 1 • COMPUTATIONAL LEARNING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What is PAC Learning?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35622"/>
            <a:ext cx="572805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The Fundamental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73772"/>
            <a:ext cx="5455294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How can we mathematically guarantee that a model trained on finite examples will accurately predict unseen future instances?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8471" y="3857625"/>
            <a:ext cx="477325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Dual Guarantee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2119" y="4191000"/>
            <a:ext cx="45459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We cannot guarantee 100% perfection with finite data, so we bound both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error rate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and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failure probability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165252"/>
            <a:ext cx="5036194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 SemiBold"/>
              </a:rPr>
              <a:t>Proposed by Leslie Valiant (1984)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422427"/>
            <a:ext cx="503619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PAC stands for </a:t>
            </a:r>
            <a:r>
              <a:rPr b="1" sz="1125" i="0" u="none">
                <a:solidFill>
                  <a:srgbClr val="64748B"/>
                </a:solidFill>
                <a:latin typeface="Plus Jakarta Sans"/>
              </a:rPr>
              <a:t>Probably Approximately Correct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learning. It provides a formal framework for analyzing sample complexity.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273" y="3200400"/>
            <a:ext cx="5715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05100"/>
            <a:ext cx="5353050" cy="2362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819400"/>
            <a:ext cx="5353050" cy="2133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019425"/>
            <a:ext cx="9144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75" y="3133725"/>
            <a:ext cx="1981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TOPIC 1 • PAC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Deconstructing the Terms: PAC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00425"/>
            <a:ext cx="504063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Plus Jakarta Sans"/>
              </a:rPr>
              <a:t>Confidence Parameter 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90950"/>
            <a:ext cx="48006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With high probability (at least </a:t>
            </a:r>
            <a:r>
              <a:rPr b="1" sz="1200" i="0" u="none">
                <a:solidFill>
                  <a:srgbClr val="334155"/>
                </a:solidFill>
                <a:latin typeface="Plus Jakarta Sans"/>
              </a:rPr>
              <a:t>1 - δ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), the learning algorithm produces a successful hypothesis.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410075"/>
            <a:ext cx="4800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Intuition: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Protects against unluckily drawing unrepresentative, misleading training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514725"/>
            <a:ext cx="504063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5803D"/>
                </a:solidFill>
                <a:latin typeface="Plus Jakarta Sans"/>
              </a:rPr>
              <a:t>Accuracy Parameter 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3905250"/>
            <a:ext cx="48006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The error rate on unseen data is bounded by at most </a:t>
            </a:r>
            <a:r>
              <a:rPr b="1" sz="1200" i="0" u="none">
                <a:solidFill>
                  <a:srgbClr val="334155"/>
                </a:solidFill>
                <a:latin typeface="Plus Jakarta Sans"/>
              </a:rPr>
              <a:t>ε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4295775"/>
            <a:ext cx="4800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Intuition: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We do not demand 0% error; we demand that future generalization error is negligible.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57487"/>
            <a:ext cx="10972800" cy="1066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14787"/>
            <a:ext cx="3530649" cy="96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4014787"/>
            <a:ext cx="3530649" cy="962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899" y="4014787"/>
            <a:ext cx="3530649" cy="962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TOPIC 1 • PAC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Formal PAC Statement (Alpaydın §2.3)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86087"/>
            <a:ext cx="103632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38BDF8"/>
                </a:solidFill>
                <a:latin typeface="JetBrains Mono"/>
              </a:rPr>
              <a:t>P( Error(h) ≤ ε ) ≥ 1 - 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95662"/>
            <a:ext cx="10363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Equivalent to: 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P( C Δ h ≤ ε ) ≥ 1 - δ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where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C Δ h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is the symmetric difference.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4195762"/>
            <a:ext cx="3327134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Target Concept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4452937"/>
            <a:ext cx="31686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The true underlying classification rule we want to learn.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724" y="4195762"/>
            <a:ext cx="3327134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Hypothesis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724" y="4452937"/>
            <a:ext cx="31686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The candidate model induced from the training dataset Χ.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874" y="4195762"/>
            <a:ext cx="3327134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Distribution p(x)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2874" y="4452937"/>
            <a:ext cx="31686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Arbitrary, fixed probability distribution over instances.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82044"/>
            <a:ext cx="5324475" cy="21700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975" y="2805112"/>
            <a:ext cx="5305425" cy="2124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3424237"/>
            <a:ext cx="4772025" cy="638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TOPIC 1 • PAC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Sample Complexity for Axis-Aligned Rectangle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058269"/>
            <a:ext cx="501062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Error Strips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29744"/>
            <a:ext cx="47720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For the tightest rectangle hypothesis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, error region consists of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4 rectangular strips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outside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h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but inside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C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3109912"/>
            <a:ext cx="1971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AE6FD"/>
                </a:solidFill>
                <a:latin typeface="JetBrains Mono"/>
              </a:rPr>
              <a:t>EQUATION 2.7 (ALPAYDÎN)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4214812"/>
            <a:ext cx="477202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0F9FF"/>
                </a:solidFill>
                <a:latin typeface="Plus Jakarta Sans"/>
              </a:rPr>
              <a:t>Key Takeaway:</a:t>
            </a:r>
            <a:r>
              <a:rPr b="0" sz="1125" i="0" u="none">
                <a:solidFill>
                  <a:srgbClr val="F0F9FF"/>
                </a:solidFill>
                <a:latin typeface="Plus Jakarta Sans"/>
              </a:rPr>
              <a:t> Sample size </a:t>
            </a:r>
            <a:r>
              <a:rPr b="0" sz="1125" i="0" u="none">
                <a:solidFill>
                  <a:srgbClr val="F0F9FF"/>
                </a:solidFill>
                <a:latin typeface="Plus Jakarta Sans"/>
              </a:rPr>
              <a:t>N</a:t>
            </a:r>
            <a:r>
              <a:rPr b="0" sz="1125" i="0" u="none">
                <a:solidFill>
                  <a:srgbClr val="F0F9FF"/>
                </a:solidFill>
                <a:latin typeface="Plus Jakarta Sans"/>
              </a:rPr>
              <a:t> grows </a:t>
            </a:r>
            <a:r>
              <a:rPr b="0" sz="1125" i="1" u="none">
                <a:solidFill>
                  <a:srgbClr val="F0F9FF"/>
                </a:solidFill>
                <a:latin typeface="Plus Jakarta Sans"/>
              </a:rPr>
              <a:t>linearly</a:t>
            </a:r>
            <a:r>
              <a:rPr b="0" sz="1125" i="0" u="none">
                <a:solidFill>
                  <a:srgbClr val="F0F9FF"/>
                </a:solidFill>
                <a:latin typeface="Plus Jakarta Sans"/>
              </a:rPr>
              <a:t> with </a:t>
            </a:r>
            <a:r>
              <a:rPr b="0" sz="1125" i="0" u="none">
                <a:solidFill>
                  <a:srgbClr val="F0F9FF"/>
                </a:solidFill>
                <a:latin typeface="Plus Jakarta Sans"/>
              </a:rPr>
              <a:t>1/ε</a:t>
            </a:r>
            <a:r>
              <a:rPr b="0" sz="1125" i="0" u="none">
                <a:solidFill>
                  <a:srgbClr val="F0F9FF"/>
                </a:solidFill>
                <a:latin typeface="Plus Jakarta Sans"/>
              </a:rPr>
              <a:t> and </a:t>
            </a:r>
            <a:r>
              <a:rPr b="0" sz="1125" i="1" u="none">
                <a:solidFill>
                  <a:srgbClr val="F0F9FF"/>
                </a:solidFill>
                <a:latin typeface="Plus Jakarta Sans"/>
              </a:rPr>
              <a:t>logarithmically</a:t>
            </a:r>
            <a:r>
              <a:rPr b="0" sz="1125" i="0" u="none">
                <a:solidFill>
                  <a:srgbClr val="F0F9FF"/>
                </a:solidFill>
                <a:latin typeface="Plus Jakarta Sans"/>
              </a:rPr>
              <a:t> with </a:t>
            </a:r>
            <a:r>
              <a:rPr b="0" sz="1125" i="0" u="none">
                <a:solidFill>
                  <a:srgbClr val="F0F9FF"/>
                </a:solidFill>
                <a:latin typeface="Plus Jakarta Sans"/>
              </a:rPr>
              <a:t>1/δ</a:t>
            </a:r>
            <a:r>
              <a:rPr b="0" sz="1125" i="0" u="none">
                <a:solidFill>
                  <a:srgbClr val="F0F9FF"/>
                </a:solidFill>
                <a:latin typeface="Plus Jakarta Sans"/>
              </a:rPr>
              <a:t>. PAC learning is computationally efficient!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993624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3991719"/>
            <a:ext cx="4581525" cy="22279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Bound each strip probability by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ε /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216419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214514"/>
            <a:ext cx="4581525" cy="23857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Prob(all N points miss 1 strip) =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(1 - ε/4)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4454991"/>
            <a:ext cx="76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453086"/>
            <a:ext cx="4581525" cy="22279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Union bound over 4 strips ≤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4 exp(-ε N / 4) ≤ 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14675"/>
            <a:ext cx="3505200" cy="1543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109912"/>
            <a:ext cx="3505200" cy="1552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109912"/>
            <a:ext cx="3505200" cy="1552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TOPIC 1 •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PAC Learning: Key Exam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90900"/>
            <a:ext cx="209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JetBrains Mono Extra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05225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Statistical Guarantee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981450"/>
            <a:ext cx="2952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Defines what it means for an algorithm to learn from random examples.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386137"/>
            <a:ext cx="209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JetBrains Mono Extra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700462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Sample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976687"/>
            <a:ext cx="29527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Quantifies minimum training instances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N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required to guarantee bounded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386137"/>
            <a:ext cx="209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JetBrains Mono Extra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00462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Distribution-Free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76687"/>
            <a:ext cx="29527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Holds for any unknown, fixed probability distribution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p(x)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over instances.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317" y="2924175"/>
            <a:ext cx="5133082" cy="1924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89052"/>
            <a:ext cx="5496817" cy="733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TOPIC 2 • REAL-WORLD IMPERFECTIONS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What is Noise in Machine Learning?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949922"/>
            <a:ext cx="577165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Textbook Definition (Alpaydın §2.4)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49972"/>
            <a:ext cx="5496817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Noise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is any unwanted anomaly in the data. Due to noise, zero training error is infeasible with simple hypothesis classes.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1027" y="3848100"/>
            <a:ext cx="480966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The Core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5542" y="4143375"/>
            <a:ext cx="458063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A learning algorithm must distinguish genuine underlying patterns from random statistical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41452"/>
            <a:ext cx="507771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2400E"/>
                </a:solidFill>
                <a:latin typeface="Plus Jakarta Sans"/>
              </a:rPr>
              <a:t>In ideal data, positive and negative instances are clearly separable. In real data, classes overlap due to noise.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308" y="3276600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76575"/>
            <a:ext cx="3530649" cy="1581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981325"/>
            <a:ext cx="3530649" cy="177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899" y="2981325"/>
            <a:ext cx="3530649" cy="1771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TOPIC 2 •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Three Interpretations of Noise (Alpaydın)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714750"/>
            <a:ext cx="320711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Imprecise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010025"/>
            <a:ext cx="3054399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Errors or fluctuations in recording input attributes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x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. Shifts data points in input feature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3619500"/>
            <a:ext cx="320711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Teacher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874" y="3914775"/>
            <a:ext cx="30543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Errors in labeling instances. Positive examples mislabeled as negative, or vice versa (human error).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0024" y="3619500"/>
            <a:ext cx="320711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Latent / Hidden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0024" y="3914775"/>
            <a:ext cx="30543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Unobserved attributes affecting the label. Their omitted effects manifest as random noise components.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352800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874" y="3257550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0024" y="3257550"/>
            <a:ext cx="28575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895975"/>
            <a:ext cx="10972800" cy="5048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81312"/>
            <a:ext cx="5334000" cy="1276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881312"/>
            <a:ext cx="5334000" cy="1276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TOPIC 2 •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Handling Noise: The Principle of Occam's Razor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6057900"/>
            <a:ext cx="104965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Occam's Razor: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0" sz="1125" i="1" u="none">
                <a:solidFill>
                  <a:srgbClr val="334155"/>
                </a:solidFill>
                <a:latin typeface="Plus Jakarta Sans"/>
              </a:rPr>
              <a:t>"Simpler explanations are more plausible and any unnecessary complexity should be shaved off."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138487"/>
            <a:ext cx="506063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Complex "Wiggly"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433762"/>
            <a:ext cx="4819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Attempts 0% training error by weaving around every noisy data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48087"/>
            <a:ext cx="4819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91C1C"/>
                </a:solidFill>
                <a:latin typeface="Plus Jakarta Sans SemiBold"/>
              </a:rPr>
              <a:t>Result: High variance, memorizes noise, poor generalization.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138487"/>
            <a:ext cx="506063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Simple Model (Rectangle)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3433762"/>
            <a:ext cx="4819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Tolerates a few training errors to maintain a clean, simple boundary.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3748087"/>
            <a:ext cx="4819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5803D"/>
                </a:solidFill>
                <a:latin typeface="Plus Jakarta Sans SemiBold"/>
              </a:rPr>
              <a:t>Result: Low variance, robust to individual points, superior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05187"/>
            <a:ext cx="2600325" cy="962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25" y="3405187"/>
            <a:ext cx="2600325" cy="96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3405187"/>
            <a:ext cx="2600325" cy="962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075" y="3405187"/>
            <a:ext cx="2600325" cy="962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TOPIC 2 •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Noise: Four Reasons to Prefer Simpler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05212"/>
            <a:ext cx="231028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1. Easy to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62387"/>
            <a:ext cx="22002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Fast evaluation on future unseen instances.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450" y="3605212"/>
            <a:ext cx="231028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2. Low Variance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3862387"/>
            <a:ext cx="22002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Fewer parameters; changes less across different samples.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75" y="3605212"/>
            <a:ext cx="231028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3. Explainable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3862387"/>
            <a:ext cx="22002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Easy knowledge extraction for human interpretation.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2100" y="3605212"/>
            <a:ext cx="231028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4. Generalizes Better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2100" y="3862387"/>
            <a:ext cx="22002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Robust against single mislabeled training 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76575"/>
            <a:ext cx="5314950" cy="1619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3067050"/>
            <a:ext cx="5314950" cy="1638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TOPIC 3 • MULTI-CLASS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From Two Classes to K Classes (Alpaydın §2.5)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381375"/>
            <a:ext cx="2209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BINARY CLASSIFICATION (K =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667125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Family Car vs.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81450"/>
            <a:ext cx="4762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Label 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r ∈ {0, 1}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. Single hypothesis separates positive from negative instances.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3371850"/>
            <a:ext cx="1447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JetBrains Mono"/>
              </a:rPr>
              <a:t>MULTI-CLASS (K &gt;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657600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Family Car, Sports Car, Luxury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971925"/>
            <a:ext cx="476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Target is a K-dimensional 1-of-K code: 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r ∈ {0, 1}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K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where exactly one entry is 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164" y="2769840"/>
            <a:ext cx="5126235" cy="219447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31617"/>
            <a:ext cx="5579864" cy="5377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289" y="3322290"/>
            <a:ext cx="4649985" cy="4171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289" y="3815655"/>
            <a:ext cx="4649985" cy="41716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289" y="4309020"/>
            <a:ext cx="4649985" cy="4171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TOPIC 3 • MULTI-CLASS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One-vs-Rest (OvR)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64817"/>
            <a:ext cx="585885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Decompose into K Binary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17242"/>
            <a:ext cx="5579864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For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K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classes, train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K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distinct hypotheses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h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i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(x)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 Each classifier separates class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C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i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from all remaining classes.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4289" y="3007965"/>
            <a:ext cx="488248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3-Class 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284017"/>
            <a:ext cx="5198864" cy="232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r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i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= 1 if x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t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 ∈ C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i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, else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9064" y="3427065"/>
            <a:ext cx="171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h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1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9064" y="3920430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h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2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9064" y="4413795"/>
            <a:ext cx="190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h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3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78968"/>
            <a:ext cx="5334000" cy="13763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075384"/>
            <a:ext cx="5334000" cy="15835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TOPIC 3 • MULTI-CLASS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The Reject Option &amp; Doubt Regions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55193"/>
            <a:ext cx="502062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Ideal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769518"/>
            <a:ext cx="4781550" cy="50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Exactly one hypothesis outputs 1 (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h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i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(x) = 1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, all others 0). Unambiguous assignment to class 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C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i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351609"/>
            <a:ext cx="502062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Plus Jakarta Sans"/>
              </a:rPr>
              <a:t>Doubt / Reject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665934"/>
            <a:ext cx="4781550" cy="469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Either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no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hypothesis fires (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h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i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(x) = 0 ∀ i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) or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two or more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hypotheses fire simultaneously.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4230290"/>
            <a:ext cx="4781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E123C"/>
                </a:solidFill>
                <a:latin typeface="Plus Jakarta Sans SemiBold"/>
              </a:rPr>
              <a:t>Action: Classifier rejects instance &amp; defers to human expert.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57550"/>
            <a:ext cx="3505200" cy="1257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262312"/>
            <a:ext cx="3505200" cy="1247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262312"/>
            <a:ext cx="3505200" cy="1247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TOPIC 3 •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Learning Multiple Classes: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3775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1-of-K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29050"/>
            <a:ext cx="29527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Target vector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r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contains 1 at true class index and 0 elsewhere.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38537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 Binary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33812"/>
            <a:ext cx="2952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Solves K individual binary problems separating each class from the rest.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Doubt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2952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Rejection regions prevent confident misclassification in ambiguous overlap zones.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74925"/>
            <a:ext cx="5314950" cy="182254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3005137"/>
            <a:ext cx="5314950" cy="1762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TOPIC 4 • SUPERVISED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What is Regression? (Alpaydın §2.6)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27350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603575"/>
            <a:ext cx="492061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Discrete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46475"/>
            <a:ext cx="4686300" cy="536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Output is Boolean or discrete class code: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r ∈ {0, 1}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 or 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{C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1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, ..., C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K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}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357562"/>
            <a:ext cx="762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JetBrains Mono"/>
              </a:rPr>
              <a:t>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633787"/>
            <a:ext cx="492061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65F46"/>
                </a:solidFill>
                <a:latin typeface="Plus Jakarta Sans"/>
              </a:rPr>
              <a:t>Continuous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976687"/>
            <a:ext cx="46863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47857"/>
                </a:solidFill>
                <a:latin typeface="Plus Jakarta Sans"/>
              </a:rPr>
              <a:t>Output is a real number: </a:t>
            </a:r>
            <a:r>
              <a:rPr b="0" sz="1200" i="0" u="none">
                <a:solidFill>
                  <a:srgbClr val="047857"/>
                </a:solidFill>
                <a:latin typeface="Plus Jakarta Sans"/>
              </a:rPr>
              <a:t>r ∈ ℜ</a:t>
            </a:r>
            <a:r>
              <a:rPr b="0" sz="1200" i="0" u="none">
                <a:solidFill>
                  <a:srgbClr val="047857"/>
                </a:solidFill>
                <a:latin typeface="Plus Jakarta Sans"/>
              </a:rPr>
              <a:t>. We learn a continuous mapping function </a:t>
            </a:r>
            <a:r>
              <a:rPr b="0" sz="1200" i="0" u="none">
                <a:solidFill>
                  <a:srgbClr val="047857"/>
                </a:solidFill>
                <a:latin typeface="Plus Jakarta Sans"/>
              </a:rPr>
              <a:t>g(x)</a:t>
            </a:r>
            <a:r>
              <a:rPr b="0" sz="1200" i="0" u="none">
                <a:solidFill>
                  <a:srgbClr val="047857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65375"/>
            <a:ext cx="10972800" cy="1136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30575"/>
            <a:ext cx="5391150" cy="83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4130575"/>
            <a:ext cx="5391150" cy="8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TOPIC 4 •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The Regression Model with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3975"/>
            <a:ext cx="10363200" cy="403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34D399"/>
                </a:solidFill>
                <a:latin typeface="JetBrains Mono"/>
              </a:rPr>
              <a:t>r</a:t>
            </a:r>
            <a:r>
              <a:rPr b="1" sz="2100" i="0" u="none">
                <a:solidFill>
                  <a:srgbClr val="34D399"/>
                </a:solidFill>
                <a:latin typeface="JetBrains Mono"/>
              </a:rPr>
              <a:t>t</a:t>
            </a:r>
            <a:r>
              <a:rPr b="1" sz="2100" i="0" u="none">
                <a:solidFill>
                  <a:srgbClr val="34D399"/>
                </a:solidFill>
                <a:latin typeface="JetBrains Mono"/>
              </a:rPr>
              <a:t> = f(x</a:t>
            </a:r>
            <a:r>
              <a:rPr b="1" sz="2100" i="0" u="none">
                <a:solidFill>
                  <a:srgbClr val="34D399"/>
                </a:solidFill>
                <a:latin typeface="JetBrains Mono"/>
              </a:rPr>
              <a:t>t</a:t>
            </a:r>
            <a:r>
              <a:rPr b="1" sz="2100" i="0" u="none">
                <a:solidFill>
                  <a:srgbClr val="34D399"/>
                </a:solidFill>
                <a:latin typeface="JetBrains Mono"/>
              </a:rPr>
              <a:t>) + 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3350"/>
            <a:ext cx="10363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where 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f(x)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is the unknown true function and 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ε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is random zero-mean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330600"/>
            <a:ext cx="524065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Interpolation (Noise =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587775"/>
            <a:ext cx="4991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Fitting an exact curve passing through every sample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4330600"/>
            <a:ext cx="524065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Regression (Noise ≠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75" y="4587775"/>
            <a:ext cx="4991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Approximating the underlying conditional expectation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E[r|x]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856" y="3012281"/>
            <a:ext cx="5347543" cy="17097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06316"/>
            <a:ext cx="5358556" cy="5573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TOPIC 4 •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Linear Regression &amp; Least Squares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070473"/>
            <a:ext cx="562648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Used Car Price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22898"/>
            <a:ext cx="5358556" cy="2547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Model: </a:t>
            </a:r>
            <a:r>
              <a:rPr b="1" sz="1125" i="0" u="none">
                <a:solidFill>
                  <a:srgbClr val="059669"/>
                </a:solidFill>
                <a:latin typeface="Plus Jakarta Sans"/>
              </a:rPr>
              <a:t>g(x) = w</a:t>
            </a:r>
            <a:r>
              <a:rPr b="1" sz="1125" i="0" u="none">
                <a:solidFill>
                  <a:srgbClr val="059669"/>
                </a:solidFill>
                <a:latin typeface="Plus Jakarta Sans"/>
              </a:rPr>
              <a:t>1</a:t>
            </a:r>
            <a:r>
              <a:rPr b="1" sz="1125" i="0" u="none">
                <a:solidFill>
                  <a:srgbClr val="059669"/>
                </a:solidFill>
                <a:latin typeface="Plus Jakarta Sans"/>
              </a:rPr>
              <a:t>x + w</a:t>
            </a:r>
            <a:r>
              <a:rPr b="1" sz="1125" i="0" u="none">
                <a:solidFill>
                  <a:srgbClr val="059669"/>
                </a:solidFill>
                <a:latin typeface="Plus Jakarta Sans"/>
              </a:rPr>
              <a:t>0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(where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x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= mileage,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g(x)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= price).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11041"/>
            <a:ext cx="535855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We minimize the empirical sum of squared errors: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2981" y="3288506"/>
            <a:ext cx="2209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47857"/>
                </a:solidFill>
                <a:latin typeface="JetBrains Mono"/>
              </a:rPr>
              <a:t>ANALYTICAL SOLUTION (EQ 2.16)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2981" y="4297263"/>
            <a:ext cx="4871293" cy="186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47857"/>
                </a:solidFill>
                <a:latin typeface="Plus Jakarta Sans"/>
              </a:rPr>
              <a:t>Obtained by setting partial derivatives </a:t>
            </a:r>
            <a:r>
              <a:rPr b="0" sz="975" i="0" u="none">
                <a:solidFill>
                  <a:srgbClr val="047857"/>
                </a:solidFill>
                <a:latin typeface="Plus Jakarta Sans"/>
              </a:rPr>
              <a:t>∂E/∂w</a:t>
            </a:r>
            <a:r>
              <a:rPr b="0" sz="975" i="0" u="none">
                <a:solidFill>
                  <a:srgbClr val="047857"/>
                </a:solidFill>
                <a:latin typeface="Plus Jakarta Sans"/>
              </a:rPr>
              <a:t>1</a:t>
            </a:r>
            <a:r>
              <a:rPr b="0" sz="975" i="0" u="none">
                <a:solidFill>
                  <a:srgbClr val="047857"/>
                </a:solidFill>
                <a:latin typeface="Plus Jakarta Sans"/>
              </a:rPr>
              <a:t> = 0</a:t>
            </a:r>
            <a:r>
              <a:rPr b="0" sz="975" i="0" u="none">
                <a:solidFill>
                  <a:srgbClr val="047857"/>
                </a:solidFill>
                <a:latin typeface="Plus Jakarta Sans"/>
              </a:rPr>
              <a:t> and </a:t>
            </a:r>
            <a:r>
              <a:rPr b="0" sz="975" i="0" u="none">
                <a:solidFill>
                  <a:srgbClr val="047857"/>
                </a:solidFill>
                <a:latin typeface="Plus Jakarta Sans"/>
              </a:rPr>
              <a:t>∂E/∂w</a:t>
            </a:r>
            <a:r>
              <a:rPr b="0" sz="975" i="0" u="none">
                <a:solidFill>
                  <a:srgbClr val="047857"/>
                </a:solidFill>
                <a:latin typeface="Plus Jakarta Sans"/>
              </a:rPr>
              <a:t>0</a:t>
            </a:r>
            <a:r>
              <a:rPr b="0" sz="975" i="0" u="none">
                <a:solidFill>
                  <a:srgbClr val="047857"/>
                </a:solidFill>
                <a:latin typeface="Plus Jakarta Sans"/>
              </a:rPr>
              <a:t> = 0</a:t>
            </a:r>
            <a:r>
              <a:rPr b="0" sz="975" i="0" u="none">
                <a:solidFill>
                  <a:srgbClr val="047857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4249191"/>
            <a:ext cx="5072806" cy="271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F172A"/>
                </a:solidFill>
                <a:latin typeface="JetBrains Mono"/>
              </a:rPr>
              <a:t>E(w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1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, w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 | Χ) = ∑ [r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t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 - (w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1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x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t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 + w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0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)]</a:t>
            </a:r>
            <a:r>
              <a:rPr b="0" sz="1200" i="0" u="none">
                <a:solidFill>
                  <a:srgbClr val="0F172A"/>
                </a:solidFill>
                <a:latin typeface="JetBrains Mon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2981" y="3564731"/>
            <a:ext cx="4871293" cy="278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050" i="0" u="none">
                <a:solidFill>
                  <a:srgbClr val="1E293B"/>
                </a:solidFill>
                <a:latin typeface="JetBrains Mono"/>
              </a:rPr>
              <a:t>w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1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 = (∑ x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t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r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t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 - N x̄ r̄) / (∑ (x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t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)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2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 - N x̄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2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2981" y="3919835"/>
            <a:ext cx="4871293" cy="244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050" i="0" u="none">
                <a:solidFill>
                  <a:srgbClr val="1E293B"/>
                </a:solidFill>
                <a:latin typeface="JetBrains Mono"/>
              </a:rPr>
              <a:t>w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0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 = r̄ - w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1</a:t>
            </a:r>
            <a:r>
              <a:rPr b="0" sz="1050" i="0" u="none">
                <a:solidFill>
                  <a:srgbClr val="1E293B"/>
                </a:solidFill>
                <a:latin typeface="JetBrains Mono"/>
              </a:rPr>
              <a:t> x̄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56644"/>
            <a:ext cx="3505200" cy="14210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156644"/>
            <a:ext cx="3505200" cy="14210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156644"/>
            <a:ext cx="3505200" cy="1421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TOPIC 4 •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Polynomial Regression &amp; Degree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32869"/>
            <a:ext cx="1295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JetBrains Mono"/>
              </a:rPr>
              <a:t>DEGREE 1 (LINEAR)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670994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Underfitting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966269"/>
            <a:ext cx="30289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Too rigid. Large approximation error on non-linear underlying trends.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432869"/>
            <a:ext cx="1524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JetBrains Mono"/>
              </a:rPr>
              <a:t>DEGREE 2 (QUADRATIC)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670994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65F46"/>
                </a:solidFill>
                <a:latin typeface="Plus Jakarta Sans"/>
              </a:rPr>
              <a:t>Optimal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966269"/>
            <a:ext cx="30289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047857"/>
                </a:solidFill>
                <a:latin typeface="Plus Jakarta Sans"/>
              </a:rPr>
              <a:t>Captures the general curve of the data without memorizing noise.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432869"/>
            <a:ext cx="1600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JetBrains Mono"/>
              </a:rPr>
              <a:t>DEGREE 6 (HIGH ORDER)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670994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Overfitting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966269"/>
            <a:ext cx="30289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B91C1C"/>
                </a:solidFill>
                <a:latin typeface="Plus Jakarta Sans"/>
              </a:rPr>
              <a:t>Passes through every sample point but oscillates wildly on new inputs.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52787"/>
            <a:ext cx="3505200" cy="12668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262312"/>
            <a:ext cx="3505200" cy="1247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262312"/>
            <a:ext cx="3505200" cy="1247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TOPIC 4 •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Regression: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29012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Continuous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24287"/>
            <a:ext cx="2952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Maps input feature vector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x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to a continuous numeric value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r ∈ ℜ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38537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Least Squares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33812"/>
            <a:ext cx="2952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Minimizing sum of squared differences yields closed-form analytical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10038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Order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2952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Polynomial order must match underlying regularity, not the noise.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317" y="3233737"/>
            <a:ext cx="5133082" cy="1266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TOPIC 5 • MODEL SELECTION &amp;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Why is Learning an Ill-Posed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085504"/>
            <a:ext cx="577165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The Boolean Function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85554"/>
            <a:ext cx="5496817" cy="5424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For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d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binary inputs, there are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2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d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input combinations and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2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2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d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possible Boolean functions.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161383"/>
            <a:ext cx="5496817" cy="487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Seeing 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N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training examples leaves 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2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2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d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- N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consistent functions. </a:t>
            </a:r>
            <a:r>
              <a:rPr b="1" sz="1125" i="0" u="none">
                <a:solidFill>
                  <a:srgbClr val="64748B"/>
                </a:solidFill>
                <a:latin typeface="Plus Jakarta Sans"/>
              </a:rPr>
              <a:t>Data alone is insufficient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to select a unique function!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5542" y="3509962"/>
            <a:ext cx="480966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Plus Jakarta Sans"/>
              </a:rPr>
              <a:t>The Need for Inductive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5542" y="3824287"/>
            <a:ext cx="458063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To generalize beyond training samples, the learner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must make extra assumptions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(e.g., assuming a linear model or rectangle boundary).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74206"/>
            <a:ext cx="5314950" cy="14239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3067050"/>
            <a:ext cx="5314950" cy="1638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TOPIC 5 •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Generalization: The True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50431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Empirical Training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02856"/>
            <a:ext cx="47625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How well the model fits the past training dataset 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169568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Can be trivially driven to 0% by memorization.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3675" y="3343275"/>
            <a:ext cx="5000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5803D"/>
                </a:solidFill>
                <a:latin typeface="Plus Jakarta Sans"/>
              </a:rPr>
              <a:t>Generalization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695700"/>
            <a:ext cx="4762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"/>
              </a:rPr>
              <a:t>How accurately the model predicts </a:t>
            </a:r>
            <a:r>
              <a:rPr b="1" sz="1125" i="0" u="none">
                <a:solidFill>
                  <a:srgbClr val="334155"/>
                </a:solidFill>
                <a:latin typeface="Plus Jakarta Sans"/>
              </a:rPr>
              <a:t>novel, unseen instances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outside the training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4276725"/>
            <a:ext cx="4762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6A34A"/>
                </a:solidFill>
                <a:latin typeface="Plus Jakarta Sans SemiBold"/>
              </a:rPr>
              <a:t>The only performance metric that actually matters!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33700"/>
            <a:ext cx="5353050" cy="1866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933700"/>
            <a:ext cx="5353050" cy="1866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TOPIC 5 •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Underfitting vs. 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48025"/>
            <a:ext cx="1600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2410C"/>
                </a:solidFill>
                <a:latin typeface="JetBrains Mono"/>
              </a:rPr>
              <a:t>INSUFFICIENT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05200"/>
            <a:ext cx="504063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A3412"/>
                </a:solidFill>
                <a:latin typeface="Plus Jakarta Sans"/>
              </a:rPr>
              <a:t>Underfitting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8575"/>
            <a:ext cx="4800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Model is too simple (e.g., fitting a line to cubic data).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3248025"/>
            <a:ext cx="1371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C2626"/>
                </a:solidFill>
                <a:latin typeface="JetBrains Mono"/>
              </a:rPr>
              <a:t>EXCESSIVE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505200"/>
            <a:ext cx="504063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838575"/>
            <a:ext cx="4800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Model is too complex (e.g., fitting degree-6 polynomial).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1505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A3412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4152900"/>
            <a:ext cx="4629150" cy="185737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A3412"/>
                </a:solidFill>
                <a:latin typeface="Plus Jakarta Sans"/>
              </a:rPr>
              <a:t>High training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4336256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A3412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4338637"/>
            <a:ext cx="4629150" cy="185737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A3412"/>
                </a:solidFill>
                <a:latin typeface="Plus Jakarta Sans"/>
              </a:rPr>
              <a:t>High validation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41505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4152900"/>
            <a:ext cx="4629150" cy="185737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91B1B"/>
                </a:solidFill>
                <a:latin typeface="Plus Jakarta Sans"/>
              </a:rPr>
              <a:t>Near-zero training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4336256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91B1B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4338637"/>
            <a:ext cx="4629150" cy="185737"/>
          </a:xfrm>
          <a:prstGeom prst="rect">
            <a:avLst/>
          </a:prstGeom>
          <a:noFill/>
        </p:spPr>
        <p:txBody>
          <a:bodyPr wrap="square" lIns="66675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91B1B"/>
                </a:solidFill>
                <a:latin typeface="Plus Jakarta Sans"/>
              </a:rPr>
              <a:t>High validation error (fails on new data)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38450"/>
            <a:ext cx="10972800" cy="723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52850"/>
            <a:ext cx="53721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3752850"/>
            <a:ext cx="53721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TOPIC 5 •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The Bias / Variance Dilemma (Alpaydın §4.7)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28950"/>
            <a:ext cx="10363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B7185"/>
                </a:solidFill>
                <a:latin typeface="JetBrains Mono"/>
              </a:rPr>
              <a:t>Total Expected Error = Noise + Bias</a:t>
            </a:r>
            <a:r>
              <a:rPr b="1" sz="1800" i="0" u="none">
                <a:solidFill>
                  <a:srgbClr val="FB7185"/>
                </a:solidFill>
                <a:latin typeface="JetBrains Mono"/>
              </a:rPr>
              <a:t>2</a:t>
            </a:r>
            <a:r>
              <a:rPr b="1" sz="1800" i="0" u="none">
                <a:solidFill>
                  <a:srgbClr val="FB7185"/>
                </a:solidFill>
                <a:latin typeface="JetBrains Mono"/>
              </a:rPr>
              <a:t> + 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3971925"/>
            <a:ext cx="518064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Bias (Inherent Inaccuracy)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4267200"/>
            <a:ext cx="49339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Quantifies how much the average model estimate 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E[g(x)]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systematically deviates from the true target function.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375" y="3971925"/>
            <a:ext cx="518064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Variance (Sample Sensitivity)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4267200"/>
            <a:ext cx="493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Quantifies how much the predictions fluctuate across different random training samples drawn from the same domain.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60501"/>
            <a:ext cx="3912393" cy="161329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493" y="3060501"/>
            <a:ext cx="3339703" cy="16132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696" y="3060501"/>
            <a:ext cx="3339703" cy="1613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TOPIC 5 • VALIDATION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Data Splitting: Training, Validation, and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336726"/>
            <a:ext cx="1676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JetBrains Mono"/>
              </a:rPr>
              <a:t>TRAINING SET (~60-70%)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574851"/>
            <a:ext cx="36079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40AF"/>
                </a:solidFill>
                <a:latin typeface="Plus Jakarta Sans"/>
              </a:rPr>
              <a:t>Parameter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870126"/>
            <a:ext cx="3436143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Used directly by learning algorithms to tune weights &amp; boundaries.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292798"/>
            <a:ext cx="343614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0A5FA"/>
                </a:solidFill>
                <a:latin typeface="Plus Jakarta Sans"/>
              </a:rPr>
              <a:t>Analogy: Classroom textbook exercises.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0618" y="3336726"/>
            <a:ext cx="1828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A21CAF"/>
                </a:solidFill>
                <a:latin typeface="JetBrains Mono"/>
              </a:rPr>
              <a:t>VALIDATION SET (~15-20%)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0618" y="3574851"/>
            <a:ext cx="30066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6198F"/>
                </a:solidFill>
                <a:latin typeface="Plus Jakarta Sans"/>
              </a:rPr>
              <a:t>Model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0618" y="3870126"/>
            <a:ext cx="2863453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Used to select optimal hyperparameter / polynomial degree.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0618" y="4292798"/>
            <a:ext cx="286345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C084FC"/>
                </a:solidFill>
                <a:latin typeface="Plus Jakarta Sans"/>
              </a:rPr>
              <a:t>Analogy: Class exam questions.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0821" y="3336726"/>
            <a:ext cx="1371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5803D"/>
                </a:solidFill>
                <a:latin typeface="JetBrains Mono"/>
              </a:rPr>
              <a:t>TEST SET (~15-20%)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0821" y="3574851"/>
            <a:ext cx="30066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Plus Jakarta Sans"/>
              </a:rPr>
              <a:t>Final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0821" y="3870126"/>
            <a:ext cx="2863453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Never touched during training. Assesses true real-world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0821" y="4292798"/>
            <a:ext cx="286345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ADE80"/>
                </a:solidFill>
                <a:latin typeface="Plus Jakarta Sans"/>
              </a:rPr>
              <a:t>Analogy: Real-world career challenges.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81337"/>
            <a:ext cx="5353050" cy="15716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962275"/>
            <a:ext cx="5353050" cy="1809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3886200"/>
            <a:ext cx="4800600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TOPIC 5 • PRACTICAL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Cross-Validation &amp; Regularization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57562"/>
            <a:ext cx="504063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K-Fold Cross-Validation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90937"/>
            <a:ext cx="4800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Partition dataset into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K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equal folds. Train on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K-1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folds and validate on the remaining fold. Rotate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K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times.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224337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Plus Jakarta Sans SemiBold"/>
              </a:rPr>
              <a:t>Crucial when sample sizes are too small for separate validation 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238500"/>
            <a:ext cx="504063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Regularization (Eq 4.37)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571875"/>
            <a:ext cx="48006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Augment the training error function with an explicit complexity penalty: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4343400"/>
            <a:ext cx="48006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Penalizes large weights to prevent overfitting.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3981450"/>
            <a:ext cx="4610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8BDF8"/>
                </a:solidFill>
                <a:latin typeface="JetBrains Mono"/>
              </a:rPr>
              <a:t>E' = Error(Data) + λ × Complexity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962650"/>
            <a:ext cx="10972800" cy="438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52725"/>
            <a:ext cx="3505200" cy="1600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747962"/>
            <a:ext cx="3505200" cy="1609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752725"/>
            <a:ext cx="3505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TOPIC 5 •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The Triple Trade-Off (Dietterich 2003)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6096000"/>
            <a:ext cx="10591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34155"/>
                </a:solidFill>
                <a:latin typeface="Plus Jakarta Sans SemiBold"/>
              </a:rPr>
              <a:t>More data reduces generalization error. For fixed data, increasing complexity first reduces error, then causes overfitting.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001" y="3533775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Model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10000"/>
            <a:ext cx="3028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The expressiveness and complexity of the chosen hypothesis class.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5801" y="3529012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Training Data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805237"/>
            <a:ext cx="30289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Number of instances 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N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available to constrain parameters.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9601" y="3533775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Generalization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810000"/>
            <a:ext cx="3028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The resulting expected error rate on future unseen data.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0" y="3048000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043237"/>
            <a:ext cx="3048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8350" y="304800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14612"/>
            <a:ext cx="10972800" cy="409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38487"/>
            <a:ext cx="10972800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62362"/>
            <a:ext cx="10972800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86237"/>
            <a:ext cx="10972800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710112"/>
            <a:ext cx="10972800" cy="409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097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UNIT I FINAL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2144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Summary of Unit-I Core Concepts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876925"/>
            <a:ext cx="10668000" cy="371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14562"/>
            <a:ext cx="10668000" cy="140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805237"/>
            <a:ext cx="10668000" cy="1209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09600"/>
            <a:ext cx="1066800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 BCA Semester V • Prescribed Bibliography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04875"/>
            <a:ext cx="112014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850" i="0" u="none">
                <a:solidFill>
                  <a:srgbClr val="F8FAFC"/>
                </a:solidFill>
                <a:latin typeface="Plus Jakarta Sans ExtraBold"/>
              </a:rPr>
              <a:t>References &amp; Source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076950"/>
            <a:ext cx="2152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Questions &amp; Classroom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0" y="6081712"/>
            <a:ext cx="1905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END OF UNIT-I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2500312"/>
            <a:ext cx="18002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PRIMARY PRESCRIBED 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2728912"/>
            <a:ext cx="1062132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Introduction to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005137"/>
            <a:ext cx="101155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Author: </a:t>
            </a:r>
            <a:r>
              <a:rPr b="1" sz="1125" i="0" u="none">
                <a:solidFill>
                  <a:srgbClr val="CBD5E1"/>
                </a:solidFill>
                <a:latin typeface="Plus Jakarta Sans"/>
              </a:rPr>
              <a:t>Ethem Alpaydın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• The MIT Press (Cambridge, 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224212"/>
            <a:ext cx="101155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Core Reference: Chapter 2 (Supervised Learning) &amp; Chapter 4 (Parametric Methods)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090987"/>
            <a:ext cx="1866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SECONDARY SYLLABUS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4319587"/>
            <a:ext cx="1062132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BCA Semester V Machine Learning Lecture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595812"/>
            <a:ext cx="101155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Unit I: Introduction, Supervised Learning, Model Selection, and Generalization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