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22.xml" ContentType="application/vnd.openxmlformats-officedocument.presentationml.slide+xml"/>
  <ns0:Override PartName="/ppt/slides/slide23.xml" ContentType="application/vnd.openxmlformats-officedocument.presentationml.slide+xml"/>
  <ns0:Override PartName="/ppt/slides/slide24.xml" ContentType="application/vnd.openxmlformats-officedocument.presentationml.slide+xml"/>
  <ns0:Override PartName="/ppt/slides/slide25.xml" ContentType="application/vnd.openxmlformats-officedocument.presentationml.slide+xml"/>
  <ns0:Override PartName="/ppt/slides/slide26.xml" ContentType="application/vnd.openxmlformats-officedocument.presentationml.slide+xml"/>
  <ns0:Override PartName="/ppt/slides/slide27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  <ns0:sldId id="276" ns1:id="rId27"/>
    <ns0:sldId id="277" ns1:id="rId28"/>
    <ns0:sldId id="278" ns1:id="rId29"/>
    <ns0:sldId id="279" ns1:id="rId30"/>
    <ns0:sldId id="280" ns1:id="rId31"/>
    <ns0:sldId id="281" ns1:id="rId32"/>
    <ns0:sldId id="282" ns1:id="rId33"/>
  </ns0:sldIdLst>
  <ns0:sldSz cx="12192000" cy="6858000" type="screen4x3"/>
  <ns0:notesSz cx="6858000" cy="9144000"/>
  <ns0:embeddedFontLst>
    <ns0:embeddedFont>
      <ns0:font typeface="Plus Jakarta Sans"/>
      <ns0:bold ns1:id="rIdFont34"/>
      <ns0:italic ns1:id="rIdFont35"/>
      <ns0:regular ns1:id="rIdFont36"/>
    </ns0:embeddedFont>
    <ns0:embeddedFont>
      <ns0:font typeface="Space Grotesk"/>
      <ns0:bold ns1:id="rIdFont37"/>
      <ns0:regular ns1:id="rIdFont3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25" Type="http://schemas.openxmlformats.org/officeDocument/2006/relationships/slide" Target="slides/slide19.xml" /><ns0:Relationship Id="rId26" Type="http://schemas.openxmlformats.org/officeDocument/2006/relationships/slide" Target="slides/slide20.xml" /><ns0:Relationship Id="rId27" Type="http://schemas.openxmlformats.org/officeDocument/2006/relationships/slide" Target="slides/slide21.xml" /><ns0:Relationship Id="rId28" Type="http://schemas.openxmlformats.org/officeDocument/2006/relationships/slide" Target="slides/slide22.xml" /><ns0:Relationship Id="rId29" Type="http://schemas.openxmlformats.org/officeDocument/2006/relationships/slide" Target="slides/slide23.xml" /><ns0:Relationship Id="rId30" Type="http://schemas.openxmlformats.org/officeDocument/2006/relationships/slide" Target="slides/slide24.xml" /><ns0:Relationship Id="rId31" Type="http://schemas.openxmlformats.org/officeDocument/2006/relationships/slide" Target="slides/slide25.xml" /><ns0:Relationship Id="rId32" Type="http://schemas.openxmlformats.org/officeDocument/2006/relationships/slide" Target="slides/slide26.xml" /><ns0:Relationship Id="rId33" Type="http://schemas.openxmlformats.org/officeDocument/2006/relationships/slide" Target="slides/slide27.xml" /><ns0:Relationship Id="rIdFont34" Type="http://schemas.openxmlformats.org/officeDocument/2006/relationships/font" Target="fonts/42659253-3229-4cac-ad54-af336cc6024d.fntdata" /><ns0:Relationship Id="rIdFont35" Type="http://schemas.openxmlformats.org/officeDocument/2006/relationships/font" Target="fonts/65b4aae0-a134-4460-9bdd-b1c16302f025.fntdata" /><ns0:Relationship Id="rIdFont36" Type="http://schemas.openxmlformats.org/officeDocument/2006/relationships/font" Target="fonts/ac852bf2-876e-4c9a-8856-82e6fecf2ec7.fntdata" /><ns0:Relationship Id="rIdFont37" Type="http://schemas.openxmlformats.org/officeDocument/2006/relationships/font" Target="fonts/da46d79a-6f24-4299-8110-ec4eb64fd16b.fntdata" /><ns0:Relationship Id="rIdFont38" Type="http://schemas.openxmlformats.org/officeDocument/2006/relationships/font" Target="fonts/feb31e07-1c49-4ae2-9347-f689bac26450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448151"/>
            <a:ext cx="10820400" cy="876300"/>
          </a:xfrm>
          <a:prstGeom prst="roundRect">
            <a:avLst>
              <a:gd name="adj" fmla="val 4347"/>
            </a:avLst>
          </a:prstGeom>
          <a:solidFill>
            <a:srgbClr val="131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96475" y="533400"/>
            <a:ext cx="1609725" cy="2857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5448151"/>
            <a:ext cx="38100" cy="8763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3853606"/>
            <a:ext cx="2752725" cy="285750"/>
          </a:xfrm>
          <a:prstGeom prst="roundRect">
            <a:avLst>
              <a:gd name="adj" fmla="val 20000"/>
            </a:avLst>
          </a:prstGeom>
          <a:solidFill>
            <a:srgbClr val="0F22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552825" y="3853606"/>
            <a:ext cx="1666875" cy="285750"/>
          </a:xfrm>
          <a:prstGeom prst="roundRect">
            <a:avLst>
              <a:gd name="adj" fmla="val 20000"/>
            </a:avLst>
          </a:prstGeom>
          <a:solidFill>
            <a:srgbClr val="1C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85787"/>
            <a:ext cx="52387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BCA SEMESTER V • MACHINE LEARNING • UNIT 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9825" y="590550"/>
            <a:ext cx="14382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Class 3 (Final Session)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27944"/>
            <a:ext cx="9701212" cy="1051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450" i="0" u="none">
                <a:solidFill>
                  <a:srgbClr val="FFFFFF"/>
                </a:solidFill>
                <a:latin typeface="Space Grotesk"/>
              </a:rPr>
              <a:t>Bayesian Networks, Influence Diagrams &amp; Association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31666"/>
            <a:ext cx="9763125" cy="293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Graph-Based Probabilistic Reasoning and Unsupervised Pattern 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81501"/>
            <a:ext cx="11277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TEACHER &amp; STUDENT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791051"/>
            <a:ext cx="10496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CBD5E1"/>
                </a:solidFill>
                <a:latin typeface="Plus Jakarta Sans"/>
              </a:rPr>
              <a:t>Welcome students to the concluding lecture of Bayesian Decision Theory. Explain that today moves from single-formula decision rules to graphical networks and transactional pattern mining.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3910756"/>
            <a:ext cx="25812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Prescribed Text: Ethem Alpaydin (Ch. 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6175" y="3910756"/>
            <a:ext cx="14954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A78BFA"/>
                </a:solidFill>
                <a:latin typeface="Plus Jakarta Sans"/>
              </a:rPr>
              <a:t>University Exam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600700"/>
            <a:ext cx="10972800" cy="8382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800350"/>
            <a:ext cx="2961679" cy="1028700"/>
          </a:xfrm>
          <a:prstGeom prst="roundRect">
            <a:avLst>
              <a:gd name="adj" fmla="val 9259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028479" y="2800350"/>
            <a:ext cx="2961679" cy="1028700"/>
          </a:xfrm>
          <a:prstGeom prst="roundRect">
            <a:avLst>
              <a:gd name="adj" fmla="val 9259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66409" y="2681287"/>
            <a:ext cx="4115990" cy="1266825"/>
          </a:xfrm>
          <a:prstGeom prst="roundRect">
            <a:avLst>
              <a:gd name="adj" fmla="val 7518"/>
            </a:avLst>
          </a:prstGeom>
          <a:solidFill>
            <a:srgbClr val="EFF6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64293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560070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5600700"/>
            <a:ext cx="38100" cy="838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72875" y="5600700"/>
            <a:ext cx="9525" cy="838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679" y="3228975"/>
            <a:ext cx="1524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2559" y="3219450"/>
            <a:ext cx="17145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191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COURSE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77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Unit II Progression: The Final 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2971800"/>
            <a:ext cx="279022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Covered Prior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1829" y="2971800"/>
            <a:ext cx="279022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Covered Prior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8809" y="2852737"/>
            <a:ext cx="3906440" cy="923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Today's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5743575"/>
            <a:ext cx="11353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TEACHER &amp; EXAM NOTE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5934075"/>
            <a:ext cx="106394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Tell students: "We have already mastered calculating risks and posteriors. Today we learn how multiple random variables connect graphically without massive joint probability tables."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950" y="3228975"/>
            <a:ext cx="353716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Foundations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950" y="3486150"/>
            <a:ext cx="336872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Bayes Decision Theory &amp; 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1829" y="3228975"/>
            <a:ext cx="353716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Risk &amp; Utility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1829" y="3486150"/>
            <a:ext cx="336872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Loss Functions, Utility &amp; Info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7859" y="3128962"/>
            <a:ext cx="45541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3A8A"/>
                </a:solidFill>
                <a:latin typeface="Plus Jakarta Sans"/>
              </a:rPr>
              <a:t>Final 3 Topics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7859" y="3395662"/>
            <a:ext cx="386834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D4ED8"/>
                </a:solidFill>
                <a:latin typeface="Plus Jakarta Sans"/>
              </a:rPr>
              <a:t>Bayesian Networks → Influence Diagrams → Association Rules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57875"/>
            <a:ext cx="10972800" cy="58102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98940" y="1947862"/>
            <a:ext cx="4583459" cy="2990850"/>
          </a:xfrm>
          <a:prstGeom prst="roundRect">
            <a:avLst>
              <a:gd name="adj" fmla="val 38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857875"/>
            <a:ext cx="38100" cy="5810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378571"/>
            <a:ext cx="6046440" cy="784621"/>
          </a:xfrm>
          <a:prstGeom prst="roundRect">
            <a:avLst>
              <a:gd name="adj" fmla="val 7283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378571"/>
            <a:ext cx="38100" cy="784621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23870" y="2586037"/>
            <a:ext cx="933450" cy="523875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09558" y="3605212"/>
            <a:ext cx="1362075" cy="523875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4870" y="3243262"/>
            <a:ext cx="17145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191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SECTION 1 • BAYESIAN NETWORKS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477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What is a Bayesian Network?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5972175"/>
            <a:ext cx="11372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SPEAKER &amp; EXAM CUE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6143625"/>
            <a:ext cx="113728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Exam 2-Marker: Students must state both components: </a:t>
            </a:r>
            <a:r>
              <a:rPr b="0" sz="1125" i="1" u="none">
                <a:solidFill>
                  <a:srgbClr val="475569"/>
                </a:solidFill>
                <a:latin typeface="Plus Jakarta Sans"/>
              </a:rPr>
              <a:t>Directed Acyclic Graph (DAG)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+ </a:t>
            </a:r>
            <a:r>
              <a:rPr b="0" sz="1125" i="1" u="none">
                <a:solidFill>
                  <a:srgbClr val="475569"/>
                </a:solidFill>
                <a:latin typeface="Plus Jakarta Sans"/>
              </a:rPr>
              <a:t>Conditional Probability Tables (CPT)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4808" y="2224087"/>
            <a:ext cx="14644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VISUAL INTUITION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71289" y="4319587"/>
            <a:ext cx="5038762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Rain causes road wetness. Edge indicates conditional dependency.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530971"/>
            <a:ext cx="572259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15803D"/>
                </a:solidFill>
                <a:latin typeface="Plus Jakarta Sans"/>
              </a:rPr>
              <a:t>"A Bayesian Network is a graphical representation of probabilistic relationships between variables."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3315592"/>
            <a:ext cx="7558050" cy="2266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1" sz="1275" i="0" u="none">
                <a:solidFill>
                  <a:srgbClr val="0F172A"/>
                </a:solidFill>
                <a:latin typeface="Plus Jakarta Sans"/>
              </a:rPr>
              <a:t>Graph Structure: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Directed Acyclic Graph (DAG) with no loops.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3637508"/>
            <a:ext cx="7558050" cy="2266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1" sz="1275" i="0" u="none">
                <a:solidFill>
                  <a:srgbClr val="0F172A"/>
                </a:solidFill>
                <a:latin typeface="Plus Jakarta Sans"/>
              </a:rPr>
              <a:t>Nodes: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Represent random variables (discrete or continuous).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3959423"/>
            <a:ext cx="7558050" cy="2266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1" sz="1275" i="0" u="none">
                <a:solidFill>
                  <a:srgbClr val="0F172A"/>
                </a:solidFill>
                <a:latin typeface="Plus Jakarta Sans"/>
              </a:rPr>
              <a:t>Directed Edges: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Represent probabilistic dependencies or cause-effect.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4281338"/>
            <a:ext cx="7558050" cy="2266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1" sz="1275" i="0" u="none">
                <a:solidFill>
                  <a:srgbClr val="0F172A"/>
                </a:solidFill>
                <a:latin typeface="Plus Jakarta Sans"/>
              </a:rPr>
              <a:t>Probabilities: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Describe the strength of belief under uncertainty.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70" y="2719387"/>
            <a:ext cx="4953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40AF"/>
                </a:solidFill>
                <a:latin typeface="Plus Jakarta Sans"/>
              </a:rPr>
              <a:t>Rain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6258" y="3738562"/>
            <a:ext cx="92392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40AF"/>
                </a:solidFill>
                <a:latin typeface="Plus Jakarta Sans"/>
              </a:rPr>
              <a:t>Wet Road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57875"/>
            <a:ext cx="10972800" cy="58102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357437"/>
            <a:ext cx="4909691" cy="2171700"/>
          </a:xfrm>
          <a:prstGeom prst="roundRect">
            <a:avLst>
              <a:gd name="adj" fmla="val 4385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85991" y="2357437"/>
            <a:ext cx="5796408" cy="2171700"/>
          </a:xfrm>
          <a:prstGeom prst="roundRect">
            <a:avLst>
              <a:gd name="adj" fmla="val 4385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5857875"/>
            <a:ext cx="38100" cy="5810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491" y="4143375"/>
            <a:ext cx="76200" cy="114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591" y="4143375"/>
            <a:ext cx="76200" cy="114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191" y="4143375"/>
            <a:ext cx="76200" cy="114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191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SECTION 1 • MOTIVATION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477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Why Do We Need Bayesian Networks?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5972175"/>
            <a:ext cx="11372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TEACHER'S ANALOGY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6143625"/>
            <a:ext cx="113728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Tell students: "Instead of writing a 1,000-page book of every possible combination in life, a Bayesian network only writes down direct cause-effect rules."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2595562"/>
            <a:ext cx="554180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Plus Jakarta Sans"/>
              </a:rPr>
              <a:t>THE BOTTLENECK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2881312"/>
            <a:ext cx="581889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91B1B"/>
                </a:solidFill>
                <a:latin typeface="Plus Jakarta Sans"/>
              </a:rPr>
              <a:t>Full Joint Distribution Fails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233737"/>
            <a:ext cx="4528691" cy="488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7F1D1D"/>
                </a:solidFill>
                <a:latin typeface="Plus Jakarta Sans"/>
              </a:rPr>
              <a:t>For </a:t>
            </a:r>
            <a:r>
              <a:rPr b="0" sz="1200" i="1" u="none">
                <a:solidFill>
                  <a:srgbClr val="7F1D1D"/>
                </a:solidFill>
                <a:latin typeface="Plus Jakarta Sans"/>
              </a:rPr>
              <a:t>n</a:t>
            </a:r>
            <a:r>
              <a:rPr b="0" sz="1200" i="0" u="none">
                <a:solidFill>
                  <a:srgbClr val="7F1D1D"/>
                </a:solidFill>
                <a:latin typeface="Plus Jakarta Sans"/>
              </a:rPr>
              <a:t> binary variables, storing all probabilities requires </a:t>
            </a:r>
            <a:r>
              <a:rPr b="1" sz="1200" i="0" u="none">
                <a:solidFill>
                  <a:srgbClr val="7F1D1D"/>
                </a:solidFill>
                <a:latin typeface="Plus Jakarta Sans"/>
              </a:rPr>
              <a:t>2</a:t>
            </a:r>
            <a:r>
              <a:rPr b="1" sz="999" i="0" u="none">
                <a:solidFill>
                  <a:srgbClr val="7F1D1D"/>
                </a:solidFill>
                <a:latin typeface="Plus Jakarta Sans"/>
              </a:rPr>
              <a:t>n</a:t>
            </a:r>
            <a:r>
              <a:rPr b="1" sz="1200" i="0" u="none">
                <a:solidFill>
                  <a:srgbClr val="7F1D1D"/>
                </a:solidFill>
                <a:latin typeface="Plus Jakarta Sans"/>
              </a:rPr>
              <a:t> - 1</a:t>
            </a:r>
            <a:r>
              <a:rPr b="0" sz="1200" i="0" u="none">
                <a:solidFill>
                  <a:srgbClr val="7F1D1D"/>
                </a:solidFill>
                <a:latin typeface="Plus Jakarta Sans"/>
              </a:rPr>
              <a:t> parameters. For 30 variables, that is over 1 billion values!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836937"/>
            <a:ext cx="554180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991B1B"/>
                </a:solidFill>
                <a:latin typeface="Plus Jakarta Sans"/>
              </a:rPr>
              <a:t>Result: Equations become intractable to calculate and store.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24116" y="2595562"/>
            <a:ext cx="616788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THE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24116" y="2881312"/>
            <a:ext cx="616788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66534"/>
                </a:solidFill>
                <a:latin typeface="Plus Jakarta Sans"/>
              </a:rPr>
              <a:t>Sparse Graph Decomposition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24116" y="3233737"/>
            <a:ext cx="541540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4532D"/>
                </a:solidFill>
                <a:latin typeface="Plus Jakarta Sans"/>
              </a:rPr>
              <a:t>Real-world variables depend only on their direct causes. Bayesian Networks exploit local independence so reasoning requires drastically fewer values.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4116" y="4110037"/>
            <a:ext cx="9239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6534"/>
                </a:solidFill>
                <a:latin typeface="Plus Jakarta Sans"/>
              </a:rPr>
              <a:t>Variables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90891" y="4110037"/>
            <a:ext cx="12382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6534"/>
                </a:solidFill>
                <a:latin typeface="Plus Jakarta Sans"/>
              </a:rPr>
              <a:t>Relationships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1991" y="4110037"/>
            <a:ext cx="10477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6534"/>
                </a:solidFill>
                <a:latin typeface="Plus Jakarta Sans"/>
              </a:rPr>
              <a:t>Local CPTs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2591" y="4110037"/>
            <a:ext cx="13906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6534"/>
                </a:solidFill>
                <a:latin typeface="Plus Jakarta Sans"/>
              </a:rPr>
              <a:t>Visual Inference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57875"/>
            <a:ext cx="10972800" cy="58102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429916"/>
            <a:ext cx="3505200" cy="2026741"/>
          </a:xfrm>
          <a:prstGeom prst="roundRect">
            <a:avLst>
              <a:gd name="adj" fmla="val 469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429916"/>
            <a:ext cx="3505200" cy="2026741"/>
          </a:xfrm>
          <a:prstGeom prst="roundRect">
            <a:avLst>
              <a:gd name="adj" fmla="val 469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429916"/>
            <a:ext cx="3505200" cy="2026741"/>
          </a:xfrm>
          <a:prstGeom prst="roundRect">
            <a:avLst>
              <a:gd name="adj" fmla="val 469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5857875"/>
            <a:ext cx="38100" cy="5810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7725" y="3999458"/>
            <a:ext cx="2438400" cy="247650"/>
          </a:xfrm>
          <a:prstGeom prst="roundRect">
            <a:avLst>
              <a:gd name="adj" fmla="val 1538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81525" y="3999458"/>
            <a:ext cx="2171700" cy="247650"/>
          </a:xfrm>
          <a:prstGeom prst="roundRect">
            <a:avLst>
              <a:gd name="adj" fmla="val 1538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15325" y="3999458"/>
            <a:ext cx="2286000" cy="247650"/>
          </a:xfrm>
          <a:prstGeom prst="roundRect">
            <a:avLst>
              <a:gd name="adj" fmla="val 1538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668041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2668041"/>
            <a:ext cx="381000" cy="381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2668041"/>
            <a:ext cx="381000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2772816"/>
            <a:ext cx="17145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6775" y="2772816"/>
            <a:ext cx="190500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0100" y="2772816"/>
            <a:ext cx="171450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191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SECTION 1 • FUNDAMENTALS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477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Components of a Bayesian 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" y="5972175"/>
            <a:ext cx="11372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EXAM NOTE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" y="6143625"/>
            <a:ext cx="113728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Important for 5 Marks: Diagram must be an </a:t>
            </a:r>
            <a:r>
              <a:rPr b="1" sz="1125" i="0" u="none">
                <a:solidFill>
                  <a:srgbClr val="475569"/>
                </a:solidFill>
                <a:latin typeface="Plus Jakarta Sans"/>
              </a:rPr>
              <a:t>Acyclic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graph. Mention: "No directed cycle or feedback loop is permitted in a Bayesian Network."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3163341"/>
            <a:ext cx="397549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1. Nodes (Variables)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3477666"/>
            <a:ext cx="31242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Each node represents an observable or unobservable random variable.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2975" y="4037558"/>
            <a:ext cx="23431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Example: </a:t>
            </a:r>
            <a:r>
              <a:rPr b="0" sz="1050" i="1" u="none">
                <a:solidFill>
                  <a:srgbClr val="334155"/>
                </a:solidFill>
                <a:latin typeface="Plus Jakarta Sans"/>
              </a:rPr>
              <a:t>Disease, Fever, 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525" y="3163341"/>
            <a:ext cx="397549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2. Directed Edges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525" y="3477666"/>
            <a:ext cx="31242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Arrows show direct dependencies or causal influences between nodes.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76775" y="4037558"/>
            <a:ext cx="20764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Example: </a:t>
            </a:r>
            <a:r>
              <a:rPr b="0" sz="1050" i="1" u="none">
                <a:solidFill>
                  <a:srgbClr val="334155"/>
                </a:solidFill>
                <a:latin typeface="Plus Jakarta Sans"/>
              </a:rPr>
              <a:t>Disease → Symptoms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5325" y="3163341"/>
            <a:ext cx="38766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3. Conditional Tables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5325" y="3477666"/>
            <a:ext cx="31242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Each node has a CPT specifying P(Node | Parents) to quantify influence.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0575" y="4037558"/>
            <a:ext cx="2190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Example: </a:t>
            </a:r>
            <a:r>
              <a:rPr b="0" sz="1050" i="1" u="none">
                <a:solidFill>
                  <a:srgbClr val="334155"/>
                </a:solidFill>
                <a:latin typeface="Plus Jakarta Sans"/>
              </a:rPr>
              <a:t>P(Fever | Disease = True)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676900"/>
            <a:ext cx="10972800" cy="762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381250"/>
            <a:ext cx="5174605" cy="194310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676900"/>
            <a:ext cx="38100" cy="762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30053" y="2695575"/>
            <a:ext cx="1733550" cy="495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7105" y="3476625"/>
            <a:ext cx="5455294" cy="809625"/>
          </a:xfrm>
          <a:prstGeom prst="roundRect">
            <a:avLst>
              <a:gd name="adj" fmla="val 9411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3925" y="3533775"/>
            <a:ext cx="2196851" cy="47625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905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73176" y="3533775"/>
            <a:ext cx="2196851" cy="47625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905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4191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SECTION 1 • CASE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477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Beginner-Friendly Medical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5791200"/>
            <a:ext cx="11372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CLASSROOM ACTIVITY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5962650"/>
            <a:ext cx="106870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Ask students: "If a patient walks in with cough and fever, are these symptoms independent? No! But once we know they have Flu, fever and cough become conditionally independent."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4853" y="2828925"/>
            <a:ext cx="121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FFFFFF"/>
                </a:solidFill>
                <a:latin typeface="Plus Jakarta Sans"/>
              </a:rPr>
              <a:t>Disease (Flu)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7105" y="2419350"/>
            <a:ext cx="6064894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Diagnostic Reasoning (Inference)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7105" y="2838450"/>
            <a:ext cx="5550544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In practice, doctors observe the symptoms first (Fever, Cough) and want to infer the hidden cause (Disease).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618" y="3648075"/>
            <a:ext cx="2517464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1E40AF"/>
                </a:solidFill>
                <a:latin typeface="Plus Jakarta Sans"/>
              </a:rPr>
              <a:t>Fever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870" y="3648075"/>
            <a:ext cx="2517464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1E40AF"/>
                </a:solidFill>
                <a:latin typeface="Plus Jakarta Sans"/>
              </a:rPr>
              <a:t>Cough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9030" y="3638550"/>
            <a:ext cx="5902969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40AF"/>
                </a:solidFill>
                <a:latin typeface="Space Grotesk"/>
              </a:rPr>
              <a:t>P(Disease | Fever, Cough)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9030" y="3943350"/>
            <a:ext cx="590296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2563EB"/>
                </a:solidFill>
                <a:latin typeface="Plus Jakarta Sans"/>
              </a:rPr>
              <a:t>Calculated by Bayes' Rule using the conditional tables of Fever and Cough!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57875"/>
            <a:ext cx="10972800" cy="58102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286000"/>
            <a:ext cx="5591175" cy="2314575"/>
          </a:xfrm>
          <a:prstGeom prst="roundRect">
            <a:avLst>
              <a:gd name="adj" fmla="val 49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857875"/>
            <a:ext cx="38100" cy="5810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09900" y="2562225"/>
            <a:ext cx="790575" cy="40005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50193" y="3914775"/>
            <a:ext cx="1190625" cy="409575"/>
          </a:xfrm>
          <a:prstGeom prst="roundRect">
            <a:avLst>
              <a:gd name="adj" fmla="val 46511"/>
            </a:avLst>
          </a:prstGeom>
          <a:solidFill>
            <a:srgbClr val="FEE2E2"/>
          </a:solidFill>
          <a:ln w="9525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5825" y="3190875"/>
            <a:ext cx="1143000" cy="409575"/>
          </a:xfrm>
          <a:prstGeom prst="roundRect">
            <a:avLst>
              <a:gd name="adj" fmla="val 46511"/>
            </a:avLst>
          </a:prstGeom>
          <a:solidFill>
            <a:srgbClr val="E0F2FE"/>
          </a:solidFill>
          <a:ln w="952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38700" y="3190875"/>
            <a:ext cx="1085850" cy="409575"/>
          </a:xfrm>
          <a:prstGeom prst="roundRect">
            <a:avLst>
              <a:gd name="adj" fmla="val 46511"/>
            </a:avLst>
          </a:prstGeom>
          <a:solidFill>
            <a:srgbClr val="E0F2FE"/>
          </a:solidFill>
          <a:ln w="952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068" y="3714750"/>
            <a:ext cx="142875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191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SECTION 1 • MULTI-VARIABLE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477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Multi-Node Network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5972175"/>
            <a:ext cx="11372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EXAM TIP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6143625"/>
            <a:ext cx="113728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Draw this exact 4-node diagram for 5-mark university questions on "Explain Bayesian Networks with a suitable example."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8500" y="2657475"/>
            <a:ext cx="4286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FFFFF"/>
                </a:solidFill>
                <a:latin typeface="Plus Jakarta Sans"/>
              </a:rPr>
              <a:t>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21643" y="4010025"/>
            <a:ext cx="94297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B91C1C"/>
                </a:solidFill>
                <a:latin typeface="Plus Jakarta Sans"/>
              </a:rPr>
              <a:t>Late Arrival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3675" y="2590948"/>
            <a:ext cx="564832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Arrow Semantics (What arrows mean)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3675" y="2962423"/>
            <a:ext cx="5648325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Rain → Traffic: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Rain increases the probability of traffic delays.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3675" y="3309044"/>
            <a:ext cx="513397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Traffic → Late Arrival: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Traffic directly increases probability of arriving late.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3675" y="3868935"/>
            <a:ext cx="513397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Rain → Wet Road: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Wet road does not cause late arrival directly in this model.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7275" y="3286125"/>
            <a:ext cx="8953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Plus Jakarta Sans"/>
              </a:rPr>
              <a:t>Traffic Jam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10150" y="3286125"/>
            <a:ext cx="838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Plus Jakarta Sans"/>
              </a:rPr>
              <a:t>Wet Road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57875"/>
            <a:ext cx="10972800" cy="58102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014269" y="2455664"/>
            <a:ext cx="4568130" cy="1975246"/>
          </a:xfrm>
          <a:prstGeom prst="roundRect">
            <a:avLst>
              <a:gd name="adj" fmla="val 482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857875"/>
            <a:ext cx="38100" cy="5810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455664"/>
            <a:ext cx="6137969" cy="822721"/>
          </a:xfrm>
          <a:prstGeom prst="roundRect">
            <a:avLst>
              <a:gd name="adj" fmla="val 6946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52394" y="3840956"/>
            <a:ext cx="4091880" cy="295275"/>
          </a:xfrm>
          <a:prstGeom prst="roundRect">
            <a:avLst>
              <a:gd name="adj" fmla="val 12903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455664"/>
            <a:ext cx="38100" cy="822721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191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SECTION 1 • CORE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77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Understanding Conditional Independence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5972175"/>
            <a:ext cx="11372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EXAM NOTE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6143625"/>
            <a:ext cx="113728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Define: "Conditional independence is the primary property that allows Bayesian Networks to compress massive probability tables into simple local models."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430785"/>
            <a:ext cx="6233219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Mathematical Statement:</a:t>
            </a:r>
            <a:r>
              <a:t>
</a:t>
            </a:r>
            <a:r>
              <a:rPr b="1" sz="1350" i="0" u="none">
                <a:solidFill>
                  <a:srgbClr val="1E40AF"/>
                </a:solidFill>
                <a:latin typeface="Plus Jakarta Sans"/>
              </a:rPr>
              <a:t>P(X, Y | Z) = P(X | Z) · P(Y | Z)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068960"/>
            <a:ext cx="623321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4748B"/>
                </a:solidFill>
                <a:latin typeface="Plus Jakarta Sans"/>
              </a:rPr>
              <a:t>Plain English Translation:</a:t>
            </a:r>
            <a:r>
              <a:rPr b="0" sz="1125" i="0" u="none">
                <a:solidFill>
                  <a:srgbClr val="64748B"/>
                </a:solidFill>
                <a:latin typeface="Plus Jakarta Sans"/>
              </a:rPr>
              <a:t> Once Z is known, the joint probability simplifies into the product of individual probabilities.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2394" y="2750343"/>
            <a:ext cx="493960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Example: Fever &amp; Cough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52394" y="3083718"/>
            <a:ext cx="418713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Plus Jakarta Sans"/>
              </a:rPr>
              <a:t>Normally, Fever and Cough occur together. But once we confirm </a:t>
            </a:r>
            <a:r>
              <a:rPr b="1" sz="1125" i="0" u="none">
                <a:solidFill>
                  <a:srgbClr val="334155"/>
                </a:solidFill>
                <a:latin typeface="Plus Jakarta Sans"/>
              </a:rPr>
              <a:t>Flu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, knowing about Fever gives no extra information about Cough.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6694" y="3898106"/>
            <a:ext cx="395853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Fever ⫫ Cough | Flu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" y="2627114"/>
            <a:ext cx="577601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730A3"/>
                </a:solidFill>
                <a:latin typeface="Plus Jakarta Sans"/>
              </a:rPr>
              <a:t>"Two variables X and Y are conditionally independent given Z if knowing Z makes X tell us nothing new about Y."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57875"/>
            <a:ext cx="10972800" cy="58102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71775"/>
            <a:ext cx="2452687" cy="1343025"/>
          </a:xfrm>
          <a:prstGeom prst="roundRect">
            <a:avLst>
              <a:gd name="adj" fmla="val 70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43287" y="2771775"/>
            <a:ext cx="2452687" cy="1343025"/>
          </a:xfrm>
          <a:prstGeom prst="roundRect">
            <a:avLst>
              <a:gd name="adj" fmla="val 70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76975" y="2771775"/>
            <a:ext cx="2452687" cy="1343025"/>
          </a:xfrm>
          <a:prstGeom prst="roundRect">
            <a:avLst>
              <a:gd name="adj" fmla="val 70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10662" y="2762250"/>
            <a:ext cx="2471737" cy="1362075"/>
          </a:xfrm>
          <a:prstGeom prst="roundRect">
            <a:avLst>
              <a:gd name="adj" fmla="val 6993"/>
            </a:avLst>
          </a:prstGeom>
          <a:solidFill>
            <a:srgbClr val="DBEAFE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5857875"/>
            <a:ext cx="38100" cy="5810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587" y="3357562"/>
            <a:ext cx="15240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275" y="3357562"/>
            <a:ext cx="15240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962" y="3357562"/>
            <a:ext cx="1524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1643" y="2971800"/>
            <a:ext cx="2286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756" y="2971800"/>
            <a:ext cx="28575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4731" y="2971800"/>
            <a:ext cx="257175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32231" y="2971800"/>
            <a:ext cx="228600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4191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SECTION 1 • DECISION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477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How Bayesian Networks Aid Decisions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50" y="5972175"/>
            <a:ext cx="11372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CONNECTING PAST CLASSES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" y="6143625"/>
            <a:ext cx="113728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Remind students: In Class 1 we learned Bayes' rule for 1 feature. Bayesian Networks generalize Bayes' rule to hundreds of interacting features!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8900" y="3295650"/>
            <a:ext cx="269408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1. Observe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045" y="3571875"/>
            <a:ext cx="256579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Sensor data, patient symptoms, market indicators.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2587" y="3295650"/>
            <a:ext cx="269408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2. Network Propagation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6732" y="3571875"/>
            <a:ext cx="256579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Evidence enters observed nodes; Bayes rule propagates.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6275" y="3295650"/>
            <a:ext cx="269408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3. Update Posterior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0420" y="3571875"/>
            <a:ext cx="256579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Beliefs updated: P(Target | Observed Evidence).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9487" y="3295650"/>
            <a:ext cx="269408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40AF"/>
                </a:solidFill>
                <a:latin typeface="Plus Jakarta Sans"/>
              </a:rPr>
              <a:t>4. Rational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63632" y="3571875"/>
            <a:ext cx="256579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1E3A8A"/>
                </a:solidFill>
                <a:latin typeface="Plus Jakarta Sans"/>
              </a:rPr>
              <a:t>Choose action minimizing expected loss.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676900"/>
            <a:ext cx="10972800" cy="762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268140"/>
            <a:ext cx="5817244" cy="2169318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55444" y="2268140"/>
            <a:ext cx="4926955" cy="2169318"/>
          </a:xfrm>
          <a:prstGeom prst="roundRect">
            <a:avLst>
              <a:gd name="adj" fmla="val 43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5676900"/>
            <a:ext cx="38100" cy="762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7725" y="3894534"/>
            <a:ext cx="5340994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7725" y="3894534"/>
            <a:ext cx="53409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191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SECTION 1 • SUMMARY &amp;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77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Bayesian Network: Exam Revision 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496740"/>
            <a:ext cx="5455294" cy="17121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Official Exam Definition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5791200"/>
            <a:ext cx="11372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SPEAKER CUE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5962650"/>
            <a:ext cx="106870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Conclude Section 1. Ask students if they understand why edges are one-way (directed) and why cycles are forbidden before proceeding to Influence Diagrams.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2782490"/>
            <a:ext cx="5436244" cy="959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0F172A"/>
                </a:solidFill>
                <a:latin typeface="Plus Jakarta Sans"/>
              </a:rPr>
              <a:t>"A Bayesian Network is a Directed Acyclic Graph (DAG) whose nodes represent random variables and directed edges represent conditional dependencies, parameterized by Conditional Probability Tables."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93569" y="2544365"/>
            <a:ext cx="19883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KEY PROPERTIES TO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4018359"/>
            <a:ext cx="66762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Memory Keyword: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DAG + CPT = Bayesian 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3569" y="2801540"/>
            <a:ext cx="529843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✓ Directed Acyclic Graph (DAG)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93569" y="3058715"/>
            <a:ext cx="529843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✓ Encodes Conditional Independence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93569" y="3315890"/>
            <a:ext cx="529843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✓ Handles Incomplete / Missing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3569" y="3573065"/>
            <a:ext cx="529843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✓ Enables Bidirectional Inference (Cause ↔ Effect)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57875"/>
            <a:ext cx="10972800" cy="58102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029450" y="2314575"/>
            <a:ext cx="4552950" cy="2257425"/>
          </a:xfrm>
          <a:prstGeom prst="roundRect">
            <a:avLst>
              <a:gd name="adj" fmla="val 50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857875"/>
            <a:ext cx="38100" cy="58102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336601"/>
            <a:ext cx="6115050" cy="784621"/>
          </a:xfrm>
          <a:prstGeom prst="roundRect">
            <a:avLst>
              <a:gd name="adj" fmla="val 7283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67575" y="2838450"/>
            <a:ext cx="4076700" cy="676275"/>
          </a:xfrm>
          <a:prstGeom prst="roundRect">
            <a:avLst>
              <a:gd name="adj" fmla="val 112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267575" y="3629025"/>
            <a:ext cx="4076700" cy="704850"/>
          </a:xfrm>
          <a:prstGeom prst="roundRect">
            <a:avLst>
              <a:gd name="adj" fmla="val 10810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336601"/>
            <a:ext cx="38100" cy="784621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9600" y="3911798"/>
            <a:ext cx="2525762" cy="638175"/>
          </a:xfrm>
          <a:prstGeom prst="roundRect">
            <a:avLst>
              <a:gd name="adj" fmla="val 1194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87762" y="3911798"/>
            <a:ext cx="3436887" cy="638175"/>
          </a:xfrm>
          <a:prstGeom prst="roundRect">
            <a:avLst>
              <a:gd name="adj" fmla="val 11940"/>
            </a:avLst>
          </a:prstGeom>
          <a:solidFill>
            <a:srgbClr val="CCFBF1"/>
          </a:solidFill>
          <a:ln w="952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4191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SECTION 2 • INFLUENCE DIAGRAMS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477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What is an Influence Diagram?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5972175"/>
            <a:ext cx="11372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SPEAKER &amp; EXAM CUE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6143625"/>
            <a:ext cx="113728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2-Mark Question: "Define Influence Diagram." Emphasize the 3 key pillars: Chance, Decision, and Utility.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3273623"/>
            <a:ext cx="62103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It directly extends a Bayesian Network by adding human agency (</a:t>
            </a:r>
            <a:r>
              <a:rPr b="1" sz="1275" i="0" u="none">
                <a:solidFill>
                  <a:srgbClr val="334155"/>
                </a:solidFill>
                <a:latin typeface="Plus Jakarta Sans"/>
              </a:rPr>
              <a:t>Decisions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) and outcome values (</a:t>
            </a:r>
            <a:r>
              <a:rPr b="1" sz="1275" i="0" u="none">
                <a:solidFill>
                  <a:srgbClr val="334155"/>
                </a:solidFill>
                <a:latin typeface="Plus Jakarta Sans"/>
              </a:rPr>
              <a:t>Utilities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7987" y="2552700"/>
            <a:ext cx="5095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Plus Jakarta Sans"/>
              </a:rPr>
              <a:t>THE CORE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2489001"/>
            <a:ext cx="57912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115E59"/>
                </a:solidFill>
                <a:latin typeface="Plus Jakarta Sans"/>
              </a:rPr>
              <a:t>"An Influence Diagram is a graphical model that represents uncertainty, decisions, and utilities together in a single framework."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6581" y="2981325"/>
            <a:ext cx="47386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Plus Jakarta Sans"/>
              </a:rPr>
              <a:t>Bayesian Net asks: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6581" y="3162300"/>
            <a:ext cx="4738687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284C7"/>
                </a:solidFill>
                <a:latin typeface="Plus Jakarta Sans"/>
              </a:rPr>
              <a:t>"What is likely?"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8487" y="3781425"/>
            <a:ext cx="47148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Plus Jakarta Sans"/>
              </a:rPr>
              <a:t>Influence Diagram asks: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8487" y="3962400"/>
            <a:ext cx="47148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D9488"/>
                </a:solidFill>
                <a:latin typeface="Plus Jakarta Sans"/>
              </a:rPr>
              <a:t>"What should we do?"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425" y="4035623"/>
            <a:ext cx="284764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Bayesian Network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425" y="4226123"/>
            <a:ext cx="284764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Uncertainty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1587" y="4035623"/>
            <a:ext cx="398654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D9488"/>
                </a:solidFill>
                <a:latin typeface="Plus Jakarta Sans"/>
              </a:rPr>
              <a:t>Influence Diagram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1587" y="4226123"/>
            <a:ext cx="398654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15E59"/>
                </a:solidFill>
                <a:latin typeface="Plus Jakarta Sans"/>
              </a:rPr>
              <a:t>Uncertainty + Action + Payoff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676900"/>
            <a:ext cx="10972800" cy="762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271712"/>
            <a:ext cx="3505200" cy="2162175"/>
          </a:xfrm>
          <a:prstGeom prst="roundRect">
            <a:avLst>
              <a:gd name="adj" fmla="val 528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271712"/>
            <a:ext cx="3505200" cy="2162175"/>
          </a:xfrm>
          <a:prstGeom prst="roundRect">
            <a:avLst>
              <a:gd name="adj" fmla="val 528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271712"/>
            <a:ext cx="3505200" cy="2162175"/>
          </a:xfrm>
          <a:prstGeom prst="roundRect">
            <a:avLst>
              <a:gd name="adj" fmla="val 528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5676900"/>
            <a:ext cx="38100" cy="762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05025" y="2547937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2857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838825" y="2547937"/>
            <a:ext cx="514350" cy="514350"/>
          </a:xfrm>
          <a:prstGeom prst="roundRect">
            <a:avLst>
              <a:gd name="adj" fmla="val 7407"/>
            </a:avLst>
          </a:prstGeom>
          <a:solidFill>
            <a:srgbClr val="DCFCE7"/>
          </a:solidFill>
          <a:ln w="285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66099" y="2441412"/>
            <a:ext cx="727400" cy="7274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191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SECTION 2 • VISUAL SYNTAX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477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The Three Standard Node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5791200"/>
            <a:ext cx="11372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EXAM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5962650"/>
            <a:ext cx="106870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Standard 5-Mark Question: "Draw and describe the three node shapes used in an Influence Diagram." Circles for Chance, Rectangles for Decisions, Diamonds for Utility.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2150" y="2547937"/>
            <a:ext cx="8001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0284C7"/>
                </a:solidFill>
                <a:latin typeface="Plus Jakarta Sans"/>
              </a:rPr>
              <a:t>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7096" y="3214687"/>
            <a:ext cx="165020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Chance Node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4950" y="3509962"/>
            <a:ext cx="1714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284C7"/>
                </a:solidFill>
                <a:latin typeface="Plus Jakarta Sans"/>
              </a:rPr>
              <a:t>SHAPE: CIRCLE / 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1481" y="3757612"/>
            <a:ext cx="388143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Represents uncertain random variables outside our direct control.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95950" y="2547937"/>
            <a:ext cx="8001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16A34A"/>
                </a:solidFill>
                <a:latin typeface="Plus Jakarta Sans"/>
              </a:rPr>
              <a:t>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4639" y="3214687"/>
            <a:ext cx="176272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Decision Node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0" y="3509962"/>
            <a:ext cx="1524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6A34A"/>
                </a:solidFill>
                <a:latin typeface="Plus Jakarta Sans"/>
              </a:rPr>
              <a:t>SHAPE: RECTANGLE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5281" y="3757612"/>
            <a:ext cx="388143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Represents choices or actions under the decision maker's control.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3224" y="2441412"/>
            <a:ext cx="1013150" cy="727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9710" y="3214687"/>
            <a:ext cx="144018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Utility Node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4475" y="3509962"/>
            <a:ext cx="13906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D97706"/>
                </a:solidFill>
                <a:latin typeface="Plus Jakarta Sans"/>
              </a:rPr>
              <a:t>SHAPE: DIAMOND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9081" y="3757612"/>
            <a:ext cx="388143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Represents payoffs, costs, rewards, or preference satisfaction.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676900"/>
            <a:ext cx="10972800" cy="762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044630" y="2290762"/>
            <a:ext cx="4537769" cy="2124075"/>
          </a:xfrm>
          <a:prstGeom prst="roundRect">
            <a:avLst>
              <a:gd name="adj" fmla="val 53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676900"/>
            <a:ext cx="38100" cy="762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538537"/>
            <a:ext cx="6092130" cy="685800"/>
          </a:xfrm>
          <a:prstGeom prst="roundRect">
            <a:avLst>
              <a:gd name="adj" fmla="val 555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538537"/>
            <a:ext cx="38100" cy="6858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282755" y="2814637"/>
            <a:ext cx="4061519" cy="3905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82755" y="3300412"/>
            <a:ext cx="4061519" cy="3905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82755" y="3786187"/>
            <a:ext cx="4061519" cy="3905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191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SECTION 2 • NODE DEEP DIVE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477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1. The Chance Node (Circle ○)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5791200"/>
            <a:ext cx="11372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SPEAKER TIP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5962650"/>
            <a:ext cx="106870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Remind students: "Every node that existed in a Bayesian Network was a Chance Node! That is why an Influence Diagram directly contains Bayesian Networks."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2481262"/>
            <a:ext cx="799592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Nature's Uncertain States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2900362"/>
            <a:ext cx="618738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A chance node represents an uncertain event that the decision maker cannot directly force or choose.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2755" y="2528887"/>
            <a:ext cx="490924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REAL-WORLD 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50" y="3671887"/>
            <a:ext cx="713891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Governed by Probability Distributions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" y="3910012"/>
            <a:ext cx="713891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Each chance node stores a probability table conditioned on parent nodes.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16105" y="2909887"/>
            <a:ext cx="389006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369A1"/>
                </a:solidFill>
                <a:latin typeface="Plus Jakarta Sans"/>
              </a:rPr>
              <a:t>○ Patient Disease (Flu / Healthy)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16105" y="3395662"/>
            <a:ext cx="389006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369A1"/>
                </a:solidFill>
                <a:latin typeface="Plus Jakarta Sans"/>
              </a:rPr>
              <a:t>○ Weather (Sunny / Rainy)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6105" y="3881437"/>
            <a:ext cx="389006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369A1"/>
                </a:solidFill>
                <a:latin typeface="Plus Jakarta Sans"/>
              </a:rPr>
              <a:t>○ Market Demand (High / Low)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676900"/>
            <a:ext cx="10972800" cy="762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044630" y="2290762"/>
            <a:ext cx="4537769" cy="2124075"/>
          </a:xfrm>
          <a:prstGeom prst="roundRect">
            <a:avLst>
              <a:gd name="adj" fmla="val 53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676900"/>
            <a:ext cx="38100" cy="762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448050"/>
            <a:ext cx="6092130" cy="866775"/>
          </a:xfrm>
          <a:prstGeom prst="roundRect">
            <a:avLst>
              <a:gd name="adj" fmla="val 43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448050"/>
            <a:ext cx="38100" cy="8667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282755" y="2814637"/>
            <a:ext cx="4061519" cy="390525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82755" y="3300412"/>
            <a:ext cx="4061519" cy="390525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82755" y="3786187"/>
            <a:ext cx="4061519" cy="390525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191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SECTION 2 • NODE DEEP DIVE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477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2. The Decision Node (Rectangle □)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5791200"/>
            <a:ext cx="11372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SPEAKER CUE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5962650"/>
            <a:ext cx="106870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Highlight: "A doctor cannot choose whether a patient has a disease (that's Chance), but the doctor can choose which medication to prescribe (that's Decision)!"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2390775"/>
            <a:ext cx="799592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The Agent's Controlled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2809875"/>
            <a:ext cx="618738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A decision node represents an explicit choice from a set of mutually exclusive alternatives available to the agent.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2755" y="2528887"/>
            <a:ext cx="490924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REAL-WORLD 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50" y="3581400"/>
            <a:ext cx="713891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No Probabilities Inside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" y="3819525"/>
            <a:ext cx="580638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Incoming arrows represent information known at decision time, NOT probabilistic causes.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16105" y="2909887"/>
            <a:ext cx="389006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5803D"/>
                </a:solidFill>
                <a:latin typeface="Plus Jakarta Sans"/>
              </a:rPr>
              <a:t>□ Medical Treatment (Drug A vs Drug 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16105" y="3395662"/>
            <a:ext cx="389006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5803D"/>
                </a:solidFill>
                <a:latin typeface="Plus Jakarta Sans"/>
              </a:rPr>
              <a:t>□ Loan Approval (Approve / Reject)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6105" y="3881437"/>
            <a:ext cx="389006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5803D"/>
                </a:solidFill>
                <a:latin typeface="Plus Jakarta Sans"/>
              </a:rPr>
              <a:t>□ Marketing Action (Email / SMS / None)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57875"/>
            <a:ext cx="10972800" cy="58102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044630" y="2714625"/>
            <a:ext cx="4537769" cy="1495425"/>
          </a:xfrm>
          <a:prstGeom prst="roundRect">
            <a:avLst>
              <a:gd name="adj" fmla="val 76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857875"/>
            <a:ext cx="38100" cy="58102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557587"/>
            <a:ext cx="6092130" cy="866775"/>
          </a:xfrm>
          <a:prstGeom prst="roundRect">
            <a:avLst>
              <a:gd name="adj" fmla="val 4395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557587"/>
            <a:ext cx="38100" cy="8667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191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SECTION 2 • NODE DEEP DIVE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77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3. The Utility Node (Diamond ◇)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5972175"/>
            <a:ext cx="11372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PAST CLASS CONNECTION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6143625"/>
            <a:ext cx="113728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Remind students: In Class 2 we studied Utility Functions U(s). The Utility node simply evaluates U(Action, Outcome) to select the optimal choice.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500312"/>
            <a:ext cx="799592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Quantifying Desirability &amp;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919412"/>
            <a:ext cx="618738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A utility node represents the payoff, cost, or benefit of every possible combination of decisions and outcomes.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82755" y="2952750"/>
            <a:ext cx="490924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WHAT UTILITY REPRESENTS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3690937"/>
            <a:ext cx="713891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2400E"/>
                </a:solidFill>
                <a:latin typeface="Plus Jakarta Sans"/>
              </a:rPr>
              <a:t>Utility Axiom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3929062"/>
            <a:ext cx="580638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B45309"/>
                </a:solidFill>
                <a:latin typeface="Plus Jakarta Sans"/>
              </a:rPr>
              <a:t>Higher utility value = more desirable outcome. Rational decision makers maximize Expected Utility.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2755" y="3238500"/>
            <a:ext cx="490924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• Patient Health Score: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Cured = +100, Side Effect = -20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2755" y="3514725"/>
            <a:ext cx="490924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• Financial Profit: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Revenue minus operational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2755" y="3790950"/>
            <a:ext cx="490924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• Travel Time Saved: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On-time arrival vs Late penalty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676900"/>
            <a:ext cx="10972800" cy="762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405062"/>
            <a:ext cx="5591175" cy="1895475"/>
          </a:xfrm>
          <a:prstGeom prst="roundRect">
            <a:avLst>
              <a:gd name="adj" fmla="val 603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676900"/>
            <a:ext cx="38100" cy="762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52650" y="3529012"/>
            <a:ext cx="2505075" cy="495300"/>
          </a:xfrm>
          <a:prstGeom prst="roundRect">
            <a:avLst>
              <a:gd name="adj" fmla="val 15384"/>
            </a:avLst>
          </a:prstGeom>
          <a:solidFill>
            <a:srgbClr val="FEF3C7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5825" y="2681287"/>
            <a:ext cx="1558974" cy="4667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060775" y="2681287"/>
            <a:ext cx="1863774" cy="466725"/>
          </a:xfrm>
          <a:prstGeom prst="roundRect">
            <a:avLst>
              <a:gd name="adj" fmla="val 12244"/>
            </a:avLst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191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SECTION 2 • END-TO-END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77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Medical Influence Diagram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5791200"/>
            <a:ext cx="11372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CLASSROOM 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5962650"/>
            <a:ext cx="106870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Ask students: "Why does Utility have arrows entering from BOTH Disease and Treatment?" Answer: Because utility depends on whether the patient was actually sick AND which treatment was administered!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1250" y="3643312"/>
            <a:ext cx="21431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B45309"/>
                </a:solidFill>
                <a:latin typeface="Plus Jakarta Sans"/>
              </a:rPr>
              <a:t>◇ Patient Outcome Utility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3675" y="2500461"/>
            <a:ext cx="564832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How the System Decides: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3675" y="2871936"/>
            <a:ext cx="5648325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1. Assess Chance: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Probability of disease is computed from tests.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3675" y="3218557"/>
            <a:ext cx="513397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2. Simulate Actions: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Treatment options (Drug A vs Drug B) are evaluated.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3675" y="3778448"/>
            <a:ext cx="513397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3. Calculate Utility: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Weighted payoff combines cure rate and adverse costs.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6325" y="2795587"/>
            <a:ext cx="1273224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Plus Jakarta Sans"/>
              </a:rPr>
              <a:t>○ Disease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275" y="2795587"/>
            <a:ext cx="1578024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5803D"/>
                </a:solidFill>
                <a:latin typeface="Plus Jakarta Sans"/>
              </a:rPr>
              <a:t>□ Treatment Choice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57875"/>
            <a:ext cx="10972800" cy="58102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4362" y="2776537"/>
            <a:ext cx="2740818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55181" y="2776537"/>
            <a:ext cx="405631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11491" y="2776537"/>
            <a:ext cx="4166145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5857875"/>
            <a:ext cx="38100" cy="58102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4362" y="3228975"/>
            <a:ext cx="27408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55181" y="3228975"/>
            <a:ext cx="40563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11491" y="3228975"/>
            <a:ext cx="41661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4362" y="3686175"/>
            <a:ext cx="27408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55181" y="3686175"/>
            <a:ext cx="40563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11491" y="3686175"/>
            <a:ext cx="41661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362" y="4124325"/>
            <a:ext cx="27408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55181" y="4124325"/>
            <a:ext cx="40563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11491" y="4124325"/>
            <a:ext cx="41661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9600" y="2309812"/>
            <a:ext cx="10972800" cy="22669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09600" y="2309812"/>
          <a:ext cx="10963273" cy="22669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740818"/>
                <a:gridCol w="4056310"/>
                <a:gridCol w="4166145"/>
              </a:tblGrid>
              <a:tr h="45339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Feature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E40AF"/>
                          </a:solidFill>
                          <a:latin typeface="Plus Jakarta Sans"/>
                        </a:rPr>
                        <a:t>Bayesian Network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766E"/>
                          </a:solidFill>
                          <a:latin typeface="Plus Jakarta Sans"/>
                        </a:rPr>
                        <a:t>Influence Diagram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Primary Goal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Probabilistic reasoning under uncertainty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Optimal decision-making under uncertainty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Node Types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Chance Nodes only (Circles)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Chance (○), Decision (□), Utility (◇)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Agent Control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No decision nodes (Passive observer)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Explicit decision nodes (Active agent)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Core Question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E40AF"/>
                          </a:solidFill>
                          <a:latin typeface="Plus Jakarta Sans"/>
                        </a:rPr>
                        <a:t>"What is the probability of X?"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766E"/>
                          </a:solidFill>
                          <a:latin typeface="Plus Jakarta Sans"/>
                        </a:rPr>
                        <a:t>"What action gives maximum utility?"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09600" y="4191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SECTION 2 • COMPARISON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477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Bayesian Network vs. Influence Diagram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" y="5972175"/>
            <a:ext cx="11372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MAJOR EXAM 5-MARK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150" y="6143625"/>
            <a:ext cx="113728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Students should memorize the memory line: </a:t>
            </a:r>
            <a:r>
              <a:rPr b="0" sz="1125" i="1" u="none">
                <a:solidFill>
                  <a:srgbClr val="475569"/>
                </a:solidFill>
                <a:latin typeface="Plus Jakarta Sans"/>
              </a:rPr>
              <a:t>"Bayesian Network = What is likely? | Influence Diagram = What should we do?"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57875"/>
            <a:ext cx="10972800" cy="58102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044630" y="2262187"/>
            <a:ext cx="4537769" cy="2362200"/>
          </a:xfrm>
          <a:prstGeom prst="roundRect">
            <a:avLst>
              <a:gd name="adj" fmla="val 4838"/>
            </a:avLst>
          </a:prstGeom>
          <a:solidFill>
            <a:srgbClr val="F0FDFA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857875"/>
            <a:ext cx="38100" cy="58102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555950"/>
            <a:ext cx="6092130" cy="866775"/>
          </a:xfrm>
          <a:prstGeom prst="roundRect">
            <a:avLst>
              <a:gd name="adj" fmla="val 879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82755" y="2747962"/>
            <a:ext cx="4061519" cy="352425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282755" y="3176587"/>
            <a:ext cx="4061519" cy="352425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82755" y="3605212"/>
            <a:ext cx="4061519" cy="352425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82755" y="4033837"/>
            <a:ext cx="4061519" cy="352425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191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SECTION 2 • MATHEMATICAL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477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Influence Diagrams &amp; Expected Utility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5972175"/>
            <a:ext cx="11372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SPEAKER TIP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6143625"/>
            <a:ext cx="113728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Remind students that they already mastered this formula in Class 2 under Utility Theory. The Influence Diagram is simply the graphical tool executing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2463849"/>
            <a:ext cx="799592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The Principle of Maximum Expected Utility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2882949"/>
            <a:ext cx="6187380" cy="52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An influence diagram solves a decision problem by choosing the action </a:t>
            </a:r>
            <a:r>
              <a:rPr b="0" sz="1275" i="1" u="none">
                <a:solidFill>
                  <a:srgbClr val="334155"/>
                </a:solidFill>
                <a:latin typeface="Plus Jakarta Sans"/>
              </a:rPr>
              <a:t>a</a:t>
            </a:r>
            <a:r>
              <a:rPr b="0" sz="1062" i="1" u="none">
                <a:solidFill>
                  <a:srgbClr val="334155"/>
                </a:solidFill>
                <a:latin typeface="Plus Jakarta Sans"/>
              </a:rPr>
              <a:t>*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that yields highest expected utility across all uncertain outcomes.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2755" y="2500312"/>
            <a:ext cx="490924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766E"/>
                </a:solidFill>
                <a:latin typeface="Plus Jakarta Sans"/>
              </a:rPr>
              <a:t>DECISION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575" y="3736925"/>
            <a:ext cx="7162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EU(Action) = ∑ P(Outcome | Action) · Utility(Outcome)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575" y="4060775"/>
            <a:ext cx="71627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Probability comes from Chance nodes; Utility comes from Utility nodes.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7055" y="2824162"/>
            <a:ext cx="392816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34E4A"/>
                </a:solidFill>
                <a:latin typeface="Plus Jakarta Sans"/>
              </a:rPr>
              <a:t>1. Enter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97055" y="3252787"/>
            <a:ext cx="392816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34E4A"/>
                </a:solidFill>
                <a:latin typeface="Plus Jakarta Sans"/>
              </a:rPr>
              <a:t>2. Update Chance Nodes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97055" y="3681412"/>
            <a:ext cx="392816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34E4A"/>
                </a:solidFill>
                <a:latin typeface="Plus Jakarta Sans"/>
              </a:rPr>
              <a:t>3. Calculate Expected Utility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7055" y="4110037"/>
            <a:ext cx="392816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34E4A"/>
                </a:solidFill>
                <a:latin typeface="Plus Jakarta Sans"/>
              </a:rPr>
              <a:t>4. Select Action with Max EU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57875"/>
            <a:ext cx="10972800" cy="58102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044630" y="2736502"/>
            <a:ext cx="4537769" cy="1413420"/>
          </a:xfrm>
          <a:prstGeom prst="roundRect">
            <a:avLst>
              <a:gd name="adj" fmla="val 8086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857875"/>
            <a:ext cx="38100" cy="58102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443757"/>
            <a:ext cx="6092130" cy="784621"/>
          </a:xfrm>
          <a:prstGeom prst="roundRect">
            <a:avLst>
              <a:gd name="adj" fmla="val 7283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776067"/>
            <a:ext cx="6092130" cy="666750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443757"/>
            <a:ext cx="38100" cy="784621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755" y="2974627"/>
            <a:ext cx="190500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191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SECTION 3 • ASSOCIATION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477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What Are Association Rules?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5972175"/>
            <a:ext cx="11372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EXAM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6143625"/>
            <a:ext cx="113728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2-Marker: "Define Association Rule." Key words: </a:t>
            </a:r>
            <a:r>
              <a:rPr b="0" sz="1125" i="1" u="none">
                <a:solidFill>
                  <a:srgbClr val="475569"/>
                </a:solidFill>
                <a:latin typeface="Plus Jakarta Sans"/>
              </a:rPr>
              <a:t>Unsupervised pattern discovery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, </a:t>
            </a:r>
            <a:r>
              <a:rPr b="0" sz="1125" i="1" u="none">
                <a:solidFill>
                  <a:srgbClr val="475569"/>
                </a:solidFill>
                <a:latin typeface="Plus Jakarta Sans"/>
              </a:rPr>
              <a:t>co-occurring itemsets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, format </a:t>
            </a:r>
            <a:r>
              <a:rPr b="0" sz="1125" i="1" u="none">
                <a:solidFill>
                  <a:srgbClr val="475569"/>
                </a:solidFill>
                <a:latin typeface="Plus Jakarta Sans"/>
              </a:rPr>
              <a:t>X → Y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380779"/>
            <a:ext cx="7615163" cy="2428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They take the symbolic if-then format: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928467"/>
            <a:ext cx="573018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B45309"/>
                </a:solidFill>
                <a:latin typeface="Plus Jakarta Sans"/>
              </a:rPr>
              <a:t> X → Y   (Antecedent → Consequent)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2755" y="3241327"/>
            <a:ext cx="4909244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991B1B"/>
                </a:solidFill>
                <a:latin typeface="Plus Jakarta Sans"/>
              </a:rPr>
              <a:t>Association ≠ Causation!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2755" y="3511748"/>
            <a:ext cx="415676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7F1D1D"/>
                </a:solidFill>
                <a:latin typeface="Plus Jakarta Sans"/>
              </a:rPr>
              <a:t>Buying Bread does not physically cause someone to buy Milk; they simply co-occur frequently in customer baskets.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2596157"/>
            <a:ext cx="576828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92400E"/>
                </a:solidFill>
                <a:latin typeface="Plus Jakarta Sans"/>
              </a:rPr>
              <a:t>"Association rules are used to discover interesting relationships, co-occurrences, or patterns between items in large datasets."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9455" y="2984152"/>
            <a:ext cx="14644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91B1B"/>
                </a:solidFill>
                <a:latin typeface="Plus Jakarta Sans"/>
              </a:rPr>
              <a:t>CRITICAL CAVEAT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57875"/>
            <a:ext cx="10972800" cy="58102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60480" y="2339429"/>
            <a:ext cx="5121919" cy="2207716"/>
          </a:xfrm>
          <a:prstGeom prst="roundRect">
            <a:avLst>
              <a:gd name="adj" fmla="val 51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857875"/>
            <a:ext cx="38100" cy="58102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4362" y="2814637"/>
            <a:ext cx="248662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00982" y="2814637"/>
            <a:ext cx="3088034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4362" y="3228975"/>
            <a:ext cx="24866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0982" y="3228975"/>
            <a:ext cx="30880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4362" y="3629025"/>
            <a:ext cx="24866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00982" y="3629025"/>
            <a:ext cx="30880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4362" y="4029075"/>
            <a:ext cx="24866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00982" y="4029075"/>
            <a:ext cx="30880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9600" y="2443162"/>
            <a:ext cx="5584180" cy="20002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09600" y="2443162"/>
          <a:ext cx="5574654" cy="20002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486620"/>
                <a:gridCol w="3088034"/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Transaction 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Items Purchased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T1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Bread, Milk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T2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Bread, Butter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T3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Bread, Milk, Butter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T4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Milk, Butter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9600" y="4191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SECTION 3 • PRACTICAL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477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Market Basket Analysis: Sample Dataset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50" y="5972175"/>
            <a:ext cx="11372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CLASSROOM ACTIVITY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" y="6143625"/>
            <a:ext cx="113728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Point to this table on the board. Tell students: "We will now calculate Support, Confidence, and Lift directly on these 4 transactions."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8605" y="2577554"/>
            <a:ext cx="549339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97706"/>
                </a:solidFill>
                <a:latin typeface="Plus Jakarta Sans"/>
              </a:rPr>
              <a:t>DISCOVERED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8605" y="2844254"/>
            <a:ext cx="5493394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B45309"/>
                </a:solidFill>
                <a:latin typeface="Space Grotesk"/>
              </a:rPr>
              <a:t>Bread → Milk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8605" y="3225254"/>
            <a:ext cx="4740919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"Customers who purchase Bread are very likely to also purchase Milk."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8605" y="3766095"/>
            <a:ext cx="4740919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Total Transactions (N) = 4</a:t>
            </a:r>
            <a:r>
              <a:t>
</a:t>
            </a:r>
            <a:r>
              <a:rPr b="0" sz="1125" i="0" u="none">
                <a:solidFill>
                  <a:srgbClr val="64748B"/>
                </a:solidFill>
                <a:latin typeface="Plus Jakarta Sans"/>
              </a:rPr>
              <a:t> Transactions with Bread = 3 (T1, T2, T3)</a:t>
            </a:r>
            <a:r>
              <a:t>
</a:t>
            </a:r>
            <a:r>
              <a:rPr b="0" sz="1125" i="0" u="none">
                <a:solidFill>
                  <a:srgbClr val="64748B"/>
                </a:solidFill>
                <a:latin typeface="Plus Jakarta Sans"/>
              </a:rPr>
              <a:t> Transactions with Both = 2 (T1, T3)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57875"/>
            <a:ext cx="10972800" cy="58102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62237"/>
            <a:ext cx="2600325" cy="1562100"/>
          </a:xfrm>
          <a:prstGeom prst="roundRect">
            <a:avLst>
              <a:gd name="adj" fmla="val 609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00425" y="2662237"/>
            <a:ext cx="2600325" cy="1562100"/>
          </a:xfrm>
          <a:prstGeom prst="roundRect">
            <a:avLst>
              <a:gd name="adj" fmla="val 609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2662237"/>
            <a:ext cx="2600325" cy="1562100"/>
          </a:xfrm>
          <a:prstGeom prst="roundRect">
            <a:avLst>
              <a:gd name="adj" fmla="val 609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82075" y="2662237"/>
            <a:ext cx="2600325" cy="1562100"/>
          </a:xfrm>
          <a:prstGeom prst="roundRect">
            <a:avLst>
              <a:gd name="adj" fmla="val 609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5857875"/>
            <a:ext cx="38100" cy="58102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2862262"/>
            <a:ext cx="25717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450" y="2862262"/>
            <a:ext cx="28575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2862262"/>
            <a:ext cx="257175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2100" y="2862262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191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SECTION 3 • APPLICATIONS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77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Industry Applications of Association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5972175"/>
            <a:ext cx="11372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EXAM NOTE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6143625"/>
            <a:ext cx="113728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Students should write at least 2 real-world domains when answering the 5-mark question "Explain Association Rule Mining."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3205162"/>
            <a:ext cx="288786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Supermarket Layout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3481387"/>
            <a:ext cx="229552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Placing bread near milk to encourage bundled purchases or cross-sales.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450" y="3205162"/>
            <a:ext cx="288786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E-Commerce Engines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450" y="3481387"/>
            <a:ext cx="229552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"Frequently Bought Together" recommendations on Amazon and Flipkart.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275" y="3205162"/>
            <a:ext cx="288786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Medical Diagnostics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275" y="3481387"/>
            <a:ext cx="229552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Discovering adverse drug interactions and symptom co-occurrences.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2100" y="3205162"/>
            <a:ext cx="288786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Web Clickstreams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2100" y="3481387"/>
            <a:ext cx="229552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Analyzing webpage sequence visits to optimize user navigation paths.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57875"/>
            <a:ext cx="10972800" cy="58102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044630" y="2647950"/>
            <a:ext cx="4537769" cy="1590675"/>
          </a:xfrm>
          <a:prstGeom prst="roundRect">
            <a:avLst>
              <a:gd name="adj" fmla="val 7185"/>
            </a:avLst>
          </a:prstGeom>
          <a:solidFill>
            <a:srgbClr val="FFFBEB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857875"/>
            <a:ext cx="38100" cy="58102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067050"/>
            <a:ext cx="6092130" cy="809625"/>
          </a:xfrm>
          <a:prstGeom prst="roundRect">
            <a:avLst>
              <a:gd name="adj" fmla="val 941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029075"/>
            <a:ext cx="6092130" cy="428625"/>
          </a:xfrm>
          <a:prstGeom prst="roundRect">
            <a:avLst>
              <a:gd name="adj" fmla="val 8888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4029075"/>
            <a:ext cx="38100" cy="4286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82755" y="3695700"/>
            <a:ext cx="4061519" cy="9525"/>
          </a:xfrm>
          <a:prstGeom prst="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4191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SECTION 3 • METRIC 1 OF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477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Support: How Common Is the Combination?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5972175"/>
            <a:ext cx="11372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EXAM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6143625"/>
            <a:ext cx="113728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2-Mark Question: "Define Support." Students must provide the formula and explain that rules with low support are usually discarded as rare noise.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428875"/>
            <a:ext cx="618738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Plus Jakarta Sans"/>
              </a:rPr>
              <a:t>Support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measures the proportion of total transactions in the dataset containing both itemsets X and 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2755" y="2924175"/>
            <a:ext cx="16787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B45309"/>
                </a:solidFill>
                <a:latin typeface="Plus Jakarta Sans"/>
              </a:rPr>
              <a:t>NUMERICAL 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3228975"/>
            <a:ext cx="71151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Support(X → Y) = Count(X ∪ Y) / Total Transactions 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3543300"/>
            <a:ext cx="71151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In probability notation: </a:t>
            </a:r>
            <a:r>
              <a:rPr b="0" sz="1050" i="1" u="none">
                <a:solidFill>
                  <a:srgbClr val="64748B"/>
                </a:solidFill>
                <a:latin typeface="Plus Jakarta Sans"/>
              </a:rPr>
              <a:t>P(X ∩ 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4143375"/>
            <a:ext cx="718653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40AF"/>
                </a:solidFill>
                <a:latin typeface="Plus Jakarta Sans"/>
              </a:rPr>
              <a:t>Memory Line: "Support = How common is the combination overall?"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2755" y="3181350"/>
            <a:ext cx="490924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78350F"/>
                </a:solidFill>
                <a:latin typeface="Plus Jakarta Sans"/>
              </a:rPr>
              <a:t>Total transactions = </a:t>
            </a:r>
            <a:r>
              <a:rPr b="1" sz="1125" i="0" u="none">
                <a:solidFill>
                  <a:srgbClr val="78350F"/>
                </a:solidFill>
                <a:latin typeface="Plus Jakarta Sans"/>
              </a:rPr>
              <a:t>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2755" y="3438525"/>
            <a:ext cx="490924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78350F"/>
                </a:solidFill>
                <a:latin typeface="Plus Jakarta Sans"/>
              </a:rPr>
              <a:t>Transactions with (Bread + Milk) = </a:t>
            </a:r>
            <a:r>
              <a:rPr b="1" sz="1125" i="0" u="none">
                <a:solidFill>
                  <a:srgbClr val="78350F"/>
                </a:solidFill>
                <a:latin typeface="Plus Jakarta Sans"/>
              </a:rPr>
              <a:t>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2755" y="3771900"/>
            <a:ext cx="415676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78350F"/>
                </a:solidFill>
                <a:latin typeface="Plus Jakarta Sans"/>
              </a:rPr>
              <a:t>Support = 20 / 100 = 20% (0.20)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57875"/>
            <a:ext cx="10972800" cy="58102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044630" y="2647950"/>
            <a:ext cx="4537769" cy="1590675"/>
          </a:xfrm>
          <a:prstGeom prst="roundRect">
            <a:avLst>
              <a:gd name="adj" fmla="val 7185"/>
            </a:avLst>
          </a:prstGeom>
          <a:solidFill>
            <a:srgbClr val="FFFBEB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857875"/>
            <a:ext cx="38100" cy="58102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067050"/>
            <a:ext cx="6092130" cy="809625"/>
          </a:xfrm>
          <a:prstGeom prst="roundRect">
            <a:avLst>
              <a:gd name="adj" fmla="val 941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029075"/>
            <a:ext cx="6092130" cy="428625"/>
          </a:xfrm>
          <a:prstGeom prst="roundRect">
            <a:avLst>
              <a:gd name="adj" fmla="val 8888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4029075"/>
            <a:ext cx="38100" cy="4286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82755" y="3695700"/>
            <a:ext cx="4061519" cy="9525"/>
          </a:xfrm>
          <a:prstGeom prst="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4191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SECTION 3 • METRIC 2 OF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477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Confidence: How Certain Is the Rule?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5972175"/>
            <a:ext cx="11372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EXAM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6143625"/>
            <a:ext cx="113728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Warn students: Confidence is directional! Confidence(Bread → Milk) is generally NOT equal to Confidence(Milk → Bread).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428875"/>
            <a:ext cx="618738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Plus Jakarta Sans"/>
              </a:rPr>
              <a:t>Confidence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measures how often item Y is purchased among transactions that already contain item 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2755" y="2924175"/>
            <a:ext cx="16787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B45309"/>
                </a:solidFill>
                <a:latin typeface="Plus Jakarta Sans"/>
              </a:rPr>
              <a:t>NUMERICAL 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3228975"/>
            <a:ext cx="71151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Confidence(X → Y) = Count(X ∪ Y) / Count(X)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3543300"/>
            <a:ext cx="71151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In probability notation: Conditional Probability </a:t>
            </a:r>
            <a:r>
              <a:rPr b="0" sz="1050" i="1" u="none">
                <a:solidFill>
                  <a:srgbClr val="64748B"/>
                </a:solidFill>
                <a:latin typeface="Plus Jakarta Sans"/>
              </a:rPr>
              <a:t>P(Y | 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4143375"/>
            <a:ext cx="718653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40AF"/>
                </a:solidFill>
                <a:latin typeface="Plus Jakarta Sans"/>
              </a:rPr>
              <a:t>Memory Line: "Confidence = When X happens, how often does Y happen?"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2755" y="3181350"/>
            <a:ext cx="490924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78350F"/>
                </a:solidFill>
                <a:latin typeface="Plus Jakarta Sans"/>
              </a:rPr>
              <a:t>Transactions containing Bread = </a:t>
            </a:r>
            <a:r>
              <a:rPr b="1" sz="1125" i="0" u="none">
                <a:solidFill>
                  <a:srgbClr val="78350F"/>
                </a:solidFill>
                <a:latin typeface="Plus Jakarta Sans"/>
              </a:rPr>
              <a:t>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2755" y="3438525"/>
            <a:ext cx="490924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78350F"/>
                </a:solidFill>
                <a:latin typeface="Plus Jakarta Sans"/>
              </a:rPr>
              <a:t>Transactions with (Bread + Milk) = </a:t>
            </a:r>
            <a:r>
              <a:rPr b="1" sz="1125" i="0" u="none">
                <a:solidFill>
                  <a:srgbClr val="78350F"/>
                </a:solidFill>
                <a:latin typeface="Plus Jakarta Sans"/>
              </a:rPr>
              <a:t>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2755" y="3771900"/>
            <a:ext cx="415676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78350F"/>
                </a:solidFill>
                <a:latin typeface="Plus Jakarta Sans"/>
              </a:rPr>
              <a:t>Confidence = 20 / 40 = 50% (0.50)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57875"/>
            <a:ext cx="10972800" cy="58102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857875"/>
            <a:ext cx="38100" cy="58102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367087"/>
            <a:ext cx="6377880" cy="790575"/>
          </a:xfrm>
          <a:prstGeom prst="roundRect">
            <a:avLst>
              <a:gd name="adj" fmla="val 963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30380" y="2390775"/>
            <a:ext cx="4252019" cy="638175"/>
          </a:xfrm>
          <a:prstGeom prst="roundRect">
            <a:avLst>
              <a:gd name="adj" fmla="val 1194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30380" y="3124200"/>
            <a:ext cx="4252019" cy="638175"/>
          </a:xfrm>
          <a:prstGeom prst="roundRect">
            <a:avLst>
              <a:gd name="adj" fmla="val 1194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30380" y="3857625"/>
            <a:ext cx="4252019" cy="638175"/>
          </a:xfrm>
          <a:prstGeom prst="roundRect">
            <a:avLst>
              <a:gd name="adj" fmla="val 1194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191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SECTION 3 • METRIC 3 OF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77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Lift: How Strong Is the True Association?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5972175"/>
            <a:ext cx="11372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WHY LIFT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6143625"/>
            <a:ext cx="113728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Tell students: "Even if Confidence is high, if Milk is bought by 90% of all shoppers regardless, Bread doesn't really boost Milk! Lift tests for true correlation."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728912"/>
            <a:ext cx="647313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Plus Jakarta Sans"/>
              </a:rPr>
              <a:t>Lift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measures how much more often X and Y occur together than if they were totally statistically independent.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44680" y="2505075"/>
            <a:ext cx="4118669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6534"/>
                </a:solidFill>
                <a:latin typeface="Plus Jakarta Sans"/>
              </a:rPr>
              <a:t>Lift &gt; 1 (Positive):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44680" y="3238500"/>
            <a:ext cx="4118669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Plus Jakarta Sans"/>
              </a:rPr>
              <a:t>Lift = 1 (Independent):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44680" y="3971925"/>
            <a:ext cx="4118669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91B1B"/>
                </a:solidFill>
                <a:latin typeface="Plus Jakarta Sans"/>
              </a:rPr>
              <a:t>Lift &lt; 1 (Negative):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3529012"/>
            <a:ext cx="747228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Space Grotesk"/>
              </a:rPr>
              <a:t>Lift(X → Y) = P(X ∩ Y) / [ P(X) · P(Y)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3824287"/>
            <a:ext cx="747228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Or equivalently: </a:t>
            </a:r>
            <a:r>
              <a:rPr b="0" sz="1050" i="1" u="none">
                <a:solidFill>
                  <a:srgbClr val="64748B"/>
                </a:solidFill>
                <a:latin typeface="Plus Jakarta Sans"/>
              </a:rPr>
              <a:t>Confidence(X → Y) / Support(Y)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4205" y="2733675"/>
            <a:ext cx="473779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4532D"/>
                </a:solidFill>
                <a:latin typeface="Plus Jakarta Sans"/>
              </a:rPr>
              <a:t>Items co-occur more than chance. True positive association!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4205" y="3467100"/>
            <a:ext cx="473779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No relationship. Occurrence together is pure coincidence.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4205" y="4200525"/>
            <a:ext cx="473779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F1D1D"/>
                </a:solidFill>
                <a:latin typeface="Plus Jakarta Sans"/>
              </a:rPr>
              <a:t>Substitute items. Buying X makes buying Y less likely.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57875"/>
            <a:ext cx="10972800" cy="58102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4362" y="2986087"/>
            <a:ext cx="1533376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47738" y="2986087"/>
            <a:ext cx="4295923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43662" y="2986087"/>
            <a:ext cx="231636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60023" y="2986087"/>
            <a:ext cx="2817614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5857875"/>
            <a:ext cx="38100" cy="58102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4362" y="3438525"/>
            <a:ext cx="15333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47738" y="3438525"/>
            <a:ext cx="42959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3662" y="3438525"/>
            <a:ext cx="23163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60023" y="3438525"/>
            <a:ext cx="28176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4362" y="3876675"/>
            <a:ext cx="15333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47738" y="3876675"/>
            <a:ext cx="42959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3662" y="3876675"/>
            <a:ext cx="23163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0023" y="3876675"/>
            <a:ext cx="28176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9600" y="2557462"/>
            <a:ext cx="10972800" cy="17716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09600" y="2557462"/>
          <a:ext cx="10963273" cy="17716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533376"/>
                <a:gridCol w="4295923"/>
                <a:gridCol w="2316360"/>
                <a:gridCol w="2817614"/>
              </a:tblGrid>
              <a:tr h="44291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Metric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Plain English Question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Formula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Range &amp; Goal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4291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Support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How common is the itemset overall?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1E40AF"/>
                          </a:solidFill>
                          <a:latin typeface="Space Grotesk"/>
                        </a:rPr>
                        <a:t>P(X ∩ Y)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[0, 1] • Higher = Frequent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291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Confidence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If X occurs, how often does Y occur?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1E40AF"/>
                          </a:solidFill>
                          <a:latin typeface="Space Grotesk"/>
                        </a:rPr>
                        <a:t>P(Y | X)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[0, 1] • Higher = Reliable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2914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Lift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How much stronger than random chance?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1E40AF"/>
                          </a:solidFill>
                          <a:latin typeface="Space Grotesk"/>
                        </a:rPr>
                        <a:t>P(X ∩ Y) / [P(X)·P(Y)]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[0, ∞) • Value &gt; 1 = Positive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09600" y="4191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SECTION 3 • MASTER REVISION 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477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Support vs. Confidence vs. Lift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" y="5972175"/>
            <a:ext cx="11372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UNIVERSITY EXAM HIGHLIGHT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150" y="6143625"/>
            <a:ext cx="113728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This table directly answers the 5-mark question: "Define and compare Support, Confidence, and Lift in Association Rules."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57875"/>
            <a:ext cx="10972800" cy="58102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96616"/>
            <a:ext cx="3530649" cy="1493341"/>
          </a:xfrm>
          <a:prstGeom prst="roundRect">
            <a:avLst>
              <a:gd name="adj" fmla="val 6378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0749" y="2696616"/>
            <a:ext cx="3530649" cy="1493341"/>
          </a:xfrm>
          <a:prstGeom prst="roundRect">
            <a:avLst>
              <a:gd name="adj" fmla="val 6378"/>
            </a:avLst>
          </a:prstGeom>
          <a:solidFill>
            <a:srgbClr val="F0FDFA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899" y="2696616"/>
            <a:ext cx="3530649" cy="1493341"/>
          </a:xfrm>
          <a:prstGeom prst="roundRect">
            <a:avLst>
              <a:gd name="adj" fmla="val 6378"/>
            </a:avLst>
          </a:prstGeom>
          <a:solidFill>
            <a:srgbClr val="FFFBEB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5857875"/>
            <a:ext cx="38100" cy="5810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191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UNIT II 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77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Unit II Grand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2887116"/>
            <a:ext cx="3244899" cy="1112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40AF"/>
                </a:solidFill>
                <a:latin typeface="Plus Jakarta Sans"/>
              </a:rPr>
              <a:t>Pillar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1249" y="2887116"/>
            <a:ext cx="3244899" cy="1112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766E"/>
                </a:solidFill>
                <a:latin typeface="Plus Jakarta Sans"/>
              </a:rPr>
              <a:t>Pillar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2399" y="2887116"/>
            <a:ext cx="3244899" cy="1112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B45309"/>
                </a:solidFill>
                <a:latin typeface="Plus Jakarta Sans"/>
              </a:rPr>
              <a:t>Pillar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5972175"/>
            <a:ext cx="11372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UNIT II COMPLETE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6143625"/>
            <a:ext cx="113728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Congratulate the students on completing Unit II (Bayesian Decision Theory). Direct them to the final slide for semester examination question patterns.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3153816"/>
            <a:ext cx="410891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3A8A"/>
                </a:solidFill>
                <a:latin typeface="Plus Jakarta Sans"/>
              </a:rPr>
              <a:t>Bayesian Networks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3430041"/>
            <a:ext cx="3225849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1E40AF"/>
                </a:solidFill>
                <a:latin typeface="Plus Jakarta Sans"/>
              </a:rPr>
              <a:t>DAG representation of uncertain variables. Exploits conditional independence to avoid huge joint distributions.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0774" y="3153816"/>
            <a:ext cx="410891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15E59"/>
                </a:solidFill>
                <a:latin typeface="Plus Jakarta Sans"/>
              </a:rPr>
              <a:t>Influence Diagrams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0774" y="3430041"/>
            <a:ext cx="3225849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0F766E"/>
                </a:solidFill>
                <a:latin typeface="Plus Jakarta Sans"/>
              </a:rPr>
              <a:t>Adds Decision (□) and Utility (◇) nodes to Chance (○) nodes to compute actions maximizing expected utility.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1924" y="3153816"/>
            <a:ext cx="39400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2400E"/>
                </a:solidFill>
                <a:latin typeface="Plus Jakarta Sans"/>
              </a:rPr>
              <a:t>Association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1924" y="3430041"/>
            <a:ext cx="3225849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B45309"/>
                </a:solidFill>
                <a:latin typeface="Plus Jakarta Sans"/>
              </a:rPr>
              <a:t>Unsupervised discovery of item co-occurrences (X → Y), evaluated quantitatively by Support, Confidence, and Lift.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6038850"/>
            <a:ext cx="10972800" cy="400050"/>
          </a:xfrm>
          <a:prstGeom prst="roundRect">
            <a:avLst>
              <a:gd name="adj" fmla="val 952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505075"/>
            <a:ext cx="3332559" cy="2047875"/>
          </a:xfrm>
          <a:prstGeom prst="roundRect">
            <a:avLst>
              <a:gd name="adj" fmla="val 3720"/>
            </a:avLst>
          </a:prstGeom>
          <a:solidFill>
            <a:srgbClr val="131D31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32659" y="2505075"/>
            <a:ext cx="3629620" cy="2047875"/>
          </a:xfrm>
          <a:prstGeom prst="roundRect">
            <a:avLst>
              <a:gd name="adj" fmla="val 3720"/>
            </a:avLst>
          </a:prstGeom>
          <a:solidFill>
            <a:srgbClr val="131D31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952779" y="2505075"/>
            <a:ext cx="3629620" cy="2047875"/>
          </a:xfrm>
          <a:prstGeom prst="roundRect">
            <a:avLst>
              <a:gd name="adj" fmla="val 3720"/>
            </a:avLst>
          </a:prstGeom>
          <a:solidFill>
            <a:srgbClr val="131D31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6038850"/>
            <a:ext cx="38100" cy="400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191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UNIVERSITY EXAMINATION PREPARATION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77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FFFFFF"/>
                </a:solidFill>
                <a:latin typeface="Space Grotesk"/>
              </a:rPr>
              <a:t>Important Questions Bank (BCA Sem V)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6153150"/>
            <a:ext cx="71556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2E8F0"/>
                </a:solidFill>
                <a:latin typeface="Plus Jakarta Sans"/>
              </a:rPr>
              <a:t>Good luck with your examinations!</a:t>
            </a:r>
            <a:r>
              <a:rPr b="0" sz="1050" i="0" u="none">
                <a:solidFill>
                  <a:srgbClr val="E2E8F0"/>
                </a:solidFill>
                <a:latin typeface="Plus Jakarta Sans"/>
              </a:rPr>
              <a:t> Study these slides alongside Ethem Alpaydin, Chapter 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06100" y="6162675"/>
            <a:ext cx="9906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End of Unit 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575" y="2724150"/>
            <a:ext cx="1512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Plus Jakarta Sans"/>
              </a:rPr>
              <a:t>2 MARK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3634" y="2724150"/>
            <a:ext cx="1512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ADE80"/>
                </a:solidFill>
                <a:latin typeface="Plus Jakarta Sans"/>
              </a:rPr>
              <a:t>5 MARK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3754" y="2724150"/>
            <a:ext cx="158353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ACC15"/>
                </a:solidFill>
                <a:latin typeface="Plus Jakarta Sans"/>
              </a:rPr>
              <a:t>10 MARK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575" y="2962275"/>
            <a:ext cx="371326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Plus Jakarta Sans"/>
              </a:rPr>
              <a:t>1. Define Bayesian Network.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575" y="3171825"/>
            <a:ext cx="371326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Plus Jakarta Sans"/>
              </a:rPr>
              <a:t>2. What is a node in a Bayesian Network?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575" y="3381375"/>
            <a:ext cx="371326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Plus Jakarta Sans"/>
              </a:rPr>
              <a:t>3. Define Influence Diagram.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575" y="3590925"/>
            <a:ext cx="371326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Plus Jakarta Sans"/>
              </a:rPr>
              <a:t>4. Name 3 nodes in Influence Diagrams.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575" y="3800475"/>
            <a:ext cx="371326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Plus Jakarta Sans"/>
              </a:rPr>
              <a:t>5. Define Association Rule.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575" y="4010025"/>
            <a:ext cx="371326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Plus Jakarta Sans"/>
              </a:rPr>
              <a:t>6. Define Support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" y="4219575"/>
            <a:ext cx="371326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Plus Jakarta Sans"/>
              </a:rPr>
              <a:t>7. What does Lift &gt; 1 signify?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3634" y="2962275"/>
            <a:ext cx="40845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Plus Jakarta Sans"/>
              </a:rPr>
              <a:t>1. Explain Bayesian Networks with an example.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3634" y="3171825"/>
            <a:ext cx="40845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Plus Jakarta Sans"/>
              </a:rPr>
              <a:t>2. Explain the components of a Bayesian Network.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3634" y="3381375"/>
            <a:ext cx="40845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Plus Jakarta Sans"/>
              </a:rPr>
              <a:t>3. Discuss 3 node types in Influence Diagrams.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3634" y="3590925"/>
            <a:ext cx="40845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Plus Jakarta Sans"/>
              </a:rPr>
              <a:t>4. Differentiate BN vs. Influence Diagram.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3634" y="3800475"/>
            <a:ext cx="40845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Plus Jakarta Sans"/>
              </a:rPr>
              <a:t>5. Explain Support, Confidence, and Lift.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3754" y="2962275"/>
            <a:ext cx="336292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Plus Jakarta Sans"/>
              </a:rPr>
              <a:t>1. Explain Bayesian Networks with diagram &amp; conditional independence.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3754" y="3324225"/>
            <a:ext cx="336292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Plus Jakarta Sans"/>
              </a:rPr>
              <a:t>2. Explain Influence Diagrams with Chance, Decision, and Utility nodes.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3754" y="3686175"/>
            <a:ext cx="336292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Plus Jakarta Sans"/>
              </a:rPr>
              <a:t>3. Walk through Market Basket Analysis with sample calculations of Support, Confidence, Lift.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