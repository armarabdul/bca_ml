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xml" ContentType="application/vnd.openxmlformats-officedocument.presentationml.slide+xml"/>
  <ns0:Override PartName="/ppt/slides/slide20.xml" ContentType="application/vnd.openxmlformats-officedocument.presentationml.slide+xml"/>
  <ns0:Override PartName="/ppt/slides/slide21.xml" ContentType="application/vnd.openxmlformats-officedocument.presentationml.slide+xml"/>
  <ns0:Override PartName="/ppt/slides/slide22.xml" ContentType="application/vnd.openxmlformats-officedocument.presentationml.slide+xml"/>
  <ns0:Override PartName="/ppt/slides/slide23.xml" ContentType="application/vnd.openxmlformats-officedocument.presentationml.slide+xml"/>
  <ns0:Override PartName="/ppt/slides/slide24.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 id="274" ns1:id="rId25"/>
    <ns0:sldId id="275" ns1:id="rId26"/>
    <ns0:sldId id="276" ns1:id="rId27"/>
    <ns0:sldId id="277" ns1:id="rId28"/>
    <ns0:sldId id="278" ns1:id="rId29"/>
    <ns0:sldId id="279" ns1:id="rId30"/>
  </ns0:sldIdLst>
  <ns0:sldSz cx="12192000" cy="6858000" type="screen4x3"/>
  <ns0:notesSz cx="6858000" cy="9144000"/>
  <ns0:embeddedFontLst>
    <ns0:embeddedFont>
      <ns0:font typeface="Fira Code"/>
      <ns0:bold ns1:id="rIdFont31"/>
      <ns0:regular ns1:id="rIdFont32"/>
    </ns0:embeddedFont>
    <ns0:embeddedFont>
      <ns0:font typeface="Plus Jakarta Sans"/>
      <ns0:italic ns1:id="rIdFont33"/>
      <ns0:bold ns1:id="rIdFont34"/>
      <ns0:regular ns1:id="rIdFont35"/>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24" Type="http://schemas.openxmlformats.org/officeDocument/2006/relationships/slide" Target="slides/slide18.xml" /><ns0:Relationship Id="rId25" Type="http://schemas.openxmlformats.org/officeDocument/2006/relationships/slide" Target="slides/slide19.xml" /><ns0:Relationship Id="rId26" Type="http://schemas.openxmlformats.org/officeDocument/2006/relationships/slide" Target="slides/slide20.xml" /><ns0:Relationship Id="rId27" Type="http://schemas.openxmlformats.org/officeDocument/2006/relationships/slide" Target="slides/slide21.xml" /><ns0:Relationship Id="rId28" Type="http://schemas.openxmlformats.org/officeDocument/2006/relationships/slide" Target="slides/slide22.xml" /><ns0:Relationship Id="rId29" Type="http://schemas.openxmlformats.org/officeDocument/2006/relationships/slide" Target="slides/slide23.xml" /><ns0:Relationship Id="rId30" Type="http://schemas.openxmlformats.org/officeDocument/2006/relationships/slide" Target="slides/slide24.xml" /><ns0:Relationship Id="rIdFont31" Type="http://schemas.openxmlformats.org/officeDocument/2006/relationships/font" Target="fonts/d642235a-a6f6-4d16-bd3b-05e7afb9675c.fntdata" /><ns0:Relationship Id="rIdFont32" Type="http://schemas.openxmlformats.org/officeDocument/2006/relationships/font" Target="fonts/ce057a47-87d4-49a3-b37a-647badab7963.fntdata" /><ns0:Relationship Id="rIdFont33" Type="http://schemas.openxmlformats.org/officeDocument/2006/relationships/font" Target="fonts/4c284d20-d8dc-48cc-92af-a458e429cc53.fntdata" /><ns0:Relationship Id="rIdFont34" Type="http://schemas.openxmlformats.org/officeDocument/2006/relationships/font" Target="fonts/01ef5dd7-6d2b-4007-9ce5-762a10da09d1.fntdata" /><ns0:Relationship Id="rIdFont35" Type="http://schemas.openxmlformats.org/officeDocument/2006/relationships/font" Target="fonts/9b5b795a-a714-41af-8488-91d721f0c668.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66750" y="5476875"/>
            <a:ext cx="10858500" cy="866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514350"/>
            <a:ext cx="4776787" cy="285750"/>
          </a:xfrm>
          <a:prstGeom prst="roundRect">
            <a:avLst>
              <a:gd name="adj" fmla="val 20000"/>
            </a:avLst>
          </a:prstGeom>
          <a:solidFill>
            <a:srgbClr val="142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6750" y="5476875"/>
            <a:ext cx="108585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5676900"/>
            <a:ext cx="5334000" cy="666750"/>
          </a:xfrm>
          <a:prstGeom prst="roundRect">
            <a:avLst>
              <a:gd name="adj" fmla="val 571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1250" y="5676900"/>
            <a:ext cx="38100" cy="6667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666750" y="5953125"/>
            <a:ext cx="171450" cy="133350"/>
          </a:xfrm>
          <a:prstGeom prst="rect">
            <a:avLst/>
          </a:prstGeom>
        </p:spPr>
      </p:pic>
      <p:pic>
        <p:nvPicPr>
          <p:cNvPr id="8" name="Picture 7" descr="image.png"/>
          <p:cNvPicPr>
            <a:picLocks noChangeAspect="1"/>
          </p:cNvPicPr>
          <p:nvPr/>
        </p:nvPicPr>
        <p:blipFill>
          <a:blip r:embed="rId3"/>
          <a:stretch>
            <a:fillRect/>
          </a:stretch>
        </p:blipFill>
        <p:spPr>
          <a:xfrm>
            <a:off x="2581275" y="5953125"/>
            <a:ext cx="152400" cy="133350"/>
          </a:xfrm>
          <a:prstGeom prst="rect">
            <a:avLst/>
          </a:prstGeom>
        </p:spPr>
      </p:pic>
      <p:sp>
        <p:nvSpPr>
          <p:cNvPr id="9" name="TextBox 8"/>
          <p:cNvSpPr txBox="1"/>
          <p:nvPr/>
        </p:nvSpPr>
        <p:spPr>
          <a:xfrm>
            <a:off x="800100" y="571500"/>
            <a:ext cx="4605337" cy="171450"/>
          </a:xfrm>
          <a:prstGeom prst="rect">
            <a:avLst/>
          </a:prstGeom>
          <a:noFill/>
        </p:spPr>
        <p:txBody>
          <a:bodyPr wrap="square" lIns="0" rIns="0" tIns="0" bIns="0" anchor="t">
            <a:spAutoFit/>
          </a:bodyPr>
          <a:lstStyle/>
          <a:p>
            <a:pPr algn="l"/>
            <a:r>
              <a:rPr b="1" sz="1050" i="0" u="none">
                <a:solidFill>
                  <a:srgbClr val="38BDF8"/>
                </a:solidFill>
                <a:latin typeface="Plus Jakarta Sans"/>
              </a:rPr>
              <a:t>BCA SEMESTER V • INTRODUCTION TO MACHINE LEARNING</a:t>
            </a:r>
          </a:p>
        </p:txBody>
      </p:sp>
      <p:sp>
        <p:nvSpPr>
          <p:cNvPr id="10" name="TextBox 9"/>
          <p:cNvSpPr txBox="1"/>
          <p:nvPr/>
        </p:nvSpPr>
        <p:spPr>
          <a:xfrm>
            <a:off x="9420225" y="571500"/>
            <a:ext cx="2631281" cy="171450"/>
          </a:xfrm>
          <a:prstGeom prst="rect">
            <a:avLst/>
          </a:prstGeom>
          <a:noFill/>
        </p:spPr>
        <p:txBody>
          <a:bodyPr wrap="none" lIns="0" rIns="0" tIns="0" bIns="0" anchor="t">
            <a:spAutoFit/>
          </a:bodyPr>
          <a:lstStyle/>
          <a:p>
            <a:pPr algn="l"/>
            <a:r>
              <a:rPr b="1" sz="1050" i="0" u="none">
                <a:solidFill>
                  <a:srgbClr val="94A3B8"/>
                </a:solidFill>
                <a:latin typeface="Plus Jakarta Sans"/>
              </a:rPr>
              <a:t>Textbook: Ethem Alpaydin (Ch. 3)</a:t>
            </a:r>
          </a:p>
        </p:txBody>
      </p:sp>
      <p:sp>
        <p:nvSpPr>
          <p:cNvPr id="11" name="TextBox 10"/>
          <p:cNvSpPr txBox="1"/>
          <p:nvPr/>
        </p:nvSpPr>
        <p:spPr>
          <a:xfrm>
            <a:off x="666750" y="2084189"/>
            <a:ext cx="11525250" cy="219075"/>
          </a:xfrm>
          <a:prstGeom prst="rect">
            <a:avLst/>
          </a:prstGeom>
          <a:noFill/>
        </p:spPr>
        <p:txBody>
          <a:bodyPr wrap="none" lIns="0" rIns="0" tIns="0" bIns="0" anchor="t">
            <a:spAutoFit/>
          </a:bodyPr>
          <a:lstStyle/>
          <a:p>
            <a:pPr algn="l"/>
            <a:r>
              <a:rPr b="1" sz="1350" i="0" u="none">
                <a:solidFill>
                  <a:srgbClr val="38BDF8"/>
                </a:solidFill>
                <a:latin typeface="Plus Jakarta Sans"/>
              </a:rPr>
              <a:t>UNIT II — BAYESIAN DECISION THEORY • CLASS 2</a:t>
            </a:r>
          </a:p>
        </p:txBody>
      </p:sp>
      <p:sp>
        <p:nvSpPr>
          <p:cNvPr id="12" name="TextBox 11"/>
          <p:cNvSpPr txBox="1"/>
          <p:nvPr/>
        </p:nvSpPr>
        <p:spPr>
          <a:xfrm>
            <a:off x="666750" y="2455664"/>
            <a:ext cx="9901237" cy="1051321"/>
          </a:xfrm>
          <a:prstGeom prst="rect">
            <a:avLst/>
          </a:prstGeom>
          <a:noFill/>
        </p:spPr>
        <p:txBody>
          <a:bodyPr wrap="square" lIns="0" rIns="0" tIns="0" bIns="0" anchor="t">
            <a:spAutoFit/>
          </a:bodyPr>
          <a:lstStyle/>
          <a:p>
            <a:pPr algn="l">
              <a:lnSpc>
                <a:spcPts val="4140"/>
              </a:lnSpc>
            </a:pPr>
            <a:r>
              <a:rPr b="1" sz="3450" i="0" u="none">
                <a:solidFill>
                  <a:srgbClr val="FFFFFF"/>
                </a:solidFill>
                <a:latin typeface="Plus Jakarta Sans"/>
              </a:rPr>
              <a:t>Discriminant Functions, Utility Theory &amp; Value of Information</a:t>
            </a:r>
          </a:p>
        </p:txBody>
      </p:sp>
      <p:sp>
        <p:nvSpPr>
          <p:cNvPr id="13" name="TextBox 12"/>
          <p:cNvSpPr txBox="1"/>
          <p:nvPr/>
        </p:nvSpPr>
        <p:spPr>
          <a:xfrm>
            <a:off x="666750" y="3659385"/>
            <a:ext cx="8477250" cy="533400"/>
          </a:xfrm>
          <a:prstGeom prst="rect">
            <a:avLst/>
          </a:prstGeom>
          <a:noFill/>
        </p:spPr>
        <p:txBody>
          <a:bodyPr wrap="square" lIns="0" rIns="0" tIns="0" bIns="0" anchor="t">
            <a:spAutoFit/>
          </a:bodyPr>
          <a:lstStyle/>
          <a:p>
            <a:pPr algn="l">
              <a:lnSpc>
                <a:spcPts val="2100"/>
              </a:lnSpc>
            </a:pPr>
            <a:r>
              <a:rPr b="0" sz="1500" i="0" u="none">
                <a:solidFill>
                  <a:srgbClr val="CBD5E1"/>
                </a:solidFill>
                <a:latin typeface="Plus Jakarta Sans"/>
              </a:rPr>
              <a:t>From scoring classifications and maximizing expected rewards to evaluating whether acquiring new features is worth the cost.</a:t>
            </a:r>
          </a:p>
        </p:txBody>
      </p:sp>
      <p:sp>
        <p:nvSpPr>
          <p:cNvPr id="14" name="TextBox 13"/>
          <p:cNvSpPr txBox="1"/>
          <p:nvPr/>
        </p:nvSpPr>
        <p:spPr>
          <a:xfrm>
            <a:off x="666750" y="5924550"/>
            <a:ext cx="2059781" cy="171450"/>
          </a:xfrm>
          <a:prstGeom prst="rect">
            <a:avLst/>
          </a:prstGeom>
          <a:noFill/>
        </p:spPr>
        <p:txBody>
          <a:bodyPr wrap="none" lIns="247650" rIns="0" tIns="0" bIns="0" anchor="t">
            <a:spAutoFit/>
          </a:bodyPr>
          <a:lstStyle/>
          <a:p>
            <a:pPr algn="l"/>
            <a:r>
              <a:rPr b="0" sz="1050" i="0" u="none">
                <a:solidFill>
                  <a:srgbClr val="94A3B8"/>
                </a:solidFill>
                <a:latin typeface="Plus Jakarta Sans"/>
              </a:rPr>
              <a:t>BCA Examination Prep</a:t>
            </a:r>
          </a:p>
        </p:txBody>
      </p:sp>
      <p:sp>
        <p:nvSpPr>
          <p:cNvPr id="15" name="TextBox 14"/>
          <p:cNvSpPr txBox="1"/>
          <p:nvPr/>
        </p:nvSpPr>
        <p:spPr>
          <a:xfrm>
            <a:off x="2581275" y="5924550"/>
            <a:ext cx="2976562" cy="171450"/>
          </a:xfrm>
          <a:prstGeom prst="rect">
            <a:avLst/>
          </a:prstGeom>
          <a:noFill/>
        </p:spPr>
        <p:txBody>
          <a:bodyPr wrap="none" lIns="228600" rIns="0" tIns="0" bIns="0" anchor="t">
            <a:spAutoFit/>
          </a:bodyPr>
          <a:lstStyle/>
          <a:p>
            <a:pPr algn="l"/>
            <a:r>
              <a:rPr b="0" sz="1050" i="0" u="none">
                <a:solidFill>
                  <a:srgbClr val="94A3B8"/>
                </a:solidFill>
                <a:latin typeface="Plus Jakarta Sans"/>
              </a:rPr>
              <a:t>Class 2 of 3 (Decision Frameworks)</a:t>
            </a:r>
          </a:p>
        </p:txBody>
      </p:sp>
      <p:sp>
        <p:nvSpPr>
          <p:cNvPr id="16" name="TextBox 15"/>
          <p:cNvSpPr txBox="1"/>
          <p:nvPr/>
        </p:nvSpPr>
        <p:spPr>
          <a:xfrm>
            <a:off x="6381750" y="5753100"/>
            <a:ext cx="5086350" cy="514350"/>
          </a:xfrm>
          <a:prstGeom prst="rect">
            <a:avLst/>
          </a:prstGeom>
          <a:noFill/>
        </p:spPr>
        <p:txBody>
          <a:bodyPr wrap="square" lIns="0" rIns="0" tIns="0" bIns="0" anchor="t">
            <a:spAutoFit/>
          </a:bodyPr>
          <a:lstStyle/>
          <a:p>
            <a:pPr algn="l"/>
            <a:r>
              <a:rPr b="1" sz="1050" i="0" u="none">
                <a:solidFill>
                  <a:srgbClr val="F8FAFC"/>
                </a:solidFill>
                <a:latin typeface="Plus Jakarta Sans"/>
              </a:rPr>
              <a:t>Teacher Note:</a:t>
            </a:r>
            <a:r>
              <a:rPr b="0" sz="1050" i="0" u="none">
                <a:solidFill>
                  <a:srgbClr val="94A3B8"/>
                </a:solidFill>
                <a:latin typeface="Plus Jakarta Sans"/>
              </a:rPr>
              <a:t> Welcome students back! Remind them that last class introduced probabilities and risks; today we see how machine learning algorithms calculate decisions in code and calculate if tests are worth taking.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2009775"/>
            <a:ext cx="11163300" cy="1304925"/>
          </a:xfrm>
          <a:prstGeom prst="roundRect">
            <a:avLst>
              <a:gd name="adj" fmla="val 875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4257675"/>
            <a:ext cx="3619500" cy="800100"/>
          </a:xfrm>
          <a:prstGeom prst="roundRect">
            <a:avLst>
              <a:gd name="adj" fmla="val 95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86250" y="4257675"/>
            <a:ext cx="3619500" cy="800100"/>
          </a:xfrm>
          <a:prstGeom prst="roundRect">
            <a:avLst>
              <a:gd name="adj" fmla="val 95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058150" y="4257675"/>
            <a:ext cx="3619500" cy="800100"/>
          </a:xfrm>
          <a:prstGeom prst="roundRect">
            <a:avLst>
              <a:gd name="adj" fmla="val 95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4350" y="5048250"/>
            <a:ext cx="3619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4350" y="4257675"/>
            <a:ext cx="3619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4350" y="4257675"/>
            <a:ext cx="38100" cy="800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24325" y="4257675"/>
            <a:ext cx="9525" cy="800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6250" y="5048250"/>
            <a:ext cx="3619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6250" y="4257675"/>
            <a:ext cx="3619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6250" y="4257675"/>
            <a:ext cx="38100" cy="800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96225" y="4257675"/>
            <a:ext cx="9525" cy="800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8150" y="5048250"/>
            <a:ext cx="3619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150" y="4257675"/>
            <a:ext cx="3619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8150" y="4257675"/>
            <a:ext cx="38100" cy="800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668125" y="4257675"/>
            <a:ext cx="9525" cy="800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2"/>
          <a:stretch>
            <a:fillRect/>
          </a:stretch>
        </p:blipFill>
        <p:spPr>
          <a:xfrm>
            <a:off x="1590675" y="2228850"/>
            <a:ext cx="400050" cy="400050"/>
          </a:xfrm>
          <a:prstGeom prst="rect">
            <a:avLst/>
          </a:prstGeom>
        </p:spPr>
      </p:pic>
      <p:pic>
        <p:nvPicPr>
          <p:cNvPr id="21" name="Picture 20" descr="image.png"/>
          <p:cNvPicPr>
            <a:picLocks noChangeAspect="1"/>
          </p:cNvPicPr>
          <p:nvPr/>
        </p:nvPicPr>
        <p:blipFill>
          <a:blip r:embed="rId3"/>
          <a:stretch>
            <a:fillRect/>
          </a:stretch>
        </p:blipFill>
        <p:spPr>
          <a:xfrm>
            <a:off x="3743325" y="2228850"/>
            <a:ext cx="400050" cy="400050"/>
          </a:xfrm>
          <a:prstGeom prst="rect">
            <a:avLst/>
          </a:prstGeom>
        </p:spPr>
      </p:pic>
      <p:pic>
        <p:nvPicPr>
          <p:cNvPr id="22" name="Picture 21" descr="image.png"/>
          <p:cNvPicPr>
            <a:picLocks noChangeAspect="1"/>
          </p:cNvPicPr>
          <p:nvPr/>
        </p:nvPicPr>
        <p:blipFill>
          <a:blip r:embed="rId4"/>
          <a:stretch>
            <a:fillRect/>
          </a:stretch>
        </p:blipFill>
        <p:spPr>
          <a:xfrm>
            <a:off x="5895975" y="2228850"/>
            <a:ext cx="400050" cy="400050"/>
          </a:xfrm>
          <a:prstGeom prst="rect">
            <a:avLst/>
          </a:prstGeom>
        </p:spPr>
      </p:pic>
      <p:pic>
        <p:nvPicPr>
          <p:cNvPr id="23" name="Picture 22" descr="image.png"/>
          <p:cNvPicPr>
            <a:picLocks noChangeAspect="1"/>
          </p:cNvPicPr>
          <p:nvPr/>
        </p:nvPicPr>
        <p:blipFill>
          <a:blip r:embed="rId4"/>
          <a:stretch>
            <a:fillRect/>
          </a:stretch>
        </p:blipFill>
        <p:spPr>
          <a:xfrm>
            <a:off x="8048625" y="2228850"/>
            <a:ext cx="400050" cy="400050"/>
          </a:xfrm>
          <a:prstGeom prst="rect">
            <a:avLst/>
          </a:prstGeom>
        </p:spPr>
      </p:pic>
      <p:pic>
        <p:nvPicPr>
          <p:cNvPr id="24" name="Picture 23" descr="image.png"/>
          <p:cNvPicPr>
            <a:picLocks noChangeAspect="1"/>
          </p:cNvPicPr>
          <p:nvPr/>
        </p:nvPicPr>
        <p:blipFill>
          <a:blip r:embed="rId5"/>
          <a:stretch>
            <a:fillRect/>
          </a:stretch>
        </p:blipFill>
        <p:spPr>
          <a:xfrm>
            <a:off x="10201275" y="2228850"/>
            <a:ext cx="400050" cy="400050"/>
          </a:xfrm>
          <a:prstGeom prst="rect">
            <a:avLst/>
          </a:prstGeom>
        </p:spPr>
      </p:pic>
      <p:pic>
        <p:nvPicPr>
          <p:cNvPr id="25" name="Picture 24" descr="image.png"/>
          <p:cNvPicPr>
            <a:picLocks noChangeAspect="1"/>
          </p:cNvPicPr>
          <p:nvPr/>
        </p:nvPicPr>
        <p:blipFill>
          <a:blip r:embed="rId6"/>
          <a:stretch>
            <a:fillRect/>
          </a:stretch>
        </p:blipFill>
        <p:spPr>
          <a:xfrm>
            <a:off x="1704975" y="2343150"/>
            <a:ext cx="171450" cy="171450"/>
          </a:xfrm>
          <a:prstGeom prst="rect">
            <a:avLst/>
          </a:prstGeom>
        </p:spPr>
      </p:pic>
      <p:pic>
        <p:nvPicPr>
          <p:cNvPr id="26" name="Picture 25" descr="image.png"/>
          <p:cNvPicPr>
            <a:picLocks noChangeAspect="1"/>
          </p:cNvPicPr>
          <p:nvPr/>
        </p:nvPicPr>
        <p:blipFill>
          <a:blip r:embed="rId7"/>
          <a:stretch>
            <a:fillRect/>
          </a:stretch>
        </p:blipFill>
        <p:spPr>
          <a:xfrm>
            <a:off x="3876675" y="2343150"/>
            <a:ext cx="133350" cy="171450"/>
          </a:xfrm>
          <a:prstGeom prst="rect">
            <a:avLst/>
          </a:prstGeom>
        </p:spPr>
      </p:pic>
      <p:pic>
        <p:nvPicPr>
          <p:cNvPr id="27" name="Picture 26" descr="image.png"/>
          <p:cNvPicPr>
            <a:picLocks noChangeAspect="1"/>
          </p:cNvPicPr>
          <p:nvPr/>
        </p:nvPicPr>
        <p:blipFill>
          <a:blip r:embed="rId8"/>
          <a:stretch>
            <a:fillRect/>
          </a:stretch>
        </p:blipFill>
        <p:spPr>
          <a:xfrm>
            <a:off x="6010275" y="2343150"/>
            <a:ext cx="171450" cy="171450"/>
          </a:xfrm>
          <a:prstGeom prst="rect">
            <a:avLst/>
          </a:prstGeom>
        </p:spPr>
      </p:pic>
      <p:pic>
        <p:nvPicPr>
          <p:cNvPr id="28" name="Picture 27" descr="image.png"/>
          <p:cNvPicPr>
            <a:picLocks noChangeAspect="1"/>
          </p:cNvPicPr>
          <p:nvPr/>
        </p:nvPicPr>
        <p:blipFill>
          <a:blip r:embed="rId9"/>
          <a:stretch>
            <a:fillRect/>
          </a:stretch>
        </p:blipFill>
        <p:spPr>
          <a:xfrm>
            <a:off x="8162925" y="2343150"/>
            <a:ext cx="171450" cy="171450"/>
          </a:xfrm>
          <a:prstGeom prst="rect">
            <a:avLst/>
          </a:prstGeom>
        </p:spPr>
      </p:pic>
      <p:pic>
        <p:nvPicPr>
          <p:cNvPr id="29" name="Picture 28" descr="image.png"/>
          <p:cNvPicPr>
            <a:picLocks noChangeAspect="1"/>
          </p:cNvPicPr>
          <p:nvPr/>
        </p:nvPicPr>
        <p:blipFill>
          <a:blip r:embed="rId10"/>
          <a:stretch>
            <a:fillRect/>
          </a:stretch>
        </p:blipFill>
        <p:spPr>
          <a:xfrm>
            <a:off x="10325100" y="2343150"/>
            <a:ext cx="152400" cy="171450"/>
          </a:xfrm>
          <a:prstGeom prst="rect">
            <a:avLst/>
          </a:prstGeom>
        </p:spPr>
      </p:pic>
      <p:sp>
        <p:nvSpPr>
          <p:cNvPr id="30" name="TextBox 29"/>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Where We Stopped &amp; Where We Go Today</a:t>
            </a:r>
          </a:p>
        </p:txBody>
      </p:sp>
      <p:sp>
        <p:nvSpPr>
          <p:cNvPr id="31" name="TextBox 30"/>
          <p:cNvSpPr txBox="1"/>
          <p:nvPr/>
        </p:nvSpPr>
        <p:spPr>
          <a:xfrm>
            <a:off x="2790825" y="2547937"/>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32" name="TextBox 31"/>
          <p:cNvSpPr txBox="1"/>
          <p:nvPr/>
        </p:nvSpPr>
        <p:spPr>
          <a:xfrm>
            <a:off x="4943475" y="2547937"/>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33" name="TextBox 32"/>
          <p:cNvSpPr txBox="1"/>
          <p:nvPr/>
        </p:nvSpPr>
        <p:spPr>
          <a:xfrm>
            <a:off x="7096125" y="2547937"/>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34" name="TextBox 33"/>
          <p:cNvSpPr txBox="1"/>
          <p:nvPr/>
        </p:nvSpPr>
        <p:spPr>
          <a:xfrm>
            <a:off x="9248775" y="2547937"/>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35" name="TextBox 34"/>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Tell students: "Last time we proved that minimizing loss gives optimal decisions. But calculating loss every time in code is slow. Today we convert risks into scoring functions called discriminants, then explore utility and testing costs."</a:t>
            </a:r>
          </a:p>
        </p:txBody>
      </p:sp>
      <p:sp>
        <p:nvSpPr>
          <p:cNvPr id="36" name="TextBox 35"/>
          <p:cNvSpPr txBox="1"/>
          <p:nvPr/>
        </p:nvSpPr>
        <p:spPr>
          <a:xfrm>
            <a:off x="514350" y="342900"/>
            <a:ext cx="1964531" cy="171450"/>
          </a:xfrm>
          <a:prstGeom prst="rect">
            <a:avLst/>
          </a:prstGeom>
          <a:noFill/>
        </p:spPr>
        <p:txBody>
          <a:bodyPr wrap="none" lIns="0" rIns="0" tIns="0" bIns="0" anchor="t">
            <a:spAutoFit/>
          </a:bodyPr>
          <a:lstStyle/>
          <a:p>
            <a:pPr algn="l"/>
            <a:r>
              <a:rPr b="1" sz="1050" i="0" u="none">
                <a:solidFill>
                  <a:srgbClr val="2563EB"/>
                </a:solidFill>
                <a:latin typeface="Plus Jakarta Sans"/>
              </a:rPr>
              <a:t>FOUNDATION REVIEW</a:t>
            </a:r>
          </a:p>
        </p:txBody>
      </p:sp>
      <p:sp>
        <p:nvSpPr>
          <p:cNvPr id="37" name="TextBox 36"/>
          <p:cNvSpPr txBox="1"/>
          <p:nvPr/>
        </p:nvSpPr>
        <p:spPr>
          <a:xfrm>
            <a:off x="10258425" y="342900"/>
            <a:ext cx="1774031" cy="171450"/>
          </a:xfrm>
          <a:prstGeom prst="rect">
            <a:avLst/>
          </a:prstGeom>
          <a:noFill/>
        </p:spPr>
        <p:txBody>
          <a:bodyPr wrap="none" lIns="0" rIns="0" tIns="0" bIns="0" anchor="t">
            <a:spAutoFit/>
          </a:bodyPr>
          <a:lstStyle/>
          <a:p>
            <a:pPr algn="l"/>
            <a:r>
              <a:rPr b="1" sz="1050" i="0" u="none">
                <a:solidFill>
                  <a:srgbClr val="64748B"/>
                </a:solidFill>
                <a:latin typeface="Plus Jakarta Sans"/>
              </a:rPr>
              <a:t>Unit II — Class 1 Review</a:t>
            </a:r>
          </a:p>
        </p:txBody>
      </p:sp>
      <p:sp>
        <p:nvSpPr>
          <p:cNvPr id="38" name="TextBox 37"/>
          <p:cNvSpPr txBox="1"/>
          <p:nvPr/>
        </p:nvSpPr>
        <p:spPr>
          <a:xfrm>
            <a:off x="1271587" y="2705100"/>
            <a:ext cx="1323975" cy="219075"/>
          </a:xfrm>
          <a:prstGeom prst="rect">
            <a:avLst/>
          </a:prstGeom>
          <a:noFill/>
        </p:spPr>
        <p:txBody>
          <a:bodyPr wrap="none" lIns="0" rIns="0" tIns="0" bIns="0" anchor="t">
            <a:spAutoFit/>
          </a:bodyPr>
          <a:lstStyle/>
          <a:p>
            <a:pPr algn="l"/>
            <a:r>
              <a:rPr b="1" sz="1350" i="0" u="none">
                <a:solidFill>
                  <a:srgbClr val="0F172A"/>
                </a:solidFill>
                <a:latin typeface="Plus Jakarta Sans"/>
              </a:rPr>
              <a:t>Evidence (x)</a:t>
            </a:r>
          </a:p>
        </p:txBody>
      </p:sp>
      <p:sp>
        <p:nvSpPr>
          <p:cNvPr id="39" name="TextBox 38"/>
          <p:cNvSpPr txBox="1"/>
          <p:nvPr/>
        </p:nvSpPr>
        <p:spPr>
          <a:xfrm>
            <a:off x="1209675" y="2924175"/>
            <a:ext cx="1452562" cy="171450"/>
          </a:xfrm>
          <a:prstGeom prst="rect">
            <a:avLst/>
          </a:prstGeom>
          <a:noFill/>
        </p:spPr>
        <p:txBody>
          <a:bodyPr wrap="none" lIns="0" rIns="0" tIns="0" bIns="0" anchor="t">
            <a:spAutoFit/>
          </a:bodyPr>
          <a:lstStyle/>
          <a:p>
            <a:pPr algn="l"/>
            <a:r>
              <a:rPr b="0" sz="1050" i="0" u="none">
                <a:solidFill>
                  <a:srgbClr val="64748B"/>
                </a:solidFill>
                <a:latin typeface="Plus Jakarta Sans"/>
              </a:rPr>
              <a:t>Raw input features</a:t>
            </a:r>
          </a:p>
        </p:txBody>
      </p:sp>
      <p:sp>
        <p:nvSpPr>
          <p:cNvPr id="40" name="TextBox 39"/>
          <p:cNvSpPr txBox="1"/>
          <p:nvPr/>
        </p:nvSpPr>
        <p:spPr>
          <a:xfrm>
            <a:off x="3476625" y="2705100"/>
            <a:ext cx="1219200" cy="219075"/>
          </a:xfrm>
          <a:prstGeom prst="rect">
            <a:avLst/>
          </a:prstGeom>
          <a:noFill/>
        </p:spPr>
        <p:txBody>
          <a:bodyPr wrap="none" lIns="0" rIns="0" tIns="0" bIns="0" anchor="t">
            <a:spAutoFit/>
          </a:bodyPr>
          <a:lstStyle/>
          <a:p>
            <a:pPr algn="l"/>
            <a:r>
              <a:rPr b="1" sz="1350" i="0" u="none">
                <a:solidFill>
                  <a:srgbClr val="0F172A"/>
                </a:solidFill>
                <a:latin typeface="Plus Jakarta Sans"/>
              </a:rPr>
              <a:t>Probability</a:t>
            </a:r>
          </a:p>
        </p:txBody>
      </p:sp>
      <p:sp>
        <p:nvSpPr>
          <p:cNvPr id="41" name="TextBox 40"/>
          <p:cNvSpPr txBox="1"/>
          <p:nvPr/>
        </p:nvSpPr>
        <p:spPr>
          <a:xfrm>
            <a:off x="3443287" y="2924175"/>
            <a:ext cx="1285875" cy="171450"/>
          </a:xfrm>
          <a:prstGeom prst="rect">
            <a:avLst/>
          </a:prstGeom>
          <a:noFill/>
        </p:spPr>
        <p:txBody>
          <a:bodyPr wrap="none" lIns="0" rIns="0" tIns="0" bIns="0" anchor="t">
            <a:spAutoFit/>
          </a:bodyPr>
          <a:lstStyle/>
          <a:p>
            <a:pPr algn="l"/>
            <a:r>
              <a:rPr b="0" sz="1050" i="0" u="none">
                <a:solidFill>
                  <a:srgbClr val="64748B"/>
                </a:solidFill>
                <a:latin typeface="Plus Jakarta Sans"/>
              </a:rPr>
              <a:t>Posterior P(Ci|x)</a:t>
            </a:r>
          </a:p>
        </p:txBody>
      </p:sp>
      <p:sp>
        <p:nvSpPr>
          <p:cNvPr id="42" name="TextBox 41"/>
          <p:cNvSpPr txBox="1"/>
          <p:nvPr/>
        </p:nvSpPr>
        <p:spPr>
          <a:xfrm>
            <a:off x="5629275" y="2705100"/>
            <a:ext cx="1219200" cy="219075"/>
          </a:xfrm>
          <a:prstGeom prst="rect">
            <a:avLst/>
          </a:prstGeom>
          <a:noFill/>
        </p:spPr>
        <p:txBody>
          <a:bodyPr wrap="none" lIns="0" rIns="0" tIns="0" bIns="0" anchor="t">
            <a:spAutoFit/>
          </a:bodyPr>
          <a:lstStyle/>
          <a:p>
            <a:pPr algn="l"/>
            <a:r>
              <a:rPr b="1" sz="1350" i="0" u="none">
                <a:solidFill>
                  <a:srgbClr val="0F172A"/>
                </a:solidFill>
                <a:latin typeface="Plus Jakarta Sans"/>
              </a:rPr>
              <a:t>Loss Matrix</a:t>
            </a:r>
          </a:p>
        </p:txBody>
      </p:sp>
      <p:sp>
        <p:nvSpPr>
          <p:cNvPr id="43" name="TextBox 42"/>
          <p:cNvSpPr txBox="1"/>
          <p:nvPr/>
        </p:nvSpPr>
        <p:spPr>
          <a:xfrm>
            <a:off x="5600700" y="2924175"/>
            <a:ext cx="1276350" cy="171450"/>
          </a:xfrm>
          <a:prstGeom prst="rect">
            <a:avLst/>
          </a:prstGeom>
          <a:noFill/>
        </p:spPr>
        <p:txBody>
          <a:bodyPr wrap="none" lIns="0" rIns="0" tIns="0" bIns="0" anchor="t">
            <a:spAutoFit/>
          </a:bodyPr>
          <a:lstStyle/>
          <a:p>
            <a:pPr algn="l"/>
            <a:r>
              <a:rPr b="0" sz="1050" i="0" u="none">
                <a:solidFill>
                  <a:srgbClr val="64748B"/>
                </a:solidFill>
                <a:latin typeface="Plus Jakarta Sans"/>
              </a:rPr>
              <a:t>Cost of error λik</a:t>
            </a:r>
          </a:p>
        </p:txBody>
      </p:sp>
      <p:sp>
        <p:nvSpPr>
          <p:cNvPr id="44" name="TextBox 43"/>
          <p:cNvSpPr txBox="1"/>
          <p:nvPr/>
        </p:nvSpPr>
        <p:spPr>
          <a:xfrm>
            <a:off x="7567612" y="2705100"/>
            <a:ext cx="1702593" cy="219075"/>
          </a:xfrm>
          <a:prstGeom prst="rect">
            <a:avLst/>
          </a:prstGeom>
          <a:noFill/>
        </p:spPr>
        <p:txBody>
          <a:bodyPr wrap="none" lIns="0" rIns="0" tIns="0" bIns="0" anchor="t">
            <a:spAutoFit/>
          </a:bodyPr>
          <a:lstStyle/>
          <a:p>
            <a:pPr algn="l"/>
            <a:r>
              <a:rPr b="1" sz="1350" i="0" u="none">
                <a:solidFill>
                  <a:srgbClr val="0F172A"/>
                </a:solidFill>
                <a:latin typeface="Plus Jakarta Sans"/>
              </a:rPr>
              <a:t>Conditional Risk</a:t>
            </a:r>
          </a:p>
        </p:txBody>
      </p:sp>
      <p:sp>
        <p:nvSpPr>
          <p:cNvPr id="45" name="TextBox 44"/>
          <p:cNvSpPr txBox="1"/>
          <p:nvPr/>
        </p:nvSpPr>
        <p:spPr>
          <a:xfrm>
            <a:off x="7624316" y="2924175"/>
            <a:ext cx="1560834" cy="171450"/>
          </a:xfrm>
          <a:prstGeom prst="rect">
            <a:avLst/>
          </a:prstGeom>
          <a:noFill/>
        </p:spPr>
        <p:txBody>
          <a:bodyPr wrap="none" lIns="0" rIns="0" tIns="0" bIns="0" anchor="t">
            <a:spAutoFit/>
          </a:bodyPr>
          <a:lstStyle/>
          <a:p>
            <a:pPr algn="l"/>
            <a:r>
              <a:rPr b="0" sz="1050" i="0" u="none">
                <a:solidFill>
                  <a:srgbClr val="64748B"/>
                </a:solidFill>
                <a:latin typeface="Plus Jakarta Sans"/>
              </a:rPr>
              <a:t>Expected loss R(α|x)</a:t>
            </a:r>
          </a:p>
        </p:txBody>
      </p:sp>
      <p:sp>
        <p:nvSpPr>
          <p:cNvPr id="46" name="TextBox 45"/>
          <p:cNvSpPr txBox="1"/>
          <p:nvPr/>
        </p:nvSpPr>
        <p:spPr>
          <a:xfrm>
            <a:off x="10034587" y="2705100"/>
            <a:ext cx="1019175" cy="219075"/>
          </a:xfrm>
          <a:prstGeom prst="rect">
            <a:avLst/>
          </a:prstGeom>
          <a:noFill/>
        </p:spPr>
        <p:txBody>
          <a:bodyPr wrap="none" lIns="0" rIns="0" tIns="0" bIns="0" anchor="t">
            <a:spAutoFit/>
          </a:bodyPr>
          <a:lstStyle/>
          <a:p>
            <a:pPr algn="l"/>
            <a:r>
              <a:rPr b="1" sz="1350" i="0" u="none">
                <a:solidFill>
                  <a:srgbClr val="0F172A"/>
                </a:solidFill>
                <a:latin typeface="Plus Jakarta Sans"/>
              </a:rPr>
              <a:t>Decision</a:t>
            </a:r>
          </a:p>
        </p:txBody>
      </p:sp>
      <p:sp>
        <p:nvSpPr>
          <p:cNvPr id="47" name="TextBox 46"/>
          <p:cNvSpPr txBox="1"/>
          <p:nvPr/>
        </p:nvSpPr>
        <p:spPr>
          <a:xfrm>
            <a:off x="10010775" y="2924175"/>
            <a:ext cx="1066800" cy="171450"/>
          </a:xfrm>
          <a:prstGeom prst="rect">
            <a:avLst/>
          </a:prstGeom>
          <a:noFill/>
        </p:spPr>
        <p:txBody>
          <a:bodyPr wrap="none" lIns="0" rIns="0" tIns="0" bIns="0" anchor="t">
            <a:spAutoFit/>
          </a:bodyPr>
          <a:lstStyle/>
          <a:p>
            <a:pPr algn="l"/>
            <a:r>
              <a:rPr b="0" sz="1050" i="0" u="none">
                <a:solidFill>
                  <a:srgbClr val="64748B"/>
                </a:solidFill>
                <a:latin typeface="Plus Jakarta Sans"/>
              </a:rPr>
              <a:t>Minimize risk</a:t>
            </a:r>
          </a:p>
        </p:txBody>
      </p:sp>
      <p:sp>
        <p:nvSpPr>
          <p:cNvPr id="48" name="TextBox 47"/>
          <p:cNvSpPr txBox="1"/>
          <p:nvPr/>
        </p:nvSpPr>
        <p:spPr>
          <a:xfrm>
            <a:off x="704850" y="4419600"/>
            <a:ext cx="4288035" cy="219075"/>
          </a:xfrm>
          <a:prstGeom prst="rect">
            <a:avLst/>
          </a:prstGeom>
          <a:noFill/>
        </p:spPr>
        <p:txBody>
          <a:bodyPr wrap="none" lIns="0" rIns="0" tIns="0" bIns="0" anchor="t">
            <a:spAutoFit/>
          </a:bodyPr>
          <a:lstStyle/>
          <a:p>
            <a:pPr algn="l"/>
            <a:r>
              <a:rPr b="1" sz="1350" i="0" u="none">
                <a:solidFill>
                  <a:srgbClr val="1E40AF"/>
                </a:solidFill>
                <a:latin typeface="Plus Jakarta Sans"/>
              </a:rPr>
              <a:t>1. Discriminant Functions</a:t>
            </a:r>
          </a:p>
        </p:txBody>
      </p:sp>
      <p:sp>
        <p:nvSpPr>
          <p:cNvPr id="49" name="TextBox 48"/>
          <p:cNvSpPr txBox="1"/>
          <p:nvPr/>
        </p:nvSpPr>
        <p:spPr>
          <a:xfrm>
            <a:off x="704850" y="4676775"/>
            <a:ext cx="4083843" cy="219075"/>
          </a:xfrm>
          <a:prstGeom prst="rect">
            <a:avLst/>
          </a:prstGeom>
          <a:noFill/>
        </p:spPr>
        <p:txBody>
          <a:bodyPr wrap="none" lIns="0" rIns="0" tIns="0" bIns="0" anchor="t">
            <a:spAutoFit/>
          </a:bodyPr>
          <a:lstStyle/>
          <a:p>
            <a:pPr algn="l"/>
            <a:r>
              <a:rPr b="0" sz="1350" i="0" u="none">
                <a:solidFill>
                  <a:srgbClr val="334155"/>
                </a:solidFill>
                <a:latin typeface="Plus Jakarta Sans"/>
              </a:rPr>
              <a:t>How computers score classes directly.</a:t>
            </a:r>
          </a:p>
        </p:txBody>
      </p:sp>
      <p:sp>
        <p:nvSpPr>
          <p:cNvPr id="50" name="TextBox 49"/>
          <p:cNvSpPr txBox="1"/>
          <p:nvPr/>
        </p:nvSpPr>
        <p:spPr>
          <a:xfrm>
            <a:off x="4476750" y="4419600"/>
            <a:ext cx="4288035" cy="219075"/>
          </a:xfrm>
          <a:prstGeom prst="rect">
            <a:avLst/>
          </a:prstGeom>
          <a:noFill/>
        </p:spPr>
        <p:txBody>
          <a:bodyPr wrap="none" lIns="0" rIns="0" tIns="0" bIns="0" anchor="t">
            <a:spAutoFit/>
          </a:bodyPr>
          <a:lstStyle/>
          <a:p>
            <a:pPr algn="l"/>
            <a:r>
              <a:rPr b="1" sz="1350" i="0" u="none">
                <a:solidFill>
                  <a:srgbClr val="0F766E"/>
                </a:solidFill>
                <a:latin typeface="Plus Jakarta Sans"/>
              </a:rPr>
              <a:t>2. Utility Theory</a:t>
            </a:r>
          </a:p>
        </p:txBody>
      </p:sp>
      <p:sp>
        <p:nvSpPr>
          <p:cNvPr id="51" name="TextBox 50"/>
          <p:cNvSpPr txBox="1"/>
          <p:nvPr/>
        </p:nvSpPr>
        <p:spPr>
          <a:xfrm>
            <a:off x="4476750" y="4676775"/>
            <a:ext cx="4083843" cy="219075"/>
          </a:xfrm>
          <a:prstGeom prst="rect">
            <a:avLst/>
          </a:prstGeom>
          <a:noFill/>
        </p:spPr>
        <p:txBody>
          <a:bodyPr wrap="none" lIns="0" rIns="0" tIns="0" bIns="0" anchor="t">
            <a:spAutoFit/>
          </a:bodyPr>
          <a:lstStyle/>
          <a:p>
            <a:pPr algn="l"/>
            <a:r>
              <a:rPr b="0" sz="1350" i="0" u="none">
                <a:solidFill>
                  <a:srgbClr val="334155"/>
                </a:solidFill>
                <a:latin typeface="Plus Jakarta Sans"/>
              </a:rPr>
              <a:t>Maximizing rewards instead of losses.</a:t>
            </a:r>
          </a:p>
        </p:txBody>
      </p:sp>
      <p:sp>
        <p:nvSpPr>
          <p:cNvPr id="52" name="TextBox 51"/>
          <p:cNvSpPr txBox="1"/>
          <p:nvPr/>
        </p:nvSpPr>
        <p:spPr>
          <a:xfrm>
            <a:off x="8248650" y="4419600"/>
            <a:ext cx="3943350" cy="219075"/>
          </a:xfrm>
          <a:prstGeom prst="rect">
            <a:avLst/>
          </a:prstGeom>
          <a:noFill/>
        </p:spPr>
        <p:txBody>
          <a:bodyPr wrap="none" lIns="0" rIns="0" tIns="0" bIns="0" anchor="t">
            <a:spAutoFit/>
          </a:bodyPr>
          <a:lstStyle/>
          <a:p>
            <a:pPr algn="l"/>
            <a:r>
              <a:rPr b="1" sz="1350" i="0" u="none">
                <a:solidFill>
                  <a:srgbClr val="B45309"/>
                </a:solidFill>
                <a:latin typeface="Plus Jakarta Sans"/>
              </a:rPr>
              <a:t>3. Value of Information</a:t>
            </a:r>
          </a:p>
        </p:txBody>
      </p:sp>
      <p:sp>
        <p:nvSpPr>
          <p:cNvPr id="53" name="TextBox 52"/>
          <p:cNvSpPr txBox="1"/>
          <p:nvPr/>
        </p:nvSpPr>
        <p:spPr>
          <a:xfrm>
            <a:off x="8248650" y="4676775"/>
            <a:ext cx="3943350" cy="219075"/>
          </a:xfrm>
          <a:prstGeom prst="rect">
            <a:avLst/>
          </a:prstGeom>
          <a:noFill/>
        </p:spPr>
        <p:txBody>
          <a:bodyPr wrap="none" lIns="0" rIns="0" tIns="0" bIns="0" anchor="t">
            <a:spAutoFit/>
          </a:bodyPr>
          <a:lstStyle/>
          <a:p>
            <a:pPr algn="l"/>
            <a:r>
              <a:rPr b="0" sz="1350" i="0" u="none">
                <a:solidFill>
                  <a:srgbClr val="334155"/>
                </a:solidFill>
                <a:latin typeface="Plus Jakarta Sans"/>
              </a:rPr>
              <a:t>Deciding if extra data justifies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943100"/>
            <a:ext cx="5921126" cy="3181350"/>
          </a:xfrm>
          <a:prstGeom prst="roundRect">
            <a:avLst>
              <a:gd name="adj" fmla="val 359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4076" y="1943100"/>
            <a:ext cx="5013573" cy="3181350"/>
          </a:xfrm>
          <a:prstGeom prst="roundRect">
            <a:avLst>
              <a:gd name="adj" fmla="val 359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2475" y="2181225"/>
            <a:ext cx="1809750" cy="247650"/>
          </a:xfrm>
          <a:prstGeom prst="roundRect">
            <a:avLst>
              <a:gd name="adj" fmla="val 1538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2475" y="2543175"/>
            <a:ext cx="38100" cy="800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02201" y="2514600"/>
            <a:ext cx="4537323" cy="409575"/>
          </a:xfrm>
          <a:prstGeom prst="roundRect">
            <a:avLst>
              <a:gd name="adj" fmla="val 1860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02201" y="4419600"/>
            <a:ext cx="4537323" cy="466725"/>
          </a:xfrm>
          <a:prstGeom prst="roundRect">
            <a:avLst>
              <a:gd name="adj" fmla="val 16326"/>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02201" y="3286125"/>
            <a:ext cx="2230635" cy="771525"/>
          </a:xfrm>
          <a:prstGeom prst="roundRect">
            <a:avLst>
              <a:gd name="adj" fmla="val 987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09037" y="3286125"/>
            <a:ext cx="2230635" cy="771525"/>
          </a:xfrm>
          <a:prstGeom prst="roundRect">
            <a:avLst>
              <a:gd name="adj" fmla="val 98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What is a Discriminant Function?</a:t>
            </a:r>
          </a:p>
        </p:txBody>
      </p:sp>
      <p:sp>
        <p:nvSpPr>
          <p:cNvPr id="13" name="TextBox 12"/>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Explain as: "Think of an election where candidates get points based on voting ballots. The candidate with the maximum points is elected. A discriminant function simply tallies points for each category."</a:t>
            </a:r>
          </a:p>
        </p:txBody>
      </p:sp>
      <p:sp>
        <p:nvSpPr>
          <p:cNvPr id="14" name="TextBox 13"/>
          <p:cNvSpPr txBox="1"/>
          <p:nvPr/>
        </p:nvSpPr>
        <p:spPr>
          <a:xfrm>
            <a:off x="514350" y="342900"/>
            <a:ext cx="3286125" cy="171450"/>
          </a:xfrm>
          <a:prstGeom prst="rect">
            <a:avLst/>
          </a:prstGeom>
          <a:noFill/>
        </p:spPr>
        <p:txBody>
          <a:bodyPr wrap="none" lIns="0" rIns="0" tIns="0" bIns="0" anchor="t">
            <a:spAutoFit/>
          </a:bodyPr>
          <a:lstStyle/>
          <a:p>
            <a:pPr algn="l"/>
            <a:r>
              <a:rPr b="1" sz="1050" i="0" u="none">
                <a:solidFill>
                  <a:srgbClr val="2563EB"/>
                </a:solidFill>
                <a:latin typeface="Plus Jakarta Sans"/>
              </a:rPr>
              <a:t>TOPIC 1: DISCRIMINANT FUNCTIONS</a:t>
            </a:r>
          </a:p>
        </p:txBody>
      </p:sp>
      <p:sp>
        <p:nvSpPr>
          <p:cNvPr id="15" name="TextBox 14"/>
          <p:cNvSpPr txBox="1"/>
          <p:nvPr/>
        </p:nvSpPr>
        <p:spPr>
          <a:xfrm>
            <a:off x="10382250" y="342900"/>
            <a:ext cx="1619250" cy="171450"/>
          </a:xfrm>
          <a:prstGeom prst="rect">
            <a:avLst/>
          </a:prstGeom>
          <a:noFill/>
        </p:spPr>
        <p:txBody>
          <a:bodyPr wrap="none" lIns="0" rIns="0" tIns="0" bIns="0" anchor="t">
            <a:spAutoFit/>
          </a:bodyPr>
          <a:lstStyle/>
          <a:p>
            <a:pPr algn="l"/>
            <a:r>
              <a:rPr b="1" sz="1050" i="0" u="none">
                <a:solidFill>
                  <a:srgbClr val="64748B"/>
                </a:solidFill>
                <a:latin typeface="Plus Jakarta Sans"/>
              </a:rPr>
              <a:t>Ethem Alpaydin §3.5</a:t>
            </a:r>
          </a:p>
        </p:txBody>
      </p:sp>
      <p:sp>
        <p:nvSpPr>
          <p:cNvPr id="16" name="TextBox 15"/>
          <p:cNvSpPr txBox="1"/>
          <p:nvPr/>
        </p:nvSpPr>
        <p:spPr>
          <a:xfrm>
            <a:off x="6902201" y="2181225"/>
            <a:ext cx="5289798" cy="219075"/>
          </a:xfrm>
          <a:prstGeom prst="rect">
            <a:avLst/>
          </a:prstGeom>
          <a:noFill/>
        </p:spPr>
        <p:txBody>
          <a:bodyPr wrap="none" lIns="0" rIns="0" tIns="0" bIns="0" anchor="t">
            <a:spAutoFit/>
          </a:bodyPr>
          <a:lstStyle/>
          <a:p>
            <a:pPr algn="l"/>
            <a:r>
              <a:rPr b="1" sz="1350" i="0" u="none">
                <a:solidFill>
                  <a:srgbClr val="0F172A"/>
                </a:solidFill>
                <a:latin typeface="Plus Jakarta Sans"/>
              </a:rPr>
              <a:t>Intuitive Working Diagram</a:t>
            </a:r>
          </a:p>
        </p:txBody>
      </p:sp>
      <p:sp>
        <p:nvSpPr>
          <p:cNvPr id="17" name="TextBox 16"/>
          <p:cNvSpPr txBox="1"/>
          <p:nvPr/>
        </p:nvSpPr>
        <p:spPr>
          <a:xfrm>
            <a:off x="847725" y="2219325"/>
            <a:ext cx="1714500" cy="171450"/>
          </a:xfrm>
          <a:prstGeom prst="rect">
            <a:avLst/>
          </a:prstGeom>
          <a:noFill/>
        </p:spPr>
        <p:txBody>
          <a:bodyPr wrap="square" lIns="0" rIns="0" tIns="0" bIns="0" anchor="t">
            <a:spAutoFit/>
          </a:bodyPr>
          <a:lstStyle/>
          <a:p>
            <a:pPr algn="l"/>
            <a:r>
              <a:rPr b="1" sz="1050" i="0" u="none">
                <a:solidFill>
                  <a:srgbClr val="1D4ED8"/>
                </a:solidFill>
                <a:latin typeface="Plus Jakarta Sans"/>
              </a:rPr>
              <a:t>Core Textbook Definition</a:t>
            </a:r>
          </a:p>
        </p:txBody>
      </p:sp>
      <p:sp>
        <p:nvSpPr>
          <p:cNvPr id="18" name="TextBox 17"/>
          <p:cNvSpPr txBox="1"/>
          <p:nvPr/>
        </p:nvSpPr>
        <p:spPr>
          <a:xfrm>
            <a:off x="885825" y="2543175"/>
            <a:ext cx="5406776" cy="800100"/>
          </a:xfrm>
          <a:prstGeom prst="rect">
            <a:avLst/>
          </a:prstGeom>
          <a:noFill/>
        </p:spPr>
        <p:txBody>
          <a:bodyPr wrap="square" lIns="0" rIns="0" tIns="0" bIns="0" anchor="t">
            <a:spAutoFit/>
          </a:bodyPr>
          <a:lstStyle/>
          <a:p>
            <a:pPr algn="l">
              <a:lnSpc>
                <a:spcPts val="2100"/>
              </a:lnSpc>
            </a:pPr>
            <a:r>
              <a:rPr b="1" sz="1500" i="0" u="none">
                <a:solidFill>
                  <a:srgbClr val="1E293B"/>
                </a:solidFill>
                <a:latin typeface="Plus Jakarta Sans"/>
              </a:rPr>
              <a:t>"A discriminant function is a mathematical function that assigns a numerical score to each class and chooses the class with the highest score."</a:t>
            </a:r>
          </a:p>
        </p:txBody>
      </p:sp>
      <p:sp>
        <p:nvSpPr>
          <p:cNvPr id="19" name="TextBox 18"/>
          <p:cNvSpPr txBox="1"/>
          <p:nvPr/>
        </p:nvSpPr>
        <p:spPr>
          <a:xfrm>
            <a:off x="6468386" y="2609850"/>
            <a:ext cx="5404953" cy="219075"/>
          </a:xfrm>
          <a:prstGeom prst="rect">
            <a:avLst/>
          </a:prstGeom>
          <a:noFill/>
        </p:spPr>
        <p:txBody>
          <a:bodyPr wrap="square" lIns="0" rIns="0" tIns="0" bIns="0" anchor="t">
            <a:spAutoFit/>
          </a:bodyPr>
          <a:lstStyle/>
          <a:p>
            <a:pPr algn="ctr"/>
            <a:r>
              <a:rPr b="1" sz="1350" i="0" u="none">
                <a:solidFill>
                  <a:srgbClr val="0F172A"/>
                </a:solidFill>
                <a:latin typeface="Plus Jakarta Sans"/>
              </a:rPr>
              <a:t>Feature Input (x): Image Pixels</a:t>
            </a:r>
          </a:p>
        </p:txBody>
      </p:sp>
      <p:sp>
        <p:nvSpPr>
          <p:cNvPr id="20" name="TextBox 19"/>
          <p:cNvSpPr txBox="1"/>
          <p:nvPr/>
        </p:nvSpPr>
        <p:spPr>
          <a:xfrm>
            <a:off x="6335036" y="3019425"/>
            <a:ext cx="5671653" cy="171450"/>
          </a:xfrm>
          <a:prstGeom prst="rect">
            <a:avLst/>
          </a:prstGeom>
          <a:noFill/>
        </p:spPr>
        <p:txBody>
          <a:bodyPr wrap="none" lIns="0" rIns="0" tIns="0" bIns="0" anchor="t">
            <a:spAutoFit/>
          </a:bodyPr>
          <a:lstStyle/>
          <a:p>
            <a:pPr algn="ctr"/>
            <a:r>
              <a:rPr b="0" sz="1050" i="0" u="none">
                <a:solidFill>
                  <a:srgbClr val="0F172A"/>
                </a:solidFill>
                <a:latin typeface="Plus Jakarta Sans"/>
              </a:rPr>
              <a:t>▼ Passes through scoring functions</a:t>
            </a:r>
          </a:p>
        </p:txBody>
      </p:sp>
      <p:sp>
        <p:nvSpPr>
          <p:cNvPr id="21" name="TextBox 20"/>
          <p:cNvSpPr txBox="1"/>
          <p:nvPr/>
        </p:nvSpPr>
        <p:spPr>
          <a:xfrm>
            <a:off x="6335036" y="4152900"/>
            <a:ext cx="5671653" cy="171450"/>
          </a:xfrm>
          <a:prstGeom prst="rect">
            <a:avLst/>
          </a:prstGeom>
          <a:noFill/>
        </p:spPr>
        <p:txBody>
          <a:bodyPr wrap="none" lIns="0" rIns="0" tIns="0" bIns="0" anchor="t">
            <a:spAutoFit/>
          </a:bodyPr>
          <a:lstStyle/>
          <a:p>
            <a:pPr algn="ctr"/>
            <a:r>
              <a:rPr b="0" sz="1050" i="0" u="none">
                <a:solidFill>
                  <a:srgbClr val="0F172A"/>
                </a:solidFill>
                <a:latin typeface="Plus Jakarta Sans"/>
              </a:rPr>
              <a:t>▼ Compare scores &amp; select maximum</a:t>
            </a:r>
          </a:p>
        </p:txBody>
      </p:sp>
      <p:sp>
        <p:nvSpPr>
          <p:cNvPr id="22" name="TextBox 21"/>
          <p:cNvSpPr txBox="1"/>
          <p:nvPr/>
        </p:nvSpPr>
        <p:spPr>
          <a:xfrm>
            <a:off x="6449336" y="4533900"/>
            <a:ext cx="5443053" cy="238125"/>
          </a:xfrm>
          <a:prstGeom prst="rect">
            <a:avLst/>
          </a:prstGeom>
          <a:noFill/>
        </p:spPr>
        <p:txBody>
          <a:bodyPr wrap="square" lIns="0" rIns="0" tIns="0" bIns="0" anchor="t">
            <a:spAutoFit/>
          </a:bodyPr>
          <a:lstStyle/>
          <a:p>
            <a:pPr algn="ctr"/>
            <a:r>
              <a:rPr b="1" sz="1350" i="0" u="none">
                <a:solidFill>
                  <a:srgbClr val="065F46"/>
                </a:solidFill>
                <a:latin typeface="Plus Jakarta Sans"/>
              </a:rPr>
              <a:t>Decision: Class Cat (Score 0.80 &gt; 0.20)</a:t>
            </a:r>
          </a:p>
        </p:txBody>
      </p:sp>
      <p:sp>
        <p:nvSpPr>
          <p:cNvPr id="23" name="TextBox 22"/>
          <p:cNvSpPr txBox="1"/>
          <p:nvPr/>
        </p:nvSpPr>
        <p:spPr>
          <a:xfrm>
            <a:off x="752475" y="3495675"/>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Input x:</a:t>
            </a:r>
            <a:r>
              <a:rPr b="0" sz="1350" i="0" u="none">
                <a:solidFill>
                  <a:srgbClr val="334155"/>
                </a:solidFill>
                <a:latin typeface="Plus Jakarta Sans"/>
              </a:rPr>
              <a:t> Feature measurements from observation.</a:t>
            </a:r>
          </a:p>
        </p:txBody>
      </p:sp>
      <p:sp>
        <p:nvSpPr>
          <p:cNvPr id="24" name="TextBox 23"/>
          <p:cNvSpPr txBox="1"/>
          <p:nvPr/>
        </p:nvSpPr>
        <p:spPr>
          <a:xfrm>
            <a:off x="752475" y="3810000"/>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Classes C1, C2, ..., Ck:</a:t>
            </a:r>
            <a:r>
              <a:rPr b="0" sz="1350" i="0" u="none">
                <a:solidFill>
                  <a:srgbClr val="334155"/>
                </a:solidFill>
                <a:latin typeface="Plus Jakarta Sans"/>
              </a:rPr>
              <a:t> The target categories.</a:t>
            </a:r>
          </a:p>
        </p:txBody>
      </p:sp>
      <p:sp>
        <p:nvSpPr>
          <p:cNvPr id="25" name="TextBox 24"/>
          <p:cNvSpPr txBox="1"/>
          <p:nvPr/>
        </p:nvSpPr>
        <p:spPr>
          <a:xfrm>
            <a:off x="752475" y="4124325"/>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Scoring:</a:t>
            </a:r>
            <a:r>
              <a:rPr b="0" sz="1350" i="0" u="none">
                <a:solidFill>
                  <a:srgbClr val="334155"/>
                </a:solidFill>
                <a:latin typeface="Plus Jakarta Sans"/>
              </a:rPr>
              <a:t> Every class receives its own score.</a:t>
            </a:r>
          </a:p>
        </p:txBody>
      </p:sp>
      <p:sp>
        <p:nvSpPr>
          <p:cNvPr id="26" name="TextBox 25"/>
          <p:cNvSpPr txBox="1"/>
          <p:nvPr/>
        </p:nvSpPr>
        <p:spPr>
          <a:xfrm>
            <a:off x="752475" y="4438650"/>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Selection:</a:t>
            </a:r>
            <a:r>
              <a:rPr b="0" sz="1350" i="0" u="none">
                <a:solidFill>
                  <a:srgbClr val="334155"/>
                </a:solidFill>
                <a:latin typeface="Plus Jakarta Sans"/>
              </a:rPr>
              <a:t> The highest score wins.</a:t>
            </a:r>
          </a:p>
        </p:txBody>
      </p:sp>
      <p:sp>
        <p:nvSpPr>
          <p:cNvPr id="27" name="TextBox 26"/>
          <p:cNvSpPr txBox="1"/>
          <p:nvPr/>
        </p:nvSpPr>
        <p:spPr>
          <a:xfrm>
            <a:off x="6737672" y="3400425"/>
            <a:ext cx="2559694" cy="542925"/>
          </a:xfrm>
          <a:prstGeom prst="rect">
            <a:avLst/>
          </a:prstGeom>
          <a:noFill/>
        </p:spPr>
        <p:txBody>
          <a:bodyPr wrap="square" lIns="0" rIns="0" tIns="0" bIns="0" anchor="t">
            <a:spAutoFit/>
          </a:bodyPr>
          <a:lstStyle/>
          <a:p>
            <a:pPr algn="ctr"/>
            <a:r>
              <a:rPr b="1" sz="1050" i="0" u="none">
                <a:solidFill>
                  <a:srgbClr val="1E40AF"/>
                </a:solidFill>
                <a:latin typeface="Plus Jakarta Sans"/>
              </a:rPr>
              <a:t>Score for Cat</a:t>
            </a:r>
          </a:p>
        </p:txBody>
      </p:sp>
      <p:sp>
        <p:nvSpPr>
          <p:cNvPr id="28" name="TextBox 27"/>
          <p:cNvSpPr txBox="1"/>
          <p:nvPr/>
        </p:nvSpPr>
        <p:spPr>
          <a:xfrm>
            <a:off x="9044508" y="3400425"/>
            <a:ext cx="2559694" cy="542925"/>
          </a:xfrm>
          <a:prstGeom prst="rect">
            <a:avLst/>
          </a:prstGeom>
          <a:noFill/>
        </p:spPr>
        <p:txBody>
          <a:bodyPr wrap="square" lIns="0" rIns="0" tIns="0" bIns="0" anchor="t">
            <a:spAutoFit/>
          </a:bodyPr>
          <a:lstStyle/>
          <a:p>
            <a:pPr algn="ctr"/>
            <a:r>
              <a:rPr b="1" sz="1050" i="0" u="none">
                <a:solidFill>
                  <a:srgbClr val="64748B"/>
                </a:solidFill>
                <a:latin typeface="Plus Jakarta Sans"/>
              </a:rPr>
              <a:t>Score for Dog</a:t>
            </a:r>
          </a:p>
        </p:txBody>
      </p:sp>
      <p:sp>
        <p:nvSpPr>
          <p:cNvPr id="29" name="TextBox 28"/>
          <p:cNvSpPr txBox="1"/>
          <p:nvPr/>
        </p:nvSpPr>
        <p:spPr>
          <a:xfrm>
            <a:off x="6778153" y="3648075"/>
            <a:ext cx="2478732" cy="285750"/>
          </a:xfrm>
          <a:prstGeom prst="rect">
            <a:avLst/>
          </a:prstGeom>
          <a:noFill/>
        </p:spPr>
        <p:txBody>
          <a:bodyPr wrap="none" lIns="0" rIns="0" tIns="0" bIns="0" anchor="t">
            <a:spAutoFit/>
          </a:bodyPr>
          <a:lstStyle/>
          <a:p>
            <a:pPr algn="ctr"/>
            <a:r>
              <a:rPr b="1" sz="1800" i="0" u="none">
                <a:solidFill>
                  <a:srgbClr val="1D4ED8"/>
                </a:solidFill>
                <a:latin typeface="Plus Jakarta Sans"/>
              </a:rPr>
              <a:t>0.80</a:t>
            </a:r>
          </a:p>
        </p:txBody>
      </p:sp>
      <p:sp>
        <p:nvSpPr>
          <p:cNvPr id="30" name="TextBox 29"/>
          <p:cNvSpPr txBox="1"/>
          <p:nvPr/>
        </p:nvSpPr>
        <p:spPr>
          <a:xfrm>
            <a:off x="9084989" y="3648075"/>
            <a:ext cx="2478732" cy="285750"/>
          </a:xfrm>
          <a:prstGeom prst="rect">
            <a:avLst/>
          </a:prstGeom>
          <a:noFill/>
        </p:spPr>
        <p:txBody>
          <a:bodyPr wrap="none" lIns="0" rIns="0" tIns="0" bIns="0" anchor="t">
            <a:spAutoFit/>
          </a:bodyPr>
          <a:lstStyle/>
          <a:p>
            <a:pPr algn="ctr"/>
            <a:r>
              <a:rPr b="1" sz="1800" i="0" u="none">
                <a:solidFill>
                  <a:srgbClr val="64748B"/>
                </a:solidFill>
                <a:latin typeface="Plus Jakarta Sans"/>
              </a:rPr>
              <a:t>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4371975"/>
            <a:ext cx="11163300" cy="800100"/>
          </a:xfrm>
          <a:prstGeom prst="roundRect">
            <a:avLst>
              <a:gd name="adj" fmla="val 119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1895475"/>
            <a:ext cx="3594050" cy="1666875"/>
          </a:xfrm>
          <a:prstGeom prst="roundRect">
            <a:avLst>
              <a:gd name="adj" fmla="val 6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98900" y="1895475"/>
            <a:ext cx="3594050" cy="1666875"/>
          </a:xfrm>
          <a:prstGeom prst="roundRect">
            <a:avLst>
              <a:gd name="adj" fmla="val 6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083450" y="1895475"/>
            <a:ext cx="3594050" cy="1666875"/>
          </a:xfrm>
          <a:prstGeom prst="roundRect">
            <a:avLst>
              <a:gd name="adj" fmla="val 6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286875" y="4600575"/>
            <a:ext cx="2152650" cy="342900"/>
          </a:xfrm>
          <a:prstGeom prst="roundRect">
            <a:avLst>
              <a:gd name="adj" fmla="val 1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752475" y="2133600"/>
            <a:ext cx="342900" cy="342900"/>
          </a:xfrm>
          <a:prstGeom prst="rect">
            <a:avLst/>
          </a:prstGeom>
        </p:spPr>
      </p:pic>
      <p:pic>
        <p:nvPicPr>
          <p:cNvPr id="10" name="Picture 9" descr="image.png"/>
          <p:cNvPicPr>
            <a:picLocks noChangeAspect="1"/>
          </p:cNvPicPr>
          <p:nvPr/>
        </p:nvPicPr>
        <p:blipFill>
          <a:blip r:embed="rId3"/>
          <a:stretch>
            <a:fillRect/>
          </a:stretch>
        </p:blipFill>
        <p:spPr>
          <a:xfrm>
            <a:off x="4537025" y="2133600"/>
            <a:ext cx="342900" cy="342900"/>
          </a:xfrm>
          <a:prstGeom prst="rect">
            <a:avLst/>
          </a:prstGeom>
        </p:spPr>
      </p:pic>
      <p:pic>
        <p:nvPicPr>
          <p:cNvPr id="11" name="Picture 10" descr="image.png"/>
          <p:cNvPicPr>
            <a:picLocks noChangeAspect="1"/>
          </p:cNvPicPr>
          <p:nvPr/>
        </p:nvPicPr>
        <p:blipFill>
          <a:blip r:embed="rId4"/>
          <a:stretch>
            <a:fillRect/>
          </a:stretch>
        </p:blipFill>
        <p:spPr>
          <a:xfrm>
            <a:off x="8321575" y="2133600"/>
            <a:ext cx="342900" cy="342900"/>
          </a:xfrm>
          <a:prstGeom prst="rect">
            <a:avLst/>
          </a:prstGeom>
        </p:spPr>
      </p:pic>
      <p:pic>
        <p:nvPicPr>
          <p:cNvPr id="12" name="Picture 11" descr="image.png"/>
          <p:cNvPicPr>
            <a:picLocks noChangeAspect="1"/>
          </p:cNvPicPr>
          <p:nvPr/>
        </p:nvPicPr>
        <p:blipFill>
          <a:blip r:embed="rId5"/>
          <a:stretch>
            <a:fillRect/>
          </a:stretch>
        </p:blipFill>
        <p:spPr>
          <a:xfrm>
            <a:off x="752475" y="4581525"/>
            <a:ext cx="381000" cy="381000"/>
          </a:xfrm>
          <a:prstGeom prst="rect">
            <a:avLst/>
          </a:prstGeom>
        </p:spPr>
      </p:pic>
      <p:pic>
        <p:nvPicPr>
          <p:cNvPr id="13" name="Picture 12" descr="image.png"/>
          <p:cNvPicPr>
            <a:picLocks noChangeAspect="1"/>
          </p:cNvPicPr>
          <p:nvPr/>
        </p:nvPicPr>
        <p:blipFill>
          <a:blip r:embed="rId6"/>
          <a:stretch>
            <a:fillRect/>
          </a:stretch>
        </p:blipFill>
        <p:spPr>
          <a:xfrm>
            <a:off x="838200" y="2219325"/>
            <a:ext cx="171450" cy="171450"/>
          </a:xfrm>
          <a:prstGeom prst="rect">
            <a:avLst/>
          </a:prstGeom>
        </p:spPr>
      </p:pic>
      <p:pic>
        <p:nvPicPr>
          <p:cNvPr id="14" name="Picture 13" descr="image.png"/>
          <p:cNvPicPr>
            <a:picLocks noChangeAspect="1"/>
          </p:cNvPicPr>
          <p:nvPr/>
        </p:nvPicPr>
        <p:blipFill>
          <a:blip r:embed="rId7"/>
          <a:stretch>
            <a:fillRect/>
          </a:stretch>
        </p:blipFill>
        <p:spPr>
          <a:xfrm>
            <a:off x="4632275" y="2219325"/>
            <a:ext cx="152400" cy="171450"/>
          </a:xfrm>
          <a:prstGeom prst="rect">
            <a:avLst/>
          </a:prstGeom>
        </p:spPr>
      </p:pic>
      <p:pic>
        <p:nvPicPr>
          <p:cNvPr id="15" name="Picture 14" descr="image.png"/>
          <p:cNvPicPr>
            <a:picLocks noChangeAspect="1"/>
          </p:cNvPicPr>
          <p:nvPr/>
        </p:nvPicPr>
        <p:blipFill>
          <a:blip r:embed="rId8"/>
          <a:stretch>
            <a:fillRect/>
          </a:stretch>
        </p:blipFill>
        <p:spPr>
          <a:xfrm>
            <a:off x="8407300" y="2219325"/>
            <a:ext cx="171450" cy="171450"/>
          </a:xfrm>
          <a:prstGeom prst="rect">
            <a:avLst/>
          </a:prstGeom>
        </p:spPr>
      </p:pic>
      <p:pic>
        <p:nvPicPr>
          <p:cNvPr id="16" name="Picture 15" descr="image.png"/>
          <p:cNvPicPr>
            <a:picLocks noChangeAspect="1"/>
          </p:cNvPicPr>
          <p:nvPr/>
        </p:nvPicPr>
        <p:blipFill>
          <a:blip r:embed="rId9"/>
          <a:stretch>
            <a:fillRect/>
          </a:stretch>
        </p:blipFill>
        <p:spPr>
          <a:xfrm>
            <a:off x="871537" y="4676775"/>
            <a:ext cx="142875" cy="190500"/>
          </a:xfrm>
          <a:prstGeom prst="rect">
            <a:avLst/>
          </a:prstGeom>
        </p:spPr>
      </p:pic>
      <p:sp>
        <p:nvSpPr>
          <p:cNvPr id="17" name="TextBox 16"/>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Why Do We Need Discriminant Functions?</a:t>
            </a:r>
          </a:p>
        </p:txBody>
      </p:sp>
      <p:sp>
        <p:nvSpPr>
          <p:cNvPr id="18" name="TextBox 17"/>
          <p:cNvSpPr txBox="1"/>
          <p:nvPr/>
        </p:nvSpPr>
        <p:spPr>
          <a:xfrm>
            <a:off x="9420225" y="4657725"/>
            <a:ext cx="1981200" cy="228600"/>
          </a:xfrm>
          <a:prstGeom prst="rect">
            <a:avLst/>
          </a:prstGeom>
          <a:noFill/>
        </p:spPr>
        <p:txBody>
          <a:bodyPr wrap="square" lIns="0" rIns="0" tIns="0" bIns="0" anchor="t">
            <a:spAutoFit/>
          </a:bodyPr>
          <a:lstStyle/>
          <a:p>
            <a:pPr algn="l"/>
            <a:r>
              <a:rPr b="0" sz="1350" i="0" u="none">
                <a:solidFill>
                  <a:srgbClr val="334155"/>
                </a:solidFill>
                <a:latin typeface="Fira Code"/>
              </a:rPr>
              <a:t>argmax_i [ gi(x) ]</a:t>
            </a:r>
          </a:p>
        </p:txBody>
      </p:sp>
      <p:sp>
        <p:nvSpPr>
          <p:cNvPr id="19" name="TextBox 18"/>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Tell students: "Why do programmers love this? In Python, instead of writing nested if-else statements with probability laws, we evaluate an array of formulas `[g1(x), g2(x)]` and return `np.argmax(g)`. It turns logic into arithmetic."</a:t>
            </a:r>
          </a:p>
        </p:txBody>
      </p:sp>
      <p:sp>
        <p:nvSpPr>
          <p:cNvPr id="20" name="TextBox 19"/>
          <p:cNvSpPr txBox="1"/>
          <p:nvPr/>
        </p:nvSpPr>
        <p:spPr>
          <a:xfrm>
            <a:off x="514350" y="342900"/>
            <a:ext cx="2726531" cy="171450"/>
          </a:xfrm>
          <a:prstGeom prst="rect">
            <a:avLst/>
          </a:prstGeom>
          <a:noFill/>
        </p:spPr>
        <p:txBody>
          <a:bodyPr wrap="none" lIns="0" rIns="0" tIns="0" bIns="0" anchor="t">
            <a:spAutoFit/>
          </a:bodyPr>
          <a:lstStyle/>
          <a:p>
            <a:pPr algn="l"/>
            <a:r>
              <a:rPr b="1" sz="1050" i="0" u="none">
                <a:solidFill>
                  <a:srgbClr val="2563EB"/>
                </a:solidFill>
                <a:latin typeface="Plus Jakarta Sans"/>
              </a:rPr>
              <a:t>CLASSIFICATION MECHANICS</a:t>
            </a:r>
          </a:p>
        </p:txBody>
      </p:sp>
      <p:sp>
        <p:nvSpPr>
          <p:cNvPr id="21" name="TextBox 20"/>
          <p:cNvSpPr txBox="1"/>
          <p:nvPr/>
        </p:nvSpPr>
        <p:spPr>
          <a:xfrm>
            <a:off x="10020300" y="342900"/>
            <a:ext cx="2071687" cy="171450"/>
          </a:xfrm>
          <a:prstGeom prst="rect">
            <a:avLst/>
          </a:prstGeom>
          <a:noFill/>
        </p:spPr>
        <p:txBody>
          <a:bodyPr wrap="none" lIns="0" rIns="0" tIns="0" bIns="0" anchor="t">
            <a:spAutoFit/>
          </a:bodyPr>
          <a:lstStyle/>
          <a:p>
            <a:pPr algn="l"/>
            <a:r>
              <a:rPr b="1" sz="1050" i="0" u="none">
                <a:solidFill>
                  <a:srgbClr val="64748B"/>
                </a:solidFill>
                <a:latin typeface="Plus Jakarta Sans"/>
              </a:rPr>
              <a:t>Systematic Decision Rules</a:t>
            </a:r>
          </a:p>
        </p:txBody>
      </p:sp>
      <p:sp>
        <p:nvSpPr>
          <p:cNvPr id="22" name="TextBox 21"/>
          <p:cNvSpPr txBox="1"/>
          <p:nvPr/>
        </p:nvSpPr>
        <p:spPr>
          <a:xfrm>
            <a:off x="752475" y="2590800"/>
            <a:ext cx="4092113" cy="219075"/>
          </a:xfrm>
          <a:prstGeom prst="rect">
            <a:avLst/>
          </a:prstGeom>
          <a:noFill/>
        </p:spPr>
        <p:txBody>
          <a:bodyPr wrap="none" lIns="0" rIns="0" tIns="0" bIns="0" anchor="t">
            <a:spAutoFit/>
          </a:bodyPr>
          <a:lstStyle/>
          <a:p>
            <a:pPr algn="l"/>
            <a:r>
              <a:rPr b="1" sz="1350" i="0" u="none">
                <a:solidFill>
                  <a:srgbClr val="0F172A"/>
                </a:solidFill>
                <a:latin typeface="Plus Jakarta Sans"/>
              </a:rPr>
              <a:t>Standardized Representation</a:t>
            </a:r>
          </a:p>
        </p:txBody>
      </p:sp>
      <p:sp>
        <p:nvSpPr>
          <p:cNvPr id="23" name="TextBox 22"/>
          <p:cNvSpPr txBox="1"/>
          <p:nvPr/>
        </p:nvSpPr>
        <p:spPr>
          <a:xfrm>
            <a:off x="752475" y="2886075"/>
            <a:ext cx="3213050" cy="438150"/>
          </a:xfrm>
          <a:prstGeom prst="rect">
            <a:avLst/>
          </a:prstGeom>
          <a:noFill/>
        </p:spPr>
        <p:txBody>
          <a:bodyPr wrap="square" lIns="0" rIns="0" tIns="0" bIns="0" anchor="t">
            <a:spAutoFit/>
          </a:bodyPr>
          <a:lstStyle/>
          <a:p>
            <a:pPr algn="l"/>
            <a:r>
              <a:rPr b="0" sz="1350" i="0" u="none">
                <a:solidFill>
                  <a:srgbClr val="475569"/>
                </a:solidFill>
                <a:latin typeface="Plus Jakarta Sans"/>
              </a:rPr>
              <a:t>Uniform framework for 2-class and K-class problems.</a:t>
            </a:r>
          </a:p>
        </p:txBody>
      </p:sp>
      <p:sp>
        <p:nvSpPr>
          <p:cNvPr id="24" name="TextBox 23"/>
          <p:cNvSpPr txBox="1"/>
          <p:nvPr/>
        </p:nvSpPr>
        <p:spPr>
          <a:xfrm>
            <a:off x="4537025" y="2590800"/>
            <a:ext cx="4092113" cy="219075"/>
          </a:xfrm>
          <a:prstGeom prst="rect">
            <a:avLst/>
          </a:prstGeom>
          <a:noFill/>
        </p:spPr>
        <p:txBody>
          <a:bodyPr wrap="none" lIns="0" rIns="0" tIns="0" bIns="0" anchor="t">
            <a:spAutoFit/>
          </a:bodyPr>
          <a:lstStyle/>
          <a:p>
            <a:pPr algn="l"/>
            <a:r>
              <a:rPr b="1" sz="1350" i="0" u="none">
                <a:solidFill>
                  <a:srgbClr val="0F172A"/>
                </a:solidFill>
                <a:latin typeface="Plus Jakarta Sans"/>
              </a:rPr>
              <a:t>Computational Efficiency</a:t>
            </a:r>
          </a:p>
        </p:txBody>
      </p:sp>
      <p:sp>
        <p:nvSpPr>
          <p:cNvPr id="25" name="TextBox 24"/>
          <p:cNvSpPr txBox="1"/>
          <p:nvPr/>
        </p:nvSpPr>
        <p:spPr>
          <a:xfrm>
            <a:off x="4537025" y="2886075"/>
            <a:ext cx="3213050" cy="438150"/>
          </a:xfrm>
          <a:prstGeom prst="rect">
            <a:avLst/>
          </a:prstGeom>
          <a:noFill/>
        </p:spPr>
        <p:txBody>
          <a:bodyPr wrap="square" lIns="0" rIns="0" tIns="0" bIns="0" anchor="t">
            <a:spAutoFit/>
          </a:bodyPr>
          <a:lstStyle/>
          <a:p>
            <a:pPr algn="l"/>
            <a:r>
              <a:rPr b="0" sz="1350" i="0" u="none">
                <a:solidFill>
                  <a:srgbClr val="475569"/>
                </a:solidFill>
                <a:latin typeface="Plus Jakarta Sans"/>
              </a:rPr>
              <a:t>Avoids calculating full evidence denominators.</a:t>
            </a:r>
          </a:p>
        </p:txBody>
      </p:sp>
      <p:sp>
        <p:nvSpPr>
          <p:cNvPr id="26" name="TextBox 25"/>
          <p:cNvSpPr txBox="1"/>
          <p:nvPr/>
        </p:nvSpPr>
        <p:spPr>
          <a:xfrm>
            <a:off x="8321575" y="2590800"/>
            <a:ext cx="3870424" cy="219075"/>
          </a:xfrm>
          <a:prstGeom prst="rect">
            <a:avLst/>
          </a:prstGeom>
          <a:noFill/>
        </p:spPr>
        <p:txBody>
          <a:bodyPr wrap="none" lIns="0" rIns="0" tIns="0" bIns="0" anchor="t">
            <a:spAutoFit/>
          </a:bodyPr>
          <a:lstStyle/>
          <a:p>
            <a:pPr algn="l"/>
            <a:r>
              <a:rPr b="1" sz="1350" i="0" u="none">
                <a:solidFill>
                  <a:srgbClr val="0F172A"/>
                </a:solidFill>
                <a:latin typeface="Plus Jakarta Sans"/>
              </a:rPr>
              <a:t>Geometric Partitioning</a:t>
            </a:r>
          </a:p>
        </p:txBody>
      </p:sp>
      <p:sp>
        <p:nvSpPr>
          <p:cNvPr id="27" name="TextBox 26"/>
          <p:cNvSpPr txBox="1"/>
          <p:nvPr/>
        </p:nvSpPr>
        <p:spPr>
          <a:xfrm>
            <a:off x="8321575" y="2886075"/>
            <a:ext cx="3213050" cy="438150"/>
          </a:xfrm>
          <a:prstGeom prst="rect">
            <a:avLst/>
          </a:prstGeom>
          <a:noFill/>
        </p:spPr>
        <p:txBody>
          <a:bodyPr wrap="square" lIns="0" rIns="0" tIns="0" bIns="0" anchor="t">
            <a:spAutoFit/>
          </a:bodyPr>
          <a:lstStyle/>
          <a:p>
            <a:pPr algn="l"/>
            <a:r>
              <a:rPr b="0" sz="1350" i="0" u="none">
                <a:solidFill>
                  <a:srgbClr val="475569"/>
                </a:solidFill>
                <a:latin typeface="Plus Jakarta Sans"/>
              </a:rPr>
              <a:t>Divides feature spaces into distinct decision regions.</a:t>
            </a:r>
          </a:p>
        </p:txBody>
      </p:sp>
      <p:sp>
        <p:nvSpPr>
          <p:cNvPr id="28" name="TextBox 27"/>
          <p:cNvSpPr txBox="1"/>
          <p:nvPr/>
        </p:nvSpPr>
        <p:spPr>
          <a:xfrm>
            <a:off x="1285875" y="4552950"/>
            <a:ext cx="5753100" cy="438150"/>
          </a:xfrm>
          <a:prstGeom prst="rect">
            <a:avLst/>
          </a:prstGeom>
          <a:noFill/>
        </p:spPr>
        <p:txBody>
          <a:bodyPr wrap="square" lIns="0" rIns="0" tIns="0" bIns="0" anchor="t">
            <a:spAutoFit/>
          </a:bodyPr>
          <a:lstStyle/>
          <a:p>
            <a:pPr algn="l"/>
            <a:r>
              <a:rPr b="1" sz="1350" i="0" u="none">
                <a:solidFill>
                  <a:srgbClr val="0F172A"/>
                </a:solidFill>
                <a:latin typeface="Plus Jakarta Sans"/>
              </a:rPr>
              <a:t>Key Computer Science Takeaway</a:t>
            </a:r>
          </a:p>
        </p:txBody>
      </p:sp>
      <p:sp>
        <p:nvSpPr>
          <p:cNvPr id="29" name="TextBox 28"/>
          <p:cNvSpPr txBox="1"/>
          <p:nvPr/>
        </p:nvSpPr>
        <p:spPr>
          <a:xfrm>
            <a:off x="1285875" y="4772025"/>
            <a:ext cx="7072312" cy="219075"/>
          </a:xfrm>
          <a:prstGeom prst="rect">
            <a:avLst/>
          </a:prstGeom>
          <a:noFill/>
        </p:spPr>
        <p:txBody>
          <a:bodyPr wrap="none" lIns="0" rIns="0" tIns="0" bIns="0" anchor="t">
            <a:spAutoFit/>
          </a:bodyPr>
          <a:lstStyle/>
          <a:p>
            <a:pPr algn="l"/>
            <a:r>
              <a:rPr b="0" sz="1350" i="0" u="none">
                <a:solidFill>
                  <a:srgbClr val="475569"/>
                </a:solidFill>
                <a:latin typeface="Plus Jakarta Sans"/>
              </a:rPr>
              <a:t>A classifier is essentially a collection of K functions: g1(x), g2(x), ..., gK(x).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874639"/>
            <a:ext cx="5921126" cy="3318271"/>
          </a:xfrm>
          <a:prstGeom prst="roundRect">
            <a:avLst>
              <a:gd name="adj" fmla="val 344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4076" y="1874639"/>
            <a:ext cx="5013573" cy="3318271"/>
          </a:xfrm>
          <a:prstGeom prst="roundRect">
            <a:avLst>
              <a:gd name="adj" fmla="val 344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2475" y="4364235"/>
            <a:ext cx="5444876" cy="590550"/>
          </a:xfrm>
          <a:prstGeom prst="roundRect">
            <a:avLst>
              <a:gd name="adj" fmla="val 9677"/>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02201" y="4278510"/>
            <a:ext cx="4537323" cy="676275"/>
          </a:xfrm>
          <a:prstGeom prst="roundRect">
            <a:avLst>
              <a:gd name="adj" fmla="val 845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2475" y="2112764"/>
            <a:ext cx="5444876" cy="849510"/>
          </a:xfrm>
          <a:prstGeom prst="roundRect">
            <a:avLst>
              <a:gd name="adj" fmla="val 8969"/>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02201" y="2525166"/>
            <a:ext cx="4537323" cy="462855"/>
          </a:xfrm>
          <a:prstGeom prst="roundRect">
            <a:avLst>
              <a:gd name="adj" fmla="val 16463"/>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02201" y="3083272"/>
            <a:ext cx="4537323" cy="462855"/>
          </a:xfrm>
          <a:prstGeom prst="roundRect">
            <a:avLst>
              <a:gd name="adj" fmla="val 1646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02201" y="3641377"/>
            <a:ext cx="4537323" cy="462855"/>
          </a:xfrm>
          <a:prstGeom prst="roundRect">
            <a:avLst>
              <a:gd name="adj" fmla="val 1646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02201" y="4278510"/>
            <a:ext cx="38100" cy="6762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The Discriminant Decision Rule</a:t>
            </a:r>
          </a:p>
        </p:txBody>
      </p:sp>
      <p:sp>
        <p:nvSpPr>
          <p:cNvPr id="14" name="TextBox 13"/>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Exam Tip:</a:t>
            </a:r>
            <a:r>
              <a:rPr b="0" sz="1050" i="0" u="none">
                <a:solidFill>
                  <a:srgbClr val="1E3A8A"/>
                </a:solidFill>
                <a:latin typeface="Plus Jakarta Sans"/>
              </a:rPr>
              <a:t> Reassure students: "Whenever you see `max_k`, do not get intimidated by calculus notations. It literally just means `find the maximum value in the list`."</a:t>
            </a:r>
          </a:p>
        </p:txBody>
      </p:sp>
      <p:sp>
        <p:nvSpPr>
          <p:cNvPr id="15" name="TextBox 14"/>
          <p:cNvSpPr txBox="1"/>
          <p:nvPr/>
        </p:nvSpPr>
        <p:spPr>
          <a:xfrm>
            <a:off x="514350" y="342900"/>
            <a:ext cx="2857500" cy="171450"/>
          </a:xfrm>
          <a:prstGeom prst="rect">
            <a:avLst/>
          </a:prstGeom>
          <a:noFill/>
        </p:spPr>
        <p:txBody>
          <a:bodyPr wrap="none" lIns="0" rIns="0" tIns="0" bIns="0" anchor="t">
            <a:spAutoFit/>
          </a:bodyPr>
          <a:lstStyle/>
          <a:p>
            <a:pPr algn="l"/>
            <a:r>
              <a:rPr b="1" sz="1050" i="0" u="none">
                <a:solidFill>
                  <a:srgbClr val="2563EB"/>
                </a:solidFill>
                <a:latin typeface="Plus Jakarta Sans"/>
              </a:rPr>
              <a:t>MATHEMATICAL FORMULATION</a:t>
            </a:r>
          </a:p>
        </p:txBody>
      </p:sp>
      <p:sp>
        <p:nvSpPr>
          <p:cNvPr id="16" name="TextBox 15"/>
          <p:cNvSpPr txBox="1"/>
          <p:nvPr/>
        </p:nvSpPr>
        <p:spPr>
          <a:xfrm>
            <a:off x="10134600" y="342900"/>
            <a:ext cx="1928812" cy="171450"/>
          </a:xfrm>
          <a:prstGeom prst="rect">
            <a:avLst/>
          </a:prstGeom>
          <a:noFill/>
        </p:spPr>
        <p:txBody>
          <a:bodyPr wrap="none" lIns="0" rIns="0" tIns="0" bIns="0" anchor="t">
            <a:spAutoFit/>
          </a:bodyPr>
          <a:lstStyle/>
          <a:p>
            <a:pPr algn="l"/>
            <a:r>
              <a:rPr b="1" sz="1050" i="0" u="none">
                <a:solidFill>
                  <a:srgbClr val="64748B"/>
                </a:solidFill>
                <a:latin typeface="Plus Jakarta Sans"/>
              </a:rPr>
              <a:t>Ethem Alpaydin Eq. 3.20</a:t>
            </a:r>
          </a:p>
        </p:txBody>
      </p:sp>
      <p:sp>
        <p:nvSpPr>
          <p:cNvPr id="17" name="TextBox 16"/>
          <p:cNvSpPr txBox="1"/>
          <p:nvPr/>
        </p:nvSpPr>
        <p:spPr>
          <a:xfrm>
            <a:off x="866775" y="4440435"/>
            <a:ext cx="5311526" cy="438150"/>
          </a:xfrm>
          <a:prstGeom prst="rect">
            <a:avLst/>
          </a:prstGeom>
          <a:noFill/>
        </p:spPr>
        <p:txBody>
          <a:bodyPr wrap="square" lIns="0" rIns="0" tIns="0" bIns="0" anchor="t">
            <a:spAutoFit/>
          </a:bodyPr>
          <a:lstStyle/>
          <a:p>
            <a:pPr algn="l"/>
            <a:r>
              <a:rPr b="1" sz="1350" i="0" u="none">
                <a:solidFill>
                  <a:srgbClr val="047857"/>
                </a:solidFill>
                <a:latin typeface="Plus Jakarta Sans"/>
              </a:rPr>
              <a:t>Plain English: Calculate the score for each class; pick the highest.</a:t>
            </a:r>
          </a:p>
        </p:txBody>
      </p:sp>
      <p:sp>
        <p:nvSpPr>
          <p:cNvPr id="18" name="TextBox 17"/>
          <p:cNvSpPr txBox="1"/>
          <p:nvPr/>
        </p:nvSpPr>
        <p:spPr>
          <a:xfrm>
            <a:off x="6902201" y="2112764"/>
            <a:ext cx="5289798" cy="219075"/>
          </a:xfrm>
          <a:prstGeom prst="rect">
            <a:avLst/>
          </a:prstGeom>
          <a:noFill/>
        </p:spPr>
        <p:txBody>
          <a:bodyPr wrap="none" lIns="0" rIns="0" tIns="0" bIns="0" anchor="t">
            <a:spAutoFit/>
          </a:bodyPr>
          <a:lstStyle/>
          <a:p>
            <a:pPr algn="l"/>
            <a:r>
              <a:rPr b="1" sz="1350" i="0" u="none">
                <a:solidFill>
                  <a:srgbClr val="0F172A"/>
                </a:solidFill>
                <a:latin typeface="Plus Jakarta Sans"/>
              </a:rPr>
              <a:t>Quick Numerical Example</a:t>
            </a:r>
          </a:p>
        </p:txBody>
      </p:sp>
      <p:sp>
        <p:nvSpPr>
          <p:cNvPr id="19" name="TextBox 18"/>
          <p:cNvSpPr txBox="1"/>
          <p:nvPr/>
        </p:nvSpPr>
        <p:spPr>
          <a:xfrm>
            <a:off x="752475" y="3114675"/>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Symbol Breakdown:</a:t>
            </a:r>
          </a:p>
        </p:txBody>
      </p:sp>
      <p:sp>
        <p:nvSpPr>
          <p:cNvPr id="20" name="TextBox 19"/>
          <p:cNvSpPr txBox="1"/>
          <p:nvPr/>
        </p:nvSpPr>
        <p:spPr>
          <a:xfrm>
            <a:off x="7054601" y="4392810"/>
            <a:ext cx="4365873" cy="447675"/>
          </a:xfrm>
          <a:prstGeom prst="rect">
            <a:avLst/>
          </a:prstGeom>
          <a:noFill/>
        </p:spPr>
        <p:txBody>
          <a:bodyPr wrap="square" lIns="0" rIns="0" tIns="0" bIns="0" anchor="t">
            <a:spAutoFit/>
          </a:bodyPr>
          <a:lstStyle/>
          <a:p>
            <a:pPr algn="l"/>
            <a:r>
              <a:rPr b="1" sz="1350" i="0" u="none">
                <a:solidFill>
                  <a:srgbClr val="065F46"/>
                </a:solidFill>
                <a:latin typeface="Plus Jakarta Sans"/>
              </a:rPr>
              <a:t>Result: max(0.70, 0.20, 0.10) = 0.70 ➔ Class A is selected!</a:t>
            </a:r>
          </a:p>
        </p:txBody>
      </p:sp>
      <p:sp>
        <p:nvSpPr>
          <p:cNvPr id="21" name="TextBox 20"/>
          <p:cNvSpPr txBox="1"/>
          <p:nvPr/>
        </p:nvSpPr>
        <p:spPr>
          <a:xfrm>
            <a:off x="238552" y="2246114"/>
            <a:ext cx="6472721" cy="171450"/>
          </a:xfrm>
          <a:prstGeom prst="rect">
            <a:avLst/>
          </a:prstGeom>
          <a:noFill/>
        </p:spPr>
        <p:txBody>
          <a:bodyPr wrap="none" lIns="0" rIns="0" tIns="0" bIns="0" anchor="t">
            <a:spAutoFit/>
          </a:bodyPr>
          <a:lstStyle/>
          <a:p>
            <a:pPr algn="ctr"/>
            <a:r>
              <a:rPr b="1" sz="1050" i="0" u="none">
                <a:solidFill>
                  <a:srgbClr val="1E40AF"/>
                </a:solidFill>
                <a:latin typeface="Plus Jakarta Sans"/>
              </a:rPr>
              <a:t>FORMAL DECISION RULE</a:t>
            </a:r>
          </a:p>
        </p:txBody>
      </p:sp>
      <p:sp>
        <p:nvSpPr>
          <p:cNvPr id="22" name="TextBox 21"/>
          <p:cNvSpPr txBox="1"/>
          <p:nvPr/>
        </p:nvSpPr>
        <p:spPr>
          <a:xfrm>
            <a:off x="238552" y="2455664"/>
            <a:ext cx="6472721" cy="373260"/>
          </a:xfrm>
          <a:prstGeom prst="rect">
            <a:avLst/>
          </a:prstGeom>
          <a:noFill/>
        </p:spPr>
        <p:txBody>
          <a:bodyPr wrap="square" lIns="0" rIns="0" tIns="0" bIns="0" anchor="t">
            <a:spAutoFit/>
          </a:bodyPr>
          <a:lstStyle/>
          <a:p>
            <a:pPr algn="ctr"/>
            <a:r>
              <a:rPr b="1" sz="1950" i="0" u="none">
                <a:solidFill>
                  <a:srgbClr val="0F172A"/>
                </a:solidFill>
                <a:latin typeface="Fira Code"/>
              </a:rPr>
              <a:t>Choose C</a:t>
            </a:r>
            <a:r>
              <a:rPr b="1" sz="1625" i="0" u="none">
                <a:solidFill>
                  <a:srgbClr val="0F172A"/>
                </a:solidFill>
                <a:latin typeface="Fira Code"/>
              </a:rPr>
              <a:t>i</a:t>
            </a:r>
            <a:r>
              <a:rPr b="1" sz="1950" i="0" u="none">
                <a:solidFill>
                  <a:srgbClr val="0F172A"/>
                </a:solidFill>
                <a:latin typeface="Fira Code"/>
              </a:rPr>
              <a:t>  if  g</a:t>
            </a:r>
            <a:r>
              <a:rPr b="1" sz="1625" i="0" u="none">
                <a:solidFill>
                  <a:srgbClr val="0F172A"/>
                </a:solidFill>
                <a:latin typeface="Fira Code"/>
              </a:rPr>
              <a:t>i</a:t>
            </a:r>
            <a:r>
              <a:rPr b="1" sz="1950" i="0" u="none">
                <a:solidFill>
                  <a:srgbClr val="0F172A"/>
                </a:solidFill>
                <a:latin typeface="Fira Code"/>
              </a:rPr>
              <a:t>(x) = max</a:t>
            </a:r>
            <a:r>
              <a:rPr b="1" sz="1625" i="0" u="none">
                <a:solidFill>
                  <a:srgbClr val="0F172A"/>
                </a:solidFill>
                <a:latin typeface="Fira Code"/>
              </a:rPr>
              <a:t>k</a:t>
            </a:r>
            <a:r>
              <a:rPr b="1" sz="1950" i="0" u="none">
                <a:solidFill>
                  <a:srgbClr val="0F172A"/>
                </a:solidFill>
                <a:latin typeface="Fira Code"/>
              </a:rPr>
              <a:t> g</a:t>
            </a:r>
            <a:r>
              <a:rPr b="1" sz="1625" i="0" u="none">
                <a:solidFill>
                  <a:srgbClr val="0F172A"/>
                </a:solidFill>
                <a:latin typeface="Fira Code"/>
              </a:rPr>
              <a:t>k</a:t>
            </a:r>
            <a:r>
              <a:rPr b="1" sz="1950" i="0" u="none">
                <a:solidFill>
                  <a:srgbClr val="0F172A"/>
                </a:solidFill>
                <a:latin typeface="Fira Code"/>
              </a:rPr>
              <a:t>(x)</a:t>
            </a:r>
          </a:p>
        </p:txBody>
      </p:sp>
      <p:sp>
        <p:nvSpPr>
          <p:cNvPr id="23" name="TextBox 22"/>
          <p:cNvSpPr txBox="1"/>
          <p:nvPr/>
        </p:nvSpPr>
        <p:spPr>
          <a:xfrm>
            <a:off x="752475" y="3429000"/>
            <a:ext cx="6806096" cy="238125"/>
          </a:xfrm>
          <a:prstGeom prst="rect">
            <a:avLst/>
          </a:prstGeom>
          <a:noFill/>
        </p:spPr>
        <p:txBody>
          <a:bodyPr wrap="none" lIns="0" rIns="0" tIns="0" bIns="0" anchor="t">
            <a:spAutoFit/>
          </a:bodyPr>
          <a:lstStyle/>
          <a:p>
            <a:pPr algn="l"/>
            <a:r>
              <a:rPr b="1" sz="1350" i="0" u="none">
                <a:solidFill>
                  <a:srgbClr val="2563EB"/>
                </a:solidFill>
                <a:latin typeface="Plus Jakarta Sans"/>
              </a:rPr>
              <a:t>x</a:t>
            </a:r>
            <a:r>
              <a:rPr b="0" sz="1350" i="0" u="none">
                <a:solidFill>
                  <a:srgbClr val="334155"/>
                </a:solidFill>
                <a:latin typeface="Plus Jakarta Sans"/>
              </a:rPr>
              <a:t> : The observed feature vector or sample.</a:t>
            </a:r>
          </a:p>
        </p:txBody>
      </p:sp>
      <p:sp>
        <p:nvSpPr>
          <p:cNvPr id="24" name="TextBox 23"/>
          <p:cNvSpPr txBox="1"/>
          <p:nvPr/>
        </p:nvSpPr>
        <p:spPr>
          <a:xfrm>
            <a:off x="752475" y="3743325"/>
            <a:ext cx="5540126" cy="272355"/>
          </a:xfrm>
          <a:prstGeom prst="rect">
            <a:avLst/>
          </a:prstGeom>
          <a:noFill/>
        </p:spPr>
        <p:txBody>
          <a:bodyPr wrap="square" lIns="0" rIns="0" tIns="0" bIns="0" anchor="t">
            <a:spAutoFit/>
          </a:bodyPr>
          <a:lstStyle/>
          <a:p>
            <a:pPr algn="l"/>
            <a:r>
              <a:rPr b="1" sz="1350" i="0" u="none">
                <a:solidFill>
                  <a:srgbClr val="2563EB"/>
                </a:solidFill>
                <a:latin typeface="Plus Jakarta Sans"/>
              </a:rPr>
              <a:t>g</a:t>
            </a:r>
            <a:r>
              <a:rPr b="1" sz="1125" i="0" u="none">
                <a:solidFill>
                  <a:srgbClr val="2563EB"/>
                </a:solidFill>
                <a:latin typeface="Plus Jakarta Sans"/>
              </a:rPr>
              <a:t>i</a:t>
            </a:r>
            <a:r>
              <a:rPr b="1" sz="1350" i="0" u="none">
                <a:solidFill>
                  <a:srgbClr val="2563EB"/>
                </a:solidFill>
                <a:latin typeface="Plus Jakarta Sans"/>
              </a:rPr>
              <a:t>(x)</a:t>
            </a:r>
            <a:r>
              <a:rPr b="0" sz="1350" i="0" u="none">
                <a:solidFill>
                  <a:srgbClr val="334155"/>
                </a:solidFill>
                <a:latin typeface="Plus Jakarta Sans"/>
              </a:rPr>
              <a:t> : Discriminant score computed for candidate class C</a:t>
            </a:r>
            <a:r>
              <a:rPr b="0" sz="1125" i="0" u="none">
                <a:solidFill>
                  <a:srgbClr val="334155"/>
                </a:solidFill>
                <a:latin typeface="Plus Jakarta Sans"/>
              </a:rPr>
              <a:t>i</a:t>
            </a:r>
            <a:r>
              <a:rPr b="0" sz="1350" i="0" u="none">
                <a:solidFill>
                  <a:srgbClr val="334155"/>
                </a:solidFill>
                <a:latin typeface="Plus Jakarta Sans"/>
              </a:rPr>
              <a:t>.</a:t>
            </a:r>
          </a:p>
        </p:txBody>
      </p:sp>
      <p:sp>
        <p:nvSpPr>
          <p:cNvPr id="25" name="TextBox 24"/>
          <p:cNvSpPr txBox="1"/>
          <p:nvPr/>
        </p:nvSpPr>
        <p:spPr>
          <a:xfrm>
            <a:off x="752475" y="4091880"/>
            <a:ext cx="5540126" cy="272355"/>
          </a:xfrm>
          <a:prstGeom prst="rect">
            <a:avLst/>
          </a:prstGeom>
          <a:noFill/>
        </p:spPr>
        <p:txBody>
          <a:bodyPr wrap="square" lIns="0" rIns="0" tIns="0" bIns="0" anchor="t">
            <a:spAutoFit/>
          </a:bodyPr>
          <a:lstStyle/>
          <a:p>
            <a:pPr algn="l"/>
            <a:r>
              <a:rPr b="1" sz="1350" i="0" u="none">
                <a:solidFill>
                  <a:srgbClr val="2563EB"/>
                </a:solidFill>
                <a:latin typeface="Plus Jakarta Sans"/>
              </a:rPr>
              <a:t>max</a:t>
            </a:r>
            <a:r>
              <a:rPr b="1" sz="1125" i="0" u="none">
                <a:solidFill>
                  <a:srgbClr val="2563EB"/>
                </a:solidFill>
                <a:latin typeface="Plus Jakarta Sans"/>
              </a:rPr>
              <a:t>k</a:t>
            </a:r>
            <a:r>
              <a:rPr b="0" sz="1350" i="0" u="none">
                <a:solidFill>
                  <a:srgbClr val="334155"/>
                </a:solidFill>
                <a:latin typeface="Plus Jakarta Sans"/>
              </a:rPr>
              <a:t> : Look across all classes k = 1, ..., K and pick the largest.</a:t>
            </a:r>
          </a:p>
        </p:txBody>
      </p:sp>
      <p:sp>
        <p:nvSpPr>
          <p:cNvPr id="26" name="TextBox 25"/>
          <p:cNvSpPr txBox="1"/>
          <p:nvPr/>
        </p:nvSpPr>
        <p:spPr>
          <a:xfrm>
            <a:off x="7045076" y="2629941"/>
            <a:ext cx="1266825" cy="253305"/>
          </a:xfrm>
          <a:prstGeom prst="rect">
            <a:avLst/>
          </a:prstGeom>
          <a:noFill/>
        </p:spPr>
        <p:txBody>
          <a:bodyPr wrap="none" lIns="0" rIns="0" tIns="0" bIns="0" anchor="t">
            <a:spAutoFit/>
          </a:bodyPr>
          <a:lstStyle/>
          <a:p>
            <a:pPr algn="l"/>
            <a:r>
              <a:rPr b="1" sz="1350" i="0" u="none">
                <a:solidFill>
                  <a:srgbClr val="1E40AF"/>
                </a:solidFill>
                <a:latin typeface="Plus Jakarta Sans"/>
              </a:rPr>
              <a:t>Class A (g</a:t>
            </a:r>
            <a:r>
              <a:rPr b="1" sz="1125" i="0" u="none">
                <a:solidFill>
                  <a:srgbClr val="1E40AF"/>
                </a:solidFill>
                <a:latin typeface="Plus Jakarta Sans"/>
              </a:rPr>
              <a:t>A</a:t>
            </a:r>
            <a:r>
              <a:rPr b="1" sz="1350" i="0" u="none">
                <a:solidFill>
                  <a:srgbClr val="1E40AF"/>
                </a:solidFill>
                <a:latin typeface="Plus Jakarta Sans"/>
              </a:rPr>
              <a:t>)</a:t>
            </a:r>
          </a:p>
        </p:txBody>
      </p:sp>
      <p:sp>
        <p:nvSpPr>
          <p:cNvPr id="27" name="TextBox 26"/>
          <p:cNvSpPr txBox="1"/>
          <p:nvPr/>
        </p:nvSpPr>
        <p:spPr>
          <a:xfrm>
            <a:off x="10839450" y="2632769"/>
            <a:ext cx="742950" cy="247650"/>
          </a:xfrm>
          <a:prstGeom prst="rect">
            <a:avLst/>
          </a:prstGeom>
          <a:noFill/>
        </p:spPr>
        <p:txBody>
          <a:bodyPr wrap="none" lIns="0" rIns="0" tIns="0" bIns="0" anchor="t">
            <a:spAutoFit/>
          </a:bodyPr>
          <a:lstStyle/>
          <a:p>
            <a:pPr algn="l"/>
            <a:r>
              <a:rPr b="1" sz="1500" i="0" u="none">
                <a:solidFill>
                  <a:srgbClr val="1D4ED8"/>
                </a:solidFill>
                <a:latin typeface="Fira Code"/>
              </a:rPr>
              <a:t>0.70</a:t>
            </a:r>
          </a:p>
        </p:txBody>
      </p:sp>
      <p:sp>
        <p:nvSpPr>
          <p:cNvPr id="28" name="TextBox 27"/>
          <p:cNvSpPr txBox="1"/>
          <p:nvPr/>
        </p:nvSpPr>
        <p:spPr>
          <a:xfrm>
            <a:off x="7045076" y="3188047"/>
            <a:ext cx="1219200" cy="253305"/>
          </a:xfrm>
          <a:prstGeom prst="rect">
            <a:avLst/>
          </a:prstGeom>
          <a:noFill/>
        </p:spPr>
        <p:txBody>
          <a:bodyPr wrap="none" lIns="0" rIns="0" tIns="0" bIns="0" anchor="t">
            <a:spAutoFit/>
          </a:bodyPr>
          <a:lstStyle/>
          <a:p>
            <a:pPr algn="l"/>
            <a:r>
              <a:rPr b="1" sz="1350" i="0" u="none">
                <a:solidFill>
                  <a:srgbClr val="475569"/>
                </a:solidFill>
                <a:latin typeface="Plus Jakarta Sans"/>
              </a:rPr>
              <a:t>Class B (g</a:t>
            </a:r>
            <a:r>
              <a:rPr b="1" sz="1125" i="0" u="none">
                <a:solidFill>
                  <a:srgbClr val="475569"/>
                </a:solidFill>
                <a:latin typeface="Plus Jakarta Sans"/>
              </a:rPr>
              <a:t>B</a:t>
            </a:r>
            <a:r>
              <a:rPr b="1" sz="1350" i="0" u="none">
                <a:solidFill>
                  <a:srgbClr val="475569"/>
                </a:solidFill>
                <a:latin typeface="Plus Jakarta Sans"/>
              </a:rPr>
              <a:t>)</a:t>
            </a:r>
          </a:p>
        </p:txBody>
      </p:sp>
      <p:sp>
        <p:nvSpPr>
          <p:cNvPr id="29" name="TextBox 28"/>
          <p:cNvSpPr txBox="1"/>
          <p:nvPr/>
        </p:nvSpPr>
        <p:spPr>
          <a:xfrm>
            <a:off x="10839450" y="3190875"/>
            <a:ext cx="742950" cy="247650"/>
          </a:xfrm>
          <a:prstGeom prst="rect">
            <a:avLst/>
          </a:prstGeom>
          <a:noFill/>
        </p:spPr>
        <p:txBody>
          <a:bodyPr wrap="none" lIns="0" rIns="0" tIns="0" bIns="0" anchor="t">
            <a:spAutoFit/>
          </a:bodyPr>
          <a:lstStyle/>
          <a:p>
            <a:pPr algn="l"/>
            <a:r>
              <a:rPr b="1" sz="1500" i="0" u="none">
                <a:solidFill>
                  <a:srgbClr val="64748B"/>
                </a:solidFill>
                <a:latin typeface="Fira Code"/>
              </a:rPr>
              <a:t>0.20</a:t>
            </a:r>
          </a:p>
        </p:txBody>
      </p:sp>
      <p:sp>
        <p:nvSpPr>
          <p:cNvPr id="30" name="TextBox 29"/>
          <p:cNvSpPr txBox="1"/>
          <p:nvPr/>
        </p:nvSpPr>
        <p:spPr>
          <a:xfrm>
            <a:off x="7045076" y="3746152"/>
            <a:ext cx="1257300" cy="253305"/>
          </a:xfrm>
          <a:prstGeom prst="rect">
            <a:avLst/>
          </a:prstGeom>
          <a:noFill/>
        </p:spPr>
        <p:txBody>
          <a:bodyPr wrap="none" lIns="0" rIns="0" tIns="0" bIns="0" anchor="t">
            <a:spAutoFit/>
          </a:bodyPr>
          <a:lstStyle/>
          <a:p>
            <a:pPr algn="l"/>
            <a:r>
              <a:rPr b="1" sz="1350" i="0" u="none">
                <a:solidFill>
                  <a:srgbClr val="475569"/>
                </a:solidFill>
                <a:latin typeface="Plus Jakarta Sans"/>
              </a:rPr>
              <a:t>Class C (g</a:t>
            </a:r>
            <a:r>
              <a:rPr b="1" sz="1125" i="0" u="none">
                <a:solidFill>
                  <a:srgbClr val="475569"/>
                </a:solidFill>
                <a:latin typeface="Plus Jakarta Sans"/>
              </a:rPr>
              <a:t>C</a:t>
            </a:r>
            <a:r>
              <a:rPr b="1" sz="1350" i="0" u="none">
                <a:solidFill>
                  <a:srgbClr val="475569"/>
                </a:solidFill>
                <a:latin typeface="Plus Jakarta Sans"/>
              </a:rPr>
              <a:t>)</a:t>
            </a:r>
          </a:p>
        </p:txBody>
      </p:sp>
      <p:sp>
        <p:nvSpPr>
          <p:cNvPr id="31" name="TextBox 30"/>
          <p:cNvSpPr txBox="1"/>
          <p:nvPr/>
        </p:nvSpPr>
        <p:spPr>
          <a:xfrm>
            <a:off x="10839450" y="3748980"/>
            <a:ext cx="742950" cy="247650"/>
          </a:xfrm>
          <a:prstGeom prst="rect">
            <a:avLst/>
          </a:prstGeom>
          <a:noFill/>
        </p:spPr>
        <p:txBody>
          <a:bodyPr wrap="none" lIns="0" rIns="0" tIns="0" bIns="0" anchor="t">
            <a:spAutoFit/>
          </a:bodyPr>
          <a:lstStyle/>
          <a:p>
            <a:pPr algn="l"/>
            <a:r>
              <a:rPr b="1" sz="1500" i="0" u="none">
                <a:solidFill>
                  <a:srgbClr val="64748B"/>
                </a:solidFill>
                <a:latin typeface="Fira Code"/>
              </a:rPr>
              <a:t>0.10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3710880"/>
            <a:ext cx="11163300" cy="1038225"/>
          </a:xfrm>
          <a:prstGeom prst="roundRect">
            <a:avLst>
              <a:gd name="adj" fmla="val 11009"/>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179665"/>
            <a:ext cx="11163300" cy="409575"/>
          </a:xfrm>
          <a:prstGeom prst="roundRect">
            <a:avLst>
              <a:gd name="adj" fmla="val 13953"/>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6019800"/>
            <a:ext cx="11163300" cy="495300"/>
          </a:xfrm>
          <a:prstGeom prst="roundRect">
            <a:avLst>
              <a:gd name="adj" fmla="val 11538"/>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4350" y="1516409"/>
            <a:ext cx="5486400" cy="1763910"/>
          </a:xfrm>
          <a:prstGeom prst="roundRect">
            <a:avLst>
              <a:gd name="adj" fmla="val 64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91250" y="1516409"/>
            <a:ext cx="5486400" cy="1763910"/>
          </a:xfrm>
          <a:prstGeom prst="roundRect">
            <a:avLst>
              <a:gd name="adj" fmla="val 64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24500" y="3901380"/>
            <a:ext cx="5905500" cy="657225"/>
          </a:xfrm>
          <a:prstGeom prst="roundRect">
            <a:avLst>
              <a:gd name="adj" fmla="val 115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4350" y="5179665"/>
            <a:ext cx="38100" cy="409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4350" y="6019800"/>
            <a:ext cx="38100" cy="4953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4375" y="2665065"/>
            <a:ext cx="5086350" cy="415230"/>
          </a:xfrm>
          <a:prstGeom prst="roundRect">
            <a:avLst>
              <a:gd name="adj" fmla="val 13763"/>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91275" y="2665065"/>
            <a:ext cx="5086350" cy="415230"/>
          </a:xfrm>
          <a:prstGeom prst="roundRect">
            <a:avLst>
              <a:gd name="adj" fmla="val 13763"/>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Relationship Between Risk and Discriminant Functions</a:t>
            </a:r>
          </a:p>
        </p:txBody>
      </p:sp>
      <p:sp>
        <p:nvSpPr>
          <p:cNvPr id="13" name="TextBox 12"/>
          <p:cNvSpPr txBox="1"/>
          <p:nvPr/>
        </p:nvSpPr>
        <p:spPr>
          <a:xfrm>
            <a:off x="704850" y="1706909"/>
            <a:ext cx="5200650" cy="1382910"/>
          </a:xfrm>
          <a:prstGeom prst="rect">
            <a:avLst/>
          </a:prstGeom>
          <a:noFill/>
        </p:spPr>
        <p:txBody>
          <a:bodyPr wrap="square" lIns="0" rIns="0" tIns="0" bIns="0" anchor="t">
            <a:spAutoFit/>
          </a:bodyPr>
          <a:lstStyle/>
          <a:p>
            <a:pPr algn="l"/>
            <a:r>
              <a:rPr b="1" sz="1050" i="0" u="none">
                <a:solidFill>
                  <a:srgbClr val="DC2626"/>
                </a:solidFill>
                <a:latin typeface="Plus Jakarta Sans"/>
              </a:rPr>
              <a:t>Previous Class Principle</a:t>
            </a:r>
          </a:p>
        </p:txBody>
      </p:sp>
      <p:sp>
        <p:nvSpPr>
          <p:cNvPr id="14" name="TextBox 13"/>
          <p:cNvSpPr txBox="1"/>
          <p:nvPr/>
        </p:nvSpPr>
        <p:spPr>
          <a:xfrm>
            <a:off x="6381750" y="1706909"/>
            <a:ext cx="5200650" cy="1382910"/>
          </a:xfrm>
          <a:prstGeom prst="rect">
            <a:avLst/>
          </a:prstGeom>
          <a:noFill/>
        </p:spPr>
        <p:txBody>
          <a:bodyPr wrap="square" lIns="0" rIns="0" tIns="0" bIns="0" anchor="t">
            <a:spAutoFit/>
          </a:bodyPr>
          <a:lstStyle/>
          <a:p>
            <a:pPr algn="l"/>
            <a:r>
              <a:rPr b="1" sz="1050" i="0" u="none">
                <a:solidFill>
                  <a:srgbClr val="2563EB"/>
                </a:solidFill>
                <a:latin typeface="Plus Jakarta Sans"/>
              </a:rPr>
              <a:t>Today's Discriminant View</a:t>
            </a:r>
          </a:p>
        </p:txBody>
      </p:sp>
      <p:sp>
        <p:nvSpPr>
          <p:cNvPr id="15" name="TextBox 14"/>
          <p:cNvSpPr txBox="1"/>
          <p:nvPr/>
        </p:nvSpPr>
        <p:spPr>
          <a:xfrm>
            <a:off x="704850" y="5274915"/>
            <a:ext cx="11487150" cy="219075"/>
          </a:xfrm>
          <a:prstGeom prst="rect">
            <a:avLst/>
          </a:prstGeom>
          <a:noFill/>
        </p:spPr>
        <p:txBody>
          <a:bodyPr wrap="none" lIns="0" rIns="0" tIns="0" bIns="0" anchor="t">
            <a:spAutoFit/>
          </a:bodyPr>
          <a:lstStyle/>
          <a:p>
            <a:pPr algn="l"/>
            <a:r>
              <a:rPr b="1" sz="1350" i="0" u="none">
                <a:solidFill>
                  <a:srgbClr val="065F46"/>
                </a:solidFill>
                <a:latin typeface="Plus Jakarta Sans"/>
              </a:rPr>
              <a:t>Exam Core Rule: Maximum discriminant score corresponds directly to minimum conditional risk!</a:t>
            </a:r>
          </a:p>
        </p:txBody>
      </p:sp>
      <p:sp>
        <p:nvSpPr>
          <p:cNvPr id="16" name="TextBox 15"/>
          <p:cNvSpPr txBox="1"/>
          <p:nvPr/>
        </p:nvSpPr>
        <p:spPr>
          <a:xfrm>
            <a:off x="704850" y="609600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Ask students: "Which temperature is better in winter: -2°C or -10°C? -2°C is higher! Similarly, a loss of 0.2 gives score -0.2, while loss of 0.7 gives -0.7. -0.2 &gt; -0.7, so maximum score correctly minimizes risk."</a:t>
            </a:r>
          </a:p>
        </p:txBody>
      </p:sp>
      <p:sp>
        <p:nvSpPr>
          <p:cNvPr id="17" name="TextBox 16"/>
          <p:cNvSpPr txBox="1"/>
          <p:nvPr/>
        </p:nvSpPr>
        <p:spPr>
          <a:xfrm>
            <a:off x="514350" y="342900"/>
            <a:ext cx="2024062" cy="171450"/>
          </a:xfrm>
          <a:prstGeom prst="rect">
            <a:avLst/>
          </a:prstGeom>
          <a:noFill/>
        </p:spPr>
        <p:txBody>
          <a:bodyPr wrap="none" lIns="0" rIns="0" tIns="0" bIns="0" anchor="t">
            <a:spAutoFit/>
          </a:bodyPr>
          <a:lstStyle/>
          <a:p>
            <a:pPr algn="l"/>
            <a:r>
              <a:rPr b="1" sz="1050" i="0" u="none">
                <a:solidFill>
                  <a:srgbClr val="2563EB"/>
                </a:solidFill>
                <a:latin typeface="Plus Jakarta Sans"/>
              </a:rPr>
              <a:t>CONNECTING THEORY</a:t>
            </a:r>
          </a:p>
        </p:txBody>
      </p:sp>
      <p:sp>
        <p:nvSpPr>
          <p:cNvPr id="18" name="TextBox 17"/>
          <p:cNvSpPr txBox="1"/>
          <p:nvPr/>
        </p:nvSpPr>
        <p:spPr>
          <a:xfrm>
            <a:off x="10525125" y="342900"/>
            <a:ext cx="1440656" cy="171450"/>
          </a:xfrm>
          <a:prstGeom prst="rect">
            <a:avLst/>
          </a:prstGeom>
          <a:noFill/>
        </p:spPr>
        <p:txBody>
          <a:bodyPr wrap="none" lIns="0" rIns="0" tIns="0" bIns="0" anchor="t">
            <a:spAutoFit/>
          </a:bodyPr>
          <a:lstStyle/>
          <a:p>
            <a:pPr algn="l"/>
            <a:r>
              <a:rPr b="1" sz="1050" i="0" u="none">
                <a:solidFill>
                  <a:srgbClr val="64748B"/>
                </a:solidFill>
                <a:latin typeface="Plus Jakarta Sans"/>
              </a:rPr>
              <a:t>Bridge with Class 1</a:t>
            </a:r>
          </a:p>
        </p:txBody>
      </p:sp>
      <p:sp>
        <p:nvSpPr>
          <p:cNvPr id="19" name="TextBox 18"/>
          <p:cNvSpPr txBox="1"/>
          <p:nvPr/>
        </p:nvSpPr>
        <p:spPr>
          <a:xfrm>
            <a:off x="714375" y="1973609"/>
            <a:ext cx="6675834" cy="266700"/>
          </a:xfrm>
          <a:prstGeom prst="rect">
            <a:avLst/>
          </a:prstGeom>
          <a:noFill/>
        </p:spPr>
        <p:txBody>
          <a:bodyPr wrap="none" lIns="0" rIns="0" tIns="0" bIns="0" anchor="t">
            <a:spAutoFit/>
          </a:bodyPr>
          <a:lstStyle/>
          <a:p>
            <a:pPr algn="l"/>
            <a:r>
              <a:rPr b="1" sz="1650" i="0" u="none">
                <a:solidFill>
                  <a:srgbClr val="991B1B"/>
                </a:solidFill>
                <a:latin typeface="Plus Jakarta Sans"/>
              </a:rPr>
              <a:t>Minimum Risk Rule</a:t>
            </a:r>
          </a:p>
        </p:txBody>
      </p:sp>
      <p:sp>
        <p:nvSpPr>
          <p:cNvPr id="20" name="TextBox 19"/>
          <p:cNvSpPr txBox="1"/>
          <p:nvPr/>
        </p:nvSpPr>
        <p:spPr>
          <a:xfrm>
            <a:off x="714375" y="2335559"/>
            <a:ext cx="6357937" cy="253305"/>
          </a:xfrm>
          <a:prstGeom prst="rect">
            <a:avLst/>
          </a:prstGeom>
          <a:noFill/>
        </p:spPr>
        <p:txBody>
          <a:bodyPr wrap="none" lIns="0" rIns="0" tIns="0" bIns="0" anchor="t">
            <a:spAutoFit/>
          </a:bodyPr>
          <a:lstStyle/>
          <a:p>
            <a:pPr algn="l"/>
            <a:r>
              <a:rPr b="0" sz="1350" i="0" u="none">
                <a:solidFill>
                  <a:srgbClr val="334155"/>
                </a:solidFill>
                <a:latin typeface="Plus Jakarta Sans"/>
              </a:rPr>
              <a:t>Choose action α</a:t>
            </a:r>
            <a:r>
              <a:rPr b="0" sz="1125" i="0" u="none">
                <a:solidFill>
                  <a:srgbClr val="334155"/>
                </a:solidFill>
                <a:latin typeface="Plus Jakarta Sans"/>
              </a:rPr>
              <a:t>i</a:t>
            </a:r>
            <a:r>
              <a:rPr b="0" sz="1350" i="0" u="none">
                <a:solidFill>
                  <a:srgbClr val="334155"/>
                </a:solidFill>
                <a:latin typeface="Plus Jakarta Sans"/>
              </a:rPr>
              <a:t> with the lowest conditional risk:</a:t>
            </a:r>
          </a:p>
        </p:txBody>
      </p:sp>
      <p:sp>
        <p:nvSpPr>
          <p:cNvPr id="21" name="TextBox 20"/>
          <p:cNvSpPr txBox="1"/>
          <p:nvPr/>
        </p:nvSpPr>
        <p:spPr>
          <a:xfrm>
            <a:off x="828675" y="2741265"/>
            <a:ext cx="4953000" cy="262830"/>
          </a:xfrm>
          <a:prstGeom prst="rect">
            <a:avLst/>
          </a:prstGeom>
          <a:noFill/>
        </p:spPr>
        <p:txBody>
          <a:bodyPr wrap="square" lIns="0" rIns="0" tIns="0" bIns="0" anchor="t">
            <a:spAutoFit/>
          </a:bodyPr>
          <a:lstStyle/>
          <a:p>
            <a:pPr algn="l"/>
            <a:r>
              <a:rPr b="1" sz="1350" i="0" u="none">
                <a:solidFill>
                  <a:srgbClr val="991B1B"/>
                </a:solidFill>
                <a:latin typeface="Fira Code"/>
              </a:rPr>
              <a:t>Select α</a:t>
            </a:r>
            <a:r>
              <a:rPr b="1" sz="1125" i="0" u="none">
                <a:solidFill>
                  <a:srgbClr val="991B1B"/>
                </a:solidFill>
                <a:latin typeface="Fira Code"/>
              </a:rPr>
              <a:t>i</a:t>
            </a:r>
            <a:r>
              <a:rPr b="1" sz="1350" i="0" u="none">
                <a:solidFill>
                  <a:srgbClr val="991B1B"/>
                </a:solidFill>
                <a:latin typeface="Fira Code"/>
              </a:rPr>
              <a:t> = min</a:t>
            </a:r>
            <a:r>
              <a:rPr b="1" sz="1125" i="0" u="none">
                <a:solidFill>
                  <a:srgbClr val="991B1B"/>
                </a:solidFill>
                <a:latin typeface="Fira Code"/>
              </a:rPr>
              <a:t>k</a:t>
            </a:r>
            <a:r>
              <a:rPr b="1" sz="1350" i="0" u="none">
                <a:solidFill>
                  <a:srgbClr val="991B1B"/>
                </a:solidFill>
                <a:latin typeface="Fira Code"/>
              </a:rPr>
              <a:t> R(α</a:t>
            </a:r>
            <a:r>
              <a:rPr b="1" sz="1125" i="0" u="none">
                <a:solidFill>
                  <a:srgbClr val="991B1B"/>
                </a:solidFill>
                <a:latin typeface="Fira Code"/>
              </a:rPr>
              <a:t>k</a:t>
            </a:r>
            <a:r>
              <a:rPr b="1" sz="1350" i="0" u="none">
                <a:solidFill>
                  <a:srgbClr val="991B1B"/>
                </a:solidFill>
                <a:latin typeface="Fira Code"/>
              </a:rPr>
              <a:t> | x)</a:t>
            </a:r>
          </a:p>
        </p:txBody>
      </p:sp>
      <p:sp>
        <p:nvSpPr>
          <p:cNvPr id="22" name="TextBox 21"/>
          <p:cNvSpPr txBox="1"/>
          <p:nvPr/>
        </p:nvSpPr>
        <p:spPr>
          <a:xfrm>
            <a:off x="6391275" y="1973609"/>
            <a:ext cx="5800725" cy="266700"/>
          </a:xfrm>
          <a:prstGeom prst="rect">
            <a:avLst/>
          </a:prstGeom>
          <a:noFill/>
        </p:spPr>
        <p:txBody>
          <a:bodyPr wrap="none" lIns="0" rIns="0" tIns="0" bIns="0" anchor="t">
            <a:spAutoFit/>
          </a:bodyPr>
          <a:lstStyle/>
          <a:p>
            <a:pPr algn="l"/>
            <a:r>
              <a:rPr b="1" sz="1650" i="0" u="none">
                <a:solidFill>
                  <a:srgbClr val="1E40AF"/>
                </a:solidFill>
                <a:latin typeface="Plus Jakarta Sans"/>
              </a:rPr>
              <a:t>Maximum Score Rule</a:t>
            </a:r>
          </a:p>
        </p:txBody>
      </p:sp>
      <p:sp>
        <p:nvSpPr>
          <p:cNvPr id="23" name="TextBox 22"/>
          <p:cNvSpPr txBox="1"/>
          <p:nvPr/>
        </p:nvSpPr>
        <p:spPr>
          <a:xfrm>
            <a:off x="6391275" y="2335559"/>
            <a:ext cx="5800725" cy="253305"/>
          </a:xfrm>
          <a:prstGeom prst="rect">
            <a:avLst/>
          </a:prstGeom>
          <a:noFill/>
        </p:spPr>
        <p:txBody>
          <a:bodyPr wrap="none" lIns="0" rIns="0" tIns="0" bIns="0" anchor="t">
            <a:spAutoFit/>
          </a:bodyPr>
          <a:lstStyle/>
          <a:p>
            <a:pPr algn="l"/>
            <a:r>
              <a:rPr b="0" sz="1350" i="0" u="none">
                <a:solidFill>
                  <a:srgbClr val="334155"/>
                </a:solidFill>
                <a:latin typeface="Plus Jakarta Sans"/>
              </a:rPr>
              <a:t>Choose class C</a:t>
            </a:r>
            <a:r>
              <a:rPr b="0" sz="1125" i="0" u="none">
                <a:solidFill>
                  <a:srgbClr val="334155"/>
                </a:solidFill>
                <a:latin typeface="Plus Jakarta Sans"/>
              </a:rPr>
              <a:t>i</a:t>
            </a:r>
            <a:r>
              <a:rPr b="0" sz="1350" i="0" u="none">
                <a:solidFill>
                  <a:srgbClr val="334155"/>
                </a:solidFill>
                <a:latin typeface="Plus Jakarta Sans"/>
              </a:rPr>
              <a:t> with the highest discriminant score:</a:t>
            </a:r>
          </a:p>
        </p:txBody>
      </p:sp>
      <p:sp>
        <p:nvSpPr>
          <p:cNvPr id="24" name="TextBox 23"/>
          <p:cNvSpPr txBox="1"/>
          <p:nvPr/>
        </p:nvSpPr>
        <p:spPr>
          <a:xfrm>
            <a:off x="6505575" y="2741265"/>
            <a:ext cx="4953000" cy="262830"/>
          </a:xfrm>
          <a:prstGeom prst="rect">
            <a:avLst/>
          </a:prstGeom>
          <a:noFill/>
        </p:spPr>
        <p:txBody>
          <a:bodyPr wrap="square" lIns="0" rIns="0" tIns="0" bIns="0" anchor="t">
            <a:spAutoFit/>
          </a:bodyPr>
          <a:lstStyle/>
          <a:p>
            <a:pPr algn="l"/>
            <a:r>
              <a:rPr b="1" sz="1350" i="0" u="none">
                <a:solidFill>
                  <a:srgbClr val="1D4ED8"/>
                </a:solidFill>
                <a:latin typeface="Fira Code"/>
              </a:rPr>
              <a:t>Select C</a:t>
            </a:r>
            <a:r>
              <a:rPr b="1" sz="1125" i="0" u="none">
                <a:solidFill>
                  <a:srgbClr val="1D4ED8"/>
                </a:solidFill>
                <a:latin typeface="Fira Code"/>
              </a:rPr>
              <a:t>i</a:t>
            </a:r>
            <a:r>
              <a:rPr b="1" sz="1350" i="0" u="none">
                <a:solidFill>
                  <a:srgbClr val="1D4ED8"/>
                </a:solidFill>
                <a:latin typeface="Fira Code"/>
              </a:rPr>
              <a:t> = max</a:t>
            </a:r>
            <a:r>
              <a:rPr b="1" sz="1125" i="0" u="none">
                <a:solidFill>
                  <a:srgbClr val="1D4ED8"/>
                </a:solidFill>
                <a:latin typeface="Fira Code"/>
              </a:rPr>
              <a:t>k</a:t>
            </a:r>
            <a:r>
              <a:rPr b="1" sz="1350" i="0" u="none">
                <a:solidFill>
                  <a:srgbClr val="1D4ED8"/>
                </a:solidFill>
                <a:latin typeface="Fira Code"/>
              </a:rPr>
              <a:t> g</a:t>
            </a:r>
            <a:r>
              <a:rPr b="1" sz="1125" i="0" u="none">
                <a:solidFill>
                  <a:srgbClr val="1D4ED8"/>
                </a:solidFill>
                <a:latin typeface="Fira Code"/>
              </a:rPr>
              <a:t>k</a:t>
            </a:r>
            <a:r>
              <a:rPr b="1" sz="1350" i="0" u="none">
                <a:solidFill>
                  <a:srgbClr val="1D4ED8"/>
                </a:solidFill>
                <a:latin typeface="Fira Code"/>
              </a:rPr>
              <a:t>(x)</a:t>
            </a:r>
          </a:p>
        </p:txBody>
      </p:sp>
      <p:sp>
        <p:nvSpPr>
          <p:cNvPr id="25" name="TextBox 24"/>
          <p:cNvSpPr txBox="1"/>
          <p:nvPr/>
        </p:nvSpPr>
        <p:spPr>
          <a:xfrm>
            <a:off x="762000" y="3964185"/>
            <a:ext cx="3286125" cy="171450"/>
          </a:xfrm>
          <a:prstGeom prst="rect">
            <a:avLst/>
          </a:prstGeom>
          <a:noFill/>
        </p:spPr>
        <p:txBody>
          <a:bodyPr wrap="none" lIns="0" rIns="0" tIns="0" bIns="0" anchor="t">
            <a:spAutoFit/>
          </a:bodyPr>
          <a:lstStyle/>
          <a:p>
            <a:pPr algn="l"/>
            <a:r>
              <a:rPr b="1" sz="1050" i="0" u="none">
                <a:solidFill>
                  <a:srgbClr val="2563EB"/>
                </a:solidFill>
                <a:latin typeface="Plus Jakarta Sans"/>
              </a:rPr>
              <a:t>FUNDAMENTAL EQUIVALENCE FORMULA</a:t>
            </a:r>
          </a:p>
        </p:txBody>
      </p:sp>
      <p:sp>
        <p:nvSpPr>
          <p:cNvPr id="26" name="TextBox 25"/>
          <p:cNvSpPr txBox="1"/>
          <p:nvPr/>
        </p:nvSpPr>
        <p:spPr>
          <a:xfrm>
            <a:off x="762000" y="4154685"/>
            <a:ext cx="3286125" cy="340965"/>
          </a:xfrm>
          <a:prstGeom prst="rect">
            <a:avLst/>
          </a:prstGeom>
          <a:noFill/>
        </p:spPr>
        <p:txBody>
          <a:bodyPr wrap="none" lIns="0" rIns="0" tIns="0" bIns="0" anchor="t">
            <a:spAutoFit/>
          </a:bodyPr>
          <a:lstStyle/>
          <a:p>
            <a:pPr algn="l"/>
            <a:r>
              <a:rPr b="1" sz="1800" i="0" u="none">
                <a:solidFill>
                  <a:srgbClr val="0F172A"/>
                </a:solidFill>
                <a:latin typeface="Fira Code"/>
              </a:rPr>
              <a:t>g</a:t>
            </a:r>
            <a:r>
              <a:rPr b="1" sz="1500" i="0" u="none">
                <a:solidFill>
                  <a:srgbClr val="0F172A"/>
                </a:solidFill>
                <a:latin typeface="Fira Code"/>
              </a:rPr>
              <a:t>i</a:t>
            </a:r>
            <a:r>
              <a:rPr b="1" sz="1800" i="0" u="none">
                <a:solidFill>
                  <a:srgbClr val="0F172A"/>
                </a:solidFill>
                <a:latin typeface="Fira Code"/>
              </a:rPr>
              <a:t>(x) = -R(α</a:t>
            </a:r>
            <a:r>
              <a:rPr b="1" sz="1500" i="0" u="none">
                <a:solidFill>
                  <a:srgbClr val="0F172A"/>
                </a:solidFill>
                <a:latin typeface="Fira Code"/>
              </a:rPr>
              <a:t>i</a:t>
            </a:r>
            <a:r>
              <a:rPr b="1" sz="1800" i="0" u="none">
                <a:solidFill>
                  <a:srgbClr val="0F172A"/>
                </a:solidFill>
                <a:latin typeface="Fira Code"/>
              </a:rPr>
              <a:t> | x)</a:t>
            </a:r>
          </a:p>
        </p:txBody>
      </p:sp>
      <p:sp>
        <p:nvSpPr>
          <p:cNvPr id="27" name="TextBox 26"/>
          <p:cNvSpPr txBox="1"/>
          <p:nvPr/>
        </p:nvSpPr>
        <p:spPr>
          <a:xfrm>
            <a:off x="5686425" y="4006155"/>
            <a:ext cx="5676900" cy="447675"/>
          </a:xfrm>
          <a:prstGeom prst="rect">
            <a:avLst/>
          </a:prstGeom>
          <a:noFill/>
        </p:spPr>
        <p:txBody>
          <a:bodyPr wrap="square" lIns="0" rIns="0" tIns="0" bIns="0" anchor="t">
            <a:spAutoFit/>
          </a:bodyPr>
          <a:lstStyle/>
          <a:p>
            <a:pPr algn="l"/>
            <a:r>
              <a:rPr b="1" sz="1350" i="0" u="none">
                <a:solidFill>
                  <a:srgbClr val="334155"/>
                </a:solidFill>
                <a:latin typeface="Plus Jakarta Sans"/>
              </a:rPr>
              <a:t>Why the negative sign?</a:t>
            </a:r>
            <a:r>
              <a:rPr b="0" sz="1350" i="0" u="none">
                <a:solidFill>
                  <a:srgbClr val="334155"/>
                </a:solidFill>
                <a:latin typeface="Plus Jakarta Sans"/>
              </a:rPr>
              <a:t> Minimizing a positive loss is identical to maximizing its negative value: </a:t>
            </a:r>
            <a:r>
              <a:rPr b="0" sz="1350" i="1" u="none">
                <a:solidFill>
                  <a:srgbClr val="334155"/>
                </a:solidFill>
                <a:latin typeface="Plus Jakarta Sans"/>
              </a:rPr>
              <a:t>min(0.20) ➔ max(-0.20)</a:t>
            </a:r>
            <a:r>
              <a:rPr b="0" sz="1350" i="0" u="none">
                <a:solidFill>
                  <a:srgbClr val="334155"/>
                </a:solidFill>
                <a:latin typeface="Plus Jakarta Sans"/>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551"/>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2027932"/>
            <a:ext cx="5706814" cy="3011537"/>
          </a:xfrm>
          <a:prstGeom prst="roundRect">
            <a:avLst>
              <a:gd name="adj" fmla="val 379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49764" y="2027932"/>
            <a:ext cx="5227885" cy="3011537"/>
          </a:xfrm>
          <a:prstGeom prst="roundRect">
            <a:avLst>
              <a:gd name="adj" fmla="val 379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551"/>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3425" y="4045148"/>
            <a:ext cx="5268664" cy="775245"/>
          </a:xfrm>
          <a:prstGeom prst="roundRect">
            <a:avLst>
              <a:gd name="adj" fmla="val 9829"/>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68839" y="4410670"/>
            <a:ext cx="4789735" cy="409575"/>
          </a:xfrm>
          <a:prstGeom prst="roundRect">
            <a:avLst>
              <a:gd name="adj" fmla="val 1395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3425" y="2561332"/>
            <a:ext cx="5268664" cy="723900"/>
          </a:xfrm>
          <a:prstGeom prst="roundRect">
            <a:avLst>
              <a:gd name="adj" fmla="val 1052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68839" y="3222724"/>
            <a:ext cx="4789735" cy="495300"/>
          </a:xfrm>
          <a:prstGeom prst="roundRect">
            <a:avLst>
              <a:gd name="adj" fmla="val 15384"/>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68839" y="3794224"/>
            <a:ext cx="4789735" cy="495300"/>
          </a:xfrm>
          <a:prstGeom prst="roundRect">
            <a:avLst>
              <a:gd name="adj" fmla="val 15384"/>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Discriminant Functions Under 0–1 Loss</a:t>
            </a:r>
          </a:p>
        </p:txBody>
      </p:sp>
      <p:sp>
        <p:nvSpPr>
          <p:cNvPr id="12" name="TextBox 11"/>
          <p:cNvSpPr txBox="1"/>
          <p:nvPr/>
        </p:nvSpPr>
        <p:spPr>
          <a:xfrm>
            <a:off x="704850" y="6076801"/>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Exam Tip:</a:t>
            </a:r>
            <a:r>
              <a:rPr b="0" sz="1050" i="0" u="none">
                <a:solidFill>
                  <a:srgbClr val="1E3A8A"/>
                </a:solidFill>
                <a:latin typeface="Plus Jakarta Sans"/>
              </a:rPr>
              <a:t> Students frequently get asked: "What is the discriminant function under 0-1 loss?" Tell them the answer is simply: "The posterior probability P(Ci|x)". Ethem Alpaydin highlights this in Chapter 3.</a:t>
            </a:r>
          </a:p>
        </p:txBody>
      </p:sp>
      <p:sp>
        <p:nvSpPr>
          <p:cNvPr id="13" name="TextBox 12"/>
          <p:cNvSpPr txBox="1"/>
          <p:nvPr/>
        </p:nvSpPr>
        <p:spPr>
          <a:xfrm>
            <a:off x="514350" y="342900"/>
            <a:ext cx="1343025" cy="171450"/>
          </a:xfrm>
          <a:prstGeom prst="rect">
            <a:avLst/>
          </a:prstGeom>
          <a:noFill/>
        </p:spPr>
        <p:txBody>
          <a:bodyPr wrap="none" lIns="0" rIns="0" tIns="0" bIns="0" anchor="t">
            <a:spAutoFit/>
          </a:bodyPr>
          <a:lstStyle/>
          <a:p>
            <a:pPr algn="l"/>
            <a:r>
              <a:rPr b="1" sz="1050" i="0" u="none">
                <a:solidFill>
                  <a:srgbClr val="2563EB"/>
                </a:solidFill>
                <a:latin typeface="Plus Jakarta Sans"/>
              </a:rPr>
              <a:t>SPECIAL CASE</a:t>
            </a:r>
          </a:p>
        </p:txBody>
      </p:sp>
      <p:sp>
        <p:nvSpPr>
          <p:cNvPr id="14" name="TextBox 13"/>
          <p:cNvSpPr txBox="1"/>
          <p:nvPr/>
        </p:nvSpPr>
        <p:spPr>
          <a:xfrm>
            <a:off x="10134600" y="342900"/>
            <a:ext cx="1928812" cy="171450"/>
          </a:xfrm>
          <a:prstGeom prst="rect">
            <a:avLst/>
          </a:prstGeom>
          <a:noFill/>
        </p:spPr>
        <p:txBody>
          <a:bodyPr wrap="none" lIns="0" rIns="0" tIns="0" bIns="0" anchor="t">
            <a:spAutoFit/>
          </a:bodyPr>
          <a:lstStyle/>
          <a:p>
            <a:pPr algn="l"/>
            <a:r>
              <a:rPr b="1" sz="1050" i="0" u="none">
                <a:solidFill>
                  <a:srgbClr val="64748B"/>
                </a:solidFill>
                <a:latin typeface="Plus Jakarta Sans"/>
              </a:rPr>
              <a:t>Zero-One Loss Scenario</a:t>
            </a:r>
          </a:p>
        </p:txBody>
      </p:sp>
      <p:sp>
        <p:nvSpPr>
          <p:cNvPr id="15" name="TextBox 14"/>
          <p:cNvSpPr txBox="1"/>
          <p:nvPr/>
        </p:nvSpPr>
        <p:spPr>
          <a:xfrm>
            <a:off x="6668839" y="2247007"/>
            <a:ext cx="5523160" cy="219075"/>
          </a:xfrm>
          <a:prstGeom prst="rect">
            <a:avLst/>
          </a:prstGeom>
          <a:noFill/>
        </p:spPr>
        <p:txBody>
          <a:bodyPr wrap="none" lIns="0" rIns="0" tIns="0" bIns="0" anchor="t">
            <a:spAutoFit/>
          </a:bodyPr>
          <a:lstStyle/>
          <a:p>
            <a:pPr algn="l"/>
            <a:r>
              <a:rPr b="1" sz="1350" i="0" u="none">
                <a:solidFill>
                  <a:srgbClr val="0F172A"/>
                </a:solidFill>
                <a:latin typeface="Plus Jakarta Sans"/>
              </a:rPr>
              <a:t>Posterior as the Score</a:t>
            </a:r>
          </a:p>
        </p:txBody>
      </p:sp>
      <p:sp>
        <p:nvSpPr>
          <p:cNvPr id="16" name="TextBox 15"/>
          <p:cNvSpPr txBox="1"/>
          <p:nvPr/>
        </p:nvSpPr>
        <p:spPr>
          <a:xfrm>
            <a:off x="6668839" y="2606278"/>
            <a:ext cx="4884985" cy="438150"/>
          </a:xfrm>
          <a:prstGeom prst="rect">
            <a:avLst/>
          </a:prstGeom>
          <a:noFill/>
        </p:spPr>
        <p:txBody>
          <a:bodyPr wrap="square" lIns="0" rIns="0" tIns="0" bIns="0" anchor="t">
            <a:spAutoFit/>
          </a:bodyPr>
          <a:lstStyle/>
          <a:p>
            <a:pPr algn="l"/>
            <a:r>
              <a:rPr b="0" sz="1350" i="0" u="none">
                <a:solidFill>
                  <a:srgbClr val="475569"/>
                </a:solidFill>
                <a:latin typeface="Plus Jakarta Sans"/>
              </a:rPr>
              <a:t>When mistakes cost equally, the posterior probability itself acts directly as the discriminant score.</a:t>
            </a:r>
          </a:p>
        </p:txBody>
      </p:sp>
      <p:sp>
        <p:nvSpPr>
          <p:cNvPr id="17" name="TextBox 16"/>
          <p:cNvSpPr txBox="1"/>
          <p:nvPr/>
        </p:nvSpPr>
        <p:spPr>
          <a:xfrm>
            <a:off x="733425" y="2247007"/>
            <a:ext cx="6915122" cy="219075"/>
          </a:xfrm>
          <a:prstGeom prst="rect">
            <a:avLst/>
          </a:prstGeom>
          <a:noFill/>
        </p:spPr>
        <p:txBody>
          <a:bodyPr wrap="none" lIns="0" rIns="0" tIns="0" bIns="0" anchor="t">
            <a:spAutoFit/>
          </a:bodyPr>
          <a:lstStyle/>
          <a:p>
            <a:pPr algn="l"/>
            <a:r>
              <a:rPr b="1" sz="1350" i="0" u="none">
                <a:solidFill>
                  <a:srgbClr val="0F172A"/>
                </a:solidFill>
                <a:latin typeface="Plus Jakarta Sans"/>
              </a:rPr>
              <a:t>What is 0–1 Loss?</a:t>
            </a:r>
          </a:p>
        </p:txBody>
      </p:sp>
      <p:sp>
        <p:nvSpPr>
          <p:cNvPr id="18" name="TextBox 17"/>
          <p:cNvSpPr txBox="1"/>
          <p:nvPr/>
        </p:nvSpPr>
        <p:spPr>
          <a:xfrm>
            <a:off x="733425" y="3418582"/>
            <a:ext cx="5363914" cy="512266"/>
          </a:xfrm>
          <a:prstGeom prst="rect">
            <a:avLst/>
          </a:prstGeom>
          <a:noFill/>
        </p:spPr>
        <p:txBody>
          <a:bodyPr wrap="square" lIns="0" rIns="0" tIns="0" bIns="0" anchor="t">
            <a:spAutoFit/>
          </a:bodyPr>
          <a:lstStyle/>
          <a:p>
            <a:pPr algn="l">
              <a:lnSpc>
                <a:spcPts val="1889"/>
              </a:lnSpc>
            </a:pPr>
            <a:r>
              <a:rPr b="0" sz="1350" i="0" u="none">
                <a:solidFill>
                  <a:srgbClr val="334155"/>
                </a:solidFill>
                <a:latin typeface="Plus Jakarta Sans"/>
              </a:rPr>
              <a:t>Under this standard assumption, risk simplifies directly to the probability of making an error: </a:t>
            </a:r>
            <a:r>
              <a:rPr b="1" sz="1350" i="0" u="none">
                <a:solidFill>
                  <a:srgbClr val="334155"/>
                </a:solidFill>
                <a:latin typeface="Plus Jakarta Sans"/>
              </a:rPr>
              <a:t>R(α</a:t>
            </a:r>
            <a:r>
              <a:rPr b="1" sz="1125" i="0" u="none">
                <a:solidFill>
                  <a:srgbClr val="334155"/>
                </a:solidFill>
                <a:latin typeface="Plus Jakarta Sans"/>
              </a:rPr>
              <a:t>i</a:t>
            </a:r>
            <a:r>
              <a:rPr b="1" sz="1350" i="0" u="none">
                <a:solidFill>
                  <a:srgbClr val="334155"/>
                </a:solidFill>
                <a:latin typeface="Plus Jakarta Sans"/>
              </a:rPr>
              <a:t> | x) = 1 - P(C</a:t>
            </a:r>
            <a:r>
              <a:rPr b="1" sz="1125" i="0" u="none">
                <a:solidFill>
                  <a:srgbClr val="334155"/>
                </a:solidFill>
                <a:latin typeface="Plus Jakarta Sans"/>
              </a:rPr>
              <a:t>i</a:t>
            </a:r>
            <a:r>
              <a:rPr b="1" sz="1350" i="0" u="none">
                <a:solidFill>
                  <a:srgbClr val="334155"/>
                </a:solidFill>
                <a:latin typeface="Plus Jakarta Sans"/>
              </a:rPr>
              <a:t> | x)</a:t>
            </a:r>
            <a:r>
              <a:rPr b="0" sz="1350" i="0" u="none">
                <a:solidFill>
                  <a:srgbClr val="334155"/>
                </a:solidFill>
                <a:latin typeface="Plus Jakarta Sans"/>
              </a:rPr>
              <a:t>.</a:t>
            </a:r>
          </a:p>
        </p:txBody>
      </p:sp>
      <p:sp>
        <p:nvSpPr>
          <p:cNvPr id="19" name="TextBox 18"/>
          <p:cNvSpPr txBox="1"/>
          <p:nvPr/>
        </p:nvSpPr>
        <p:spPr>
          <a:xfrm>
            <a:off x="857250" y="4168973"/>
            <a:ext cx="6276268" cy="171450"/>
          </a:xfrm>
          <a:prstGeom prst="rect">
            <a:avLst/>
          </a:prstGeom>
          <a:noFill/>
        </p:spPr>
        <p:txBody>
          <a:bodyPr wrap="none" lIns="0" rIns="0" tIns="0" bIns="0" anchor="t">
            <a:spAutoFit/>
          </a:bodyPr>
          <a:lstStyle/>
          <a:p>
            <a:pPr algn="l"/>
            <a:r>
              <a:rPr b="1" sz="1050" i="0" u="none">
                <a:solidFill>
                  <a:srgbClr val="1E40AF"/>
                </a:solidFill>
                <a:latin typeface="Plus Jakarta Sans"/>
              </a:rPr>
              <a:t>SIMPLEST DISCRIMINANT FUNCTION</a:t>
            </a:r>
          </a:p>
        </p:txBody>
      </p:sp>
      <p:sp>
        <p:nvSpPr>
          <p:cNvPr id="20" name="TextBox 19"/>
          <p:cNvSpPr txBox="1"/>
          <p:nvPr/>
        </p:nvSpPr>
        <p:spPr>
          <a:xfrm>
            <a:off x="857250" y="4378523"/>
            <a:ext cx="5116264" cy="318045"/>
          </a:xfrm>
          <a:prstGeom prst="rect">
            <a:avLst/>
          </a:prstGeom>
          <a:noFill/>
        </p:spPr>
        <p:txBody>
          <a:bodyPr wrap="square" lIns="0" rIns="0" tIns="0" bIns="0" anchor="t">
            <a:spAutoFit/>
          </a:bodyPr>
          <a:lstStyle/>
          <a:p>
            <a:pPr algn="l"/>
            <a:r>
              <a:rPr b="1" sz="1650" i="0" u="none">
                <a:solidFill>
                  <a:srgbClr val="1D4ED8"/>
                </a:solidFill>
                <a:latin typeface="Fira Code"/>
              </a:rPr>
              <a:t>g</a:t>
            </a:r>
            <a:r>
              <a:rPr b="1" sz="1374" i="0" u="none">
                <a:solidFill>
                  <a:srgbClr val="1D4ED8"/>
                </a:solidFill>
                <a:latin typeface="Fira Code"/>
              </a:rPr>
              <a:t>i</a:t>
            </a:r>
            <a:r>
              <a:rPr b="1" sz="1650" i="0" u="none">
                <a:solidFill>
                  <a:srgbClr val="1D4ED8"/>
                </a:solidFill>
                <a:latin typeface="Fira Code"/>
              </a:rPr>
              <a:t>(x) = P(C</a:t>
            </a:r>
            <a:r>
              <a:rPr b="1" sz="1374" i="0" u="none">
                <a:solidFill>
                  <a:srgbClr val="1D4ED8"/>
                </a:solidFill>
                <a:latin typeface="Fira Code"/>
              </a:rPr>
              <a:t>i</a:t>
            </a:r>
            <a:r>
              <a:rPr b="1" sz="1650" i="0" u="none">
                <a:solidFill>
                  <a:srgbClr val="1D4ED8"/>
                </a:solidFill>
                <a:latin typeface="Fira Code"/>
              </a:rPr>
              <a:t> | x)</a:t>
            </a:r>
          </a:p>
        </p:txBody>
      </p:sp>
      <p:sp>
        <p:nvSpPr>
          <p:cNvPr id="21" name="TextBox 20"/>
          <p:cNvSpPr txBox="1"/>
          <p:nvPr/>
        </p:nvSpPr>
        <p:spPr>
          <a:xfrm>
            <a:off x="6189185" y="4505920"/>
            <a:ext cx="5749044" cy="219075"/>
          </a:xfrm>
          <a:prstGeom prst="rect">
            <a:avLst/>
          </a:prstGeom>
          <a:noFill/>
        </p:spPr>
        <p:txBody>
          <a:bodyPr wrap="none" lIns="0" rIns="0" tIns="0" bIns="0" anchor="t">
            <a:spAutoFit/>
          </a:bodyPr>
          <a:lstStyle/>
          <a:p>
            <a:pPr algn="ctr"/>
            <a:r>
              <a:rPr b="1" sz="1350" i="0" u="none">
                <a:solidFill>
                  <a:srgbClr val="1E293B"/>
                </a:solidFill>
                <a:latin typeface="Plus Jakarta Sans"/>
              </a:rPr>
              <a:t>Choose Cat because 0.80 &gt; 0.20</a:t>
            </a:r>
          </a:p>
        </p:txBody>
      </p:sp>
      <p:sp>
        <p:nvSpPr>
          <p:cNvPr id="22" name="TextBox 21"/>
          <p:cNvSpPr txBox="1"/>
          <p:nvPr/>
        </p:nvSpPr>
        <p:spPr>
          <a:xfrm>
            <a:off x="857250" y="2685157"/>
            <a:ext cx="6276268" cy="219075"/>
          </a:xfrm>
          <a:prstGeom prst="rect">
            <a:avLst/>
          </a:prstGeom>
          <a:noFill/>
        </p:spPr>
        <p:txBody>
          <a:bodyPr wrap="none" lIns="0" rIns="0" tIns="0" bIns="0" anchor="t">
            <a:spAutoFit/>
          </a:bodyPr>
          <a:lstStyle/>
          <a:p>
            <a:pPr algn="l"/>
            <a:r>
              <a:rPr b="1" sz="1350" i="0" u="none">
                <a:solidFill>
                  <a:srgbClr val="059669"/>
                </a:solidFill>
                <a:latin typeface="Plus Jakarta Sans"/>
              </a:rPr>
              <a:t>• Correct Decision: Loss = 0 (No penalty)</a:t>
            </a:r>
          </a:p>
        </p:txBody>
      </p:sp>
      <p:sp>
        <p:nvSpPr>
          <p:cNvPr id="23" name="TextBox 22"/>
          <p:cNvSpPr txBox="1"/>
          <p:nvPr/>
        </p:nvSpPr>
        <p:spPr>
          <a:xfrm>
            <a:off x="857250" y="2942332"/>
            <a:ext cx="6276268" cy="219075"/>
          </a:xfrm>
          <a:prstGeom prst="rect">
            <a:avLst/>
          </a:prstGeom>
          <a:noFill/>
        </p:spPr>
        <p:txBody>
          <a:bodyPr wrap="none" lIns="0" rIns="0" tIns="0" bIns="0" anchor="t">
            <a:spAutoFit/>
          </a:bodyPr>
          <a:lstStyle/>
          <a:p>
            <a:pPr algn="l"/>
            <a:r>
              <a:rPr b="1" sz="1350" i="0" u="none">
                <a:solidFill>
                  <a:srgbClr val="DC2626"/>
                </a:solidFill>
                <a:latin typeface="Plus Jakarta Sans"/>
              </a:rPr>
              <a:t>• Wrong Decision: Loss = 1 (Equal penalty for any mistake)</a:t>
            </a:r>
          </a:p>
        </p:txBody>
      </p:sp>
      <p:sp>
        <p:nvSpPr>
          <p:cNvPr id="24" name="TextBox 23"/>
          <p:cNvSpPr txBox="1"/>
          <p:nvPr/>
        </p:nvSpPr>
        <p:spPr>
          <a:xfrm>
            <a:off x="6792664" y="3360836"/>
            <a:ext cx="1047750" cy="219075"/>
          </a:xfrm>
          <a:prstGeom prst="rect">
            <a:avLst/>
          </a:prstGeom>
          <a:noFill/>
        </p:spPr>
        <p:txBody>
          <a:bodyPr wrap="none" lIns="0" rIns="0" tIns="0" bIns="0" anchor="t">
            <a:spAutoFit/>
          </a:bodyPr>
          <a:lstStyle/>
          <a:p>
            <a:pPr algn="l"/>
            <a:r>
              <a:rPr b="1" sz="1350" i="0" u="none">
                <a:solidFill>
                  <a:srgbClr val="065F46"/>
                </a:solidFill>
                <a:latin typeface="Plus Jakarta Sans"/>
              </a:rPr>
              <a:t>P(Cat | x)</a:t>
            </a:r>
          </a:p>
        </p:txBody>
      </p:sp>
      <p:sp>
        <p:nvSpPr>
          <p:cNvPr id="25" name="TextBox 24"/>
          <p:cNvSpPr txBox="1"/>
          <p:nvPr/>
        </p:nvSpPr>
        <p:spPr>
          <a:xfrm>
            <a:off x="10877550" y="3346549"/>
            <a:ext cx="742950" cy="247650"/>
          </a:xfrm>
          <a:prstGeom prst="rect">
            <a:avLst/>
          </a:prstGeom>
          <a:noFill/>
        </p:spPr>
        <p:txBody>
          <a:bodyPr wrap="none" lIns="0" rIns="0" tIns="0" bIns="0" anchor="t">
            <a:spAutoFit/>
          </a:bodyPr>
          <a:lstStyle/>
          <a:p>
            <a:pPr algn="l"/>
            <a:r>
              <a:rPr b="1" sz="1500" i="0" u="none">
                <a:solidFill>
                  <a:srgbClr val="047857"/>
                </a:solidFill>
                <a:latin typeface="Fira Code"/>
              </a:rPr>
              <a:t>0.80</a:t>
            </a:r>
          </a:p>
        </p:txBody>
      </p:sp>
      <p:sp>
        <p:nvSpPr>
          <p:cNvPr id="26" name="TextBox 25"/>
          <p:cNvSpPr txBox="1"/>
          <p:nvPr/>
        </p:nvSpPr>
        <p:spPr>
          <a:xfrm>
            <a:off x="6792664" y="3932336"/>
            <a:ext cx="1085850" cy="219075"/>
          </a:xfrm>
          <a:prstGeom prst="rect">
            <a:avLst/>
          </a:prstGeom>
          <a:noFill/>
        </p:spPr>
        <p:txBody>
          <a:bodyPr wrap="none" lIns="0" rIns="0" tIns="0" bIns="0" anchor="t">
            <a:spAutoFit/>
          </a:bodyPr>
          <a:lstStyle/>
          <a:p>
            <a:pPr algn="l"/>
            <a:r>
              <a:rPr b="1" sz="1350" i="0" u="none">
                <a:solidFill>
                  <a:srgbClr val="991B1B"/>
                </a:solidFill>
                <a:latin typeface="Plus Jakarta Sans"/>
              </a:rPr>
              <a:t>P(Dog | x)</a:t>
            </a:r>
          </a:p>
        </p:txBody>
      </p:sp>
      <p:sp>
        <p:nvSpPr>
          <p:cNvPr id="27" name="TextBox 26"/>
          <p:cNvSpPr txBox="1"/>
          <p:nvPr/>
        </p:nvSpPr>
        <p:spPr>
          <a:xfrm>
            <a:off x="10877550" y="3918049"/>
            <a:ext cx="742950" cy="247650"/>
          </a:xfrm>
          <a:prstGeom prst="rect">
            <a:avLst/>
          </a:prstGeom>
          <a:noFill/>
        </p:spPr>
        <p:txBody>
          <a:bodyPr wrap="none" lIns="0" rIns="0" tIns="0" bIns="0" anchor="t">
            <a:spAutoFit/>
          </a:bodyPr>
          <a:lstStyle/>
          <a:p>
            <a:pPr algn="l"/>
            <a:r>
              <a:rPr b="1" sz="1500" i="0" u="none">
                <a:solidFill>
                  <a:srgbClr val="B91C1C"/>
                </a:solidFill>
                <a:latin typeface="Fira Code"/>
              </a:rPr>
              <a:t>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915566"/>
            <a:ext cx="5065662" cy="3236416"/>
          </a:xfrm>
          <a:prstGeom prst="roundRect">
            <a:avLst>
              <a:gd name="adj" fmla="val 353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808612" y="1915566"/>
            <a:ext cx="5869037" cy="3236416"/>
          </a:xfrm>
          <a:prstGeom prst="roundRect">
            <a:avLst>
              <a:gd name="adj" fmla="val 353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3425" y="2429916"/>
            <a:ext cx="4627512" cy="992385"/>
          </a:xfrm>
          <a:prstGeom prst="roundRect">
            <a:avLst>
              <a:gd name="adj" fmla="val 5758"/>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3425" y="2429916"/>
            <a:ext cx="38100" cy="99238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3425" y="3536602"/>
            <a:ext cx="4627512" cy="958155"/>
          </a:xfrm>
          <a:prstGeom prst="roundRect">
            <a:avLst>
              <a:gd name="adj" fmla="val 5964"/>
            </a:avLst>
          </a:prstGeom>
          <a:solidFill>
            <a:srgbClr val="FA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3425" y="3536602"/>
            <a:ext cx="38100" cy="95815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008637" y="2429767"/>
            <a:ext cx="5468987" cy="2000250"/>
          </a:xfrm>
          <a:prstGeom prst="rect">
            <a:avLst/>
          </a:prstGeom>
        </p:spPr>
      </p:pic>
      <p:sp>
        <p:nvSpPr>
          <p:cNvPr id="11" name="TextBox 10"/>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Decision Regions &amp; Decision Boundary</a:t>
            </a:r>
          </a:p>
        </p:txBody>
      </p:sp>
      <p:sp>
        <p:nvSpPr>
          <p:cNvPr id="12" name="TextBox 11"/>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Draw a line on the board dividing the classroom: "Everyone on the left side is Class A; everyone on the right is Class B. The line in the middle where both scores tie is the Decision Boundary."</a:t>
            </a:r>
          </a:p>
        </p:txBody>
      </p:sp>
      <p:sp>
        <p:nvSpPr>
          <p:cNvPr id="13" name="TextBox 12"/>
          <p:cNvSpPr txBox="1"/>
          <p:nvPr/>
        </p:nvSpPr>
        <p:spPr>
          <a:xfrm>
            <a:off x="514350" y="342900"/>
            <a:ext cx="2678906" cy="171450"/>
          </a:xfrm>
          <a:prstGeom prst="rect">
            <a:avLst/>
          </a:prstGeom>
          <a:noFill/>
        </p:spPr>
        <p:txBody>
          <a:bodyPr wrap="none" lIns="0" rIns="0" tIns="0" bIns="0" anchor="t">
            <a:spAutoFit/>
          </a:bodyPr>
          <a:lstStyle/>
          <a:p>
            <a:pPr algn="l"/>
            <a:r>
              <a:rPr b="1" sz="1050" i="0" u="none">
                <a:solidFill>
                  <a:srgbClr val="2563EB"/>
                </a:solidFill>
                <a:latin typeface="Plus Jakarta Sans"/>
              </a:rPr>
              <a:t>GEOMETRIC INTERPRETATION</a:t>
            </a:r>
          </a:p>
        </p:txBody>
      </p:sp>
      <p:sp>
        <p:nvSpPr>
          <p:cNvPr id="14" name="TextBox 13"/>
          <p:cNvSpPr txBox="1"/>
          <p:nvPr/>
        </p:nvSpPr>
        <p:spPr>
          <a:xfrm>
            <a:off x="10239375" y="342900"/>
            <a:ext cx="1797843" cy="171450"/>
          </a:xfrm>
          <a:prstGeom prst="rect">
            <a:avLst/>
          </a:prstGeom>
          <a:noFill/>
        </p:spPr>
        <p:txBody>
          <a:bodyPr wrap="none" lIns="0" rIns="0" tIns="0" bIns="0" anchor="t">
            <a:spAutoFit/>
          </a:bodyPr>
          <a:lstStyle/>
          <a:p>
            <a:pPr algn="l"/>
            <a:r>
              <a:rPr b="1" sz="1050" i="0" u="none">
                <a:solidFill>
                  <a:srgbClr val="64748B"/>
                </a:solidFill>
                <a:latin typeface="Plus Jakarta Sans"/>
              </a:rPr>
              <a:t>Feature Space Division</a:t>
            </a:r>
          </a:p>
        </p:txBody>
      </p:sp>
      <p:sp>
        <p:nvSpPr>
          <p:cNvPr id="15" name="TextBox 14"/>
          <p:cNvSpPr txBox="1"/>
          <p:nvPr/>
        </p:nvSpPr>
        <p:spPr>
          <a:xfrm>
            <a:off x="733425" y="4494758"/>
            <a:ext cx="4722762" cy="438150"/>
          </a:xfrm>
          <a:prstGeom prst="rect">
            <a:avLst/>
          </a:prstGeom>
          <a:noFill/>
        </p:spPr>
        <p:txBody>
          <a:bodyPr wrap="square" lIns="0" rIns="0" tIns="0" bIns="0" anchor="t">
            <a:spAutoFit/>
          </a:bodyPr>
          <a:lstStyle/>
          <a:p>
            <a:pPr algn="l"/>
            <a:r>
              <a:rPr b="0" sz="1350" i="0" u="none">
                <a:solidFill>
                  <a:srgbClr val="475569"/>
                </a:solidFill>
                <a:latin typeface="Plus Jakarta Sans"/>
              </a:rPr>
              <a:t>On the boundary, the classifier is equally undecided between classes.</a:t>
            </a:r>
          </a:p>
        </p:txBody>
      </p:sp>
      <p:sp>
        <p:nvSpPr>
          <p:cNvPr id="16" name="TextBox 15"/>
          <p:cNvSpPr txBox="1"/>
          <p:nvPr/>
        </p:nvSpPr>
        <p:spPr>
          <a:xfrm>
            <a:off x="733425" y="2134641"/>
            <a:ext cx="6073610" cy="219075"/>
          </a:xfrm>
          <a:prstGeom prst="rect">
            <a:avLst/>
          </a:prstGeom>
          <a:noFill/>
        </p:spPr>
        <p:txBody>
          <a:bodyPr wrap="none" lIns="0" rIns="0" tIns="0" bIns="0" anchor="t">
            <a:spAutoFit/>
          </a:bodyPr>
          <a:lstStyle/>
          <a:p>
            <a:pPr algn="l"/>
            <a:r>
              <a:rPr b="1" sz="1350" i="0" u="none">
                <a:solidFill>
                  <a:srgbClr val="0F172A"/>
                </a:solidFill>
                <a:latin typeface="Plus Jakarta Sans"/>
              </a:rPr>
              <a:t>Two Key Definitions</a:t>
            </a:r>
          </a:p>
        </p:txBody>
      </p:sp>
      <p:sp>
        <p:nvSpPr>
          <p:cNvPr id="17" name="TextBox 16"/>
          <p:cNvSpPr txBox="1"/>
          <p:nvPr/>
        </p:nvSpPr>
        <p:spPr>
          <a:xfrm>
            <a:off x="847725" y="2544216"/>
            <a:ext cx="4494162" cy="763785"/>
          </a:xfrm>
          <a:prstGeom prst="rect">
            <a:avLst/>
          </a:prstGeom>
          <a:noFill/>
        </p:spPr>
        <p:txBody>
          <a:bodyPr wrap="square" lIns="0" rIns="0" tIns="0" bIns="0" anchor="t">
            <a:spAutoFit/>
          </a:bodyPr>
          <a:lstStyle/>
          <a:p>
            <a:pPr algn="l"/>
            <a:r>
              <a:rPr b="1" sz="1350" i="0" u="none">
                <a:solidFill>
                  <a:srgbClr val="1E40AF"/>
                </a:solidFill>
                <a:latin typeface="Plus Jakarta Sans"/>
              </a:rPr>
              <a:t>Decision Region (R</a:t>
            </a:r>
            <a:r>
              <a:rPr b="1" sz="1125" i="0" u="none">
                <a:solidFill>
                  <a:srgbClr val="1E40AF"/>
                </a:solidFill>
                <a:latin typeface="Plus Jakarta Sans"/>
              </a:rPr>
              <a:t>i</a:t>
            </a:r>
            <a:r>
              <a:rPr b="1" sz="1350" i="0" u="none">
                <a:solidFill>
                  <a:srgbClr val="1E40AF"/>
                </a:solidFill>
                <a:latin typeface="Plus Jakarta Sans"/>
              </a:rPr>
              <a:t>):</a:t>
            </a:r>
          </a:p>
        </p:txBody>
      </p:sp>
      <p:sp>
        <p:nvSpPr>
          <p:cNvPr id="18" name="TextBox 17"/>
          <p:cNvSpPr txBox="1"/>
          <p:nvPr/>
        </p:nvSpPr>
        <p:spPr>
          <a:xfrm>
            <a:off x="847725" y="3650902"/>
            <a:ext cx="4494162" cy="729555"/>
          </a:xfrm>
          <a:prstGeom prst="rect">
            <a:avLst/>
          </a:prstGeom>
          <a:noFill/>
        </p:spPr>
        <p:txBody>
          <a:bodyPr wrap="square" lIns="0" rIns="0" tIns="0" bIns="0" anchor="t">
            <a:spAutoFit/>
          </a:bodyPr>
          <a:lstStyle/>
          <a:p>
            <a:pPr algn="l"/>
            <a:r>
              <a:rPr b="1" sz="1350" i="0" u="none">
                <a:solidFill>
                  <a:srgbClr val="6B21A8"/>
                </a:solidFill>
                <a:latin typeface="Plus Jakarta Sans"/>
              </a:rPr>
              <a:t>Decision Boundary:</a:t>
            </a:r>
          </a:p>
        </p:txBody>
      </p:sp>
      <p:sp>
        <p:nvSpPr>
          <p:cNvPr id="19" name="TextBox 18"/>
          <p:cNvSpPr txBox="1"/>
          <p:nvPr/>
        </p:nvSpPr>
        <p:spPr>
          <a:xfrm>
            <a:off x="6199137" y="4430017"/>
            <a:ext cx="1285875" cy="207615"/>
          </a:xfrm>
          <a:prstGeom prst="rect">
            <a:avLst/>
          </a:prstGeom>
          <a:noFill/>
        </p:spPr>
        <p:txBody>
          <a:bodyPr wrap="square" lIns="0" rIns="0" tIns="0" bIns="0" anchor="t">
            <a:spAutoFit/>
          </a:bodyPr>
          <a:lstStyle/>
          <a:p>
            <a:pPr algn="l"/>
            <a:r>
              <a:rPr b="1" sz="1050" i="0" u="none">
                <a:solidFill>
                  <a:srgbClr val="1D4ED8"/>
                </a:solidFill>
                <a:latin typeface="Plus Jakarta Sans"/>
              </a:rPr>
              <a:t>Region R</a:t>
            </a:r>
            <a:r>
              <a:rPr b="1" sz="875" i="0" u="none">
                <a:solidFill>
                  <a:srgbClr val="1D4ED8"/>
                </a:solidFill>
                <a:latin typeface="Plus Jakarta Sans"/>
              </a:rPr>
              <a:t>1</a:t>
            </a:r>
            <a:r>
              <a:rPr b="1" sz="1050" i="0" u="none">
                <a:solidFill>
                  <a:srgbClr val="1D4ED8"/>
                </a:solidFill>
                <a:latin typeface="Plus Jakarta Sans"/>
              </a:rPr>
              <a:t> (Class A)</a:t>
            </a:r>
          </a:p>
        </p:txBody>
      </p:sp>
      <p:sp>
        <p:nvSpPr>
          <p:cNvPr id="20" name="TextBox 19"/>
          <p:cNvSpPr txBox="1"/>
          <p:nvPr/>
        </p:nvSpPr>
        <p:spPr>
          <a:xfrm>
            <a:off x="8014394" y="4430017"/>
            <a:ext cx="1533525" cy="207615"/>
          </a:xfrm>
          <a:prstGeom prst="rect">
            <a:avLst/>
          </a:prstGeom>
          <a:noFill/>
        </p:spPr>
        <p:txBody>
          <a:bodyPr wrap="square" lIns="0" rIns="0" tIns="0" bIns="0" anchor="t">
            <a:spAutoFit/>
          </a:bodyPr>
          <a:lstStyle/>
          <a:p>
            <a:pPr algn="l"/>
            <a:r>
              <a:rPr b="1" sz="1050" i="0" u="none">
                <a:solidFill>
                  <a:srgbClr val="DC2626"/>
                </a:solidFill>
                <a:latin typeface="Plus Jakarta Sans"/>
              </a:rPr>
              <a:t>Boundary: g</a:t>
            </a:r>
            <a:r>
              <a:rPr b="1" sz="875" i="0" u="none">
                <a:solidFill>
                  <a:srgbClr val="DC2626"/>
                </a:solidFill>
                <a:latin typeface="Plus Jakarta Sans"/>
              </a:rPr>
              <a:t>1</a:t>
            </a:r>
            <a:r>
              <a:rPr b="1" sz="1050" i="0" u="none">
                <a:solidFill>
                  <a:srgbClr val="DC2626"/>
                </a:solidFill>
                <a:latin typeface="Plus Jakarta Sans"/>
              </a:rPr>
              <a:t>(x) = g</a:t>
            </a:r>
            <a:r>
              <a:rPr b="1" sz="875" i="0" u="none">
                <a:solidFill>
                  <a:srgbClr val="DC2626"/>
                </a:solidFill>
                <a:latin typeface="Plus Jakarta Sans"/>
              </a:rPr>
              <a:t>2</a:t>
            </a:r>
            <a:r>
              <a:rPr b="1" sz="1050" i="0" u="none">
                <a:solidFill>
                  <a:srgbClr val="DC2626"/>
                </a:solidFill>
                <a:latin typeface="Plus Jakarta Sans"/>
              </a:rPr>
              <a:t>(x)</a:t>
            </a:r>
          </a:p>
        </p:txBody>
      </p:sp>
      <p:sp>
        <p:nvSpPr>
          <p:cNvPr id="21" name="TextBox 20"/>
          <p:cNvSpPr txBox="1"/>
          <p:nvPr/>
        </p:nvSpPr>
        <p:spPr>
          <a:xfrm>
            <a:off x="10077301" y="4430017"/>
            <a:ext cx="1304925" cy="207615"/>
          </a:xfrm>
          <a:prstGeom prst="rect">
            <a:avLst/>
          </a:prstGeom>
          <a:noFill/>
        </p:spPr>
        <p:txBody>
          <a:bodyPr wrap="square" lIns="0" rIns="0" tIns="0" bIns="0" anchor="t">
            <a:spAutoFit/>
          </a:bodyPr>
          <a:lstStyle/>
          <a:p>
            <a:pPr algn="l"/>
            <a:r>
              <a:rPr b="1" sz="1050" i="0" u="none">
                <a:solidFill>
                  <a:srgbClr val="15803D"/>
                </a:solidFill>
                <a:latin typeface="Plus Jakarta Sans"/>
              </a:rPr>
              <a:t>Region R</a:t>
            </a:r>
            <a:r>
              <a:rPr b="1" sz="875" i="0" u="none">
                <a:solidFill>
                  <a:srgbClr val="15803D"/>
                </a:solidFill>
                <a:latin typeface="Plus Jakarta Sans"/>
              </a:rPr>
              <a:t>2</a:t>
            </a:r>
            <a:r>
              <a:rPr b="1" sz="1050" i="0" u="none">
                <a:solidFill>
                  <a:srgbClr val="15803D"/>
                </a:solidFill>
                <a:latin typeface="Plus Jakarta Sans"/>
              </a:rPr>
              <a:t> (Class B)</a:t>
            </a:r>
          </a:p>
        </p:txBody>
      </p:sp>
      <p:sp>
        <p:nvSpPr>
          <p:cNvPr id="22" name="TextBox 21"/>
          <p:cNvSpPr txBox="1"/>
          <p:nvPr/>
        </p:nvSpPr>
        <p:spPr>
          <a:xfrm>
            <a:off x="885825" y="2835622"/>
            <a:ext cx="4456062" cy="472380"/>
          </a:xfrm>
          <a:prstGeom prst="rect">
            <a:avLst/>
          </a:prstGeom>
          <a:noFill/>
        </p:spPr>
        <p:txBody>
          <a:bodyPr wrap="square" lIns="0" rIns="0" tIns="0" bIns="0" anchor="t">
            <a:spAutoFit/>
          </a:bodyPr>
          <a:lstStyle/>
          <a:p>
            <a:pPr algn="l"/>
            <a:r>
              <a:rPr b="0" sz="1350" i="0" u="none">
                <a:solidFill>
                  <a:srgbClr val="334155"/>
                </a:solidFill>
                <a:latin typeface="Plus Jakarta Sans"/>
              </a:rPr>
              <a:t>The entire area in feature space where class C</a:t>
            </a:r>
            <a:r>
              <a:rPr b="0" sz="1125" i="0" u="none">
                <a:solidFill>
                  <a:srgbClr val="334155"/>
                </a:solidFill>
                <a:latin typeface="Plus Jakarta Sans"/>
              </a:rPr>
              <a:t>i</a:t>
            </a:r>
            <a:r>
              <a:rPr b="0" sz="1350" i="0" u="none">
                <a:solidFill>
                  <a:srgbClr val="334155"/>
                </a:solidFill>
                <a:latin typeface="Plus Jakarta Sans"/>
              </a:rPr>
              <a:t> has the highest score.</a:t>
            </a:r>
          </a:p>
        </p:txBody>
      </p:sp>
      <p:sp>
        <p:nvSpPr>
          <p:cNvPr id="23" name="TextBox 22"/>
          <p:cNvSpPr txBox="1"/>
          <p:nvPr/>
        </p:nvSpPr>
        <p:spPr>
          <a:xfrm>
            <a:off x="885825" y="3908077"/>
            <a:ext cx="4456062" cy="472380"/>
          </a:xfrm>
          <a:prstGeom prst="rect">
            <a:avLst/>
          </a:prstGeom>
          <a:noFill/>
        </p:spPr>
        <p:txBody>
          <a:bodyPr wrap="square" lIns="0" rIns="0" tIns="0" bIns="0" anchor="t">
            <a:spAutoFit/>
          </a:bodyPr>
          <a:lstStyle/>
          <a:p>
            <a:pPr algn="l"/>
            <a:r>
              <a:rPr b="0" sz="1350" i="0" u="none">
                <a:solidFill>
                  <a:srgbClr val="334155"/>
                </a:solidFill>
                <a:latin typeface="Plus Jakarta Sans"/>
              </a:rPr>
              <a:t>The line or surface where two classes have equal scores: g</a:t>
            </a:r>
            <a:r>
              <a:rPr b="0" sz="1125" i="0" u="none">
                <a:solidFill>
                  <a:srgbClr val="334155"/>
                </a:solidFill>
                <a:latin typeface="Plus Jakarta Sans"/>
              </a:rPr>
              <a:t>1</a:t>
            </a:r>
            <a:r>
              <a:rPr b="0" sz="1350" i="0" u="none">
                <a:solidFill>
                  <a:srgbClr val="334155"/>
                </a:solidFill>
                <a:latin typeface="Plus Jakarta Sans"/>
              </a:rPr>
              <a:t>(x) = g</a:t>
            </a:r>
            <a:r>
              <a:rPr b="0" sz="1125" i="0" u="none">
                <a:solidFill>
                  <a:srgbClr val="334155"/>
                </a:solidFill>
                <a:latin typeface="Plus Jakarta Sans"/>
              </a:rPr>
              <a:t>2</a:t>
            </a:r>
            <a:r>
              <a:rPr b="0" sz="1350" i="0" u="none">
                <a:solidFill>
                  <a:srgbClr val="334155"/>
                </a:solidFill>
                <a:latin typeface="Plus Jakarta Sans"/>
              </a:rPr>
              <a:t>(x).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1743670"/>
            <a:ext cx="11163300" cy="2655391"/>
          </a:xfrm>
          <a:prstGeom prst="roundRect">
            <a:avLst>
              <a:gd name="adj" fmla="val 358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037832"/>
            <a:ext cx="11163300" cy="476250"/>
          </a:xfrm>
          <a:prstGeom prst="roundRect">
            <a:avLst>
              <a:gd name="adj" fmla="val 16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6152852"/>
            <a:ext cx="11163300" cy="361950"/>
          </a:xfrm>
          <a:prstGeom prst="roundRect">
            <a:avLst>
              <a:gd name="adj" fmla="val 15789"/>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6152852"/>
            <a:ext cx="38100" cy="361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23875" y="1753195"/>
          <a:ext cx="11144248" cy="2636341"/>
        </p:xfrm>
        <a:graphic>
          <a:graphicData uri="http://schemas.openxmlformats.org/drawingml/2006/table">
            <a:tbl>
              <a:tblPr firstRow="0" bandRow="0">
                <a:lnL>
                  <a:noFill/>
                </a:lnL>
                <a:lnR>
                  <a:noFill/>
                </a:lnR>
                <a:lnT>
                  <a:noFill/>
                </a:lnT>
                <a:lnB>
                  <a:noFill/>
                </a:lnB>
                <a:lnV>
                  <a:noFill/>
                </a:lnV>
                <a:lnH>
                  <a:noFill/>
                </a:lnH>
              </a:tblPr>
              <a:tblGrid>
                <a:gridCol w="3120330"/>
                <a:gridCol w="4680495"/>
                <a:gridCol w="3343423"/>
              </a:tblGrid>
              <a:tr h="527268">
                <a:tc>
                  <a:txBody>
                    <a:bodyPr/>
                    <a:lstStyle/>
                    <a:p>
                      <a:pPr algn="l"/>
                      <a:r>
                        <a:rPr b="1" sz="1350" i="0" u="none">
                          <a:solidFill>
                            <a:srgbClr val="0F172A"/>
                          </a:solidFill>
                          <a:latin typeface="Plus Jakarta Sans"/>
                        </a:rPr>
                        <a:t>Concept</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0F172A"/>
                          </a:solidFill>
                          <a:latin typeface="Plus Jakarta Sans"/>
                        </a:rPr>
                        <a:t>Meaning &amp; Plain-English Interpretation</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0F172A"/>
                          </a:solidFill>
                          <a:latin typeface="Plus Jakarta Sans"/>
                        </a:rPr>
                        <a:t>Key Formula</a:t>
                      </a:r>
                    </a:p>
                  </a:txBody>
                  <a:tcPr anchor="ctr" marL="63500" marR="63500" marT="25400" marB="25400">
                    <a:lnL>
                      <a:noFill/>
                    </a:lnL>
                    <a:lnR>
                      <a:noFill/>
                    </a:lnR>
                    <a:lnT>
                      <a:noFill/>
                    </a:lnT>
                    <a:lnB>
                      <a:noFill/>
                    </a:lnB>
                    <a:solidFill>
                      <a:srgbClr val="F1F5F9"/>
                    </a:solidFill>
                  </a:tcPr>
                </a:tc>
              </a:tr>
              <a:tr h="527268">
                <a:tc>
                  <a:txBody>
                    <a:bodyPr/>
                    <a:lstStyle/>
                    <a:p>
                      <a:pPr algn="l"/>
                      <a:r>
                        <a:rPr b="1" sz="1350" i="0" u="none">
                          <a:solidFill>
                            <a:srgbClr val="2563EB"/>
                          </a:solidFill>
                          <a:latin typeface="Plus Jakarta Sans"/>
                        </a:rPr>
                        <a:t>Discriminant Function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334155"/>
                          </a:solidFill>
                          <a:latin typeface="Plus Jakarta Sans"/>
                        </a:rPr>
                        <a:t>Assigns a numerical score to a given class for input x</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F172A"/>
                          </a:solidFill>
                          <a:latin typeface="Fira Code"/>
                        </a:rPr>
                        <a:t>g</a:t>
                      </a:r>
                      <a:r>
                        <a:rPr b="0" sz="1350" i="0" u="none">
                          <a:solidFill>
                            <a:srgbClr val="0F172A"/>
                          </a:solidFill>
                          <a:latin typeface="Fira Code"/>
                        </a:rPr>
                        <a:t>i</a:t>
                      </a:r>
                      <a:r>
                        <a:rPr b="0" sz="1350" i="0" u="none">
                          <a:solidFill>
                            <a:srgbClr val="0F172A"/>
                          </a:solidFill>
                          <a:latin typeface="Fira Code"/>
                        </a:rPr>
                        <a:t>(x)</a:t>
                      </a:r>
                    </a:p>
                  </a:txBody>
                  <a:tcPr anchor="ctr" marL="63500" marR="63500" marT="25400" marB="25400">
                    <a:lnL>
                      <a:noFill/>
                    </a:lnL>
                    <a:lnR>
                      <a:noFill/>
                    </a:lnR>
                    <a:lnT>
                      <a:noFill/>
                    </a:lnT>
                    <a:lnB>
                      <a:noFill/>
                    </a:lnB>
                    <a:solidFill>
                      <a:srgbClr val="FFFFFF"/>
                    </a:solidFill>
                  </a:tcPr>
                </a:tc>
              </a:tr>
              <a:tr h="527268">
                <a:tc>
                  <a:txBody>
                    <a:bodyPr/>
                    <a:lstStyle/>
                    <a:p>
                      <a:pPr algn="l"/>
                      <a:r>
                        <a:rPr b="1" sz="1350" i="0" u="none">
                          <a:solidFill>
                            <a:srgbClr val="2563EB"/>
                          </a:solidFill>
                          <a:latin typeface="Plus Jakarta Sans"/>
                        </a:rPr>
                        <a:t>Decision Rule</a:t>
                      </a:r>
                    </a:p>
                  </a:txBody>
                  <a:tcPr anchor="ctr" marL="63500" marR="63500" marT="25400" marB="25400">
                    <a:lnL>
                      <a:noFill/>
                    </a:lnL>
                    <a:lnR>
                      <a:noFill/>
                    </a:lnR>
                    <a:lnT>
                      <a:noFill/>
                    </a:lnT>
                    <a:lnB>
                      <a:noFill/>
                    </a:lnB>
                    <a:solidFill>
                      <a:srgbClr val="FAFAFA"/>
                    </a:solidFill>
                  </a:tcPr>
                </a:tc>
                <a:tc>
                  <a:txBody>
                    <a:bodyPr/>
                    <a:lstStyle/>
                    <a:p>
                      <a:pPr algn="l"/>
                      <a:r>
                        <a:rPr b="0" sz="1350" i="0" u="none">
                          <a:solidFill>
                            <a:srgbClr val="334155"/>
                          </a:solidFill>
                          <a:latin typeface="Plus Jakarta Sans"/>
                        </a:rPr>
                        <a:t>Always pick the class that scored the absolute highest</a:t>
                      </a:r>
                    </a:p>
                  </a:txBody>
                  <a:tcPr anchor="ctr" marL="63500" marR="63500" marT="25400" marB="25400">
                    <a:lnL>
                      <a:noFill/>
                    </a:lnL>
                    <a:lnR>
                      <a:noFill/>
                    </a:lnR>
                    <a:lnT>
                      <a:noFill/>
                    </a:lnT>
                    <a:lnB>
                      <a:noFill/>
                    </a:lnB>
                    <a:solidFill>
                      <a:srgbClr val="FAFAFA"/>
                    </a:solidFill>
                  </a:tcPr>
                </a:tc>
                <a:tc>
                  <a:txBody>
                    <a:bodyPr/>
                    <a:lstStyle/>
                    <a:p>
                      <a:pPr algn="l"/>
                      <a:r>
                        <a:rPr b="0" sz="1350" i="0" u="none">
                          <a:solidFill>
                            <a:srgbClr val="0F172A"/>
                          </a:solidFill>
                          <a:latin typeface="Fira Code"/>
                        </a:rPr>
                        <a:t>Choose max</a:t>
                      </a:r>
                      <a:r>
                        <a:rPr b="0" sz="1350" i="0" u="none">
                          <a:solidFill>
                            <a:srgbClr val="0F172A"/>
                          </a:solidFill>
                          <a:latin typeface="Fira Code"/>
                        </a:rPr>
                        <a:t>k</a:t>
                      </a:r>
                      <a:r>
                        <a:rPr b="0" sz="1350" i="0" u="none">
                          <a:solidFill>
                            <a:srgbClr val="0F172A"/>
                          </a:solidFill>
                          <a:latin typeface="Fira Code"/>
                        </a:rPr>
                        <a:t> g</a:t>
                      </a:r>
                      <a:r>
                        <a:rPr b="0" sz="1350" i="0" u="none">
                          <a:solidFill>
                            <a:srgbClr val="0F172A"/>
                          </a:solidFill>
                          <a:latin typeface="Fira Code"/>
                        </a:rPr>
                        <a:t>k</a:t>
                      </a:r>
                      <a:r>
                        <a:rPr b="0" sz="1350" i="0" u="none">
                          <a:solidFill>
                            <a:srgbClr val="0F172A"/>
                          </a:solidFill>
                          <a:latin typeface="Fira Code"/>
                        </a:rPr>
                        <a:t>(x)</a:t>
                      </a:r>
                    </a:p>
                  </a:txBody>
                  <a:tcPr anchor="ctr" marL="63500" marR="63500" marT="25400" marB="25400">
                    <a:lnL>
                      <a:noFill/>
                    </a:lnL>
                    <a:lnR>
                      <a:noFill/>
                    </a:lnR>
                    <a:lnT>
                      <a:noFill/>
                    </a:lnT>
                    <a:lnB>
                      <a:noFill/>
                    </a:lnB>
                    <a:solidFill>
                      <a:srgbClr val="FAFAFA"/>
                    </a:solidFill>
                  </a:tcPr>
                </a:tc>
              </a:tr>
              <a:tr h="527268">
                <a:tc>
                  <a:txBody>
                    <a:bodyPr/>
                    <a:lstStyle/>
                    <a:p>
                      <a:pPr algn="l"/>
                      <a:r>
                        <a:rPr b="1" sz="1350" i="0" u="none">
                          <a:solidFill>
                            <a:srgbClr val="2563EB"/>
                          </a:solidFill>
                          <a:latin typeface="Plus Jakarta Sans"/>
                        </a:rPr>
                        <a:t>Connection to Risk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334155"/>
                          </a:solidFill>
                          <a:latin typeface="Plus Jakarta Sans"/>
                        </a:rPr>
                        <a:t>Maximizing score equals minimizing conditional risk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F172A"/>
                          </a:solidFill>
                          <a:latin typeface="Fira Code"/>
                        </a:rPr>
                        <a:t>g</a:t>
                      </a:r>
                      <a:r>
                        <a:rPr b="0" sz="1350" i="0" u="none">
                          <a:solidFill>
                            <a:srgbClr val="0F172A"/>
                          </a:solidFill>
                          <a:latin typeface="Fira Code"/>
                        </a:rPr>
                        <a:t>i</a:t>
                      </a:r>
                      <a:r>
                        <a:rPr b="0" sz="1350" i="0" u="none">
                          <a:solidFill>
                            <a:srgbClr val="0F172A"/>
                          </a:solidFill>
                          <a:latin typeface="Fira Code"/>
                        </a:rPr>
                        <a:t>(x) = -R(α</a:t>
                      </a:r>
                      <a:r>
                        <a:rPr b="0" sz="1350" i="0" u="none">
                          <a:solidFill>
                            <a:srgbClr val="0F172A"/>
                          </a:solidFill>
                          <a:latin typeface="Fira Code"/>
                        </a:rPr>
                        <a:t>i</a:t>
                      </a:r>
                      <a:r>
                        <a:rPr b="0" sz="1350" i="0" u="none">
                          <a:solidFill>
                            <a:srgbClr val="0F172A"/>
                          </a:solidFill>
                          <a:latin typeface="Fira Code"/>
                        </a:rPr>
                        <a:t>|x)</a:t>
                      </a:r>
                    </a:p>
                  </a:txBody>
                  <a:tcPr anchor="ctr" marL="63500" marR="63500" marT="25400" marB="25400">
                    <a:lnL>
                      <a:noFill/>
                    </a:lnL>
                    <a:lnR>
                      <a:noFill/>
                    </a:lnR>
                    <a:lnT>
                      <a:noFill/>
                    </a:lnT>
                    <a:lnB>
                      <a:noFill/>
                    </a:lnB>
                    <a:solidFill>
                      <a:srgbClr val="FFFFFF"/>
                    </a:solidFill>
                  </a:tcPr>
                </a:tc>
              </a:tr>
              <a:tr h="527269">
                <a:tc>
                  <a:txBody>
                    <a:bodyPr/>
                    <a:lstStyle/>
                    <a:p>
                      <a:pPr algn="l"/>
                      <a:r>
                        <a:rPr b="1" sz="1350" i="0" u="none">
                          <a:solidFill>
                            <a:srgbClr val="2563EB"/>
                          </a:solidFill>
                          <a:latin typeface="Plus Jakarta Sans"/>
                        </a:rPr>
                        <a:t>Under 0–1 Loss</a:t>
                      </a:r>
                    </a:p>
                  </a:txBody>
                  <a:tcPr anchor="ctr" marL="63500" marR="63500" marT="25400" marB="25400">
                    <a:lnL>
                      <a:noFill/>
                    </a:lnL>
                    <a:lnR>
                      <a:noFill/>
                    </a:lnR>
                    <a:lnT>
                      <a:noFill/>
                    </a:lnT>
                    <a:lnB>
                      <a:noFill/>
                    </a:lnB>
                    <a:solidFill>
                      <a:srgbClr val="FAFAFA"/>
                    </a:solidFill>
                  </a:tcPr>
                </a:tc>
                <a:tc>
                  <a:txBody>
                    <a:bodyPr/>
                    <a:lstStyle/>
                    <a:p>
                      <a:pPr algn="l"/>
                      <a:r>
                        <a:rPr b="0" sz="1350" i="0" u="none">
                          <a:solidFill>
                            <a:srgbClr val="334155"/>
                          </a:solidFill>
                          <a:latin typeface="Plus Jakarta Sans"/>
                        </a:rPr>
                        <a:t>Posterior class probability is itself the discriminant</a:t>
                      </a:r>
                    </a:p>
                  </a:txBody>
                  <a:tcPr anchor="ctr" marL="63500" marR="63500" marT="25400" marB="25400">
                    <a:lnL>
                      <a:noFill/>
                    </a:lnL>
                    <a:lnR>
                      <a:noFill/>
                    </a:lnR>
                    <a:lnT>
                      <a:noFill/>
                    </a:lnT>
                    <a:lnB>
                      <a:noFill/>
                    </a:lnB>
                    <a:solidFill>
                      <a:srgbClr val="FAFAFA"/>
                    </a:solidFill>
                  </a:tcPr>
                </a:tc>
                <a:tc>
                  <a:txBody>
                    <a:bodyPr/>
                    <a:lstStyle/>
                    <a:p>
                      <a:pPr algn="l"/>
                      <a:r>
                        <a:rPr b="0" sz="1350" i="0" u="none">
                          <a:solidFill>
                            <a:srgbClr val="0F172A"/>
                          </a:solidFill>
                          <a:latin typeface="Fira Code"/>
                        </a:rPr>
                        <a:t>g</a:t>
                      </a:r>
                      <a:r>
                        <a:rPr b="0" sz="1350" i="0" u="none">
                          <a:solidFill>
                            <a:srgbClr val="0F172A"/>
                          </a:solidFill>
                          <a:latin typeface="Fira Code"/>
                        </a:rPr>
                        <a:t>i</a:t>
                      </a:r>
                      <a:r>
                        <a:rPr b="0" sz="1350" i="0" u="none">
                          <a:solidFill>
                            <a:srgbClr val="0F172A"/>
                          </a:solidFill>
                          <a:latin typeface="Fira Code"/>
                        </a:rPr>
                        <a:t>(x) = P(C</a:t>
                      </a:r>
                      <a:r>
                        <a:rPr b="0" sz="1350" i="0" u="none">
                          <a:solidFill>
                            <a:srgbClr val="0F172A"/>
                          </a:solidFill>
                          <a:latin typeface="Fira Code"/>
                        </a:rPr>
                        <a:t>i</a:t>
                      </a:r>
                      <a:r>
                        <a:rPr b="0" sz="1350" i="0" u="none">
                          <a:solidFill>
                            <a:srgbClr val="0F172A"/>
                          </a:solidFill>
                          <a:latin typeface="Fira Code"/>
                        </a:rPr>
                        <a:t>|x)</a:t>
                      </a:r>
                    </a:p>
                  </a:txBody>
                  <a:tcPr anchor="ctr" marL="63500" marR="63500" marT="25400" marB="25400">
                    <a:lnL>
                      <a:noFill/>
                    </a:lnL>
                    <a:lnR>
                      <a:noFill/>
                    </a:lnR>
                    <a:lnT>
                      <a:noFill/>
                    </a:lnT>
                    <a:lnB>
                      <a:noFill/>
                    </a:lnB>
                    <a:solidFill>
                      <a:srgbClr val="FAFAFA"/>
                    </a:solidFill>
                  </a:tcPr>
                </a:tc>
              </a:tr>
            </a:tbl>
          </a:graphicData>
        </a:graphic>
      </p:graphicFrame>
      <p:sp>
        <p:nvSpPr>
          <p:cNvPr id="7" name="TextBox 6"/>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Discriminant Functions: Quick Recap</a:t>
            </a:r>
          </a:p>
        </p:txBody>
      </p:sp>
      <p:sp>
        <p:nvSpPr>
          <p:cNvPr id="8" name="TextBox 7"/>
          <p:cNvSpPr txBox="1"/>
          <p:nvPr/>
        </p:nvSpPr>
        <p:spPr>
          <a:xfrm>
            <a:off x="-315515" y="5161657"/>
            <a:ext cx="12823031" cy="228600"/>
          </a:xfrm>
          <a:prstGeom prst="rect">
            <a:avLst/>
          </a:prstGeom>
          <a:noFill/>
        </p:spPr>
        <p:txBody>
          <a:bodyPr wrap="none" lIns="0" rIns="0" tIns="0" bIns="0" anchor="t">
            <a:spAutoFit/>
          </a:bodyPr>
          <a:lstStyle/>
          <a:p>
            <a:pPr algn="ctr"/>
            <a:r>
              <a:rPr b="1" sz="1350" i="0" u="none">
                <a:solidFill>
                  <a:srgbClr val="065F46"/>
                </a:solidFill>
                <a:latin typeface="Plus Jakarta Sans"/>
              </a:rPr>
              <a:t>Memory Mantra: "Score Each Class ➔ Compare Scores ➔ Choose the Highest"</a:t>
            </a:r>
          </a:p>
        </p:txBody>
      </p:sp>
      <p:sp>
        <p:nvSpPr>
          <p:cNvPr id="9" name="TextBox 8"/>
          <p:cNvSpPr txBox="1"/>
          <p:nvPr/>
        </p:nvSpPr>
        <p:spPr>
          <a:xfrm>
            <a:off x="704850" y="6248102"/>
            <a:ext cx="11487150" cy="171450"/>
          </a:xfrm>
          <a:prstGeom prst="rect">
            <a:avLst/>
          </a:prstGeom>
          <a:noFill/>
        </p:spPr>
        <p:txBody>
          <a:bodyPr wrap="none" lIns="0" rIns="0" tIns="0" bIns="0" anchor="t">
            <a:spAutoFit/>
          </a:bodyPr>
          <a:lstStyle/>
          <a:p>
            <a:pPr algn="l"/>
            <a:r>
              <a:rPr b="1" sz="1050" i="0" u="none">
                <a:solidFill>
                  <a:srgbClr val="1E3A8A"/>
                </a:solidFill>
                <a:latin typeface="Plus Jakarta Sans"/>
              </a:rPr>
              <a:t>Teacher Note &amp; Exam Tip:</a:t>
            </a:r>
            <a:r>
              <a:rPr b="0" sz="1050" i="0" u="none">
                <a:solidFill>
                  <a:srgbClr val="1E3A8A"/>
                </a:solidFill>
                <a:latin typeface="Plus Jakarta Sans"/>
              </a:rPr>
              <a:t> This table is a guaranteed 5-mark answer if students get asked: "Write a short note on Discriminant Functions."</a:t>
            </a:r>
          </a:p>
        </p:txBody>
      </p:sp>
      <p:sp>
        <p:nvSpPr>
          <p:cNvPr id="10" name="TextBox 9"/>
          <p:cNvSpPr txBox="1"/>
          <p:nvPr/>
        </p:nvSpPr>
        <p:spPr>
          <a:xfrm>
            <a:off x="514350" y="342900"/>
            <a:ext cx="2250281" cy="171450"/>
          </a:xfrm>
          <a:prstGeom prst="rect">
            <a:avLst/>
          </a:prstGeom>
          <a:noFill/>
        </p:spPr>
        <p:txBody>
          <a:bodyPr wrap="none" lIns="0" rIns="0" tIns="0" bIns="0" anchor="t">
            <a:spAutoFit/>
          </a:bodyPr>
          <a:lstStyle/>
          <a:p>
            <a:pPr algn="l"/>
            <a:r>
              <a:rPr b="1" sz="1050" i="0" u="none">
                <a:solidFill>
                  <a:srgbClr val="2563EB"/>
                </a:solidFill>
                <a:latin typeface="Plus Jakarta Sans"/>
              </a:rPr>
              <a:t>REVIEW &amp; CONSOLIDATE</a:t>
            </a:r>
          </a:p>
        </p:txBody>
      </p:sp>
      <p:sp>
        <p:nvSpPr>
          <p:cNvPr id="11" name="TextBox 10"/>
          <p:cNvSpPr txBox="1"/>
          <p:nvPr/>
        </p:nvSpPr>
        <p:spPr>
          <a:xfrm>
            <a:off x="10296525" y="342900"/>
            <a:ext cx="1726406" cy="171450"/>
          </a:xfrm>
          <a:prstGeom prst="rect">
            <a:avLst/>
          </a:prstGeom>
          <a:noFill/>
        </p:spPr>
        <p:txBody>
          <a:bodyPr wrap="none" lIns="0" rIns="0" tIns="0" bIns="0" anchor="t">
            <a:spAutoFit/>
          </a:bodyPr>
          <a:lstStyle/>
          <a:p>
            <a:pPr algn="l"/>
            <a:r>
              <a:rPr b="1" sz="1050" i="0" u="none">
                <a:solidFill>
                  <a:srgbClr val="64748B"/>
                </a:solidFill>
                <a:latin typeface="Plus Jakarta Sans"/>
              </a:rPr>
              <a:t>Topic 1 Summary 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2162175"/>
            <a:ext cx="5921126" cy="2743200"/>
          </a:xfrm>
          <a:prstGeom prst="roundRect">
            <a:avLst>
              <a:gd name="adj" fmla="val 41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4076" y="2162175"/>
            <a:ext cx="5013573" cy="2743200"/>
          </a:xfrm>
          <a:prstGeom prst="roundRect">
            <a:avLst>
              <a:gd name="adj" fmla="val 41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2475" y="2781300"/>
            <a:ext cx="38100" cy="5334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02201" y="2733675"/>
            <a:ext cx="4537323" cy="581025"/>
          </a:xfrm>
          <a:prstGeom prst="roundRect">
            <a:avLst>
              <a:gd name="adj" fmla="val 9836"/>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2201" y="2733675"/>
            <a:ext cx="38100" cy="5810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02201" y="3409950"/>
            <a:ext cx="4537323" cy="581025"/>
          </a:xfrm>
          <a:prstGeom prst="roundRect">
            <a:avLst>
              <a:gd name="adj" fmla="val 9836"/>
            </a:avLst>
          </a:prstGeom>
          <a:solidFill>
            <a:srgbClr val="FEF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02201" y="3409950"/>
            <a:ext cx="38100" cy="581025"/>
          </a:xfrm>
          <a:prstGeom prst="rect">
            <a:avLst/>
          </a:prstGeom>
          <a:solidFill>
            <a:srgbClr val="EAB3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02201" y="4086225"/>
            <a:ext cx="4537323" cy="581025"/>
          </a:xfrm>
          <a:prstGeom prst="roundRect">
            <a:avLst>
              <a:gd name="adj" fmla="val 983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02201" y="4086225"/>
            <a:ext cx="38100" cy="58102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52475" y="2400300"/>
            <a:ext cx="1104900" cy="247650"/>
          </a:xfrm>
          <a:prstGeom prst="roundRect">
            <a:avLst>
              <a:gd name="adj" fmla="val 15384"/>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71675" y="2400300"/>
            <a:ext cx="1209675" cy="247650"/>
          </a:xfrm>
          <a:prstGeom prst="roundRect">
            <a:avLst>
              <a:gd name="adj" fmla="val 15384"/>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Introduction to Utility Theory</a:t>
            </a:r>
          </a:p>
        </p:txBody>
      </p:sp>
      <p:sp>
        <p:nvSpPr>
          <p:cNvPr id="16" name="TextBox 15"/>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34E4A"/>
                </a:solidFill>
                <a:latin typeface="Plus Jakarta Sans"/>
              </a:rPr>
              <a:t>Teacher Note &amp; Classroom Script:</a:t>
            </a:r>
            <a:r>
              <a:rPr b="0" sz="1050" i="0" u="none">
                <a:solidFill>
                  <a:srgbClr val="134E4A"/>
                </a:solidFill>
                <a:latin typeface="Plus Jakarta Sans"/>
              </a:rPr>
              <a:t> Ask students: "When you play a mobile game, do you try to minimize your damage, or maximize your gold coins? They are two sides of the same coin! Utility theory is about maximizing coins."</a:t>
            </a:r>
          </a:p>
        </p:txBody>
      </p:sp>
      <p:sp>
        <p:nvSpPr>
          <p:cNvPr id="17" name="TextBox 16"/>
          <p:cNvSpPr txBox="1"/>
          <p:nvPr/>
        </p:nvSpPr>
        <p:spPr>
          <a:xfrm>
            <a:off x="514350" y="342900"/>
            <a:ext cx="2297906" cy="171450"/>
          </a:xfrm>
          <a:prstGeom prst="rect">
            <a:avLst/>
          </a:prstGeom>
          <a:noFill/>
        </p:spPr>
        <p:txBody>
          <a:bodyPr wrap="none" lIns="0" rIns="0" tIns="0" bIns="0" anchor="t">
            <a:spAutoFit/>
          </a:bodyPr>
          <a:lstStyle/>
          <a:p>
            <a:pPr algn="l"/>
            <a:r>
              <a:rPr b="1" sz="1050" i="0" u="none">
                <a:solidFill>
                  <a:srgbClr val="0D9488"/>
                </a:solidFill>
                <a:latin typeface="Plus Jakarta Sans"/>
              </a:rPr>
              <a:t>TOPIC 2: UTILITY THEORY</a:t>
            </a:r>
          </a:p>
        </p:txBody>
      </p:sp>
      <p:sp>
        <p:nvSpPr>
          <p:cNvPr id="18" name="TextBox 17"/>
          <p:cNvSpPr txBox="1"/>
          <p:nvPr/>
        </p:nvSpPr>
        <p:spPr>
          <a:xfrm>
            <a:off x="10391775" y="342900"/>
            <a:ext cx="1607343" cy="171450"/>
          </a:xfrm>
          <a:prstGeom prst="rect">
            <a:avLst/>
          </a:prstGeom>
          <a:noFill/>
        </p:spPr>
        <p:txBody>
          <a:bodyPr wrap="none" lIns="0" rIns="0" tIns="0" bIns="0" anchor="t">
            <a:spAutoFit/>
          </a:bodyPr>
          <a:lstStyle/>
          <a:p>
            <a:pPr algn="l"/>
            <a:r>
              <a:rPr b="1" sz="1050" i="0" u="none">
                <a:solidFill>
                  <a:srgbClr val="64748B"/>
                </a:solidFill>
                <a:latin typeface="Plus Jakarta Sans"/>
              </a:rPr>
              <a:t>Ethem Alpaydin §3.6</a:t>
            </a:r>
          </a:p>
        </p:txBody>
      </p:sp>
      <p:sp>
        <p:nvSpPr>
          <p:cNvPr id="19" name="TextBox 18"/>
          <p:cNvSpPr txBox="1"/>
          <p:nvPr/>
        </p:nvSpPr>
        <p:spPr>
          <a:xfrm>
            <a:off x="6902201" y="2400300"/>
            <a:ext cx="5289798" cy="219075"/>
          </a:xfrm>
          <a:prstGeom prst="rect">
            <a:avLst/>
          </a:prstGeom>
          <a:noFill/>
        </p:spPr>
        <p:txBody>
          <a:bodyPr wrap="none" lIns="0" rIns="0" tIns="0" bIns="0" anchor="t">
            <a:spAutoFit/>
          </a:bodyPr>
          <a:lstStyle/>
          <a:p>
            <a:pPr algn="l"/>
            <a:r>
              <a:rPr b="1" sz="1350" i="0" u="none">
                <a:solidFill>
                  <a:srgbClr val="0F172A"/>
                </a:solidFill>
                <a:latin typeface="Plus Jakarta Sans"/>
              </a:rPr>
              <a:t>Real-World Utility Scale</a:t>
            </a:r>
          </a:p>
        </p:txBody>
      </p:sp>
      <p:sp>
        <p:nvSpPr>
          <p:cNvPr id="20" name="TextBox 19"/>
          <p:cNvSpPr txBox="1"/>
          <p:nvPr/>
        </p:nvSpPr>
        <p:spPr>
          <a:xfrm>
            <a:off x="885825" y="2781300"/>
            <a:ext cx="5406776" cy="533400"/>
          </a:xfrm>
          <a:prstGeom prst="rect">
            <a:avLst/>
          </a:prstGeom>
          <a:noFill/>
        </p:spPr>
        <p:txBody>
          <a:bodyPr wrap="square" lIns="0" rIns="0" tIns="0" bIns="0" anchor="t">
            <a:spAutoFit/>
          </a:bodyPr>
          <a:lstStyle/>
          <a:p>
            <a:pPr algn="l">
              <a:lnSpc>
                <a:spcPts val="2100"/>
              </a:lnSpc>
            </a:pPr>
            <a:r>
              <a:rPr b="1" sz="1500" i="0" u="none">
                <a:solidFill>
                  <a:srgbClr val="1E293B"/>
                </a:solidFill>
                <a:latin typeface="Plus Jakarta Sans"/>
              </a:rPr>
              <a:t>"Utility is a numerical measure of the benefit, value, satisfaction, or desirability of an outcome."</a:t>
            </a:r>
          </a:p>
        </p:txBody>
      </p:sp>
      <p:sp>
        <p:nvSpPr>
          <p:cNvPr id="21" name="TextBox 20"/>
          <p:cNvSpPr txBox="1"/>
          <p:nvPr/>
        </p:nvSpPr>
        <p:spPr>
          <a:xfrm>
            <a:off x="752475" y="3467100"/>
            <a:ext cx="5540126" cy="719732"/>
          </a:xfrm>
          <a:prstGeom prst="rect">
            <a:avLst/>
          </a:prstGeom>
          <a:noFill/>
        </p:spPr>
        <p:txBody>
          <a:bodyPr wrap="square" lIns="0" rIns="0" tIns="0" bIns="0" anchor="t">
            <a:spAutoFit/>
          </a:bodyPr>
          <a:lstStyle/>
          <a:p>
            <a:pPr algn="l">
              <a:lnSpc>
                <a:spcPts val="1889"/>
              </a:lnSpc>
            </a:pPr>
            <a:r>
              <a:rPr b="0" sz="1350" i="0" u="none">
                <a:solidFill>
                  <a:srgbClr val="334155"/>
                </a:solidFill>
                <a:latin typeface="Plus Jakarta Sans"/>
              </a:rPr>
              <a:t>In many real-world machine learning systems (finance, games, recommendation engines), people don't think in terms of penalties—they think in terms of </a:t>
            </a:r>
            <a:r>
              <a:rPr b="1" sz="1350" i="0" u="none">
                <a:solidFill>
                  <a:srgbClr val="334155"/>
                </a:solidFill>
                <a:latin typeface="Plus Jakarta Sans"/>
              </a:rPr>
              <a:t>gains, profit, and health improvements</a:t>
            </a:r>
            <a:r>
              <a:rPr b="0" sz="1350" i="0" u="none">
                <a:solidFill>
                  <a:srgbClr val="334155"/>
                </a:solidFill>
                <a:latin typeface="Plus Jakarta Sans"/>
              </a:rPr>
              <a:t>.</a:t>
            </a:r>
          </a:p>
        </p:txBody>
      </p:sp>
      <p:sp>
        <p:nvSpPr>
          <p:cNvPr id="22" name="TextBox 21"/>
          <p:cNvSpPr txBox="1"/>
          <p:nvPr/>
        </p:nvSpPr>
        <p:spPr>
          <a:xfrm>
            <a:off x="7035551" y="2828925"/>
            <a:ext cx="4365873" cy="390525"/>
          </a:xfrm>
          <a:prstGeom prst="rect">
            <a:avLst/>
          </a:prstGeom>
          <a:noFill/>
        </p:spPr>
        <p:txBody>
          <a:bodyPr wrap="square" lIns="0" rIns="0" tIns="0" bIns="0" anchor="t">
            <a:spAutoFit/>
          </a:bodyPr>
          <a:lstStyle/>
          <a:p>
            <a:pPr algn="l"/>
            <a:r>
              <a:rPr b="1" sz="1350" i="0" u="none">
                <a:solidFill>
                  <a:srgbClr val="065F46"/>
                </a:solidFill>
                <a:latin typeface="Plus Jakarta Sans"/>
              </a:rPr>
              <a:t>High Profit / Patient Cured</a:t>
            </a:r>
            <a:r>
              <a:rPr b="1" sz="1350" i="0" u="none">
                <a:solidFill>
                  <a:srgbClr val="065F46"/>
                </a:solidFill>
                <a:latin typeface="Plus Jakarta Sans"/>
              </a:rPr>
              <a:t> </a:t>
            </a:r>
            <a:r>
              <a:rPr b="1" sz="1050" i="0" u="none">
                <a:solidFill>
                  <a:srgbClr val="047857"/>
                </a:solidFill>
                <a:latin typeface="Plus Jakarta Sans"/>
              </a:rPr>
              <a:t>High Positive Utility (+100)</a:t>
            </a:r>
          </a:p>
        </p:txBody>
      </p:sp>
      <p:sp>
        <p:nvSpPr>
          <p:cNvPr id="23" name="TextBox 22"/>
          <p:cNvSpPr txBox="1"/>
          <p:nvPr/>
        </p:nvSpPr>
        <p:spPr>
          <a:xfrm>
            <a:off x="7035551" y="3505200"/>
            <a:ext cx="4365873" cy="390525"/>
          </a:xfrm>
          <a:prstGeom prst="rect">
            <a:avLst/>
          </a:prstGeom>
          <a:noFill/>
        </p:spPr>
        <p:txBody>
          <a:bodyPr wrap="square" lIns="0" rIns="0" tIns="0" bIns="0" anchor="t">
            <a:spAutoFit/>
          </a:bodyPr>
          <a:lstStyle/>
          <a:p>
            <a:pPr algn="l"/>
            <a:r>
              <a:rPr b="1" sz="1350" i="0" u="none">
                <a:solidFill>
                  <a:srgbClr val="854D0E"/>
                </a:solidFill>
                <a:latin typeface="Plus Jakarta Sans"/>
              </a:rPr>
              <a:t>Break-Even / Minor Symptom</a:t>
            </a:r>
            <a:r>
              <a:rPr b="1" sz="1350" i="0" u="none">
                <a:solidFill>
                  <a:srgbClr val="854D0E"/>
                </a:solidFill>
                <a:latin typeface="Plus Jakarta Sans"/>
              </a:rPr>
              <a:t> </a:t>
            </a:r>
            <a:r>
              <a:rPr b="1" sz="1050" i="0" u="none">
                <a:solidFill>
                  <a:srgbClr val="A16207"/>
                </a:solidFill>
                <a:latin typeface="Plus Jakarta Sans"/>
              </a:rPr>
              <a:t>Moderate Utility (+10)</a:t>
            </a:r>
          </a:p>
        </p:txBody>
      </p:sp>
      <p:sp>
        <p:nvSpPr>
          <p:cNvPr id="24" name="TextBox 23"/>
          <p:cNvSpPr txBox="1"/>
          <p:nvPr/>
        </p:nvSpPr>
        <p:spPr>
          <a:xfrm>
            <a:off x="7035551" y="4181475"/>
            <a:ext cx="4365873" cy="390525"/>
          </a:xfrm>
          <a:prstGeom prst="rect">
            <a:avLst/>
          </a:prstGeom>
          <a:noFill/>
        </p:spPr>
        <p:txBody>
          <a:bodyPr wrap="square" lIns="0" rIns="0" tIns="0" bIns="0" anchor="t">
            <a:spAutoFit/>
          </a:bodyPr>
          <a:lstStyle/>
          <a:p>
            <a:pPr algn="l"/>
            <a:r>
              <a:rPr b="1" sz="1350" i="0" u="none">
                <a:solidFill>
                  <a:srgbClr val="991B1B"/>
                </a:solidFill>
                <a:latin typeface="Plus Jakarta Sans"/>
              </a:rPr>
              <a:t>Severe Financial Loss / Harm</a:t>
            </a:r>
            <a:r>
              <a:rPr b="1" sz="1350" i="0" u="none">
                <a:solidFill>
                  <a:srgbClr val="991B1B"/>
                </a:solidFill>
                <a:latin typeface="Plus Jakarta Sans"/>
              </a:rPr>
              <a:t> </a:t>
            </a:r>
            <a:r>
              <a:rPr b="1" sz="1050" i="0" u="none">
                <a:solidFill>
                  <a:srgbClr val="B91C1C"/>
                </a:solidFill>
                <a:latin typeface="Plus Jakarta Sans"/>
              </a:rPr>
              <a:t>Zero or Negative Utility (-50)</a:t>
            </a:r>
          </a:p>
        </p:txBody>
      </p:sp>
      <p:sp>
        <p:nvSpPr>
          <p:cNvPr id="25" name="TextBox 24"/>
          <p:cNvSpPr txBox="1"/>
          <p:nvPr/>
        </p:nvSpPr>
        <p:spPr>
          <a:xfrm>
            <a:off x="847725" y="2438400"/>
            <a:ext cx="1009650" cy="171450"/>
          </a:xfrm>
          <a:prstGeom prst="rect">
            <a:avLst/>
          </a:prstGeom>
          <a:noFill/>
        </p:spPr>
        <p:txBody>
          <a:bodyPr wrap="square" lIns="0" rIns="0" tIns="0" bIns="0" anchor="t">
            <a:spAutoFit/>
          </a:bodyPr>
          <a:lstStyle/>
          <a:p>
            <a:pPr algn="l"/>
            <a:r>
              <a:rPr b="1" sz="1050" i="0" u="none">
                <a:solidFill>
                  <a:srgbClr val="B91C1C"/>
                </a:solidFill>
                <a:latin typeface="Plus Jakarta Sans"/>
              </a:rPr>
              <a:t>Loss = Penalty</a:t>
            </a:r>
          </a:p>
        </p:txBody>
      </p:sp>
      <p:sp>
        <p:nvSpPr>
          <p:cNvPr id="26" name="TextBox 25"/>
          <p:cNvSpPr txBox="1"/>
          <p:nvPr/>
        </p:nvSpPr>
        <p:spPr>
          <a:xfrm>
            <a:off x="2066925" y="2438400"/>
            <a:ext cx="1114425" cy="171450"/>
          </a:xfrm>
          <a:prstGeom prst="rect">
            <a:avLst/>
          </a:prstGeom>
          <a:noFill/>
        </p:spPr>
        <p:txBody>
          <a:bodyPr wrap="square" lIns="0" rIns="0" tIns="0" bIns="0" anchor="t">
            <a:spAutoFit/>
          </a:bodyPr>
          <a:lstStyle/>
          <a:p>
            <a:pPr algn="l"/>
            <a:r>
              <a:rPr b="1" sz="1050" i="0" u="none">
                <a:solidFill>
                  <a:srgbClr val="047857"/>
                </a:solidFill>
                <a:latin typeface="Plus Jakarta Sans"/>
              </a:rPr>
              <a:t>Utility = Reward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2386012"/>
            <a:ext cx="5467350" cy="2314575"/>
          </a:xfrm>
          <a:prstGeom prst="roundRect">
            <a:avLst>
              <a:gd name="adj" fmla="val 411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2386012"/>
            <a:ext cx="5467350" cy="2314575"/>
          </a:xfrm>
          <a:prstGeom prst="roundRect">
            <a:avLst>
              <a:gd name="adj" fmla="val 411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4350" y="2386012"/>
            <a:ext cx="546735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3900" y="4005262"/>
            <a:ext cx="5048250" cy="485775"/>
          </a:xfrm>
          <a:prstGeom prst="roundRect">
            <a:avLst>
              <a:gd name="adj" fmla="val 15686"/>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0300" y="2386012"/>
            <a:ext cx="546735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19850" y="3995737"/>
            <a:ext cx="5048250" cy="485775"/>
          </a:xfrm>
          <a:prstGeom prst="roundRect">
            <a:avLst>
              <a:gd name="adj" fmla="val 15686"/>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67250" y="2647950"/>
            <a:ext cx="1104900" cy="247650"/>
          </a:xfrm>
          <a:prstGeom prst="roundRect">
            <a:avLst>
              <a:gd name="adj" fmla="val 15384"/>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0" y="2643187"/>
            <a:ext cx="952500" cy="247650"/>
          </a:xfrm>
          <a:prstGeom prst="roundRect">
            <a:avLst>
              <a:gd name="adj" fmla="val 15384"/>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23900" y="3057525"/>
            <a:ext cx="171450" cy="180975"/>
          </a:xfrm>
          <a:prstGeom prst="rect">
            <a:avLst/>
          </a:prstGeom>
        </p:spPr>
      </p:pic>
      <p:pic>
        <p:nvPicPr>
          <p:cNvPr id="13" name="Picture 12" descr="image.png"/>
          <p:cNvPicPr>
            <a:picLocks noChangeAspect="1"/>
          </p:cNvPicPr>
          <p:nvPr/>
        </p:nvPicPr>
        <p:blipFill>
          <a:blip r:embed="rId2"/>
          <a:stretch>
            <a:fillRect/>
          </a:stretch>
        </p:blipFill>
        <p:spPr>
          <a:xfrm>
            <a:off x="723900" y="3371850"/>
            <a:ext cx="171450" cy="180975"/>
          </a:xfrm>
          <a:prstGeom prst="rect">
            <a:avLst/>
          </a:prstGeom>
        </p:spPr>
      </p:pic>
      <p:pic>
        <p:nvPicPr>
          <p:cNvPr id="14" name="Picture 13" descr="image.png"/>
          <p:cNvPicPr>
            <a:picLocks noChangeAspect="1"/>
          </p:cNvPicPr>
          <p:nvPr/>
        </p:nvPicPr>
        <p:blipFill>
          <a:blip r:embed="rId2"/>
          <a:stretch>
            <a:fillRect/>
          </a:stretch>
        </p:blipFill>
        <p:spPr>
          <a:xfrm>
            <a:off x="723900" y="3686175"/>
            <a:ext cx="171450" cy="180975"/>
          </a:xfrm>
          <a:prstGeom prst="rect">
            <a:avLst/>
          </a:prstGeom>
        </p:spPr>
      </p:pic>
      <p:pic>
        <p:nvPicPr>
          <p:cNvPr id="15" name="Picture 14" descr="image.png"/>
          <p:cNvPicPr>
            <a:picLocks noChangeAspect="1"/>
          </p:cNvPicPr>
          <p:nvPr/>
        </p:nvPicPr>
        <p:blipFill>
          <a:blip r:embed="rId3"/>
          <a:stretch>
            <a:fillRect/>
          </a:stretch>
        </p:blipFill>
        <p:spPr>
          <a:xfrm>
            <a:off x="6419850" y="3048000"/>
            <a:ext cx="171450" cy="180975"/>
          </a:xfrm>
          <a:prstGeom prst="rect">
            <a:avLst/>
          </a:prstGeom>
        </p:spPr>
      </p:pic>
      <p:pic>
        <p:nvPicPr>
          <p:cNvPr id="16" name="Picture 15" descr="image.png"/>
          <p:cNvPicPr>
            <a:picLocks noChangeAspect="1"/>
          </p:cNvPicPr>
          <p:nvPr/>
        </p:nvPicPr>
        <p:blipFill>
          <a:blip r:embed="rId3"/>
          <a:stretch>
            <a:fillRect/>
          </a:stretch>
        </p:blipFill>
        <p:spPr>
          <a:xfrm>
            <a:off x="6419850" y="3362325"/>
            <a:ext cx="171450" cy="180975"/>
          </a:xfrm>
          <a:prstGeom prst="rect">
            <a:avLst/>
          </a:prstGeom>
        </p:spPr>
      </p:pic>
      <p:pic>
        <p:nvPicPr>
          <p:cNvPr id="17" name="Picture 16" descr="image.png"/>
          <p:cNvPicPr>
            <a:picLocks noChangeAspect="1"/>
          </p:cNvPicPr>
          <p:nvPr/>
        </p:nvPicPr>
        <p:blipFill>
          <a:blip r:embed="rId3"/>
          <a:stretch>
            <a:fillRect/>
          </a:stretch>
        </p:blipFill>
        <p:spPr>
          <a:xfrm>
            <a:off x="6419850" y="3676650"/>
            <a:ext cx="171450" cy="180975"/>
          </a:xfrm>
          <a:prstGeom prst="rect">
            <a:avLst/>
          </a:prstGeom>
        </p:spPr>
      </p:pic>
      <p:sp>
        <p:nvSpPr>
          <p:cNvPr id="18" name="TextBox 17"/>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Utility vs. Loss: The Fundamental Duality</a:t>
            </a:r>
          </a:p>
        </p:txBody>
      </p:sp>
      <p:sp>
        <p:nvSpPr>
          <p:cNvPr id="19" name="TextBox 18"/>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34E4A"/>
                </a:solidFill>
                <a:latin typeface="Plus Jakarta Sans"/>
              </a:rPr>
              <a:t>Teacher Note &amp; Classroom Script:</a:t>
            </a:r>
            <a:r>
              <a:rPr b="0" sz="1050" i="0" u="none">
                <a:solidFill>
                  <a:srgbClr val="134E4A"/>
                </a:solidFill>
                <a:latin typeface="Plus Jakarta Sans"/>
              </a:rPr>
              <a:t> "Stress this table heavily! In university question papers, 'Differentiate between Loss and Utility' is a standard 5-mark question. Just remember: Loss = Minimize, Utility = Maximize."</a:t>
            </a:r>
          </a:p>
        </p:txBody>
      </p:sp>
      <p:sp>
        <p:nvSpPr>
          <p:cNvPr id="20" name="TextBox 19"/>
          <p:cNvSpPr txBox="1"/>
          <p:nvPr/>
        </p:nvSpPr>
        <p:spPr>
          <a:xfrm>
            <a:off x="514350" y="342900"/>
            <a:ext cx="2595562" cy="171450"/>
          </a:xfrm>
          <a:prstGeom prst="rect">
            <a:avLst/>
          </a:prstGeom>
          <a:noFill/>
        </p:spPr>
        <p:txBody>
          <a:bodyPr wrap="none" lIns="0" rIns="0" tIns="0" bIns="0" anchor="t">
            <a:spAutoFit/>
          </a:bodyPr>
          <a:lstStyle/>
          <a:p>
            <a:pPr algn="l"/>
            <a:r>
              <a:rPr b="1" sz="1050" i="0" u="none">
                <a:solidFill>
                  <a:srgbClr val="0D9488"/>
                </a:solidFill>
                <a:latin typeface="Plus Jakarta Sans"/>
              </a:rPr>
              <a:t>CONCEPTUAL COMPARISON</a:t>
            </a:r>
          </a:p>
        </p:txBody>
      </p:sp>
      <p:sp>
        <p:nvSpPr>
          <p:cNvPr id="21" name="TextBox 20"/>
          <p:cNvSpPr txBox="1"/>
          <p:nvPr/>
        </p:nvSpPr>
        <p:spPr>
          <a:xfrm>
            <a:off x="10096500" y="342900"/>
            <a:ext cx="1976437" cy="171450"/>
          </a:xfrm>
          <a:prstGeom prst="rect">
            <a:avLst/>
          </a:prstGeom>
          <a:noFill/>
        </p:spPr>
        <p:txBody>
          <a:bodyPr wrap="none" lIns="0" rIns="0" tIns="0" bIns="0" anchor="t">
            <a:spAutoFit/>
          </a:bodyPr>
          <a:lstStyle/>
          <a:p>
            <a:pPr algn="l"/>
            <a:r>
              <a:rPr b="1" sz="1050" i="0" u="none">
                <a:solidFill>
                  <a:srgbClr val="64748B"/>
                </a:solidFill>
                <a:latin typeface="Plus Jakarta Sans"/>
              </a:rPr>
              <a:t>Crucial Examination Topic</a:t>
            </a:r>
          </a:p>
        </p:txBody>
      </p:sp>
      <p:sp>
        <p:nvSpPr>
          <p:cNvPr id="22" name="TextBox 21"/>
          <p:cNvSpPr txBox="1"/>
          <p:nvPr/>
        </p:nvSpPr>
        <p:spPr>
          <a:xfrm>
            <a:off x="207168" y="4119562"/>
            <a:ext cx="6081712" cy="257175"/>
          </a:xfrm>
          <a:prstGeom prst="rect">
            <a:avLst/>
          </a:prstGeom>
          <a:noFill/>
        </p:spPr>
        <p:txBody>
          <a:bodyPr wrap="square" lIns="0" rIns="0" tIns="0" bIns="0" anchor="t">
            <a:spAutoFit/>
          </a:bodyPr>
          <a:lstStyle/>
          <a:p>
            <a:pPr algn="ctr"/>
            <a:r>
              <a:rPr b="1" sz="1500" i="0" u="none">
                <a:solidFill>
                  <a:srgbClr val="B91C1C"/>
                </a:solidFill>
                <a:latin typeface="Plus Jakarta Sans"/>
              </a:rPr>
              <a:t>Goal: MINIMIZE Loss</a:t>
            </a:r>
          </a:p>
        </p:txBody>
      </p:sp>
      <p:sp>
        <p:nvSpPr>
          <p:cNvPr id="23" name="TextBox 22"/>
          <p:cNvSpPr txBox="1"/>
          <p:nvPr/>
        </p:nvSpPr>
        <p:spPr>
          <a:xfrm>
            <a:off x="5903118" y="4110037"/>
            <a:ext cx="6081712" cy="257175"/>
          </a:xfrm>
          <a:prstGeom prst="rect">
            <a:avLst/>
          </a:prstGeom>
          <a:noFill/>
        </p:spPr>
        <p:txBody>
          <a:bodyPr wrap="square" lIns="0" rIns="0" tIns="0" bIns="0" anchor="t">
            <a:spAutoFit/>
          </a:bodyPr>
          <a:lstStyle/>
          <a:p>
            <a:pPr algn="ctr"/>
            <a:r>
              <a:rPr b="1" sz="1500" i="0" u="none">
                <a:solidFill>
                  <a:srgbClr val="047857"/>
                </a:solidFill>
                <a:latin typeface="Plus Jakarta Sans"/>
              </a:rPr>
              <a:t>Goal: MAXIMIZE Utility</a:t>
            </a:r>
          </a:p>
        </p:txBody>
      </p:sp>
      <p:sp>
        <p:nvSpPr>
          <p:cNvPr id="24" name="TextBox 23"/>
          <p:cNvSpPr txBox="1"/>
          <p:nvPr/>
        </p:nvSpPr>
        <p:spPr>
          <a:xfrm>
            <a:off x="723900" y="2633662"/>
            <a:ext cx="1232654" cy="276225"/>
          </a:xfrm>
          <a:prstGeom prst="rect">
            <a:avLst/>
          </a:prstGeom>
          <a:noFill/>
        </p:spPr>
        <p:txBody>
          <a:bodyPr wrap="none" lIns="0" rIns="0" tIns="0" bIns="0" anchor="t">
            <a:spAutoFit/>
          </a:bodyPr>
          <a:lstStyle/>
          <a:p>
            <a:pPr algn="l"/>
            <a:r>
              <a:rPr b="1" sz="1650" i="0" u="none">
                <a:solidFill>
                  <a:srgbClr val="991B1B"/>
                </a:solidFill>
                <a:latin typeface="Plus Jakarta Sans"/>
              </a:rPr>
              <a:t>LOSS (λ)</a:t>
            </a:r>
          </a:p>
        </p:txBody>
      </p:sp>
      <p:sp>
        <p:nvSpPr>
          <p:cNvPr id="25" name="TextBox 24"/>
          <p:cNvSpPr txBox="1"/>
          <p:nvPr/>
        </p:nvSpPr>
        <p:spPr>
          <a:xfrm>
            <a:off x="4762500" y="2686050"/>
            <a:ext cx="1009650" cy="171450"/>
          </a:xfrm>
          <a:prstGeom prst="rect">
            <a:avLst/>
          </a:prstGeom>
          <a:noFill/>
        </p:spPr>
        <p:txBody>
          <a:bodyPr wrap="square" lIns="0" rIns="0" tIns="0" bIns="0" anchor="t">
            <a:spAutoFit/>
          </a:bodyPr>
          <a:lstStyle/>
          <a:p>
            <a:pPr algn="l"/>
            <a:r>
              <a:rPr b="1" sz="1050" i="0" u="none">
                <a:solidFill>
                  <a:srgbClr val="991B1B"/>
                </a:solidFill>
                <a:latin typeface="Plus Jakarta Sans"/>
              </a:rPr>
              <a:t>Cost / Penalty</a:t>
            </a:r>
          </a:p>
        </p:txBody>
      </p:sp>
      <p:sp>
        <p:nvSpPr>
          <p:cNvPr id="26" name="TextBox 25"/>
          <p:cNvSpPr txBox="1"/>
          <p:nvPr/>
        </p:nvSpPr>
        <p:spPr>
          <a:xfrm>
            <a:off x="723900" y="3024187"/>
            <a:ext cx="6310312" cy="219075"/>
          </a:xfrm>
          <a:prstGeom prst="rect">
            <a:avLst/>
          </a:prstGeom>
          <a:noFill/>
        </p:spPr>
        <p:txBody>
          <a:bodyPr wrap="none" lIns="247650" rIns="0" tIns="0" bIns="0" anchor="t">
            <a:spAutoFit/>
          </a:bodyPr>
          <a:lstStyle/>
          <a:p>
            <a:pPr algn="l"/>
            <a:r>
              <a:rPr b="0" sz="1350" i="0" u="none">
                <a:solidFill>
                  <a:srgbClr val="334155"/>
                </a:solidFill>
                <a:latin typeface="Plus Jakarta Sans"/>
              </a:rPr>
              <a:t>Measures cost, damage, penalty.</a:t>
            </a:r>
          </a:p>
        </p:txBody>
      </p:sp>
      <p:sp>
        <p:nvSpPr>
          <p:cNvPr id="27" name="TextBox 26"/>
          <p:cNvSpPr txBox="1"/>
          <p:nvPr/>
        </p:nvSpPr>
        <p:spPr>
          <a:xfrm>
            <a:off x="723900" y="3338512"/>
            <a:ext cx="6310312" cy="219075"/>
          </a:xfrm>
          <a:prstGeom prst="rect">
            <a:avLst/>
          </a:prstGeom>
          <a:noFill/>
        </p:spPr>
        <p:txBody>
          <a:bodyPr wrap="none" lIns="247650" rIns="0" tIns="0" bIns="0" anchor="t">
            <a:spAutoFit/>
          </a:bodyPr>
          <a:lstStyle/>
          <a:p>
            <a:pPr algn="l"/>
            <a:r>
              <a:rPr b="0" sz="1350" i="0" u="none">
                <a:solidFill>
                  <a:srgbClr val="334155"/>
                </a:solidFill>
                <a:latin typeface="Plus Jakarta Sans"/>
              </a:rPr>
              <a:t>Higher values are worse.</a:t>
            </a:r>
          </a:p>
        </p:txBody>
      </p:sp>
      <p:sp>
        <p:nvSpPr>
          <p:cNvPr id="28" name="TextBox 27"/>
          <p:cNvSpPr txBox="1"/>
          <p:nvPr/>
        </p:nvSpPr>
        <p:spPr>
          <a:xfrm>
            <a:off x="723900" y="3652837"/>
            <a:ext cx="6310312" cy="219075"/>
          </a:xfrm>
          <a:prstGeom prst="rect">
            <a:avLst/>
          </a:prstGeom>
          <a:noFill/>
        </p:spPr>
        <p:txBody>
          <a:bodyPr wrap="none" lIns="247650" rIns="0" tIns="0" bIns="0" anchor="t">
            <a:spAutoFit/>
          </a:bodyPr>
          <a:lstStyle/>
          <a:p>
            <a:pPr algn="l"/>
            <a:r>
              <a:rPr b="0" sz="1350" i="0" u="none">
                <a:solidFill>
                  <a:srgbClr val="334155"/>
                </a:solidFill>
                <a:latin typeface="Plus Jakarta Sans"/>
              </a:rPr>
              <a:t>Used in classical statistical risk.</a:t>
            </a:r>
          </a:p>
        </p:txBody>
      </p:sp>
      <p:sp>
        <p:nvSpPr>
          <p:cNvPr id="29" name="TextBox 28"/>
          <p:cNvSpPr txBox="1"/>
          <p:nvPr/>
        </p:nvSpPr>
        <p:spPr>
          <a:xfrm>
            <a:off x="6419850" y="2633662"/>
            <a:ext cx="1470183" cy="266700"/>
          </a:xfrm>
          <a:prstGeom prst="rect">
            <a:avLst/>
          </a:prstGeom>
          <a:noFill/>
        </p:spPr>
        <p:txBody>
          <a:bodyPr wrap="none" lIns="0" rIns="0" tIns="0" bIns="0" anchor="t">
            <a:spAutoFit/>
          </a:bodyPr>
          <a:lstStyle/>
          <a:p>
            <a:pPr algn="l"/>
            <a:r>
              <a:rPr b="1" sz="1650" i="0" u="none">
                <a:solidFill>
                  <a:srgbClr val="065F46"/>
                </a:solidFill>
                <a:latin typeface="Plus Jakarta Sans"/>
              </a:rPr>
              <a:t>UTILITY (U)</a:t>
            </a:r>
          </a:p>
        </p:txBody>
      </p:sp>
      <p:sp>
        <p:nvSpPr>
          <p:cNvPr id="30" name="TextBox 29"/>
          <p:cNvSpPr txBox="1"/>
          <p:nvPr/>
        </p:nvSpPr>
        <p:spPr>
          <a:xfrm>
            <a:off x="10610850" y="2681287"/>
            <a:ext cx="857250" cy="171450"/>
          </a:xfrm>
          <a:prstGeom prst="rect">
            <a:avLst/>
          </a:prstGeom>
          <a:noFill/>
        </p:spPr>
        <p:txBody>
          <a:bodyPr wrap="square" lIns="0" rIns="0" tIns="0" bIns="0" anchor="t">
            <a:spAutoFit/>
          </a:bodyPr>
          <a:lstStyle/>
          <a:p>
            <a:pPr algn="l"/>
            <a:r>
              <a:rPr b="1" sz="1050" i="0" u="none">
                <a:solidFill>
                  <a:srgbClr val="065F46"/>
                </a:solidFill>
                <a:latin typeface="Plus Jakarta Sans"/>
              </a:rPr>
              <a:t>Gain / Value</a:t>
            </a:r>
          </a:p>
        </p:txBody>
      </p:sp>
      <p:sp>
        <p:nvSpPr>
          <p:cNvPr id="31" name="TextBox 30"/>
          <p:cNvSpPr txBox="1"/>
          <p:nvPr/>
        </p:nvSpPr>
        <p:spPr>
          <a:xfrm>
            <a:off x="6419850" y="3014662"/>
            <a:ext cx="5772150" cy="219075"/>
          </a:xfrm>
          <a:prstGeom prst="rect">
            <a:avLst/>
          </a:prstGeom>
          <a:noFill/>
        </p:spPr>
        <p:txBody>
          <a:bodyPr wrap="none" lIns="247650" rIns="0" tIns="0" bIns="0" anchor="t">
            <a:spAutoFit/>
          </a:bodyPr>
          <a:lstStyle/>
          <a:p>
            <a:pPr algn="l"/>
            <a:r>
              <a:rPr b="0" sz="1350" i="0" u="none">
                <a:solidFill>
                  <a:srgbClr val="334155"/>
                </a:solidFill>
                <a:latin typeface="Plus Jakarta Sans"/>
              </a:rPr>
              <a:t>Measures benefit, profit, desirability.</a:t>
            </a:r>
          </a:p>
        </p:txBody>
      </p:sp>
      <p:sp>
        <p:nvSpPr>
          <p:cNvPr id="32" name="TextBox 31"/>
          <p:cNvSpPr txBox="1"/>
          <p:nvPr/>
        </p:nvSpPr>
        <p:spPr>
          <a:xfrm>
            <a:off x="6419850" y="3328987"/>
            <a:ext cx="5772150" cy="219075"/>
          </a:xfrm>
          <a:prstGeom prst="rect">
            <a:avLst/>
          </a:prstGeom>
          <a:noFill/>
        </p:spPr>
        <p:txBody>
          <a:bodyPr wrap="none" lIns="247650" rIns="0" tIns="0" bIns="0" anchor="t">
            <a:spAutoFit/>
          </a:bodyPr>
          <a:lstStyle/>
          <a:p>
            <a:pPr algn="l"/>
            <a:r>
              <a:rPr b="0" sz="1350" i="0" u="none">
                <a:solidFill>
                  <a:srgbClr val="334155"/>
                </a:solidFill>
                <a:latin typeface="Plus Jakarta Sans"/>
              </a:rPr>
              <a:t>Higher values are better.</a:t>
            </a:r>
          </a:p>
        </p:txBody>
      </p:sp>
      <p:sp>
        <p:nvSpPr>
          <p:cNvPr id="33" name="TextBox 32"/>
          <p:cNvSpPr txBox="1"/>
          <p:nvPr/>
        </p:nvSpPr>
        <p:spPr>
          <a:xfrm>
            <a:off x="6419850" y="3643312"/>
            <a:ext cx="5772150" cy="219075"/>
          </a:xfrm>
          <a:prstGeom prst="rect">
            <a:avLst/>
          </a:prstGeom>
          <a:noFill/>
        </p:spPr>
        <p:txBody>
          <a:bodyPr wrap="none" lIns="247650" rIns="0" tIns="0" bIns="0" anchor="t">
            <a:spAutoFit/>
          </a:bodyPr>
          <a:lstStyle/>
          <a:p>
            <a:pPr algn="l"/>
            <a:r>
              <a:rPr b="0" sz="1350" i="0" u="none">
                <a:solidFill>
                  <a:srgbClr val="334155"/>
                </a:solidFill>
                <a:latin typeface="Plus Jakarta Sans"/>
              </a:rPr>
              <a:t>Used in AI decision systems &amp; economics.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4171205"/>
            <a:ext cx="11163300" cy="824805"/>
          </a:xfrm>
          <a:prstGeom prst="roundRect">
            <a:avLst>
              <a:gd name="adj" fmla="val 11548"/>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981551"/>
            <a:ext cx="11163300" cy="533400"/>
          </a:xfrm>
          <a:prstGeom prst="roundRect">
            <a:avLst>
              <a:gd name="adj" fmla="val 10714"/>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2071389"/>
            <a:ext cx="2676525" cy="1114276"/>
          </a:xfrm>
          <a:prstGeom prst="roundRect">
            <a:avLst>
              <a:gd name="adj" fmla="val 854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343275" y="2071389"/>
            <a:ext cx="2676525" cy="1114276"/>
          </a:xfrm>
          <a:prstGeom prst="roundRect">
            <a:avLst>
              <a:gd name="adj" fmla="val 854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72200" y="2071389"/>
            <a:ext cx="2676525" cy="1114276"/>
          </a:xfrm>
          <a:prstGeom prst="roundRect">
            <a:avLst>
              <a:gd name="adj" fmla="val 854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01125" y="2071389"/>
            <a:ext cx="2676525" cy="1114276"/>
          </a:xfrm>
          <a:prstGeom prst="roundRect">
            <a:avLst>
              <a:gd name="adj" fmla="val 854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4350" y="5981551"/>
            <a:ext cx="38100" cy="5334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How Utility Drives Machine Decisions</a:t>
            </a:r>
          </a:p>
        </p:txBody>
      </p:sp>
      <p:sp>
        <p:nvSpPr>
          <p:cNvPr id="10" name="TextBox 9"/>
          <p:cNvSpPr txBox="1"/>
          <p:nvPr/>
        </p:nvSpPr>
        <p:spPr>
          <a:xfrm>
            <a:off x="666750" y="2223789"/>
            <a:ext cx="2466975" cy="809476"/>
          </a:xfrm>
          <a:prstGeom prst="rect">
            <a:avLst/>
          </a:prstGeom>
          <a:noFill/>
        </p:spPr>
        <p:txBody>
          <a:bodyPr wrap="square" lIns="0" rIns="0" tIns="0" bIns="0" anchor="t">
            <a:spAutoFit/>
          </a:bodyPr>
          <a:lstStyle/>
          <a:p>
            <a:pPr algn="l"/>
            <a:r>
              <a:rPr b="1" sz="1050" i="0" u="none">
                <a:solidFill>
                  <a:srgbClr val="2563EB"/>
                </a:solidFill>
                <a:latin typeface="Plus Jakarta Sans"/>
              </a:rPr>
              <a:t>1. Actions (α</a:t>
            </a:r>
            <a:r>
              <a:rPr b="1" sz="875" i="0" u="none">
                <a:solidFill>
                  <a:srgbClr val="2563EB"/>
                </a:solidFill>
                <a:latin typeface="Plus Jakarta Sans"/>
              </a:rPr>
              <a:t>i</a:t>
            </a:r>
            <a:r>
              <a:rPr b="1" sz="1050" i="0" u="none">
                <a:solidFill>
                  <a:srgbClr val="2563EB"/>
                </a:solidFill>
                <a:latin typeface="Plus Jakarta Sans"/>
              </a:rPr>
              <a:t>)</a:t>
            </a:r>
          </a:p>
        </p:txBody>
      </p:sp>
      <p:sp>
        <p:nvSpPr>
          <p:cNvPr id="11" name="TextBox 10"/>
          <p:cNvSpPr txBox="1"/>
          <p:nvPr/>
        </p:nvSpPr>
        <p:spPr>
          <a:xfrm>
            <a:off x="3495675" y="2223789"/>
            <a:ext cx="2466975" cy="809476"/>
          </a:xfrm>
          <a:prstGeom prst="rect">
            <a:avLst/>
          </a:prstGeom>
          <a:noFill/>
        </p:spPr>
        <p:txBody>
          <a:bodyPr wrap="square" lIns="0" rIns="0" tIns="0" bIns="0" anchor="t">
            <a:spAutoFit/>
          </a:bodyPr>
          <a:lstStyle/>
          <a:p>
            <a:pPr algn="l"/>
            <a:r>
              <a:rPr b="1" sz="1050" i="0" u="none">
                <a:solidFill>
                  <a:srgbClr val="0D9488"/>
                </a:solidFill>
                <a:latin typeface="Plus Jakarta Sans"/>
              </a:rPr>
              <a:t>2. States (S</a:t>
            </a:r>
            <a:r>
              <a:rPr b="1" sz="875" i="0" u="none">
                <a:solidFill>
                  <a:srgbClr val="0D9488"/>
                </a:solidFill>
                <a:latin typeface="Plus Jakarta Sans"/>
              </a:rPr>
              <a:t>k</a:t>
            </a:r>
            <a:r>
              <a:rPr b="1" sz="1050" i="0" u="none">
                <a:solidFill>
                  <a:srgbClr val="0D9488"/>
                </a:solidFill>
                <a:latin typeface="Plus Jakarta Sans"/>
              </a:rPr>
              <a:t>)</a:t>
            </a:r>
          </a:p>
        </p:txBody>
      </p:sp>
      <p:sp>
        <p:nvSpPr>
          <p:cNvPr id="12" name="TextBox 11"/>
          <p:cNvSpPr txBox="1"/>
          <p:nvPr/>
        </p:nvSpPr>
        <p:spPr>
          <a:xfrm>
            <a:off x="6324600" y="2223789"/>
            <a:ext cx="2466975" cy="809476"/>
          </a:xfrm>
          <a:prstGeom prst="rect">
            <a:avLst/>
          </a:prstGeom>
          <a:noFill/>
        </p:spPr>
        <p:txBody>
          <a:bodyPr wrap="square" lIns="0" rIns="0" tIns="0" bIns="0" anchor="t">
            <a:spAutoFit/>
          </a:bodyPr>
          <a:lstStyle/>
          <a:p>
            <a:pPr algn="l"/>
            <a:r>
              <a:rPr b="1" sz="1050" i="0" u="none">
                <a:solidFill>
                  <a:srgbClr val="7C3AED"/>
                </a:solidFill>
                <a:latin typeface="Plus Jakarta Sans"/>
              </a:rPr>
              <a:t>3. Probabilities</a:t>
            </a:r>
          </a:p>
        </p:txBody>
      </p:sp>
      <p:sp>
        <p:nvSpPr>
          <p:cNvPr id="13" name="TextBox 12"/>
          <p:cNvSpPr txBox="1"/>
          <p:nvPr/>
        </p:nvSpPr>
        <p:spPr>
          <a:xfrm>
            <a:off x="9153525" y="2223789"/>
            <a:ext cx="2466975" cy="809476"/>
          </a:xfrm>
          <a:prstGeom prst="rect">
            <a:avLst/>
          </a:prstGeom>
          <a:noFill/>
        </p:spPr>
        <p:txBody>
          <a:bodyPr wrap="square" lIns="0" rIns="0" tIns="0" bIns="0" anchor="t">
            <a:spAutoFit/>
          </a:bodyPr>
          <a:lstStyle/>
          <a:p>
            <a:pPr algn="l"/>
            <a:r>
              <a:rPr b="1" sz="1050" i="0" u="none">
                <a:solidFill>
                  <a:srgbClr val="D97706"/>
                </a:solidFill>
                <a:latin typeface="Plus Jakarta Sans"/>
              </a:rPr>
              <a:t>4. Utility (U</a:t>
            </a:r>
            <a:r>
              <a:rPr b="1" sz="875" i="0" u="none">
                <a:solidFill>
                  <a:srgbClr val="D97706"/>
                </a:solidFill>
                <a:latin typeface="Plus Jakarta Sans"/>
              </a:rPr>
              <a:t>ik</a:t>
            </a:r>
            <a:r>
              <a:rPr b="1" sz="1050" i="0" u="none">
                <a:solidFill>
                  <a:srgbClr val="D97706"/>
                </a:solidFill>
                <a:latin typeface="Plus Jakarta Sans"/>
              </a:rPr>
              <a:t>)</a:t>
            </a:r>
          </a:p>
        </p:txBody>
      </p:sp>
      <p:sp>
        <p:nvSpPr>
          <p:cNvPr id="14" name="TextBox 13"/>
          <p:cNvSpPr txBox="1"/>
          <p:nvPr/>
        </p:nvSpPr>
        <p:spPr>
          <a:xfrm>
            <a:off x="714375" y="4333130"/>
            <a:ext cx="11477625" cy="171450"/>
          </a:xfrm>
          <a:prstGeom prst="rect">
            <a:avLst/>
          </a:prstGeom>
          <a:noFill/>
        </p:spPr>
        <p:txBody>
          <a:bodyPr wrap="none" lIns="0" rIns="0" tIns="0" bIns="0" anchor="t">
            <a:spAutoFit/>
          </a:bodyPr>
          <a:lstStyle/>
          <a:p>
            <a:pPr algn="l"/>
            <a:r>
              <a:rPr b="1" sz="1050" i="0" u="none">
                <a:solidFill>
                  <a:srgbClr val="64748B"/>
                </a:solidFill>
                <a:latin typeface="Plus Jakarta Sans"/>
              </a:rPr>
              <a:t>THE RATIONAL DECISION PIPELINE</a:t>
            </a:r>
          </a:p>
        </p:txBody>
      </p:sp>
      <p:sp>
        <p:nvSpPr>
          <p:cNvPr id="15" name="TextBox 14"/>
          <p:cNvSpPr txBox="1"/>
          <p:nvPr/>
        </p:nvSpPr>
        <p:spPr>
          <a:xfrm>
            <a:off x="704850" y="6076801"/>
            <a:ext cx="10915650" cy="342900"/>
          </a:xfrm>
          <a:prstGeom prst="rect">
            <a:avLst/>
          </a:prstGeom>
          <a:noFill/>
        </p:spPr>
        <p:txBody>
          <a:bodyPr wrap="square" lIns="0" rIns="0" tIns="0" bIns="0" anchor="t">
            <a:spAutoFit/>
          </a:bodyPr>
          <a:lstStyle/>
          <a:p>
            <a:pPr algn="l"/>
            <a:r>
              <a:rPr b="1" sz="1050" i="0" u="none">
                <a:solidFill>
                  <a:srgbClr val="134E4A"/>
                </a:solidFill>
                <a:latin typeface="Plus Jakarta Sans"/>
              </a:rPr>
              <a:t>Teacher Note &amp; Classroom Script:</a:t>
            </a:r>
            <a:r>
              <a:rPr b="0" sz="1050" i="0" u="none">
                <a:solidFill>
                  <a:srgbClr val="134E4A"/>
                </a:solidFill>
                <a:latin typeface="Plus Jakarta Sans"/>
              </a:rPr>
              <a:t> "Explain: We don't know the exact future state with 100% certainty. But we know the probabilities and the payoffs. Expected Utility combines both into a single scorecard."</a:t>
            </a:r>
          </a:p>
        </p:txBody>
      </p:sp>
      <p:sp>
        <p:nvSpPr>
          <p:cNvPr id="16" name="TextBox 15"/>
          <p:cNvSpPr txBox="1"/>
          <p:nvPr/>
        </p:nvSpPr>
        <p:spPr>
          <a:xfrm>
            <a:off x="514350" y="342900"/>
            <a:ext cx="2155031" cy="171450"/>
          </a:xfrm>
          <a:prstGeom prst="rect">
            <a:avLst/>
          </a:prstGeom>
          <a:noFill/>
        </p:spPr>
        <p:txBody>
          <a:bodyPr wrap="none" lIns="0" rIns="0" tIns="0" bIns="0" anchor="t">
            <a:spAutoFit/>
          </a:bodyPr>
          <a:lstStyle/>
          <a:p>
            <a:pPr algn="l"/>
            <a:r>
              <a:rPr b="1" sz="1050" i="0" u="none">
                <a:solidFill>
                  <a:srgbClr val="0D9488"/>
                </a:solidFill>
                <a:latin typeface="Plus Jakarta Sans"/>
              </a:rPr>
              <a:t>DECISION FRAMEWORK</a:t>
            </a:r>
          </a:p>
        </p:txBody>
      </p:sp>
      <p:sp>
        <p:nvSpPr>
          <p:cNvPr id="17" name="TextBox 16"/>
          <p:cNvSpPr txBox="1"/>
          <p:nvPr/>
        </p:nvSpPr>
        <p:spPr>
          <a:xfrm>
            <a:off x="9896475" y="342900"/>
            <a:ext cx="2226468" cy="171450"/>
          </a:xfrm>
          <a:prstGeom prst="rect">
            <a:avLst/>
          </a:prstGeom>
          <a:noFill/>
        </p:spPr>
        <p:txBody>
          <a:bodyPr wrap="none" lIns="0" rIns="0" tIns="0" bIns="0" anchor="t">
            <a:spAutoFit/>
          </a:bodyPr>
          <a:lstStyle/>
          <a:p>
            <a:pPr algn="l"/>
            <a:r>
              <a:rPr b="1" sz="1050" i="0" u="none">
                <a:solidFill>
                  <a:srgbClr val="64748B"/>
                </a:solidFill>
                <a:latin typeface="Plus Jakarta Sans"/>
              </a:rPr>
              <a:t>The 4 Essential Components</a:t>
            </a:r>
          </a:p>
        </p:txBody>
      </p:sp>
      <p:sp>
        <p:nvSpPr>
          <p:cNvPr id="18" name="TextBox 17"/>
          <p:cNvSpPr txBox="1"/>
          <p:nvPr/>
        </p:nvSpPr>
        <p:spPr>
          <a:xfrm>
            <a:off x="676275" y="2517130"/>
            <a:ext cx="2447925" cy="438150"/>
          </a:xfrm>
          <a:prstGeom prst="rect">
            <a:avLst/>
          </a:prstGeom>
          <a:noFill/>
        </p:spPr>
        <p:txBody>
          <a:bodyPr wrap="square" lIns="0" rIns="0" tIns="0" bIns="0" anchor="t">
            <a:spAutoFit/>
          </a:bodyPr>
          <a:lstStyle/>
          <a:p>
            <a:pPr algn="l"/>
            <a:r>
              <a:rPr b="0" sz="1350" i="0" u="none">
                <a:solidFill>
                  <a:srgbClr val="334155"/>
                </a:solidFill>
                <a:latin typeface="Plus Jakarta Sans"/>
              </a:rPr>
              <a:t>Decisions we can take (e.g., Treat patient or Discharge).</a:t>
            </a:r>
          </a:p>
        </p:txBody>
      </p:sp>
      <p:sp>
        <p:nvSpPr>
          <p:cNvPr id="19" name="TextBox 18"/>
          <p:cNvSpPr txBox="1"/>
          <p:nvPr/>
        </p:nvSpPr>
        <p:spPr>
          <a:xfrm>
            <a:off x="3505200" y="2517130"/>
            <a:ext cx="2447925" cy="438150"/>
          </a:xfrm>
          <a:prstGeom prst="rect">
            <a:avLst/>
          </a:prstGeom>
          <a:noFill/>
        </p:spPr>
        <p:txBody>
          <a:bodyPr wrap="square" lIns="0" rIns="0" tIns="0" bIns="0" anchor="t">
            <a:spAutoFit/>
          </a:bodyPr>
          <a:lstStyle/>
          <a:p>
            <a:pPr algn="l"/>
            <a:r>
              <a:rPr b="0" sz="1350" i="0" u="none">
                <a:solidFill>
                  <a:srgbClr val="334155"/>
                </a:solidFill>
                <a:latin typeface="Plus Jakarta Sans"/>
              </a:rPr>
              <a:t>True condition of nature (e.g., Patient is Sick or Healthy).</a:t>
            </a:r>
          </a:p>
        </p:txBody>
      </p:sp>
      <p:sp>
        <p:nvSpPr>
          <p:cNvPr id="20" name="TextBox 19"/>
          <p:cNvSpPr txBox="1"/>
          <p:nvPr/>
        </p:nvSpPr>
        <p:spPr>
          <a:xfrm>
            <a:off x="6334125" y="2490489"/>
            <a:ext cx="2447925" cy="472380"/>
          </a:xfrm>
          <a:prstGeom prst="rect">
            <a:avLst/>
          </a:prstGeom>
          <a:noFill/>
        </p:spPr>
        <p:txBody>
          <a:bodyPr wrap="square" lIns="0" rIns="0" tIns="0" bIns="0" anchor="t">
            <a:spAutoFit/>
          </a:bodyPr>
          <a:lstStyle/>
          <a:p>
            <a:pPr algn="l"/>
            <a:r>
              <a:rPr b="0" sz="1350" i="0" u="none">
                <a:solidFill>
                  <a:srgbClr val="334155"/>
                </a:solidFill>
                <a:latin typeface="Plus Jakarta Sans"/>
              </a:rPr>
              <a:t>Belief given evidence: P(S</a:t>
            </a:r>
            <a:r>
              <a:rPr b="0" sz="1125" i="0" u="none">
                <a:solidFill>
                  <a:srgbClr val="334155"/>
                </a:solidFill>
                <a:latin typeface="Plus Jakarta Sans"/>
              </a:rPr>
              <a:t>k</a:t>
            </a:r>
            <a:r>
              <a:rPr b="0" sz="1350" i="0" u="none">
                <a:solidFill>
                  <a:srgbClr val="334155"/>
                </a:solidFill>
                <a:latin typeface="Plus Jakarta Sans"/>
              </a:rPr>
              <a:t> | x).</a:t>
            </a:r>
          </a:p>
        </p:txBody>
      </p:sp>
      <p:sp>
        <p:nvSpPr>
          <p:cNvPr id="21" name="TextBox 20"/>
          <p:cNvSpPr txBox="1"/>
          <p:nvPr/>
        </p:nvSpPr>
        <p:spPr>
          <a:xfrm>
            <a:off x="9163050" y="2517130"/>
            <a:ext cx="2447925" cy="506610"/>
          </a:xfrm>
          <a:prstGeom prst="rect">
            <a:avLst/>
          </a:prstGeom>
          <a:noFill/>
        </p:spPr>
        <p:txBody>
          <a:bodyPr wrap="square" lIns="0" rIns="0" tIns="0" bIns="0" anchor="t">
            <a:spAutoFit/>
          </a:bodyPr>
          <a:lstStyle/>
          <a:p>
            <a:pPr algn="l"/>
            <a:r>
              <a:rPr b="0" sz="1350" i="0" u="none">
                <a:solidFill>
                  <a:srgbClr val="334155"/>
                </a:solidFill>
                <a:latin typeface="Plus Jakarta Sans"/>
              </a:rPr>
              <a:t>Payoff of choosing action α</a:t>
            </a:r>
            <a:r>
              <a:rPr b="0" sz="1125" i="0" u="none">
                <a:solidFill>
                  <a:srgbClr val="334155"/>
                </a:solidFill>
                <a:latin typeface="Plus Jakarta Sans"/>
              </a:rPr>
              <a:t>i</a:t>
            </a:r>
            <a:r>
              <a:rPr b="0" sz="1350" i="0" u="none">
                <a:solidFill>
                  <a:srgbClr val="334155"/>
                </a:solidFill>
                <a:latin typeface="Plus Jakarta Sans"/>
              </a:rPr>
              <a:t> when state S</a:t>
            </a:r>
            <a:r>
              <a:rPr b="0" sz="1125" i="0" u="none">
                <a:solidFill>
                  <a:srgbClr val="334155"/>
                </a:solidFill>
                <a:latin typeface="Plus Jakarta Sans"/>
              </a:rPr>
              <a:t>k</a:t>
            </a:r>
            <a:r>
              <a:rPr b="0" sz="1350" i="0" u="none">
                <a:solidFill>
                  <a:srgbClr val="334155"/>
                </a:solidFill>
                <a:latin typeface="Plus Jakarta Sans"/>
              </a:rPr>
              <a:t> happens.</a:t>
            </a:r>
          </a:p>
        </p:txBody>
      </p:sp>
      <p:sp>
        <p:nvSpPr>
          <p:cNvPr id="22" name="TextBox 21"/>
          <p:cNvSpPr txBox="1"/>
          <p:nvPr/>
        </p:nvSpPr>
        <p:spPr>
          <a:xfrm>
            <a:off x="714375" y="4597896"/>
            <a:ext cx="2202656" cy="219075"/>
          </a:xfrm>
          <a:prstGeom prst="rect">
            <a:avLst/>
          </a:prstGeom>
          <a:noFill/>
        </p:spPr>
        <p:txBody>
          <a:bodyPr wrap="none" lIns="0" rIns="0" tIns="0" bIns="0" anchor="t">
            <a:spAutoFit/>
          </a:bodyPr>
          <a:lstStyle/>
          <a:p>
            <a:pPr algn="l"/>
            <a:r>
              <a:rPr b="1" sz="1350" i="0" u="none">
                <a:solidFill>
                  <a:srgbClr val="0F172A"/>
                </a:solidFill>
                <a:latin typeface="Plus Jakarta Sans"/>
              </a:rPr>
              <a:t>Observe Evidence (x)</a:t>
            </a:r>
          </a:p>
        </p:txBody>
      </p:sp>
      <p:sp>
        <p:nvSpPr>
          <p:cNvPr id="23" name="TextBox 22"/>
          <p:cNvSpPr txBox="1"/>
          <p:nvPr/>
        </p:nvSpPr>
        <p:spPr>
          <a:xfrm>
            <a:off x="3109912" y="4607421"/>
            <a:ext cx="419100" cy="200025"/>
          </a:xfrm>
          <a:prstGeom prst="rect">
            <a:avLst/>
          </a:prstGeom>
          <a:noFill/>
        </p:spPr>
        <p:txBody>
          <a:bodyPr wrap="none" lIns="0" rIns="0" tIns="0" bIns="0" anchor="t">
            <a:spAutoFit/>
          </a:bodyPr>
          <a:lstStyle/>
          <a:p>
            <a:pPr algn="l"/>
            <a:r>
              <a:rPr b="0" sz="1200" i="0" u="none">
                <a:solidFill>
                  <a:srgbClr val="0F172A"/>
                </a:solidFill>
                <a:latin typeface="Plus Jakarta Sans"/>
              </a:rPr>
              <a:t>➔</a:t>
            </a:r>
          </a:p>
        </p:txBody>
      </p:sp>
      <p:sp>
        <p:nvSpPr>
          <p:cNvPr id="24" name="TextBox 23"/>
          <p:cNvSpPr txBox="1"/>
          <p:nvPr/>
        </p:nvSpPr>
        <p:spPr>
          <a:xfrm>
            <a:off x="3876675" y="4580780"/>
            <a:ext cx="1774031" cy="253305"/>
          </a:xfrm>
          <a:prstGeom prst="rect">
            <a:avLst/>
          </a:prstGeom>
          <a:noFill/>
        </p:spPr>
        <p:txBody>
          <a:bodyPr wrap="none" lIns="0" rIns="0" tIns="0" bIns="0" anchor="t">
            <a:spAutoFit/>
          </a:bodyPr>
          <a:lstStyle/>
          <a:p>
            <a:pPr algn="l"/>
            <a:r>
              <a:rPr b="1" sz="1350" i="0" u="none">
                <a:solidFill>
                  <a:srgbClr val="0F172A"/>
                </a:solidFill>
                <a:latin typeface="Plus Jakarta Sans"/>
              </a:rPr>
              <a:t>Compute P(S</a:t>
            </a:r>
            <a:r>
              <a:rPr b="1" sz="1125" i="0" u="none">
                <a:solidFill>
                  <a:srgbClr val="0F172A"/>
                </a:solidFill>
                <a:latin typeface="Plus Jakarta Sans"/>
              </a:rPr>
              <a:t>k</a:t>
            </a:r>
            <a:r>
              <a:rPr b="1" sz="1350" i="0" u="none">
                <a:solidFill>
                  <a:srgbClr val="0F172A"/>
                </a:solidFill>
                <a:latin typeface="Plus Jakarta Sans"/>
              </a:rPr>
              <a:t>|x)</a:t>
            </a:r>
          </a:p>
        </p:txBody>
      </p:sp>
      <p:sp>
        <p:nvSpPr>
          <p:cNvPr id="25" name="TextBox 24"/>
          <p:cNvSpPr txBox="1"/>
          <p:nvPr/>
        </p:nvSpPr>
        <p:spPr>
          <a:xfrm>
            <a:off x="5929312" y="4607421"/>
            <a:ext cx="419100" cy="200025"/>
          </a:xfrm>
          <a:prstGeom prst="rect">
            <a:avLst/>
          </a:prstGeom>
          <a:noFill/>
        </p:spPr>
        <p:txBody>
          <a:bodyPr wrap="none" lIns="0" rIns="0" tIns="0" bIns="0" anchor="t">
            <a:spAutoFit/>
          </a:bodyPr>
          <a:lstStyle/>
          <a:p>
            <a:pPr algn="l"/>
            <a:r>
              <a:rPr b="0" sz="1200" i="0" u="none">
                <a:solidFill>
                  <a:srgbClr val="0F172A"/>
                </a:solidFill>
                <a:latin typeface="Plus Jakarta Sans"/>
              </a:rPr>
              <a:t>➔</a:t>
            </a:r>
          </a:p>
        </p:txBody>
      </p:sp>
      <p:sp>
        <p:nvSpPr>
          <p:cNvPr id="26" name="TextBox 25"/>
          <p:cNvSpPr txBox="1"/>
          <p:nvPr/>
        </p:nvSpPr>
        <p:spPr>
          <a:xfrm>
            <a:off x="6696075" y="4580780"/>
            <a:ext cx="2083593" cy="253305"/>
          </a:xfrm>
          <a:prstGeom prst="rect">
            <a:avLst/>
          </a:prstGeom>
          <a:noFill/>
        </p:spPr>
        <p:txBody>
          <a:bodyPr wrap="none" lIns="0" rIns="0" tIns="0" bIns="0" anchor="t">
            <a:spAutoFit/>
          </a:bodyPr>
          <a:lstStyle/>
          <a:p>
            <a:pPr algn="l"/>
            <a:r>
              <a:rPr b="1" sz="1350" i="0" u="none">
                <a:solidFill>
                  <a:srgbClr val="0F172A"/>
                </a:solidFill>
                <a:latin typeface="Plus Jakarta Sans"/>
              </a:rPr>
              <a:t>Weigh by Utilities U</a:t>
            </a:r>
            <a:r>
              <a:rPr b="1" sz="1125" i="0" u="none">
                <a:solidFill>
                  <a:srgbClr val="0F172A"/>
                </a:solidFill>
                <a:latin typeface="Plus Jakarta Sans"/>
              </a:rPr>
              <a:t>ik</a:t>
            </a:r>
          </a:p>
        </p:txBody>
      </p:sp>
      <p:sp>
        <p:nvSpPr>
          <p:cNvPr id="27" name="TextBox 26"/>
          <p:cNvSpPr txBox="1"/>
          <p:nvPr/>
        </p:nvSpPr>
        <p:spPr>
          <a:xfrm>
            <a:off x="8996362" y="4607421"/>
            <a:ext cx="419100" cy="200025"/>
          </a:xfrm>
          <a:prstGeom prst="rect">
            <a:avLst/>
          </a:prstGeom>
          <a:noFill/>
        </p:spPr>
        <p:txBody>
          <a:bodyPr wrap="none" lIns="0" rIns="0" tIns="0" bIns="0" anchor="t">
            <a:spAutoFit/>
          </a:bodyPr>
          <a:lstStyle/>
          <a:p>
            <a:pPr algn="l"/>
            <a:r>
              <a:rPr b="0" sz="1200" i="0" u="none">
                <a:solidFill>
                  <a:srgbClr val="0F172A"/>
                </a:solidFill>
                <a:latin typeface="Plus Jakarta Sans"/>
              </a:rPr>
              <a:t>➔</a:t>
            </a:r>
          </a:p>
        </p:txBody>
      </p:sp>
      <p:sp>
        <p:nvSpPr>
          <p:cNvPr id="28" name="TextBox 27"/>
          <p:cNvSpPr txBox="1"/>
          <p:nvPr/>
        </p:nvSpPr>
        <p:spPr>
          <a:xfrm>
            <a:off x="9763125" y="4597896"/>
            <a:ext cx="2143125" cy="219075"/>
          </a:xfrm>
          <a:prstGeom prst="rect">
            <a:avLst/>
          </a:prstGeom>
          <a:noFill/>
        </p:spPr>
        <p:txBody>
          <a:bodyPr wrap="none" lIns="0" rIns="0" tIns="0" bIns="0" anchor="t">
            <a:spAutoFit/>
          </a:bodyPr>
          <a:lstStyle/>
          <a:p>
            <a:pPr algn="l"/>
            <a:r>
              <a:rPr b="1" sz="1350" i="0" u="none">
                <a:solidFill>
                  <a:srgbClr val="0D9488"/>
                </a:solidFill>
                <a:latin typeface="Plus Jakarta Sans"/>
              </a:rPr>
              <a:t>Max Expected Utility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551"/>
            <a:ext cx="11163300" cy="533400"/>
          </a:xfrm>
          <a:prstGeom prst="roundRect">
            <a:avLst>
              <a:gd name="adj" fmla="val 10714"/>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912739"/>
            <a:ext cx="5921126" cy="3241923"/>
          </a:xfrm>
          <a:prstGeom prst="roundRect">
            <a:avLst>
              <a:gd name="adj" fmla="val 352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4076" y="1912739"/>
            <a:ext cx="5013573" cy="3241923"/>
          </a:xfrm>
          <a:prstGeom prst="roundRect">
            <a:avLst>
              <a:gd name="adj" fmla="val 352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551"/>
            <a:ext cx="38100" cy="5334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02201" y="2724150"/>
            <a:ext cx="4537323" cy="746521"/>
          </a:xfrm>
          <a:prstGeom prst="roundRect">
            <a:avLst>
              <a:gd name="adj" fmla="val 7655"/>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02201" y="3882032"/>
            <a:ext cx="4537323" cy="1034355"/>
          </a:xfrm>
          <a:prstGeom prst="roundRect">
            <a:avLst>
              <a:gd name="adj" fmla="val 736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2475" y="2150864"/>
            <a:ext cx="5444876" cy="980926"/>
          </a:xfrm>
          <a:prstGeom prst="roundRect">
            <a:avLst>
              <a:gd name="adj" fmla="val 9710"/>
            </a:avLst>
          </a:prstGeom>
          <a:solidFill>
            <a:srgbClr val="F0FDFA"/>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02201" y="2724150"/>
            <a:ext cx="38100" cy="74652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Expected Utility: The Master Formula</a:t>
            </a:r>
          </a:p>
        </p:txBody>
      </p:sp>
      <p:sp>
        <p:nvSpPr>
          <p:cNvPr id="11" name="TextBox 10"/>
          <p:cNvSpPr txBox="1"/>
          <p:nvPr/>
        </p:nvSpPr>
        <p:spPr>
          <a:xfrm>
            <a:off x="704850" y="6076801"/>
            <a:ext cx="10915650" cy="342900"/>
          </a:xfrm>
          <a:prstGeom prst="rect">
            <a:avLst/>
          </a:prstGeom>
          <a:noFill/>
        </p:spPr>
        <p:txBody>
          <a:bodyPr wrap="square" lIns="0" rIns="0" tIns="0" bIns="0" anchor="t">
            <a:spAutoFit/>
          </a:bodyPr>
          <a:lstStyle/>
          <a:p>
            <a:pPr algn="l"/>
            <a:r>
              <a:rPr b="1" sz="1050" i="0" u="none">
                <a:solidFill>
                  <a:srgbClr val="134E4A"/>
                </a:solidFill>
                <a:latin typeface="Plus Jakarta Sans"/>
              </a:rPr>
              <a:t>Teacher Note &amp; Classroom Script:</a:t>
            </a:r>
            <a:r>
              <a:rPr b="0" sz="1050" i="0" u="none">
                <a:solidFill>
                  <a:srgbClr val="134E4A"/>
                </a:solidFill>
                <a:latin typeface="Plus Jakarta Sans"/>
              </a:rPr>
              <a:t> "Reiterate to students: Σ is just a loop! In programming: `total = sum([U[i][k] * P[k] for k in states])`. That is all this mathematical formula represents."</a:t>
            </a:r>
          </a:p>
        </p:txBody>
      </p:sp>
      <p:sp>
        <p:nvSpPr>
          <p:cNvPr id="12" name="TextBox 11"/>
          <p:cNvSpPr txBox="1"/>
          <p:nvPr/>
        </p:nvSpPr>
        <p:spPr>
          <a:xfrm>
            <a:off x="514350" y="342900"/>
            <a:ext cx="2857500" cy="171450"/>
          </a:xfrm>
          <a:prstGeom prst="rect">
            <a:avLst/>
          </a:prstGeom>
          <a:noFill/>
        </p:spPr>
        <p:txBody>
          <a:bodyPr wrap="none" lIns="0" rIns="0" tIns="0" bIns="0" anchor="t">
            <a:spAutoFit/>
          </a:bodyPr>
          <a:lstStyle/>
          <a:p>
            <a:pPr algn="l"/>
            <a:r>
              <a:rPr b="1" sz="1050" i="0" u="none">
                <a:solidFill>
                  <a:srgbClr val="0D9488"/>
                </a:solidFill>
                <a:latin typeface="Plus Jakarta Sans"/>
              </a:rPr>
              <a:t>MATHEMATICAL FORMULATION</a:t>
            </a:r>
          </a:p>
        </p:txBody>
      </p:sp>
      <p:sp>
        <p:nvSpPr>
          <p:cNvPr id="13" name="TextBox 12"/>
          <p:cNvSpPr txBox="1"/>
          <p:nvPr/>
        </p:nvSpPr>
        <p:spPr>
          <a:xfrm>
            <a:off x="10153650" y="342900"/>
            <a:ext cx="1905000" cy="171450"/>
          </a:xfrm>
          <a:prstGeom prst="rect">
            <a:avLst/>
          </a:prstGeom>
          <a:noFill/>
        </p:spPr>
        <p:txBody>
          <a:bodyPr wrap="none" lIns="0" rIns="0" tIns="0" bIns="0" anchor="t">
            <a:spAutoFit/>
          </a:bodyPr>
          <a:lstStyle/>
          <a:p>
            <a:pPr algn="l"/>
            <a:r>
              <a:rPr b="1" sz="1050" i="0" u="none">
                <a:solidFill>
                  <a:srgbClr val="64748B"/>
                </a:solidFill>
                <a:latin typeface="Plus Jakarta Sans"/>
              </a:rPr>
              <a:t>Ethem Alpaydin Eq. 3.22</a:t>
            </a:r>
          </a:p>
        </p:txBody>
      </p:sp>
      <p:sp>
        <p:nvSpPr>
          <p:cNvPr id="14" name="TextBox 13"/>
          <p:cNvSpPr txBox="1"/>
          <p:nvPr/>
        </p:nvSpPr>
        <p:spPr>
          <a:xfrm>
            <a:off x="6902201" y="2150864"/>
            <a:ext cx="5289798" cy="219075"/>
          </a:xfrm>
          <a:prstGeom prst="rect">
            <a:avLst/>
          </a:prstGeom>
          <a:noFill/>
        </p:spPr>
        <p:txBody>
          <a:bodyPr wrap="none" lIns="0" rIns="0" tIns="0" bIns="0" anchor="t">
            <a:spAutoFit/>
          </a:bodyPr>
          <a:lstStyle/>
          <a:p>
            <a:pPr algn="l"/>
            <a:r>
              <a:rPr b="1" sz="1350" i="0" u="none">
                <a:solidFill>
                  <a:srgbClr val="0F172A"/>
                </a:solidFill>
                <a:latin typeface="Plus Jakarta Sans"/>
              </a:rPr>
              <a:t>The Translation Rule</a:t>
            </a:r>
          </a:p>
        </p:txBody>
      </p:sp>
      <p:sp>
        <p:nvSpPr>
          <p:cNvPr id="15" name="TextBox 14"/>
          <p:cNvSpPr txBox="1"/>
          <p:nvPr/>
        </p:nvSpPr>
        <p:spPr>
          <a:xfrm>
            <a:off x="7035551" y="4015382"/>
            <a:ext cx="4365873" cy="767655"/>
          </a:xfrm>
          <a:prstGeom prst="rect">
            <a:avLst/>
          </a:prstGeom>
          <a:noFill/>
        </p:spPr>
        <p:txBody>
          <a:bodyPr wrap="square" lIns="0" rIns="0" tIns="0" bIns="0" anchor="t">
            <a:spAutoFit/>
          </a:bodyPr>
          <a:lstStyle/>
          <a:p>
            <a:pPr algn="l"/>
            <a:r>
              <a:rPr b="1" sz="1350" i="0" u="none">
                <a:solidFill>
                  <a:srgbClr val="1E40AF"/>
                </a:solidFill>
                <a:latin typeface="Plus Jakarta Sans"/>
              </a:rPr>
              <a:t>Decision Rule:</a:t>
            </a:r>
            <a:r>
              <a:rPr b="1" sz="1350" i="0" u="none">
                <a:solidFill>
                  <a:srgbClr val="1E40AF"/>
                </a:solidFill>
                <a:latin typeface="Plus Jakarta Sans"/>
              </a:rPr>
              <a:t> </a:t>
            </a:r>
            <a:r>
              <a:rPr b="1" sz="1050" i="0" u="none">
                <a:solidFill>
                  <a:srgbClr val="64748B"/>
                </a:solidFill>
                <a:latin typeface="Plus Jakarta Sans"/>
              </a:rPr>
              <a:t>Always pick the action with maximum expected reward.</a:t>
            </a:r>
          </a:p>
        </p:txBody>
      </p:sp>
      <p:sp>
        <p:nvSpPr>
          <p:cNvPr id="16" name="TextBox 15"/>
          <p:cNvSpPr txBox="1"/>
          <p:nvPr/>
        </p:nvSpPr>
        <p:spPr>
          <a:xfrm>
            <a:off x="752475" y="3284190"/>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Variable-by-Variable Explanation:</a:t>
            </a:r>
          </a:p>
        </p:txBody>
      </p:sp>
      <p:sp>
        <p:nvSpPr>
          <p:cNvPr id="17" name="TextBox 16"/>
          <p:cNvSpPr txBox="1"/>
          <p:nvPr/>
        </p:nvSpPr>
        <p:spPr>
          <a:xfrm>
            <a:off x="7073651" y="2857500"/>
            <a:ext cx="4327773" cy="479821"/>
          </a:xfrm>
          <a:prstGeom prst="rect">
            <a:avLst/>
          </a:prstGeom>
          <a:noFill/>
        </p:spPr>
        <p:txBody>
          <a:bodyPr wrap="square" lIns="0" rIns="0" tIns="0" bIns="0" anchor="t">
            <a:spAutoFit/>
          </a:bodyPr>
          <a:lstStyle/>
          <a:p>
            <a:pPr algn="l">
              <a:lnSpc>
                <a:spcPts val="1889"/>
              </a:lnSpc>
            </a:pPr>
            <a:r>
              <a:rPr b="1" sz="1350" i="0" u="none">
                <a:solidFill>
                  <a:srgbClr val="065F46"/>
                </a:solidFill>
                <a:latin typeface="Plus Jakarta Sans"/>
              </a:rPr>
              <a:t>"Expected Utility = Sum of (Utility × Probability) for every possible state."</a:t>
            </a:r>
          </a:p>
        </p:txBody>
      </p:sp>
      <p:sp>
        <p:nvSpPr>
          <p:cNvPr id="18" name="TextBox 17"/>
          <p:cNvSpPr txBox="1"/>
          <p:nvPr/>
        </p:nvSpPr>
        <p:spPr>
          <a:xfrm>
            <a:off x="7045076" y="4301132"/>
            <a:ext cx="4346823" cy="262830"/>
          </a:xfrm>
          <a:prstGeom prst="rect">
            <a:avLst/>
          </a:prstGeom>
          <a:noFill/>
        </p:spPr>
        <p:txBody>
          <a:bodyPr wrap="square" lIns="0" rIns="0" tIns="0" bIns="0" anchor="t">
            <a:spAutoFit/>
          </a:bodyPr>
          <a:lstStyle/>
          <a:p>
            <a:pPr algn="l"/>
            <a:r>
              <a:rPr b="0" sz="1350" i="0" u="none">
                <a:solidFill>
                  <a:srgbClr val="1E293B"/>
                </a:solidFill>
                <a:latin typeface="Fira Code"/>
              </a:rPr>
              <a:t>Select α* = argmax</a:t>
            </a:r>
            <a:r>
              <a:rPr b="0" sz="1125" i="0" u="none">
                <a:solidFill>
                  <a:srgbClr val="1E293B"/>
                </a:solidFill>
                <a:latin typeface="Fira Code"/>
              </a:rPr>
              <a:t>i</a:t>
            </a:r>
            <a:r>
              <a:rPr b="0" sz="1350" i="0" u="none">
                <a:solidFill>
                  <a:srgbClr val="1E293B"/>
                </a:solidFill>
                <a:latin typeface="Fira Code"/>
              </a:rPr>
              <a:t> EU(α</a:t>
            </a:r>
            <a:r>
              <a:rPr b="0" sz="1125" i="0" u="none">
                <a:solidFill>
                  <a:srgbClr val="1E293B"/>
                </a:solidFill>
                <a:latin typeface="Fira Code"/>
              </a:rPr>
              <a:t>i</a:t>
            </a:r>
            <a:r>
              <a:rPr b="0" sz="1350" i="0" u="none">
                <a:solidFill>
                  <a:srgbClr val="1E293B"/>
                </a:solidFill>
                <a:latin typeface="Fira Code"/>
              </a:rPr>
              <a:t> | x)</a:t>
            </a:r>
          </a:p>
        </p:txBody>
      </p:sp>
      <p:sp>
        <p:nvSpPr>
          <p:cNvPr id="19" name="TextBox 18"/>
          <p:cNvSpPr txBox="1"/>
          <p:nvPr/>
        </p:nvSpPr>
        <p:spPr>
          <a:xfrm>
            <a:off x="286177" y="2322314"/>
            <a:ext cx="6377471" cy="207615"/>
          </a:xfrm>
          <a:prstGeom prst="rect">
            <a:avLst/>
          </a:prstGeom>
          <a:noFill/>
        </p:spPr>
        <p:txBody>
          <a:bodyPr wrap="square" lIns="0" rIns="0" tIns="0" bIns="0" anchor="t">
            <a:spAutoFit/>
          </a:bodyPr>
          <a:lstStyle/>
          <a:p>
            <a:pPr algn="ctr"/>
            <a:r>
              <a:rPr b="1" sz="1050" i="0" u="none">
                <a:solidFill>
                  <a:srgbClr val="0F766E"/>
                </a:solidFill>
                <a:latin typeface="Plus Jakarta Sans"/>
              </a:rPr>
              <a:t>EXPECTED UTILITY OF ACTION Α</a:t>
            </a:r>
            <a:r>
              <a:rPr b="1" sz="875" i="0" u="none">
                <a:solidFill>
                  <a:srgbClr val="0F766E"/>
                </a:solidFill>
                <a:latin typeface="Plus Jakarta Sans"/>
              </a:rPr>
              <a:t>I</a:t>
            </a:r>
          </a:p>
        </p:txBody>
      </p:sp>
      <p:sp>
        <p:nvSpPr>
          <p:cNvPr id="20" name="TextBox 19"/>
          <p:cNvSpPr txBox="1"/>
          <p:nvPr/>
        </p:nvSpPr>
        <p:spPr>
          <a:xfrm>
            <a:off x="286177" y="2587079"/>
            <a:ext cx="6377471" cy="373260"/>
          </a:xfrm>
          <a:prstGeom prst="rect">
            <a:avLst/>
          </a:prstGeom>
          <a:noFill/>
        </p:spPr>
        <p:txBody>
          <a:bodyPr wrap="square" lIns="0" rIns="0" tIns="0" bIns="0" anchor="t">
            <a:spAutoFit/>
          </a:bodyPr>
          <a:lstStyle/>
          <a:p>
            <a:pPr algn="ctr"/>
            <a:r>
              <a:rPr b="1" sz="1950" i="0" u="none">
                <a:solidFill>
                  <a:srgbClr val="0F172A"/>
                </a:solidFill>
                <a:latin typeface="Fira Code"/>
              </a:rPr>
              <a:t>EU(α</a:t>
            </a:r>
            <a:r>
              <a:rPr b="1" sz="1625" i="0" u="none">
                <a:solidFill>
                  <a:srgbClr val="0F172A"/>
                </a:solidFill>
                <a:latin typeface="Fira Code"/>
              </a:rPr>
              <a:t>i</a:t>
            </a:r>
            <a:r>
              <a:rPr b="1" sz="1950" i="0" u="none">
                <a:solidFill>
                  <a:srgbClr val="0F172A"/>
                </a:solidFill>
                <a:latin typeface="Fira Code"/>
              </a:rPr>
              <a:t> | x) = Σ</a:t>
            </a:r>
            <a:r>
              <a:rPr b="1" sz="1625" i="0" u="none">
                <a:solidFill>
                  <a:srgbClr val="0F172A"/>
                </a:solidFill>
                <a:latin typeface="Fira Code"/>
              </a:rPr>
              <a:t>k</a:t>
            </a:r>
            <a:r>
              <a:rPr b="1" sz="1950" i="0" u="none">
                <a:solidFill>
                  <a:srgbClr val="0F172A"/>
                </a:solidFill>
                <a:latin typeface="Fira Code"/>
              </a:rPr>
              <a:t> U</a:t>
            </a:r>
            <a:r>
              <a:rPr b="1" sz="1625" i="0" u="none">
                <a:solidFill>
                  <a:srgbClr val="0F172A"/>
                </a:solidFill>
                <a:latin typeface="Fira Code"/>
              </a:rPr>
              <a:t>ik</a:t>
            </a:r>
            <a:r>
              <a:rPr b="1" sz="1950" i="0" u="none">
                <a:solidFill>
                  <a:srgbClr val="0F172A"/>
                </a:solidFill>
                <a:latin typeface="Fira Code"/>
              </a:rPr>
              <a:t> · P(S</a:t>
            </a:r>
            <a:r>
              <a:rPr b="1" sz="1625" i="0" u="none">
                <a:solidFill>
                  <a:srgbClr val="0F172A"/>
                </a:solidFill>
                <a:latin typeface="Fira Code"/>
              </a:rPr>
              <a:t>k</a:t>
            </a:r>
            <a:r>
              <a:rPr b="1" sz="1950" i="0" u="none">
                <a:solidFill>
                  <a:srgbClr val="0F172A"/>
                </a:solidFill>
                <a:latin typeface="Fira Code"/>
              </a:rPr>
              <a:t> | x)</a:t>
            </a:r>
          </a:p>
        </p:txBody>
      </p:sp>
      <p:sp>
        <p:nvSpPr>
          <p:cNvPr id="21" name="TextBox 20"/>
          <p:cNvSpPr txBox="1"/>
          <p:nvPr/>
        </p:nvSpPr>
        <p:spPr>
          <a:xfrm>
            <a:off x="752475" y="3598515"/>
            <a:ext cx="5540126" cy="272355"/>
          </a:xfrm>
          <a:prstGeom prst="rect">
            <a:avLst/>
          </a:prstGeom>
          <a:noFill/>
        </p:spPr>
        <p:txBody>
          <a:bodyPr wrap="square" lIns="0" rIns="0" tIns="0" bIns="0" anchor="t">
            <a:spAutoFit/>
          </a:bodyPr>
          <a:lstStyle/>
          <a:p>
            <a:pPr algn="l"/>
            <a:r>
              <a:rPr b="1" sz="1350" i="0" u="none">
                <a:solidFill>
                  <a:srgbClr val="0D9488"/>
                </a:solidFill>
                <a:latin typeface="Plus Jakarta Sans"/>
              </a:rPr>
              <a:t>EU(α</a:t>
            </a:r>
            <a:r>
              <a:rPr b="1" sz="1125" i="0" u="none">
                <a:solidFill>
                  <a:srgbClr val="0D9488"/>
                </a:solidFill>
                <a:latin typeface="Plus Jakarta Sans"/>
              </a:rPr>
              <a:t>i</a:t>
            </a:r>
            <a:r>
              <a:rPr b="1" sz="1350" i="0" u="none">
                <a:solidFill>
                  <a:srgbClr val="0D9488"/>
                </a:solidFill>
                <a:latin typeface="Plus Jakarta Sans"/>
              </a:rPr>
              <a:t> | x)</a:t>
            </a:r>
            <a:r>
              <a:rPr b="0" sz="1350" i="0" u="none">
                <a:solidFill>
                  <a:srgbClr val="334155"/>
                </a:solidFill>
                <a:latin typeface="Plus Jakarta Sans"/>
              </a:rPr>
              <a:t> : The average payoff if we execute action α</a:t>
            </a:r>
            <a:r>
              <a:rPr b="0" sz="1125" i="0" u="none">
                <a:solidFill>
                  <a:srgbClr val="334155"/>
                </a:solidFill>
                <a:latin typeface="Plus Jakarta Sans"/>
              </a:rPr>
              <a:t>i</a:t>
            </a:r>
            <a:r>
              <a:rPr b="0" sz="1350" i="0" u="none">
                <a:solidFill>
                  <a:srgbClr val="334155"/>
                </a:solidFill>
                <a:latin typeface="Plus Jakarta Sans"/>
              </a:rPr>
              <a:t>.</a:t>
            </a:r>
          </a:p>
        </p:txBody>
      </p:sp>
      <p:sp>
        <p:nvSpPr>
          <p:cNvPr id="22" name="TextBox 21"/>
          <p:cNvSpPr txBox="1"/>
          <p:nvPr/>
        </p:nvSpPr>
        <p:spPr>
          <a:xfrm>
            <a:off x="752475" y="3947070"/>
            <a:ext cx="5540126" cy="272355"/>
          </a:xfrm>
          <a:prstGeom prst="rect">
            <a:avLst/>
          </a:prstGeom>
          <a:noFill/>
        </p:spPr>
        <p:txBody>
          <a:bodyPr wrap="square" lIns="0" rIns="0" tIns="0" bIns="0" anchor="t">
            <a:spAutoFit/>
          </a:bodyPr>
          <a:lstStyle/>
          <a:p>
            <a:pPr algn="l"/>
            <a:r>
              <a:rPr b="1" sz="1350" i="0" u="none">
                <a:solidFill>
                  <a:srgbClr val="0D9488"/>
                </a:solidFill>
                <a:latin typeface="Plus Jakarta Sans"/>
              </a:rPr>
              <a:t>U</a:t>
            </a:r>
            <a:r>
              <a:rPr b="1" sz="1125" i="0" u="none">
                <a:solidFill>
                  <a:srgbClr val="0D9488"/>
                </a:solidFill>
                <a:latin typeface="Plus Jakarta Sans"/>
              </a:rPr>
              <a:t>ik</a:t>
            </a:r>
            <a:r>
              <a:rPr b="0" sz="1350" i="0" u="none">
                <a:solidFill>
                  <a:srgbClr val="334155"/>
                </a:solidFill>
                <a:latin typeface="Plus Jakarta Sans"/>
              </a:rPr>
              <a:t> : Utility value obtained if action α</a:t>
            </a:r>
            <a:r>
              <a:rPr b="0" sz="1125" i="0" u="none">
                <a:solidFill>
                  <a:srgbClr val="334155"/>
                </a:solidFill>
                <a:latin typeface="Plus Jakarta Sans"/>
              </a:rPr>
              <a:t>i</a:t>
            </a:r>
            <a:r>
              <a:rPr b="0" sz="1350" i="0" u="none">
                <a:solidFill>
                  <a:srgbClr val="334155"/>
                </a:solidFill>
                <a:latin typeface="Plus Jakarta Sans"/>
              </a:rPr>
              <a:t> is taken and state S</a:t>
            </a:r>
            <a:r>
              <a:rPr b="0" sz="1125" i="0" u="none">
                <a:solidFill>
                  <a:srgbClr val="334155"/>
                </a:solidFill>
                <a:latin typeface="Plus Jakarta Sans"/>
              </a:rPr>
              <a:t>k</a:t>
            </a:r>
            <a:r>
              <a:rPr b="0" sz="1350" i="0" u="none">
                <a:solidFill>
                  <a:srgbClr val="334155"/>
                </a:solidFill>
                <a:latin typeface="Plus Jakarta Sans"/>
              </a:rPr>
              <a:t> is true.</a:t>
            </a:r>
          </a:p>
        </p:txBody>
      </p:sp>
      <p:sp>
        <p:nvSpPr>
          <p:cNvPr id="23" name="TextBox 22"/>
          <p:cNvSpPr txBox="1"/>
          <p:nvPr/>
        </p:nvSpPr>
        <p:spPr>
          <a:xfrm>
            <a:off x="752475" y="4295626"/>
            <a:ext cx="5540126" cy="272355"/>
          </a:xfrm>
          <a:prstGeom prst="rect">
            <a:avLst/>
          </a:prstGeom>
          <a:noFill/>
        </p:spPr>
        <p:txBody>
          <a:bodyPr wrap="square" lIns="0" rIns="0" tIns="0" bIns="0" anchor="t">
            <a:spAutoFit/>
          </a:bodyPr>
          <a:lstStyle/>
          <a:p>
            <a:pPr algn="l"/>
            <a:r>
              <a:rPr b="1" sz="1350" i="0" u="none">
                <a:solidFill>
                  <a:srgbClr val="0D9488"/>
                </a:solidFill>
                <a:latin typeface="Plus Jakarta Sans"/>
              </a:rPr>
              <a:t>P(S</a:t>
            </a:r>
            <a:r>
              <a:rPr b="1" sz="1125" i="0" u="none">
                <a:solidFill>
                  <a:srgbClr val="0D9488"/>
                </a:solidFill>
                <a:latin typeface="Plus Jakarta Sans"/>
              </a:rPr>
              <a:t>k</a:t>
            </a:r>
            <a:r>
              <a:rPr b="1" sz="1350" i="0" u="none">
                <a:solidFill>
                  <a:srgbClr val="0D9488"/>
                </a:solidFill>
                <a:latin typeface="Plus Jakarta Sans"/>
              </a:rPr>
              <a:t> | x)</a:t>
            </a:r>
            <a:r>
              <a:rPr b="0" sz="1350" i="0" u="none">
                <a:solidFill>
                  <a:srgbClr val="334155"/>
                </a:solidFill>
                <a:latin typeface="Plus Jakarta Sans"/>
              </a:rPr>
              <a:t> : Probability that the true state is indeed S</a:t>
            </a:r>
            <a:r>
              <a:rPr b="0" sz="1125" i="0" u="none">
                <a:solidFill>
                  <a:srgbClr val="334155"/>
                </a:solidFill>
                <a:latin typeface="Plus Jakarta Sans"/>
              </a:rPr>
              <a:t>k</a:t>
            </a:r>
            <a:r>
              <a:rPr b="0" sz="1350" i="0" u="none">
                <a:solidFill>
                  <a:srgbClr val="334155"/>
                </a:solidFill>
                <a:latin typeface="Plus Jakarta Sans"/>
              </a:rPr>
              <a:t>.</a:t>
            </a:r>
          </a:p>
        </p:txBody>
      </p:sp>
      <p:sp>
        <p:nvSpPr>
          <p:cNvPr id="24" name="TextBox 23"/>
          <p:cNvSpPr txBox="1"/>
          <p:nvPr/>
        </p:nvSpPr>
        <p:spPr>
          <a:xfrm>
            <a:off x="752475" y="4644181"/>
            <a:ext cx="5540126" cy="272355"/>
          </a:xfrm>
          <a:prstGeom prst="rect">
            <a:avLst/>
          </a:prstGeom>
          <a:noFill/>
        </p:spPr>
        <p:txBody>
          <a:bodyPr wrap="square" lIns="0" rIns="0" tIns="0" bIns="0" anchor="t">
            <a:spAutoFit/>
          </a:bodyPr>
          <a:lstStyle/>
          <a:p>
            <a:pPr algn="l"/>
            <a:r>
              <a:rPr b="1" sz="1350" i="0" u="none">
                <a:solidFill>
                  <a:srgbClr val="0D9488"/>
                </a:solidFill>
                <a:latin typeface="Plus Jakarta Sans"/>
              </a:rPr>
              <a:t>Σ</a:t>
            </a:r>
            <a:r>
              <a:rPr b="1" sz="1125" i="0" u="none">
                <a:solidFill>
                  <a:srgbClr val="0D9488"/>
                </a:solidFill>
                <a:latin typeface="Plus Jakarta Sans"/>
              </a:rPr>
              <a:t>k</a:t>
            </a:r>
            <a:r>
              <a:rPr b="0" sz="1350" i="0" u="none">
                <a:solidFill>
                  <a:srgbClr val="334155"/>
                </a:solidFill>
                <a:latin typeface="Plus Jakarta Sans"/>
              </a:rPr>
              <a:t> : Sum the products over all possible states k = 1, ..., 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2190750"/>
            <a:ext cx="4638675" cy="2686050"/>
          </a:xfrm>
          <a:prstGeom prst="roundRect">
            <a:avLst>
              <a:gd name="adj" fmla="val 35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43525" y="2190750"/>
            <a:ext cx="6334125" cy="2686050"/>
          </a:xfrm>
          <a:prstGeom prst="roundRect">
            <a:avLst>
              <a:gd name="adj" fmla="val 35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4375" y="2705100"/>
            <a:ext cx="4238625" cy="638175"/>
          </a:xfrm>
          <a:prstGeom prst="roundRect">
            <a:avLst>
              <a:gd name="adj" fmla="val 895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4375" y="3438525"/>
            <a:ext cx="4238625" cy="866775"/>
          </a:xfrm>
          <a:prstGeom prst="roundRect">
            <a:avLst>
              <a:gd name="adj" fmla="val 659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43550" y="4267200"/>
            <a:ext cx="5934075" cy="409575"/>
          </a:xfrm>
          <a:prstGeom prst="roundRect">
            <a:avLst>
              <a:gd name="adj" fmla="val 13953"/>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43550" y="2686050"/>
            <a:ext cx="5934075" cy="933450"/>
          </a:xfrm>
          <a:prstGeom prst="roundRect">
            <a:avLst>
              <a:gd name="adj" fmla="val 816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543550" y="3714750"/>
            <a:ext cx="5934075" cy="476250"/>
          </a:xfrm>
          <a:prstGeom prst="roundRect">
            <a:avLst>
              <a:gd name="adj" fmla="val 1600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43550" y="4267200"/>
            <a:ext cx="38100" cy="409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Expected Utility in Action: Medical Diagnosis</a:t>
            </a:r>
          </a:p>
        </p:txBody>
      </p:sp>
      <p:sp>
        <p:nvSpPr>
          <p:cNvPr id="13" name="TextBox 12"/>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34E4A"/>
                </a:solidFill>
                <a:latin typeface="Plus Jakarta Sans"/>
              </a:rPr>
              <a:t>Teacher Note &amp; Classroom Script:</a:t>
            </a:r>
            <a:r>
              <a:rPr b="0" sz="1050" i="0" u="none">
                <a:solidFill>
                  <a:srgbClr val="134E4A"/>
                </a:solidFill>
                <a:latin typeface="Plus Jakarta Sans"/>
              </a:rPr>
              <a:t> "Point out: Even though giving medicine to a healthy person has low utility (2), the high utility of curing the sick person (10) combined with 60% probability makes 'Treat' the overwhelmingly rational choice."</a:t>
            </a:r>
          </a:p>
        </p:txBody>
      </p:sp>
      <p:sp>
        <p:nvSpPr>
          <p:cNvPr id="14" name="TextBox 13"/>
          <p:cNvSpPr txBox="1"/>
          <p:nvPr/>
        </p:nvSpPr>
        <p:spPr>
          <a:xfrm>
            <a:off x="514350" y="342900"/>
            <a:ext cx="2893218" cy="171450"/>
          </a:xfrm>
          <a:prstGeom prst="rect">
            <a:avLst/>
          </a:prstGeom>
          <a:noFill/>
        </p:spPr>
        <p:txBody>
          <a:bodyPr wrap="none" lIns="0" rIns="0" tIns="0" bIns="0" anchor="t">
            <a:spAutoFit/>
          </a:bodyPr>
          <a:lstStyle/>
          <a:p>
            <a:pPr algn="l"/>
            <a:r>
              <a:rPr b="1" sz="1050" i="0" u="none">
                <a:solidFill>
                  <a:srgbClr val="0D9488"/>
                </a:solidFill>
                <a:latin typeface="Plus Jakarta Sans"/>
              </a:rPr>
              <a:t>WORKED NUMERICAL PROBLEM</a:t>
            </a:r>
          </a:p>
        </p:txBody>
      </p:sp>
      <p:sp>
        <p:nvSpPr>
          <p:cNvPr id="15" name="TextBox 14"/>
          <p:cNvSpPr txBox="1"/>
          <p:nvPr/>
        </p:nvSpPr>
        <p:spPr>
          <a:xfrm>
            <a:off x="10001250" y="342900"/>
            <a:ext cx="2095500" cy="171450"/>
          </a:xfrm>
          <a:prstGeom prst="rect">
            <a:avLst/>
          </a:prstGeom>
          <a:noFill/>
        </p:spPr>
        <p:txBody>
          <a:bodyPr wrap="none" lIns="0" rIns="0" tIns="0" bIns="0" anchor="t">
            <a:spAutoFit/>
          </a:bodyPr>
          <a:lstStyle/>
          <a:p>
            <a:pPr algn="l"/>
            <a:r>
              <a:rPr b="1" sz="1050" i="0" u="none">
                <a:solidFill>
                  <a:srgbClr val="64748B"/>
                </a:solidFill>
                <a:latin typeface="Plus Jakarta Sans"/>
              </a:rPr>
              <a:t>Step-by-Step Calculation</a:t>
            </a:r>
          </a:p>
        </p:txBody>
      </p:sp>
      <p:sp>
        <p:nvSpPr>
          <p:cNvPr id="16" name="TextBox 15"/>
          <p:cNvSpPr txBox="1"/>
          <p:nvPr/>
        </p:nvSpPr>
        <p:spPr>
          <a:xfrm>
            <a:off x="714375" y="2390775"/>
            <a:ext cx="5563195" cy="219075"/>
          </a:xfrm>
          <a:prstGeom prst="rect">
            <a:avLst/>
          </a:prstGeom>
          <a:noFill/>
        </p:spPr>
        <p:txBody>
          <a:bodyPr wrap="none" lIns="0" rIns="0" tIns="0" bIns="0" anchor="t">
            <a:spAutoFit/>
          </a:bodyPr>
          <a:lstStyle/>
          <a:p>
            <a:pPr algn="l"/>
            <a:r>
              <a:rPr b="1" sz="1350" i="0" u="none">
                <a:solidFill>
                  <a:srgbClr val="0F172A"/>
                </a:solidFill>
                <a:latin typeface="Plus Jakarta Sans"/>
              </a:rPr>
              <a:t>Given Information</a:t>
            </a:r>
          </a:p>
        </p:txBody>
      </p:sp>
      <p:sp>
        <p:nvSpPr>
          <p:cNvPr id="17" name="TextBox 16"/>
          <p:cNvSpPr txBox="1"/>
          <p:nvPr/>
        </p:nvSpPr>
        <p:spPr>
          <a:xfrm>
            <a:off x="847725" y="2800350"/>
            <a:ext cx="4067175" cy="447675"/>
          </a:xfrm>
          <a:prstGeom prst="rect">
            <a:avLst/>
          </a:prstGeom>
          <a:noFill/>
        </p:spPr>
        <p:txBody>
          <a:bodyPr wrap="square" lIns="0" rIns="0" tIns="0" bIns="0" anchor="t">
            <a:spAutoFit/>
          </a:bodyPr>
          <a:lstStyle/>
          <a:p>
            <a:pPr algn="l"/>
            <a:r>
              <a:rPr b="0" sz="1350" i="0" u="none">
                <a:solidFill>
                  <a:srgbClr val="0F172A"/>
                </a:solidFill>
                <a:latin typeface="Plus Jakarta Sans"/>
              </a:rPr>
              <a:t>P(Sick) = 0.60, P(Healthy) = 0.40</a:t>
            </a:r>
          </a:p>
        </p:txBody>
      </p:sp>
      <p:sp>
        <p:nvSpPr>
          <p:cNvPr id="18" name="TextBox 17"/>
          <p:cNvSpPr txBox="1"/>
          <p:nvPr/>
        </p:nvSpPr>
        <p:spPr>
          <a:xfrm>
            <a:off x="847725" y="3533775"/>
            <a:ext cx="4067175" cy="676275"/>
          </a:xfrm>
          <a:prstGeom prst="rect">
            <a:avLst/>
          </a:prstGeom>
          <a:noFill/>
        </p:spPr>
        <p:txBody>
          <a:bodyPr wrap="square" lIns="0" rIns="0" tIns="0" bIns="0" anchor="t">
            <a:spAutoFit/>
          </a:bodyPr>
          <a:lstStyle/>
          <a:p>
            <a:pPr algn="l"/>
            <a:r>
              <a:rPr b="0" sz="1350" i="0" u="none">
                <a:solidFill>
                  <a:srgbClr val="0F172A"/>
                </a:solidFill>
                <a:latin typeface="Plus Jakarta Sans"/>
              </a:rPr>
              <a:t>U(Treat, Sick) = 10 units</a:t>
            </a:r>
            <a:r>
              <a:t>
</a:t>
            </a:r>
            <a:r>
              <a:rPr b="0" sz="1350" i="0" u="none">
                <a:solidFill>
                  <a:srgbClr val="0F172A"/>
                </a:solidFill>
                <a:latin typeface="Plus Jakarta Sans"/>
              </a:rPr>
              <a:t>U(Treat, Healthy) = 2 units</a:t>
            </a:r>
          </a:p>
        </p:txBody>
      </p:sp>
      <p:sp>
        <p:nvSpPr>
          <p:cNvPr id="19" name="TextBox 18"/>
          <p:cNvSpPr txBox="1"/>
          <p:nvPr/>
        </p:nvSpPr>
        <p:spPr>
          <a:xfrm>
            <a:off x="847725" y="2800350"/>
            <a:ext cx="4964906" cy="219075"/>
          </a:xfrm>
          <a:prstGeom prst="rect">
            <a:avLst/>
          </a:prstGeom>
          <a:noFill/>
        </p:spPr>
        <p:txBody>
          <a:bodyPr wrap="none" lIns="0" rIns="0" tIns="0" bIns="0" anchor="t">
            <a:spAutoFit/>
          </a:bodyPr>
          <a:lstStyle/>
          <a:p>
            <a:pPr algn="l"/>
            <a:r>
              <a:rPr b="1" sz="1350" i="0" u="none">
                <a:solidFill>
                  <a:srgbClr val="334155"/>
                </a:solidFill>
                <a:latin typeface="Plus Jakarta Sans"/>
              </a:rPr>
              <a:t>Probabilities:</a:t>
            </a:r>
          </a:p>
        </p:txBody>
      </p:sp>
      <p:sp>
        <p:nvSpPr>
          <p:cNvPr id="20" name="TextBox 19"/>
          <p:cNvSpPr txBox="1"/>
          <p:nvPr/>
        </p:nvSpPr>
        <p:spPr>
          <a:xfrm>
            <a:off x="847725" y="3533775"/>
            <a:ext cx="4964906" cy="219075"/>
          </a:xfrm>
          <a:prstGeom prst="rect">
            <a:avLst/>
          </a:prstGeom>
          <a:noFill/>
        </p:spPr>
        <p:txBody>
          <a:bodyPr wrap="none" lIns="0" rIns="0" tIns="0" bIns="0" anchor="t">
            <a:spAutoFit/>
          </a:bodyPr>
          <a:lstStyle/>
          <a:p>
            <a:pPr algn="l"/>
            <a:r>
              <a:rPr b="1" sz="1350" i="0" u="none">
                <a:solidFill>
                  <a:srgbClr val="334155"/>
                </a:solidFill>
                <a:latin typeface="Plus Jakarta Sans"/>
              </a:rPr>
              <a:t>Utilities for Action 1 (Treat):</a:t>
            </a:r>
          </a:p>
        </p:txBody>
      </p:sp>
      <p:sp>
        <p:nvSpPr>
          <p:cNvPr id="21" name="TextBox 20"/>
          <p:cNvSpPr txBox="1"/>
          <p:nvPr/>
        </p:nvSpPr>
        <p:spPr>
          <a:xfrm>
            <a:off x="5543550" y="2390775"/>
            <a:ext cx="6648450" cy="219075"/>
          </a:xfrm>
          <a:prstGeom prst="rect">
            <a:avLst/>
          </a:prstGeom>
          <a:noFill/>
        </p:spPr>
        <p:txBody>
          <a:bodyPr wrap="none" lIns="0" rIns="0" tIns="0" bIns="0" anchor="t">
            <a:spAutoFit/>
          </a:bodyPr>
          <a:lstStyle/>
          <a:p>
            <a:pPr algn="l"/>
            <a:r>
              <a:rPr b="1" sz="1350" i="0" u="none">
                <a:solidFill>
                  <a:srgbClr val="0F172A"/>
                </a:solidFill>
                <a:latin typeface="Plus Jakarta Sans"/>
              </a:rPr>
              <a:t>Step-by-Step Evaluation</a:t>
            </a:r>
          </a:p>
        </p:txBody>
      </p:sp>
      <p:sp>
        <p:nvSpPr>
          <p:cNvPr id="22" name="TextBox 21"/>
          <p:cNvSpPr txBox="1"/>
          <p:nvPr/>
        </p:nvSpPr>
        <p:spPr>
          <a:xfrm>
            <a:off x="5715000" y="4362450"/>
            <a:ext cx="6477000" cy="219075"/>
          </a:xfrm>
          <a:prstGeom prst="rect">
            <a:avLst/>
          </a:prstGeom>
          <a:noFill/>
        </p:spPr>
        <p:txBody>
          <a:bodyPr wrap="none" lIns="0" rIns="0" tIns="0" bIns="0" anchor="t">
            <a:spAutoFit/>
          </a:bodyPr>
          <a:lstStyle/>
          <a:p>
            <a:pPr algn="l"/>
            <a:r>
              <a:rPr b="1" sz="1350" i="0" u="none">
                <a:solidFill>
                  <a:srgbClr val="065F46"/>
                </a:solidFill>
                <a:latin typeface="Plus Jakarta Sans"/>
              </a:rPr>
              <a:t>Decision: Since 6.8 &gt; 2.4, choose action "Treat"!</a:t>
            </a:r>
          </a:p>
        </p:txBody>
      </p:sp>
      <p:sp>
        <p:nvSpPr>
          <p:cNvPr id="23" name="TextBox 22"/>
          <p:cNvSpPr txBox="1"/>
          <p:nvPr/>
        </p:nvSpPr>
        <p:spPr>
          <a:xfrm>
            <a:off x="5667375" y="2809875"/>
            <a:ext cx="5781675" cy="685800"/>
          </a:xfrm>
          <a:prstGeom prst="rect">
            <a:avLst/>
          </a:prstGeom>
          <a:noFill/>
        </p:spPr>
        <p:txBody>
          <a:bodyPr wrap="square" lIns="0" rIns="0" tIns="0" bIns="0" anchor="t">
            <a:spAutoFit/>
          </a:bodyPr>
          <a:lstStyle/>
          <a:p>
            <a:pPr algn="l"/>
            <a:r>
              <a:rPr b="0" sz="1350" i="0" u="none">
                <a:solidFill>
                  <a:srgbClr val="1E293B"/>
                </a:solidFill>
                <a:latin typeface="Fira Code"/>
              </a:rPr>
              <a:t>EU(Treat) = (10 × 0.60) + (2 × 0.40)</a:t>
            </a:r>
            <a:r>
              <a:t>
</a:t>
            </a:r>
            <a:r>
              <a:rPr b="0" sz="1350" i="0" u="none">
                <a:solidFill>
                  <a:srgbClr val="1E293B"/>
                </a:solidFill>
                <a:latin typeface="Fira Code"/>
              </a:rPr>
              <a:t>           = 6.0 + 0.8</a:t>
            </a:r>
            <a:r>
              <a:t>
</a:t>
            </a:r>
            <a:r>
              <a:rPr b="0" sz="1350" i="0" u="none">
                <a:solidFill>
                  <a:srgbClr val="1E293B"/>
                </a:solidFill>
                <a:latin typeface="Fira Code"/>
              </a:rPr>
              <a:t>           = </a:t>
            </a:r>
            <a:r>
              <a:rPr b="1" sz="1350" i="0" u="none">
                <a:solidFill>
                  <a:srgbClr val="1E293B"/>
                </a:solidFill>
                <a:latin typeface="Fira Code"/>
              </a:rPr>
              <a:t>6.8 units</a:t>
            </a:r>
          </a:p>
        </p:txBody>
      </p:sp>
      <p:sp>
        <p:nvSpPr>
          <p:cNvPr id="24" name="TextBox 23"/>
          <p:cNvSpPr txBox="1"/>
          <p:nvPr/>
        </p:nvSpPr>
        <p:spPr>
          <a:xfrm>
            <a:off x="5667375" y="3838575"/>
            <a:ext cx="6524625" cy="228600"/>
          </a:xfrm>
          <a:prstGeom prst="rect">
            <a:avLst/>
          </a:prstGeom>
          <a:noFill/>
        </p:spPr>
        <p:txBody>
          <a:bodyPr wrap="none" lIns="0" rIns="0" tIns="0" bIns="0" anchor="t">
            <a:spAutoFit/>
          </a:bodyPr>
          <a:lstStyle/>
          <a:p>
            <a:pPr algn="l"/>
            <a:r>
              <a:rPr b="0" sz="1350" i="0" u="none">
                <a:solidFill>
                  <a:srgbClr val="1E293B"/>
                </a:solidFill>
                <a:latin typeface="Fira Code"/>
              </a:rPr>
              <a:t>EU(Do Not Treat) = (0 × 0.60) + (6 × 0.40) = </a:t>
            </a:r>
            <a:r>
              <a:rPr b="1" sz="1350" i="0" u="none">
                <a:solidFill>
                  <a:srgbClr val="1E293B"/>
                </a:solidFill>
                <a:latin typeface="Fira Code"/>
              </a:rPr>
              <a:t>2.4 units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1816000"/>
            <a:ext cx="11163300" cy="2333625"/>
          </a:xfrm>
          <a:prstGeom prst="roundRect">
            <a:avLst>
              <a:gd name="adj" fmla="val 408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4860726"/>
            <a:ext cx="11163300" cy="409575"/>
          </a:xfrm>
          <a:prstGeom prst="roundRect">
            <a:avLst>
              <a:gd name="adj" fmla="val 13953"/>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5981402"/>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4860726"/>
            <a:ext cx="38100" cy="409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4350" y="5981402"/>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23875" y="1825525"/>
          <a:ext cx="11144248" cy="2314575"/>
        </p:xfrm>
        <a:graphic>
          <a:graphicData uri="http://schemas.openxmlformats.org/drawingml/2006/table">
            <a:tbl>
              <a:tblPr firstRow="0" bandRow="0">
                <a:lnL>
                  <a:noFill/>
                </a:lnL>
                <a:lnR>
                  <a:noFill/>
                </a:lnR>
                <a:lnT>
                  <a:noFill/>
                </a:lnT>
                <a:lnB>
                  <a:noFill/>
                </a:lnB>
                <a:lnV>
                  <a:noFill/>
                </a:lnV>
                <a:lnH>
                  <a:noFill/>
                </a:lnH>
              </a:tblPr>
              <a:tblGrid>
                <a:gridCol w="2451645"/>
                <a:gridCol w="4346227"/>
                <a:gridCol w="4346376"/>
              </a:tblGrid>
              <a:tr h="462915">
                <a:tc>
                  <a:txBody>
                    <a:bodyPr/>
                    <a:lstStyle/>
                    <a:p>
                      <a:pPr algn="l"/>
                      <a:r>
                        <a:rPr b="1" sz="1350" i="0" u="none">
                          <a:solidFill>
                            <a:srgbClr val="0F172A"/>
                          </a:solidFill>
                          <a:latin typeface="Plus Jakarta Sans"/>
                        </a:rPr>
                        <a:t>Dimension</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DC2626"/>
                          </a:solidFill>
                          <a:latin typeface="Plus Jakarta Sans"/>
                        </a:rPr>
                        <a:t>Conditional Risk R(α|x)</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059669"/>
                          </a:solidFill>
                          <a:latin typeface="Plus Jakarta Sans"/>
                        </a:rPr>
                        <a:t>Expected Utility EU(α|x)</a:t>
                      </a:r>
                    </a:p>
                  </a:txBody>
                  <a:tcPr anchor="ctr" marL="63500" marR="63500" marT="25400" marB="25400">
                    <a:lnL>
                      <a:noFill/>
                    </a:lnL>
                    <a:lnR>
                      <a:noFill/>
                    </a:lnR>
                    <a:lnT>
                      <a:noFill/>
                    </a:lnT>
                    <a:lnB>
                      <a:noFill/>
                    </a:lnB>
                    <a:solidFill>
                      <a:srgbClr val="F1F5F9"/>
                    </a:solidFill>
                  </a:tcPr>
                </a:tc>
              </a:tr>
              <a:tr h="462915">
                <a:tc>
                  <a:txBody>
                    <a:bodyPr/>
                    <a:lstStyle/>
                    <a:p>
                      <a:pPr algn="l"/>
                      <a:r>
                        <a:rPr b="1" sz="1350" i="0" u="none">
                          <a:solidFill>
                            <a:srgbClr val="0F172A"/>
                          </a:solidFill>
                          <a:latin typeface="Plus Jakarta Sans"/>
                        </a:rPr>
                        <a:t>Underlying Focus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334155"/>
                          </a:solidFill>
                          <a:latin typeface="Plus Jakarta Sans"/>
                        </a:rPr>
                        <a:t>Expected Loss (Penalties / Costs)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334155"/>
                          </a:solidFill>
                          <a:latin typeface="Plus Jakarta Sans"/>
                        </a:rPr>
                        <a:t>Expected Benefit (Gains / Payoffs)</a:t>
                      </a:r>
                    </a:p>
                  </a:txBody>
                  <a:tcPr anchor="ctr" marL="63500" marR="63500" marT="25400" marB="25400">
                    <a:lnL>
                      <a:noFill/>
                    </a:lnL>
                    <a:lnR>
                      <a:noFill/>
                    </a:lnR>
                    <a:lnT>
                      <a:noFill/>
                    </a:lnT>
                    <a:lnB>
                      <a:noFill/>
                    </a:lnB>
                    <a:solidFill>
                      <a:srgbClr val="FFFFFF"/>
                    </a:solidFill>
                  </a:tcPr>
                </a:tc>
              </a:tr>
              <a:tr h="462915">
                <a:tc>
                  <a:txBody>
                    <a:bodyPr/>
                    <a:lstStyle/>
                    <a:p>
                      <a:pPr algn="l"/>
                      <a:r>
                        <a:rPr b="1" sz="1350" i="0" u="none">
                          <a:solidFill>
                            <a:srgbClr val="0F172A"/>
                          </a:solidFill>
                          <a:latin typeface="Plus Jakarta Sans"/>
                        </a:rPr>
                        <a:t>Optimization Target</a:t>
                      </a:r>
                    </a:p>
                  </a:txBody>
                  <a:tcPr anchor="ctr" marL="63500" marR="63500" marT="25400" marB="25400">
                    <a:lnL>
                      <a:noFill/>
                    </a:lnL>
                    <a:lnR>
                      <a:noFill/>
                    </a:lnR>
                    <a:lnT>
                      <a:noFill/>
                    </a:lnT>
                    <a:lnB>
                      <a:noFill/>
                    </a:lnB>
                    <a:solidFill>
                      <a:srgbClr val="FAFAFA"/>
                    </a:solidFill>
                  </a:tcPr>
                </a:tc>
                <a:tc>
                  <a:txBody>
                    <a:bodyPr/>
                    <a:lstStyle/>
                    <a:p>
                      <a:pPr algn="l"/>
                      <a:r>
                        <a:rPr b="1" sz="1350" i="0" u="none">
                          <a:solidFill>
                            <a:srgbClr val="DC2626"/>
                          </a:solidFill>
                          <a:latin typeface="Plus Jakarta Sans"/>
                        </a:rPr>
                        <a:t>MINIMIZE Risk</a:t>
                      </a:r>
                    </a:p>
                  </a:txBody>
                  <a:tcPr anchor="ctr" marL="63500" marR="63500" marT="25400" marB="25400">
                    <a:lnL>
                      <a:noFill/>
                    </a:lnL>
                    <a:lnR>
                      <a:noFill/>
                    </a:lnR>
                    <a:lnT>
                      <a:noFill/>
                    </a:lnT>
                    <a:lnB>
                      <a:noFill/>
                    </a:lnB>
                    <a:solidFill>
                      <a:srgbClr val="FAFAFA"/>
                    </a:solidFill>
                  </a:tcPr>
                </a:tc>
                <a:tc>
                  <a:txBody>
                    <a:bodyPr/>
                    <a:lstStyle/>
                    <a:p>
                      <a:pPr algn="l"/>
                      <a:r>
                        <a:rPr b="1" sz="1350" i="0" u="none">
                          <a:solidFill>
                            <a:srgbClr val="059669"/>
                          </a:solidFill>
                          <a:latin typeface="Plus Jakarta Sans"/>
                        </a:rPr>
                        <a:t>MAXIMIZE Utility</a:t>
                      </a:r>
                    </a:p>
                  </a:txBody>
                  <a:tcPr anchor="ctr" marL="63500" marR="63500" marT="25400" marB="25400">
                    <a:lnL>
                      <a:noFill/>
                    </a:lnL>
                    <a:lnR>
                      <a:noFill/>
                    </a:lnR>
                    <a:lnT>
                      <a:noFill/>
                    </a:lnT>
                    <a:lnB>
                      <a:noFill/>
                    </a:lnB>
                    <a:solidFill>
                      <a:srgbClr val="FAFAFA"/>
                    </a:solidFill>
                  </a:tcPr>
                </a:tc>
              </a:tr>
              <a:tr h="462915">
                <a:tc>
                  <a:txBody>
                    <a:bodyPr/>
                    <a:lstStyle/>
                    <a:p>
                      <a:pPr algn="l"/>
                      <a:r>
                        <a:rPr b="1" sz="1350" i="0" u="none">
                          <a:solidFill>
                            <a:srgbClr val="0F172A"/>
                          </a:solidFill>
                          <a:latin typeface="Plus Jakarta Sans"/>
                        </a:rPr>
                        <a:t>Mathematical Sign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334155"/>
                          </a:solidFill>
                          <a:latin typeface="Plus Jakarta Sans"/>
                        </a:rPr>
                        <a:t>Positive costs to be avoided</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334155"/>
                          </a:solidFill>
                          <a:latin typeface="Plus Jakarta Sans"/>
                        </a:rPr>
                        <a:t>U = -Loss (Inverting the scale)</a:t>
                      </a:r>
                    </a:p>
                  </a:txBody>
                  <a:tcPr anchor="ctr" marL="63500" marR="63500" marT="25400" marB="25400">
                    <a:lnL>
                      <a:noFill/>
                    </a:lnL>
                    <a:lnR>
                      <a:noFill/>
                    </a:lnR>
                    <a:lnT>
                      <a:noFill/>
                    </a:lnT>
                    <a:lnB>
                      <a:noFill/>
                    </a:lnB>
                    <a:solidFill>
                      <a:srgbClr val="FFFFFF"/>
                    </a:solidFill>
                  </a:tcPr>
                </a:tc>
              </a:tr>
              <a:tr h="462915">
                <a:tc>
                  <a:txBody>
                    <a:bodyPr/>
                    <a:lstStyle/>
                    <a:p>
                      <a:pPr algn="l"/>
                      <a:r>
                        <a:rPr b="1" sz="1350" i="0" u="none">
                          <a:solidFill>
                            <a:srgbClr val="0F172A"/>
                          </a:solidFill>
                          <a:latin typeface="Plus Jakarta Sans"/>
                        </a:rPr>
                        <a:t>Core Equivalence</a:t>
                      </a:r>
                    </a:p>
                  </a:txBody>
                  <a:tcPr anchor="ctr" marL="63500" marR="63500" marT="25400" marB="25400">
                    <a:lnL>
                      <a:noFill/>
                    </a:lnL>
                    <a:lnR>
                      <a:noFill/>
                    </a:lnR>
                    <a:lnT>
                      <a:noFill/>
                    </a:lnT>
                    <a:lnB>
                      <a:noFill/>
                    </a:lnB>
                    <a:solidFill>
                      <a:srgbClr val="FAFAFA"/>
                    </a:solidFill>
                  </a:tcPr>
                </a:tc>
                <a:tc>
                  <a:txBody>
                    <a:bodyPr/>
                    <a:lstStyle/>
                    <a:p>
                      <a:pPr algn="ctr"/>
                      <a:r>
                        <a:rPr b="1" sz="1350" i="0" u="none">
                          <a:solidFill>
                            <a:srgbClr val="1E40AF"/>
                          </a:solidFill>
                          <a:latin typeface="Plus Jakarta Sans"/>
                        </a:rPr>
                        <a:t>Minimum Expected Risk  ⇔  Maximum Expected Utility</a:t>
                      </a:r>
                    </a:p>
                  </a:txBody>
                  <a:tcPr anchor="ctr" marL="63500" marR="63500" marT="25400" marB="25400">
                    <a:lnL>
                      <a:noFill/>
                    </a:lnL>
                    <a:lnR>
                      <a:noFill/>
                    </a:lnR>
                    <a:lnT>
                      <a:noFill/>
                    </a:lnT>
                    <a:lnB>
                      <a:noFill/>
                    </a:lnB>
                    <a:solidFill>
                      <a:srgbClr val="FAFAFA"/>
                    </a:solidFill>
                  </a:tcPr>
                </a:tc>
                <a:tc>
                  <a:txBody>
                    <a:bodyPr/>
                    <a:lstStyle/>
                    <a:p/>
                  </a:txBody>
                  <a:tcPr>
                    <a:lnL>
                      <a:noFill/>
                    </a:lnL>
                    <a:lnR>
                      <a:noFill/>
                    </a:lnR>
                    <a:lnT>
                      <a:noFill/>
                    </a:lnT>
                    <a:lnB>
                      <a:noFill/>
                    </a:lnB>
                  </a:tcPr>
                </a:tc>
              </a:tr>
            </a:tbl>
          </a:graphicData>
        </a:graphic>
      </p:graphicFrame>
      <p:sp>
        <p:nvSpPr>
          <p:cNvPr id="8" name="TextBox 7"/>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Risk vs. Expected Utility: Two Paths to Rationality</a:t>
            </a:r>
          </a:p>
        </p:txBody>
      </p:sp>
      <p:sp>
        <p:nvSpPr>
          <p:cNvPr id="9" name="TextBox 8"/>
          <p:cNvSpPr txBox="1"/>
          <p:nvPr/>
        </p:nvSpPr>
        <p:spPr>
          <a:xfrm>
            <a:off x="704850" y="4955976"/>
            <a:ext cx="11487150" cy="219075"/>
          </a:xfrm>
          <a:prstGeom prst="rect">
            <a:avLst/>
          </a:prstGeom>
          <a:noFill/>
        </p:spPr>
        <p:txBody>
          <a:bodyPr wrap="none" lIns="0" rIns="0" tIns="0" bIns="0" anchor="t">
            <a:spAutoFit/>
          </a:bodyPr>
          <a:lstStyle/>
          <a:p>
            <a:pPr algn="l"/>
            <a:r>
              <a:rPr b="1" sz="1350" i="0" u="none">
                <a:solidFill>
                  <a:srgbClr val="065F46"/>
                </a:solidFill>
                <a:latin typeface="Plus Jakarta Sans"/>
              </a:rPr>
              <a:t>Takeaway: Both frameworks produce the exact same optimal decision in every machine learning problem.</a:t>
            </a:r>
          </a:p>
        </p:txBody>
      </p:sp>
      <p:sp>
        <p:nvSpPr>
          <p:cNvPr id="10" name="TextBox 9"/>
          <p:cNvSpPr txBox="1"/>
          <p:nvPr/>
        </p:nvSpPr>
        <p:spPr>
          <a:xfrm>
            <a:off x="704850" y="6076652"/>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Exam Tip:</a:t>
            </a:r>
            <a:r>
              <a:rPr b="0" sz="1050" i="0" u="none">
                <a:solidFill>
                  <a:srgbClr val="1E3A8A"/>
                </a:solidFill>
                <a:latin typeface="Plus Jakarta Sans"/>
              </a:rPr>
              <a:t> "Tell students: If an exam question asks 'Is Expected Utility incompatible with Bayesian Risk?', the answer is NO! They are mathematical mirrors of each other."</a:t>
            </a:r>
          </a:p>
        </p:txBody>
      </p:sp>
      <p:sp>
        <p:nvSpPr>
          <p:cNvPr id="11" name="TextBox 10"/>
          <p:cNvSpPr txBox="1"/>
          <p:nvPr/>
        </p:nvSpPr>
        <p:spPr>
          <a:xfrm>
            <a:off x="514350" y="342900"/>
            <a:ext cx="2000250" cy="171450"/>
          </a:xfrm>
          <a:prstGeom prst="rect">
            <a:avLst/>
          </a:prstGeom>
          <a:noFill/>
        </p:spPr>
        <p:txBody>
          <a:bodyPr wrap="none" lIns="0" rIns="0" tIns="0" bIns="0" anchor="t">
            <a:spAutoFit/>
          </a:bodyPr>
          <a:lstStyle/>
          <a:p>
            <a:pPr algn="l"/>
            <a:r>
              <a:rPr b="1" sz="1050" i="0" u="none">
                <a:solidFill>
                  <a:srgbClr val="0D9488"/>
                </a:solidFill>
                <a:latin typeface="Plus Jakarta Sans"/>
              </a:rPr>
              <a:t>CONCEPTUAL BRIDGE</a:t>
            </a:r>
          </a:p>
        </p:txBody>
      </p:sp>
      <p:sp>
        <p:nvSpPr>
          <p:cNvPr id="12" name="TextBox 11"/>
          <p:cNvSpPr txBox="1"/>
          <p:nvPr/>
        </p:nvSpPr>
        <p:spPr>
          <a:xfrm>
            <a:off x="10477500" y="342900"/>
            <a:ext cx="1500187" cy="171450"/>
          </a:xfrm>
          <a:prstGeom prst="rect">
            <a:avLst/>
          </a:prstGeom>
          <a:noFill/>
        </p:spPr>
        <p:txBody>
          <a:bodyPr wrap="none" lIns="0" rIns="0" tIns="0" bIns="0" anchor="t">
            <a:spAutoFit/>
          </a:bodyPr>
          <a:lstStyle/>
          <a:p>
            <a:pPr algn="l"/>
            <a:r>
              <a:rPr b="1" sz="1050" i="0" u="none">
                <a:solidFill>
                  <a:srgbClr val="64748B"/>
                </a:solidFill>
                <a:latin typeface="Plus Jakarta Sans"/>
              </a:rPr>
              <a:t>Syllabus Alignment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924050"/>
            <a:ext cx="5924550" cy="3219450"/>
          </a:xfrm>
          <a:prstGeom prst="roundRect">
            <a:avLst>
              <a:gd name="adj" fmla="val 355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7500" y="1924050"/>
            <a:ext cx="5010150" cy="3219450"/>
          </a:xfrm>
          <a:prstGeom prst="roundRect">
            <a:avLst>
              <a:gd name="adj" fmla="val 355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3425" y="2143125"/>
            <a:ext cx="1371600" cy="247650"/>
          </a:xfrm>
          <a:prstGeom prst="roundRect">
            <a:avLst>
              <a:gd name="adj" fmla="val 15384"/>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3425" y="2505075"/>
            <a:ext cx="38100" cy="800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86575" y="2476500"/>
            <a:ext cx="4572000" cy="942975"/>
          </a:xfrm>
          <a:prstGeom prst="roundRect">
            <a:avLst>
              <a:gd name="adj" fmla="val 808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86575" y="3514725"/>
            <a:ext cx="4572000" cy="942975"/>
          </a:xfrm>
          <a:prstGeom prst="roundRect">
            <a:avLst>
              <a:gd name="adj" fmla="val 8080"/>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86575" y="4552950"/>
            <a:ext cx="4572000" cy="371475"/>
          </a:xfrm>
          <a:prstGeom prst="roundRect">
            <a:avLst>
              <a:gd name="adj" fmla="val 153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Should We Collect More Information?</a:t>
            </a:r>
          </a:p>
        </p:txBody>
      </p:sp>
      <p:sp>
        <p:nvSpPr>
          <p:cNvPr id="12" name="TextBox 11"/>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78350F"/>
                </a:solidFill>
                <a:latin typeface="Plus Jakarta Sans"/>
              </a:rPr>
              <a:t>Teacher Note &amp; Classroom Script:</a:t>
            </a:r>
            <a:r>
              <a:rPr b="0" sz="1050" i="0" u="none">
                <a:solidFill>
                  <a:srgbClr val="78350F"/>
                </a:solidFill>
                <a:latin typeface="Plus Jakarta Sans"/>
              </a:rPr>
              <a:t> "Ask students: 'If an MRI test costs ₹10,000 to detect a minor headache, would you order it?' No! But for suspected trauma, yes. Value of Information is the math behind that clinical judgment."</a:t>
            </a:r>
          </a:p>
        </p:txBody>
      </p:sp>
      <p:sp>
        <p:nvSpPr>
          <p:cNvPr id="13" name="TextBox 12"/>
          <p:cNvSpPr txBox="1"/>
          <p:nvPr/>
        </p:nvSpPr>
        <p:spPr>
          <a:xfrm>
            <a:off x="514350" y="342900"/>
            <a:ext cx="3083718" cy="171450"/>
          </a:xfrm>
          <a:prstGeom prst="rect">
            <a:avLst/>
          </a:prstGeom>
          <a:noFill/>
        </p:spPr>
        <p:txBody>
          <a:bodyPr wrap="none" lIns="0" rIns="0" tIns="0" bIns="0" anchor="t">
            <a:spAutoFit/>
          </a:bodyPr>
          <a:lstStyle/>
          <a:p>
            <a:pPr algn="l"/>
            <a:r>
              <a:rPr b="1" sz="1050" i="0" u="none">
                <a:solidFill>
                  <a:srgbClr val="D97706"/>
                </a:solidFill>
                <a:latin typeface="Plus Jakarta Sans"/>
              </a:rPr>
              <a:t>TOPIC 3: VALUE OF INFORMATION</a:t>
            </a:r>
          </a:p>
        </p:txBody>
      </p:sp>
      <p:sp>
        <p:nvSpPr>
          <p:cNvPr id="14" name="TextBox 13"/>
          <p:cNvSpPr txBox="1"/>
          <p:nvPr/>
        </p:nvSpPr>
        <p:spPr>
          <a:xfrm>
            <a:off x="10391775" y="342900"/>
            <a:ext cx="1607343" cy="171450"/>
          </a:xfrm>
          <a:prstGeom prst="rect">
            <a:avLst/>
          </a:prstGeom>
          <a:noFill/>
        </p:spPr>
        <p:txBody>
          <a:bodyPr wrap="none" lIns="0" rIns="0" tIns="0" bIns="0" anchor="t">
            <a:spAutoFit/>
          </a:bodyPr>
          <a:lstStyle/>
          <a:p>
            <a:pPr algn="l"/>
            <a:r>
              <a:rPr b="1" sz="1050" i="0" u="none">
                <a:solidFill>
                  <a:srgbClr val="64748B"/>
                </a:solidFill>
                <a:latin typeface="Plus Jakarta Sans"/>
              </a:rPr>
              <a:t>Ethem Alpaydin §3.7</a:t>
            </a:r>
          </a:p>
        </p:txBody>
      </p:sp>
      <p:sp>
        <p:nvSpPr>
          <p:cNvPr id="15" name="TextBox 14"/>
          <p:cNvSpPr txBox="1"/>
          <p:nvPr/>
        </p:nvSpPr>
        <p:spPr>
          <a:xfrm>
            <a:off x="6886575" y="2143125"/>
            <a:ext cx="5305425" cy="219075"/>
          </a:xfrm>
          <a:prstGeom prst="rect">
            <a:avLst/>
          </a:prstGeom>
          <a:noFill/>
        </p:spPr>
        <p:txBody>
          <a:bodyPr wrap="none" lIns="0" rIns="0" tIns="0" bIns="0" anchor="t">
            <a:spAutoFit/>
          </a:bodyPr>
          <a:lstStyle/>
          <a:p>
            <a:pPr algn="l"/>
            <a:r>
              <a:rPr b="1" sz="1350" i="0" u="none">
                <a:solidFill>
                  <a:srgbClr val="0F172A"/>
                </a:solidFill>
                <a:latin typeface="Plus Jakarta Sans"/>
              </a:rPr>
              <a:t>Real-World Medical Example</a:t>
            </a:r>
          </a:p>
        </p:txBody>
      </p:sp>
      <p:sp>
        <p:nvSpPr>
          <p:cNvPr id="16" name="TextBox 15"/>
          <p:cNvSpPr txBox="1"/>
          <p:nvPr/>
        </p:nvSpPr>
        <p:spPr>
          <a:xfrm>
            <a:off x="828675" y="2181225"/>
            <a:ext cx="1276350" cy="171450"/>
          </a:xfrm>
          <a:prstGeom prst="rect">
            <a:avLst/>
          </a:prstGeom>
          <a:noFill/>
        </p:spPr>
        <p:txBody>
          <a:bodyPr wrap="square" lIns="0" rIns="0" tIns="0" bIns="0" anchor="t">
            <a:spAutoFit/>
          </a:bodyPr>
          <a:lstStyle/>
          <a:p>
            <a:pPr algn="l"/>
            <a:r>
              <a:rPr b="1" sz="1050" i="0" u="none">
                <a:solidFill>
                  <a:srgbClr val="B45309"/>
                </a:solidFill>
                <a:latin typeface="Plus Jakarta Sans"/>
              </a:rPr>
              <a:t>The Core Dilemma</a:t>
            </a:r>
          </a:p>
        </p:txBody>
      </p:sp>
      <p:sp>
        <p:nvSpPr>
          <p:cNvPr id="17" name="TextBox 16"/>
          <p:cNvSpPr txBox="1"/>
          <p:nvPr/>
        </p:nvSpPr>
        <p:spPr>
          <a:xfrm>
            <a:off x="866775" y="2505075"/>
            <a:ext cx="5448300" cy="800100"/>
          </a:xfrm>
          <a:prstGeom prst="rect">
            <a:avLst/>
          </a:prstGeom>
          <a:noFill/>
        </p:spPr>
        <p:txBody>
          <a:bodyPr wrap="square" lIns="0" rIns="0" tIns="0" bIns="0" anchor="t">
            <a:spAutoFit/>
          </a:bodyPr>
          <a:lstStyle/>
          <a:p>
            <a:pPr algn="l">
              <a:lnSpc>
                <a:spcPts val="2100"/>
              </a:lnSpc>
            </a:pPr>
            <a:r>
              <a:rPr b="1" sz="1500" i="0" u="none">
                <a:solidFill>
                  <a:srgbClr val="1E293B"/>
                </a:solidFill>
                <a:latin typeface="Plus Jakarta Sans"/>
              </a:rPr>
              <a:t>"Value of Information (VOI) measures how much the quality of a decision improves if we gather additional features before acting."</a:t>
            </a:r>
          </a:p>
        </p:txBody>
      </p:sp>
      <p:sp>
        <p:nvSpPr>
          <p:cNvPr id="18" name="TextBox 17"/>
          <p:cNvSpPr txBox="1"/>
          <p:nvPr/>
        </p:nvSpPr>
        <p:spPr>
          <a:xfrm>
            <a:off x="733425" y="3457575"/>
            <a:ext cx="5581650" cy="719732"/>
          </a:xfrm>
          <a:prstGeom prst="rect">
            <a:avLst/>
          </a:prstGeom>
          <a:noFill/>
        </p:spPr>
        <p:txBody>
          <a:bodyPr wrap="square" lIns="0" rIns="0" tIns="0" bIns="0" anchor="t">
            <a:spAutoFit/>
          </a:bodyPr>
          <a:lstStyle/>
          <a:p>
            <a:pPr algn="l">
              <a:lnSpc>
                <a:spcPts val="1889"/>
              </a:lnSpc>
            </a:pPr>
            <a:r>
              <a:rPr b="0" sz="1350" i="0" u="none">
                <a:solidFill>
                  <a:srgbClr val="334155"/>
                </a:solidFill>
                <a:latin typeface="Plus Jakarta Sans"/>
              </a:rPr>
              <a:t>Features are not free. In medicine, tests cost money and time. In machine learning, computing features requires sensor hardware and processing power.</a:t>
            </a:r>
          </a:p>
        </p:txBody>
      </p:sp>
      <p:sp>
        <p:nvSpPr>
          <p:cNvPr id="19" name="TextBox 18"/>
          <p:cNvSpPr txBox="1"/>
          <p:nvPr/>
        </p:nvSpPr>
        <p:spPr>
          <a:xfrm>
            <a:off x="7000875" y="2590800"/>
            <a:ext cx="4438650" cy="714375"/>
          </a:xfrm>
          <a:prstGeom prst="rect">
            <a:avLst/>
          </a:prstGeom>
          <a:noFill/>
        </p:spPr>
        <p:txBody>
          <a:bodyPr wrap="square" lIns="0" rIns="0" tIns="0" bIns="0" anchor="t">
            <a:spAutoFit/>
          </a:bodyPr>
          <a:lstStyle/>
          <a:p>
            <a:pPr algn="l"/>
            <a:r>
              <a:rPr b="1" sz="1350" i="0" u="none">
                <a:solidFill>
                  <a:srgbClr val="0F172A"/>
                </a:solidFill>
                <a:latin typeface="Plus Jakarta Sans"/>
              </a:rPr>
              <a:t>Scenario A: Act Immediately</a:t>
            </a:r>
          </a:p>
        </p:txBody>
      </p:sp>
      <p:sp>
        <p:nvSpPr>
          <p:cNvPr id="20" name="TextBox 19"/>
          <p:cNvSpPr txBox="1"/>
          <p:nvPr/>
        </p:nvSpPr>
        <p:spPr>
          <a:xfrm>
            <a:off x="7000875" y="3629025"/>
            <a:ext cx="4438650" cy="714375"/>
          </a:xfrm>
          <a:prstGeom prst="rect">
            <a:avLst/>
          </a:prstGeom>
          <a:noFill/>
        </p:spPr>
        <p:txBody>
          <a:bodyPr wrap="square" lIns="0" rIns="0" tIns="0" bIns="0" anchor="t">
            <a:spAutoFit/>
          </a:bodyPr>
          <a:lstStyle/>
          <a:p>
            <a:pPr algn="l"/>
            <a:r>
              <a:rPr b="1" sz="1350" i="0" u="none">
                <a:solidFill>
                  <a:srgbClr val="92400E"/>
                </a:solidFill>
                <a:latin typeface="Plus Jakarta Sans"/>
              </a:rPr>
              <a:t>Scenario B: Order Blood Test</a:t>
            </a:r>
          </a:p>
        </p:txBody>
      </p:sp>
      <p:sp>
        <p:nvSpPr>
          <p:cNvPr id="21" name="TextBox 20"/>
          <p:cNvSpPr txBox="1"/>
          <p:nvPr/>
        </p:nvSpPr>
        <p:spPr>
          <a:xfrm>
            <a:off x="6429375" y="4629150"/>
            <a:ext cx="5486400" cy="219075"/>
          </a:xfrm>
          <a:prstGeom prst="rect">
            <a:avLst/>
          </a:prstGeom>
          <a:noFill/>
        </p:spPr>
        <p:txBody>
          <a:bodyPr wrap="square" lIns="0" rIns="0" tIns="0" bIns="0" anchor="t">
            <a:spAutoFit/>
          </a:bodyPr>
          <a:lstStyle/>
          <a:p>
            <a:pPr algn="ctr"/>
            <a:r>
              <a:rPr b="1" sz="1350" i="0" u="none">
                <a:solidFill>
                  <a:srgbClr val="2563EB"/>
                </a:solidFill>
                <a:latin typeface="Plus Jakarta Sans"/>
              </a:rPr>
              <a:t>Key Question: Does the test justify its cost?</a:t>
            </a:r>
          </a:p>
        </p:txBody>
      </p:sp>
      <p:sp>
        <p:nvSpPr>
          <p:cNvPr id="22" name="TextBox 21"/>
          <p:cNvSpPr txBox="1"/>
          <p:nvPr/>
        </p:nvSpPr>
        <p:spPr>
          <a:xfrm>
            <a:off x="7010400" y="2857500"/>
            <a:ext cx="4419600" cy="438150"/>
          </a:xfrm>
          <a:prstGeom prst="rect">
            <a:avLst/>
          </a:prstGeom>
          <a:noFill/>
        </p:spPr>
        <p:txBody>
          <a:bodyPr wrap="square" lIns="0" rIns="0" tIns="0" bIns="0" anchor="t">
            <a:spAutoFit/>
          </a:bodyPr>
          <a:lstStyle/>
          <a:p>
            <a:pPr algn="l"/>
            <a:r>
              <a:rPr b="0" sz="1350" i="0" u="none">
                <a:solidFill>
                  <a:srgbClr val="64748B"/>
                </a:solidFill>
                <a:latin typeface="Plus Jakarta Sans"/>
              </a:rPr>
              <a:t>Doctor observes cough &amp; fever. Decides based on limited evidence.</a:t>
            </a:r>
          </a:p>
        </p:txBody>
      </p:sp>
      <p:sp>
        <p:nvSpPr>
          <p:cNvPr id="23" name="TextBox 22"/>
          <p:cNvSpPr txBox="1"/>
          <p:nvPr/>
        </p:nvSpPr>
        <p:spPr>
          <a:xfrm>
            <a:off x="7010400" y="3895725"/>
            <a:ext cx="4419600" cy="438150"/>
          </a:xfrm>
          <a:prstGeom prst="rect">
            <a:avLst/>
          </a:prstGeom>
          <a:noFill/>
        </p:spPr>
        <p:txBody>
          <a:bodyPr wrap="square" lIns="0" rIns="0" tIns="0" bIns="0" anchor="t">
            <a:spAutoFit/>
          </a:bodyPr>
          <a:lstStyle/>
          <a:p>
            <a:pPr algn="l"/>
            <a:r>
              <a:rPr b="0" sz="1350" i="0" u="none">
                <a:solidFill>
                  <a:srgbClr val="78350F"/>
                </a:solidFill>
                <a:latin typeface="Plus Jakarta Sans"/>
              </a:rPr>
              <a:t>Doctor delays decision, runs a test. Gains clearer diagnosis.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4483000"/>
            <a:ext cx="11163300" cy="781050"/>
          </a:xfrm>
          <a:prstGeom prst="roundRect">
            <a:avLst>
              <a:gd name="adj" fmla="val 1219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981551"/>
            <a:ext cx="11163300" cy="533400"/>
          </a:xfrm>
          <a:prstGeom prst="roundRect">
            <a:avLst>
              <a:gd name="adj" fmla="val 10714"/>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1803350"/>
            <a:ext cx="5486400" cy="1962150"/>
          </a:xfrm>
          <a:prstGeom prst="roundRect">
            <a:avLst>
              <a:gd name="adj" fmla="val 485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1803350"/>
            <a:ext cx="5486400" cy="1962150"/>
          </a:xfrm>
          <a:prstGeom prst="roundRect">
            <a:avLst>
              <a:gd name="adj" fmla="val 485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43900" y="4665910"/>
            <a:ext cx="3095625" cy="415230"/>
          </a:xfrm>
          <a:prstGeom prst="roundRect">
            <a:avLst>
              <a:gd name="adj" fmla="val 13763"/>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5981551"/>
            <a:ext cx="38100" cy="533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3425" y="2022425"/>
            <a:ext cx="304800" cy="323850"/>
          </a:xfrm>
          <a:prstGeom prst="roundRect">
            <a:avLst>
              <a:gd name="adj" fmla="val 1875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10325" y="2022425"/>
            <a:ext cx="304800" cy="323850"/>
          </a:xfrm>
          <a:prstGeom prst="roundRect">
            <a:avLst>
              <a:gd name="adj" fmla="val 18750"/>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Existing Information (x) vs. New Information (z)</a:t>
            </a:r>
          </a:p>
        </p:txBody>
      </p:sp>
      <p:sp>
        <p:nvSpPr>
          <p:cNvPr id="11" name="TextBox 10"/>
          <p:cNvSpPr txBox="1"/>
          <p:nvPr/>
        </p:nvSpPr>
        <p:spPr>
          <a:xfrm>
            <a:off x="752475" y="4644925"/>
            <a:ext cx="5943600" cy="457200"/>
          </a:xfrm>
          <a:prstGeom prst="rect">
            <a:avLst/>
          </a:prstGeom>
          <a:noFill/>
        </p:spPr>
        <p:txBody>
          <a:bodyPr wrap="square" lIns="0" rIns="0" tIns="0" bIns="0" anchor="t">
            <a:spAutoFit/>
          </a:bodyPr>
          <a:lstStyle/>
          <a:p>
            <a:pPr algn="l"/>
            <a:r>
              <a:rPr b="1" sz="1350" i="0" u="none">
                <a:solidFill>
                  <a:srgbClr val="0F172A"/>
                </a:solidFill>
                <a:latin typeface="Plus Jakarta Sans"/>
              </a:rPr>
              <a:t>Updated Knowledge State: (x, z)</a:t>
            </a:r>
          </a:p>
        </p:txBody>
      </p:sp>
      <p:sp>
        <p:nvSpPr>
          <p:cNvPr id="12" name="TextBox 11"/>
          <p:cNvSpPr txBox="1"/>
          <p:nvPr/>
        </p:nvSpPr>
        <p:spPr>
          <a:xfrm>
            <a:off x="8496300" y="4742110"/>
            <a:ext cx="2886075" cy="262830"/>
          </a:xfrm>
          <a:prstGeom prst="rect">
            <a:avLst/>
          </a:prstGeom>
          <a:noFill/>
        </p:spPr>
        <p:txBody>
          <a:bodyPr wrap="square" lIns="0" rIns="0" tIns="0" bIns="0" anchor="t">
            <a:spAutoFit/>
          </a:bodyPr>
          <a:lstStyle/>
          <a:p>
            <a:pPr algn="l"/>
            <a:r>
              <a:rPr b="1" sz="1350" i="0" u="none">
                <a:solidFill>
                  <a:srgbClr val="1D4ED8"/>
                </a:solidFill>
                <a:latin typeface="Fira Code"/>
              </a:rPr>
              <a:t>P(S</a:t>
            </a:r>
            <a:r>
              <a:rPr b="1" sz="1125" i="0" u="none">
                <a:solidFill>
                  <a:srgbClr val="1D4ED8"/>
                </a:solidFill>
                <a:latin typeface="Fira Code"/>
              </a:rPr>
              <a:t>k</a:t>
            </a:r>
            <a:r>
              <a:rPr b="1" sz="1350" i="0" u="none">
                <a:solidFill>
                  <a:srgbClr val="1D4ED8"/>
                </a:solidFill>
                <a:latin typeface="Fira Code"/>
              </a:rPr>
              <a:t> | x)  ⟶  P(S</a:t>
            </a:r>
            <a:r>
              <a:rPr b="1" sz="1125" i="0" u="none">
                <a:solidFill>
                  <a:srgbClr val="1D4ED8"/>
                </a:solidFill>
                <a:latin typeface="Fira Code"/>
              </a:rPr>
              <a:t>k</a:t>
            </a:r>
            <a:r>
              <a:rPr b="1" sz="1350" i="0" u="none">
                <a:solidFill>
                  <a:srgbClr val="1D4ED8"/>
                </a:solidFill>
                <a:latin typeface="Fira Code"/>
              </a:rPr>
              <a:t> | x, z)</a:t>
            </a:r>
          </a:p>
        </p:txBody>
      </p:sp>
      <p:sp>
        <p:nvSpPr>
          <p:cNvPr id="13" name="TextBox 12"/>
          <p:cNvSpPr txBox="1"/>
          <p:nvPr/>
        </p:nvSpPr>
        <p:spPr>
          <a:xfrm>
            <a:off x="704850" y="6076801"/>
            <a:ext cx="10915650" cy="342900"/>
          </a:xfrm>
          <a:prstGeom prst="rect">
            <a:avLst/>
          </a:prstGeom>
          <a:noFill/>
        </p:spPr>
        <p:txBody>
          <a:bodyPr wrap="square" lIns="0" rIns="0" tIns="0" bIns="0" anchor="t">
            <a:spAutoFit/>
          </a:bodyPr>
          <a:lstStyle/>
          <a:p>
            <a:pPr algn="l"/>
            <a:r>
              <a:rPr b="1" sz="1050" i="0" u="none">
                <a:solidFill>
                  <a:srgbClr val="78350F"/>
                </a:solidFill>
                <a:latin typeface="Plus Jakarta Sans"/>
              </a:rPr>
              <a:t>Teacher Note &amp; Classroom Script:</a:t>
            </a:r>
            <a:r>
              <a:rPr b="0" sz="1050" i="0" u="none">
                <a:solidFill>
                  <a:srgbClr val="78350F"/>
                </a:solidFill>
                <a:latin typeface="Plus Jakarta Sans"/>
              </a:rPr>
              <a:t> "Make sure students note down `x` and `z`. In exams, students often forget which letter stands for existing features and which stands for the new test."</a:t>
            </a:r>
          </a:p>
        </p:txBody>
      </p:sp>
      <p:sp>
        <p:nvSpPr>
          <p:cNvPr id="14" name="TextBox 13"/>
          <p:cNvSpPr txBox="1"/>
          <p:nvPr/>
        </p:nvSpPr>
        <p:spPr>
          <a:xfrm>
            <a:off x="514350" y="342900"/>
            <a:ext cx="2940843" cy="171450"/>
          </a:xfrm>
          <a:prstGeom prst="rect">
            <a:avLst/>
          </a:prstGeom>
          <a:noFill/>
        </p:spPr>
        <p:txBody>
          <a:bodyPr wrap="none" lIns="0" rIns="0" tIns="0" bIns="0" anchor="t">
            <a:spAutoFit/>
          </a:bodyPr>
          <a:lstStyle/>
          <a:p>
            <a:pPr algn="l"/>
            <a:r>
              <a:rPr b="1" sz="1050" i="0" u="none">
                <a:solidFill>
                  <a:srgbClr val="D97706"/>
                </a:solidFill>
                <a:latin typeface="Plus Jakarta Sans"/>
              </a:rPr>
              <a:t>ALPAYDIN TEXTBOOK NOTATION</a:t>
            </a:r>
          </a:p>
        </p:txBody>
      </p:sp>
      <p:sp>
        <p:nvSpPr>
          <p:cNvPr id="15" name="TextBox 14"/>
          <p:cNvSpPr txBox="1"/>
          <p:nvPr/>
        </p:nvSpPr>
        <p:spPr>
          <a:xfrm>
            <a:off x="10477500" y="342900"/>
            <a:ext cx="1500187" cy="171450"/>
          </a:xfrm>
          <a:prstGeom prst="rect">
            <a:avLst/>
          </a:prstGeom>
          <a:noFill/>
        </p:spPr>
        <p:txBody>
          <a:bodyPr wrap="none" lIns="0" rIns="0" tIns="0" bIns="0" anchor="t">
            <a:spAutoFit/>
          </a:bodyPr>
          <a:lstStyle/>
          <a:p>
            <a:pPr algn="l"/>
            <a:r>
              <a:rPr b="1" sz="1050" i="0" u="none">
                <a:solidFill>
                  <a:srgbClr val="64748B"/>
                </a:solidFill>
                <a:latin typeface="Plus Jakarta Sans"/>
              </a:rPr>
              <a:t>Information States</a:t>
            </a:r>
          </a:p>
        </p:txBody>
      </p:sp>
      <p:sp>
        <p:nvSpPr>
          <p:cNvPr id="16" name="TextBox 15"/>
          <p:cNvSpPr txBox="1"/>
          <p:nvPr/>
        </p:nvSpPr>
        <p:spPr>
          <a:xfrm>
            <a:off x="733425" y="2441525"/>
            <a:ext cx="6310312" cy="219075"/>
          </a:xfrm>
          <a:prstGeom prst="rect">
            <a:avLst/>
          </a:prstGeom>
          <a:noFill/>
        </p:spPr>
        <p:txBody>
          <a:bodyPr wrap="none" lIns="0" rIns="0" tIns="0" bIns="0" anchor="t">
            <a:spAutoFit/>
          </a:bodyPr>
          <a:lstStyle/>
          <a:p>
            <a:pPr algn="l"/>
            <a:r>
              <a:rPr b="0" sz="1350" i="0" u="none">
                <a:solidFill>
                  <a:srgbClr val="475569"/>
                </a:solidFill>
                <a:latin typeface="Plus Jakarta Sans"/>
              </a:rPr>
              <a:t>Information already known at zero extra cost.</a:t>
            </a:r>
          </a:p>
        </p:txBody>
      </p:sp>
      <p:sp>
        <p:nvSpPr>
          <p:cNvPr id="17" name="TextBox 16"/>
          <p:cNvSpPr txBox="1"/>
          <p:nvPr/>
        </p:nvSpPr>
        <p:spPr>
          <a:xfrm>
            <a:off x="6410325" y="2441525"/>
            <a:ext cx="5781675" cy="219075"/>
          </a:xfrm>
          <a:prstGeom prst="rect">
            <a:avLst/>
          </a:prstGeom>
          <a:noFill/>
        </p:spPr>
        <p:txBody>
          <a:bodyPr wrap="none" lIns="0" rIns="0" tIns="0" bIns="0" anchor="t">
            <a:spAutoFit/>
          </a:bodyPr>
          <a:lstStyle/>
          <a:p>
            <a:pPr algn="l"/>
            <a:r>
              <a:rPr b="0" sz="1350" i="0" u="none">
                <a:solidFill>
                  <a:srgbClr val="475569"/>
                </a:solidFill>
                <a:latin typeface="Plus Jakarta Sans"/>
              </a:rPr>
              <a:t>New feature that can be acquired for a price.</a:t>
            </a:r>
          </a:p>
        </p:txBody>
      </p:sp>
      <p:sp>
        <p:nvSpPr>
          <p:cNvPr id="18" name="TextBox 17"/>
          <p:cNvSpPr txBox="1"/>
          <p:nvPr/>
        </p:nvSpPr>
        <p:spPr>
          <a:xfrm>
            <a:off x="752475" y="4883050"/>
            <a:ext cx="7310437" cy="219075"/>
          </a:xfrm>
          <a:prstGeom prst="rect">
            <a:avLst/>
          </a:prstGeom>
          <a:noFill/>
        </p:spPr>
        <p:txBody>
          <a:bodyPr wrap="none" lIns="0" rIns="0" tIns="0" bIns="0" anchor="t">
            <a:spAutoFit/>
          </a:bodyPr>
          <a:lstStyle/>
          <a:p>
            <a:pPr algn="l"/>
            <a:r>
              <a:rPr b="0" sz="1350" i="0" u="none">
                <a:solidFill>
                  <a:srgbClr val="475569"/>
                </a:solidFill>
                <a:latin typeface="Plus Jakarta Sans"/>
              </a:rPr>
              <a:t>Combines prior symptoms with test results to refine posterior probability.</a:t>
            </a:r>
          </a:p>
        </p:txBody>
      </p:sp>
      <p:sp>
        <p:nvSpPr>
          <p:cNvPr id="19" name="TextBox 18"/>
          <p:cNvSpPr txBox="1"/>
          <p:nvPr/>
        </p:nvSpPr>
        <p:spPr>
          <a:xfrm>
            <a:off x="828675" y="2060525"/>
            <a:ext cx="209550" cy="247650"/>
          </a:xfrm>
          <a:prstGeom prst="rect">
            <a:avLst/>
          </a:prstGeom>
          <a:noFill/>
        </p:spPr>
        <p:txBody>
          <a:bodyPr wrap="square" lIns="0" rIns="0" tIns="0" bIns="0" anchor="t">
            <a:spAutoFit/>
          </a:bodyPr>
          <a:lstStyle/>
          <a:p>
            <a:pPr algn="l"/>
            <a:r>
              <a:rPr b="1" sz="1500" i="0" u="none">
                <a:solidFill>
                  <a:srgbClr val="1D4ED8"/>
                </a:solidFill>
                <a:latin typeface="Fira Code"/>
              </a:rPr>
              <a:t>x</a:t>
            </a:r>
          </a:p>
        </p:txBody>
      </p:sp>
      <p:sp>
        <p:nvSpPr>
          <p:cNvPr id="20" name="TextBox 19"/>
          <p:cNvSpPr txBox="1"/>
          <p:nvPr/>
        </p:nvSpPr>
        <p:spPr>
          <a:xfrm>
            <a:off x="1133475" y="2074812"/>
            <a:ext cx="1937742" cy="219075"/>
          </a:xfrm>
          <a:prstGeom prst="rect">
            <a:avLst/>
          </a:prstGeom>
          <a:noFill/>
        </p:spPr>
        <p:txBody>
          <a:bodyPr wrap="none" lIns="0" rIns="0" tIns="0" bIns="0" anchor="t">
            <a:spAutoFit/>
          </a:bodyPr>
          <a:lstStyle/>
          <a:p>
            <a:pPr algn="l"/>
            <a:r>
              <a:rPr b="1" sz="1350" i="0" u="none">
                <a:solidFill>
                  <a:srgbClr val="0F172A"/>
                </a:solidFill>
                <a:latin typeface="Plus Jakarta Sans"/>
              </a:rPr>
              <a:t>Existing Evidence</a:t>
            </a:r>
          </a:p>
        </p:txBody>
      </p:sp>
      <p:sp>
        <p:nvSpPr>
          <p:cNvPr id="21" name="TextBox 20"/>
          <p:cNvSpPr txBox="1"/>
          <p:nvPr/>
        </p:nvSpPr>
        <p:spPr>
          <a:xfrm>
            <a:off x="733425" y="2774900"/>
            <a:ext cx="6310312" cy="219075"/>
          </a:xfrm>
          <a:prstGeom prst="rect">
            <a:avLst/>
          </a:prstGeom>
          <a:noFill/>
        </p:spPr>
        <p:txBody>
          <a:bodyPr wrap="none" lIns="0" rIns="0" tIns="0" bIns="0" anchor="t">
            <a:spAutoFit/>
          </a:bodyPr>
          <a:lstStyle/>
          <a:p>
            <a:pPr algn="l"/>
            <a:r>
              <a:rPr b="0" sz="1350" i="0" u="none">
                <a:solidFill>
                  <a:srgbClr val="334155"/>
                </a:solidFill>
                <a:latin typeface="Plus Jakarta Sans"/>
              </a:rPr>
              <a:t>• Patient age, gender, body temperature</a:t>
            </a:r>
          </a:p>
        </p:txBody>
      </p:sp>
      <p:sp>
        <p:nvSpPr>
          <p:cNvPr id="22" name="TextBox 21"/>
          <p:cNvSpPr txBox="1"/>
          <p:nvPr/>
        </p:nvSpPr>
        <p:spPr>
          <a:xfrm>
            <a:off x="733425" y="3051125"/>
            <a:ext cx="6310312" cy="219075"/>
          </a:xfrm>
          <a:prstGeom prst="rect">
            <a:avLst/>
          </a:prstGeom>
          <a:noFill/>
        </p:spPr>
        <p:txBody>
          <a:bodyPr wrap="none" lIns="0" rIns="0" tIns="0" bIns="0" anchor="t">
            <a:spAutoFit/>
          </a:bodyPr>
          <a:lstStyle/>
          <a:p>
            <a:pPr algn="l"/>
            <a:r>
              <a:rPr b="0" sz="1350" i="0" u="none">
                <a:solidFill>
                  <a:srgbClr val="334155"/>
                </a:solidFill>
                <a:latin typeface="Plus Jakarta Sans"/>
              </a:rPr>
              <a:t>• Email subject line, sender domain</a:t>
            </a:r>
          </a:p>
        </p:txBody>
      </p:sp>
      <p:sp>
        <p:nvSpPr>
          <p:cNvPr id="23" name="TextBox 22"/>
          <p:cNvSpPr txBox="1"/>
          <p:nvPr/>
        </p:nvSpPr>
        <p:spPr>
          <a:xfrm>
            <a:off x="733425" y="3327350"/>
            <a:ext cx="6310312" cy="219075"/>
          </a:xfrm>
          <a:prstGeom prst="rect">
            <a:avLst/>
          </a:prstGeom>
          <a:noFill/>
        </p:spPr>
        <p:txBody>
          <a:bodyPr wrap="none" lIns="0" rIns="0" tIns="0" bIns="0" anchor="t">
            <a:spAutoFit/>
          </a:bodyPr>
          <a:lstStyle/>
          <a:p>
            <a:pPr algn="l"/>
            <a:r>
              <a:rPr b="0" sz="1350" i="0" u="none">
                <a:solidFill>
                  <a:srgbClr val="334155"/>
                </a:solidFill>
                <a:latin typeface="Plus Jakarta Sans"/>
              </a:rPr>
              <a:t>• Current stock market opening index</a:t>
            </a:r>
          </a:p>
        </p:txBody>
      </p:sp>
      <p:sp>
        <p:nvSpPr>
          <p:cNvPr id="24" name="TextBox 23"/>
          <p:cNvSpPr txBox="1"/>
          <p:nvPr/>
        </p:nvSpPr>
        <p:spPr>
          <a:xfrm>
            <a:off x="6505575" y="2060525"/>
            <a:ext cx="209550" cy="247650"/>
          </a:xfrm>
          <a:prstGeom prst="rect">
            <a:avLst/>
          </a:prstGeom>
          <a:noFill/>
        </p:spPr>
        <p:txBody>
          <a:bodyPr wrap="square" lIns="0" rIns="0" tIns="0" bIns="0" anchor="t">
            <a:spAutoFit/>
          </a:bodyPr>
          <a:lstStyle/>
          <a:p>
            <a:pPr algn="l"/>
            <a:r>
              <a:rPr b="1" sz="1500" i="0" u="none">
                <a:solidFill>
                  <a:srgbClr val="B45309"/>
                </a:solidFill>
                <a:latin typeface="Fira Code"/>
              </a:rPr>
              <a:t>z</a:t>
            </a:r>
          </a:p>
        </p:txBody>
      </p:sp>
      <p:sp>
        <p:nvSpPr>
          <p:cNvPr id="25" name="TextBox 24"/>
          <p:cNvSpPr txBox="1"/>
          <p:nvPr/>
        </p:nvSpPr>
        <p:spPr>
          <a:xfrm>
            <a:off x="6810375" y="2074812"/>
            <a:ext cx="2037754" cy="219075"/>
          </a:xfrm>
          <a:prstGeom prst="rect">
            <a:avLst/>
          </a:prstGeom>
          <a:noFill/>
        </p:spPr>
        <p:txBody>
          <a:bodyPr wrap="none" lIns="0" rIns="0" tIns="0" bIns="0" anchor="t">
            <a:spAutoFit/>
          </a:bodyPr>
          <a:lstStyle/>
          <a:p>
            <a:pPr algn="l"/>
            <a:r>
              <a:rPr b="1" sz="1350" i="0" u="none">
                <a:solidFill>
                  <a:srgbClr val="0F172A"/>
                </a:solidFill>
                <a:latin typeface="Plus Jakarta Sans"/>
              </a:rPr>
              <a:t>Additional Feature</a:t>
            </a:r>
          </a:p>
        </p:txBody>
      </p:sp>
      <p:sp>
        <p:nvSpPr>
          <p:cNvPr id="26" name="TextBox 25"/>
          <p:cNvSpPr txBox="1"/>
          <p:nvPr/>
        </p:nvSpPr>
        <p:spPr>
          <a:xfrm>
            <a:off x="6410325" y="2774900"/>
            <a:ext cx="5781675" cy="219075"/>
          </a:xfrm>
          <a:prstGeom prst="rect">
            <a:avLst/>
          </a:prstGeom>
          <a:noFill/>
        </p:spPr>
        <p:txBody>
          <a:bodyPr wrap="none" lIns="0" rIns="0" tIns="0" bIns="0" anchor="t">
            <a:spAutoFit/>
          </a:bodyPr>
          <a:lstStyle/>
          <a:p>
            <a:pPr algn="l"/>
            <a:r>
              <a:rPr b="0" sz="1350" i="0" u="none">
                <a:solidFill>
                  <a:srgbClr val="334155"/>
                </a:solidFill>
                <a:latin typeface="Plus Jakarta Sans"/>
              </a:rPr>
              <a:t>• Specialized blood test or biopsy</a:t>
            </a:r>
          </a:p>
        </p:txBody>
      </p:sp>
      <p:sp>
        <p:nvSpPr>
          <p:cNvPr id="27" name="TextBox 26"/>
          <p:cNvSpPr txBox="1"/>
          <p:nvPr/>
        </p:nvSpPr>
        <p:spPr>
          <a:xfrm>
            <a:off x="6410325" y="3051125"/>
            <a:ext cx="5781675" cy="219075"/>
          </a:xfrm>
          <a:prstGeom prst="rect">
            <a:avLst/>
          </a:prstGeom>
          <a:noFill/>
        </p:spPr>
        <p:txBody>
          <a:bodyPr wrap="none" lIns="0" rIns="0" tIns="0" bIns="0" anchor="t">
            <a:spAutoFit/>
          </a:bodyPr>
          <a:lstStyle/>
          <a:p>
            <a:pPr algn="l"/>
            <a:r>
              <a:rPr b="0" sz="1350" i="0" u="none">
                <a:solidFill>
                  <a:srgbClr val="334155"/>
                </a:solidFill>
                <a:latin typeface="Plus Jakarta Sans"/>
              </a:rPr>
              <a:t>• Deep virus scan / sandbox execution</a:t>
            </a:r>
          </a:p>
        </p:txBody>
      </p:sp>
      <p:sp>
        <p:nvSpPr>
          <p:cNvPr id="28" name="TextBox 27"/>
          <p:cNvSpPr txBox="1"/>
          <p:nvPr/>
        </p:nvSpPr>
        <p:spPr>
          <a:xfrm>
            <a:off x="6410325" y="3327350"/>
            <a:ext cx="5781675" cy="219075"/>
          </a:xfrm>
          <a:prstGeom prst="rect">
            <a:avLst/>
          </a:prstGeom>
          <a:noFill/>
        </p:spPr>
        <p:txBody>
          <a:bodyPr wrap="none" lIns="0" rIns="0" tIns="0" bIns="0" anchor="t">
            <a:spAutoFit/>
          </a:bodyPr>
          <a:lstStyle/>
          <a:p>
            <a:pPr algn="l"/>
            <a:r>
              <a:rPr b="0" sz="1350" i="0" u="none">
                <a:solidFill>
                  <a:srgbClr val="334155"/>
                </a:solidFill>
                <a:latin typeface="Plus Jakarta Sans"/>
              </a:rPr>
              <a:t>• Expensive paid market research survey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962150"/>
            <a:ext cx="5921126" cy="3143250"/>
          </a:xfrm>
          <a:prstGeom prst="roundRect">
            <a:avLst>
              <a:gd name="adj" fmla="val 363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4076" y="1962150"/>
            <a:ext cx="5013573" cy="3143250"/>
          </a:xfrm>
          <a:prstGeom prst="roundRect">
            <a:avLst>
              <a:gd name="adj" fmla="val 363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02201" y="2765226"/>
            <a:ext cx="4537323" cy="746521"/>
          </a:xfrm>
          <a:prstGeom prst="roundRect">
            <a:avLst>
              <a:gd name="adj" fmla="val 7655"/>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02201" y="3914775"/>
            <a:ext cx="4537323" cy="952500"/>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2475" y="2200275"/>
            <a:ext cx="5444876" cy="895350"/>
          </a:xfrm>
          <a:prstGeom prst="roundRect">
            <a:avLst>
              <a:gd name="adj" fmla="val 10638"/>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02201" y="2765226"/>
            <a:ext cx="38100" cy="74652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Quantifying Value of Information (VOI)</a:t>
            </a:r>
          </a:p>
        </p:txBody>
      </p:sp>
      <p:sp>
        <p:nvSpPr>
          <p:cNvPr id="11" name="TextBox 10"/>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78350F"/>
                </a:solidFill>
                <a:latin typeface="Plus Jakarta Sans"/>
              </a:rPr>
              <a:t>Teacher Note &amp; Exam Tip:</a:t>
            </a:r>
            <a:r>
              <a:rPr b="0" sz="1050" i="0" u="none">
                <a:solidFill>
                  <a:srgbClr val="78350F"/>
                </a:solidFill>
                <a:latin typeface="Plus Jakarta Sans"/>
              </a:rPr>
              <a:t> "Ask students: 'Can VOI be negative?' Explain why it cannot: If the new test tells you nothing useful, you simply stick with your original decision, so EU(x,z) = EU(x), making VOI = 0. It is never negative."</a:t>
            </a:r>
          </a:p>
        </p:txBody>
      </p:sp>
      <p:sp>
        <p:nvSpPr>
          <p:cNvPr id="12" name="TextBox 11"/>
          <p:cNvSpPr txBox="1"/>
          <p:nvPr/>
        </p:nvSpPr>
        <p:spPr>
          <a:xfrm>
            <a:off x="514350" y="342900"/>
            <a:ext cx="2547937" cy="171450"/>
          </a:xfrm>
          <a:prstGeom prst="rect">
            <a:avLst/>
          </a:prstGeom>
          <a:noFill/>
        </p:spPr>
        <p:txBody>
          <a:bodyPr wrap="none" lIns="0" rIns="0" tIns="0" bIns="0" anchor="t">
            <a:spAutoFit/>
          </a:bodyPr>
          <a:lstStyle/>
          <a:p>
            <a:pPr algn="l"/>
            <a:r>
              <a:rPr b="1" sz="1050" i="0" u="none">
                <a:solidFill>
                  <a:srgbClr val="D97706"/>
                </a:solidFill>
                <a:latin typeface="Plus Jakarta Sans"/>
              </a:rPr>
              <a:t>MATHEMATICAL DEFINITION</a:t>
            </a:r>
          </a:p>
        </p:txBody>
      </p:sp>
      <p:sp>
        <p:nvSpPr>
          <p:cNvPr id="13" name="TextBox 12"/>
          <p:cNvSpPr txBox="1"/>
          <p:nvPr/>
        </p:nvSpPr>
        <p:spPr>
          <a:xfrm>
            <a:off x="9858375" y="342900"/>
            <a:ext cx="2274093" cy="171450"/>
          </a:xfrm>
          <a:prstGeom prst="rect">
            <a:avLst/>
          </a:prstGeom>
          <a:noFill/>
        </p:spPr>
        <p:txBody>
          <a:bodyPr wrap="none" lIns="0" rIns="0" tIns="0" bIns="0" anchor="t">
            <a:spAutoFit/>
          </a:bodyPr>
          <a:lstStyle/>
          <a:p>
            <a:pPr algn="l"/>
            <a:r>
              <a:rPr b="1" sz="1050" i="0" u="none">
                <a:solidFill>
                  <a:srgbClr val="64748B"/>
                </a:solidFill>
                <a:latin typeface="Plus Jakarta Sans"/>
              </a:rPr>
              <a:t>Ethem Alpaydin §3.7 Formula</a:t>
            </a:r>
          </a:p>
        </p:txBody>
      </p:sp>
      <p:sp>
        <p:nvSpPr>
          <p:cNvPr id="14" name="TextBox 13"/>
          <p:cNvSpPr txBox="1"/>
          <p:nvPr/>
        </p:nvSpPr>
        <p:spPr>
          <a:xfrm>
            <a:off x="6902201" y="2200275"/>
            <a:ext cx="5289798" cy="219075"/>
          </a:xfrm>
          <a:prstGeom prst="rect">
            <a:avLst/>
          </a:prstGeom>
          <a:noFill/>
        </p:spPr>
        <p:txBody>
          <a:bodyPr wrap="none" lIns="0" rIns="0" tIns="0" bIns="0" anchor="t">
            <a:spAutoFit/>
          </a:bodyPr>
          <a:lstStyle/>
          <a:p>
            <a:pPr algn="l"/>
            <a:r>
              <a:rPr b="1" sz="1350" i="0" u="none">
                <a:solidFill>
                  <a:srgbClr val="0F172A"/>
                </a:solidFill>
                <a:latin typeface="Plus Jakarta Sans"/>
              </a:rPr>
              <a:t>Plain-English Translation</a:t>
            </a:r>
          </a:p>
        </p:txBody>
      </p:sp>
      <p:sp>
        <p:nvSpPr>
          <p:cNvPr id="15" name="TextBox 14"/>
          <p:cNvSpPr txBox="1"/>
          <p:nvPr/>
        </p:nvSpPr>
        <p:spPr>
          <a:xfrm>
            <a:off x="7016501" y="4029075"/>
            <a:ext cx="4403973" cy="723900"/>
          </a:xfrm>
          <a:prstGeom prst="rect">
            <a:avLst/>
          </a:prstGeom>
          <a:noFill/>
        </p:spPr>
        <p:txBody>
          <a:bodyPr wrap="square" lIns="0" rIns="0" tIns="0" bIns="0" anchor="t">
            <a:spAutoFit/>
          </a:bodyPr>
          <a:lstStyle/>
          <a:p>
            <a:pPr algn="l"/>
            <a:r>
              <a:rPr b="1" sz="1350" i="0" u="none">
                <a:solidFill>
                  <a:srgbClr val="0F172A"/>
                </a:solidFill>
                <a:latin typeface="Plus Jakarta Sans"/>
              </a:rPr>
              <a:t>Theoretical Property:</a:t>
            </a:r>
          </a:p>
        </p:txBody>
      </p:sp>
      <p:sp>
        <p:nvSpPr>
          <p:cNvPr id="16" name="TextBox 15"/>
          <p:cNvSpPr txBox="1"/>
          <p:nvPr/>
        </p:nvSpPr>
        <p:spPr>
          <a:xfrm>
            <a:off x="752475" y="3248025"/>
            <a:ext cx="6806096" cy="219075"/>
          </a:xfrm>
          <a:prstGeom prst="rect">
            <a:avLst/>
          </a:prstGeom>
          <a:noFill/>
        </p:spPr>
        <p:txBody>
          <a:bodyPr wrap="none" lIns="0" rIns="0" tIns="0" bIns="0" anchor="t">
            <a:spAutoFit/>
          </a:bodyPr>
          <a:lstStyle/>
          <a:p>
            <a:pPr algn="l"/>
            <a:r>
              <a:rPr b="1" sz="1350" i="0" u="none">
                <a:solidFill>
                  <a:srgbClr val="0F172A"/>
                </a:solidFill>
                <a:latin typeface="Plus Jakarta Sans"/>
              </a:rPr>
              <a:t>Component Meanings:</a:t>
            </a:r>
          </a:p>
        </p:txBody>
      </p:sp>
      <p:sp>
        <p:nvSpPr>
          <p:cNvPr id="17" name="TextBox 16"/>
          <p:cNvSpPr txBox="1"/>
          <p:nvPr/>
        </p:nvSpPr>
        <p:spPr>
          <a:xfrm>
            <a:off x="7073651" y="2898576"/>
            <a:ext cx="4327773" cy="479821"/>
          </a:xfrm>
          <a:prstGeom prst="rect">
            <a:avLst/>
          </a:prstGeom>
          <a:noFill/>
        </p:spPr>
        <p:txBody>
          <a:bodyPr wrap="square" lIns="0" rIns="0" tIns="0" bIns="0" anchor="t">
            <a:spAutoFit/>
          </a:bodyPr>
          <a:lstStyle/>
          <a:p>
            <a:pPr algn="l">
              <a:lnSpc>
                <a:spcPts val="1889"/>
              </a:lnSpc>
            </a:pPr>
            <a:r>
              <a:rPr b="0" sz="1350" i="0" u="none">
                <a:solidFill>
                  <a:srgbClr val="1E3A8A"/>
                </a:solidFill>
                <a:latin typeface="Plus Jakarta Sans"/>
              </a:rPr>
              <a:t>"Value of Information is the improvement in expected reward when we make a decision with more facts."</a:t>
            </a:r>
          </a:p>
        </p:txBody>
      </p:sp>
      <p:sp>
        <p:nvSpPr>
          <p:cNvPr id="18" name="TextBox 17"/>
          <p:cNvSpPr txBox="1"/>
          <p:nvPr/>
        </p:nvSpPr>
        <p:spPr>
          <a:xfrm>
            <a:off x="7026026" y="4295775"/>
            <a:ext cx="4384923" cy="447675"/>
          </a:xfrm>
          <a:prstGeom prst="rect">
            <a:avLst/>
          </a:prstGeom>
          <a:noFill/>
        </p:spPr>
        <p:txBody>
          <a:bodyPr wrap="square" lIns="0" rIns="0" tIns="0" bIns="0" anchor="t">
            <a:spAutoFit/>
          </a:bodyPr>
          <a:lstStyle/>
          <a:p>
            <a:pPr algn="l"/>
            <a:r>
              <a:rPr b="0" sz="1350" i="0" u="none">
                <a:solidFill>
                  <a:srgbClr val="475569"/>
                </a:solidFill>
                <a:latin typeface="Plus Jakarta Sans"/>
              </a:rPr>
              <a:t>VOI is always ≥ 0. Additional data cannot harm decision quality; it can only maintain or improve it.</a:t>
            </a:r>
          </a:p>
        </p:txBody>
      </p:sp>
      <p:sp>
        <p:nvSpPr>
          <p:cNvPr id="19" name="TextBox 18"/>
          <p:cNvSpPr txBox="1"/>
          <p:nvPr/>
        </p:nvSpPr>
        <p:spPr>
          <a:xfrm>
            <a:off x="286177" y="2371725"/>
            <a:ext cx="6377471" cy="171450"/>
          </a:xfrm>
          <a:prstGeom prst="rect">
            <a:avLst/>
          </a:prstGeom>
          <a:noFill/>
        </p:spPr>
        <p:txBody>
          <a:bodyPr wrap="none" lIns="0" rIns="0" tIns="0" bIns="0" anchor="t">
            <a:spAutoFit/>
          </a:bodyPr>
          <a:lstStyle/>
          <a:p>
            <a:pPr algn="ctr"/>
            <a:r>
              <a:rPr b="1" sz="1050" i="0" u="none">
                <a:solidFill>
                  <a:srgbClr val="92400E"/>
                </a:solidFill>
                <a:latin typeface="Plus Jakarta Sans"/>
              </a:rPr>
              <a:t>VALUE OF INFORMATION EQUATION</a:t>
            </a:r>
          </a:p>
        </p:txBody>
      </p:sp>
      <p:sp>
        <p:nvSpPr>
          <p:cNvPr id="20" name="TextBox 19"/>
          <p:cNvSpPr txBox="1"/>
          <p:nvPr/>
        </p:nvSpPr>
        <p:spPr>
          <a:xfrm>
            <a:off x="286177" y="2600325"/>
            <a:ext cx="6377471" cy="323850"/>
          </a:xfrm>
          <a:prstGeom prst="rect">
            <a:avLst/>
          </a:prstGeom>
          <a:noFill/>
        </p:spPr>
        <p:txBody>
          <a:bodyPr wrap="none" lIns="0" rIns="0" tIns="0" bIns="0" anchor="t">
            <a:spAutoFit/>
          </a:bodyPr>
          <a:lstStyle/>
          <a:p>
            <a:pPr algn="ctr"/>
            <a:r>
              <a:rPr b="1" sz="1950" i="0" u="none">
                <a:solidFill>
                  <a:srgbClr val="0F172A"/>
                </a:solidFill>
                <a:latin typeface="Fira Code"/>
              </a:rPr>
              <a:t>VOI = EU(x, z) − EU(x)</a:t>
            </a:r>
          </a:p>
        </p:txBody>
      </p:sp>
      <p:sp>
        <p:nvSpPr>
          <p:cNvPr id="21" name="TextBox 20"/>
          <p:cNvSpPr txBox="1"/>
          <p:nvPr/>
        </p:nvSpPr>
        <p:spPr>
          <a:xfrm>
            <a:off x="752475" y="3562350"/>
            <a:ext cx="5540126" cy="457200"/>
          </a:xfrm>
          <a:prstGeom prst="rect">
            <a:avLst/>
          </a:prstGeom>
          <a:noFill/>
        </p:spPr>
        <p:txBody>
          <a:bodyPr wrap="square" lIns="0" rIns="0" tIns="0" bIns="0" anchor="t">
            <a:spAutoFit/>
          </a:bodyPr>
          <a:lstStyle/>
          <a:p>
            <a:pPr algn="l"/>
            <a:r>
              <a:rPr b="1" sz="1350" i="0" u="none">
                <a:solidFill>
                  <a:srgbClr val="D97706"/>
                </a:solidFill>
                <a:latin typeface="Plus Jakarta Sans"/>
              </a:rPr>
              <a:t>EU(x)</a:t>
            </a:r>
            <a:r>
              <a:rPr b="0" sz="1350" i="0" u="none">
                <a:solidFill>
                  <a:srgbClr val="334155"/>
                </a:solidFill>
                <a:latin typeface="Plus Jakarta Sans"/>
              </a:rPr>
              <a:t> : Best expected utility achievable using </a:t>
            </a:r>
            <a:r>
              <a:rPr b="0" sz="1350" i="1" u="none">
                <a:solidFill>
                  <a:srgbClr val="334155"/>
                </a:solidFill>
                <a:latin typeface="Plus Jakarta Sans"/>
              </a:rPr>
              <a:t>only current information x</a:t>
            </a:r>
            <a:r>
              <a:rPr b="0" sz="1350" i="0" u="none">
                <a:solidFill>
                  <a:srgbClr val="334155"/>
                </a:solidFill>
                <a:latin typeface="Plus Jakarta Sans"/>
              </a:rPr>
              <a:t>.</a:t>
            </a:r>
          </a:p>
        </p:txBody>
      </p:sp>
      <p:sp>
        <p:nvSpPr>
          <p:cNvPr id="22" name="TextBox 21"/>
          <p:cNvSpPr txBox="1"/>
          <p:nvPr/>
        </p:nvSpPr>
        <p:spPr>
          <a:xfrm>
            <a:off x="752475" y="4095750"/>
            <a:ext cx="5540126" cy="457200"/>
          </a:xfrm>
          <a:prstGeom prst="rect">
            <a:avLst/>
          </a:prstGeom>
          <a:noFill/>
        </p:spPr>
        <p:txBody>
          <a:bodyPr wrap="square" lIns="0" rIns="0" tIns="0" bIns="0" anchor="t">
            <a:spAutoFit/>
          </a:bodyPr>
          <a:lstStyle/>
          <a:p>
            <a:pPr algn="l"/>
            <a:r>
              <a:rPr b="1" sz="1350" i="0" u="none">
                <a:solidFill>
                  <a:srgbClr val="D97706"/>
                </a:solidFill>
                <a:latin typeface="Plus Jakarta Sans"/>
              </a:rPr>
              <a:t>EU(x, z)</a:t>
            </a:r>
            <a:r>
              <a:rPr b="0" sz="1350" i="0" u="none">
                <a:solidFill>
                  <a:srgbClr val="334155"/>
                </a:solidFill>
                <a:latin typeface="Plus Jakarta Sans"/>
              </a:rPr>
              <a:t> : Improved expected utility achieved </a:t>
            </a:r>
            <a:r>
              <a:rPr b="0" sz="1350" i="1" u="none">
                <a:solidFill>
                  <a:srgbClr val="334155"/>
                </a:solidFill>
                <a:latin typeface="Plus Jakarta Sans"/>
              </a:rPr>
              <a:t>after learning extra feature z</a:t>
            </a:r>
            <a:r>
              <a:rPr b="0" sz="1350" i="0" u="none">
                <a:solidFill>
                  <a:srgbClr val="334155"/>
                </a:solidFill>
                <a:latin typeface="Plus Jakarta Sans"/>
              </a:rPr>
              <a:t>.</a:t>
            </a:r>
          </a:p>
        </p:txBody>
      </p:sp>
      <p:sp>
        <p:nvSpPr>
          <p:cNvPr id="23" name="TextBox 22"/>
          <p:cNvSpPr txBox="1"/>
          <p:nvPr/>
        </p:nvSpPr>
        <p:spPr>
          <a:xfrm>
            <a:off x="752475" y="4629150"/>
            <a:ext cx="6806096" cy="238125"/>
          </a:xfrm>
          <a:prstGeom prst="rect">
            <a:avLst/>
          </a:prstGeom>
          <a:noFill/>
        </p:spPr>
        <p:txBody>
          <a:bodyPr wrap="none" lIns="0" rIns="0" tIns="0" bIns="0" anchor="t">
            <a:spAutoFit/>
          </a:bodyPr>
          <a:lstStyle/>
          <a:p>
            <a:pPr algn="l"/>
            <a:r>
              <a:rPr b="1" sz="1350" i="0" u="none">
                <a:solidFill>
                  <a:srgbClr val="D97706"/>
                </a:solidFill>
                <a:latin typeface="Plus Jakarta Sans"/>
              </a:rPr>
              <a:t>VOI</a:t>
            </a:r>
            <a:r>
              <a:rPr b="0" sz="1350" i="0" u="none">
                <a:solidFill>
                  <a:srgbClr val="334155"/>
                </a:solidFill>
                <a:latin typeface="Plus Jakarta Sans"/>
              </a:rPr>
              <a:t> : The net gain in expected decision quality from the new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2090737"/>
            <a:ext cx="4638675" cy="2886075"/>
          </a:xfrm>
          <a:prstGeom prst="roundRect">
            <a:avLst>
              <a:gd name="adj" fmla="val 33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43525" y="2090737"/>
            <a:ext cx="6334125" cy="2886075"/>
          </a:xfrm>
          <a:prstGeom prst="roundRect">
            <a:avLst>
              <a:gd name="adj" fmla="val 33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4375" y="2605087"/>
            <a:ext cx="4238625" cy="704850"/>
          </a:xfrm>
          <a:prstGeom prst="roundRect">
            <a:avLst>
              <a:gd name="adj" fmla="val 810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4375" y="3405187"/>
            <a:ext cx="4238625" cy="704850"/>
          </a:xfrm>
          <a:prstGeom prst="roundRect">
            <a:avLst>
              <a:gd name="adj" fmla="val 810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43550" y="4148137"/>
            <a:ext cx="5934075" cy="628650"/>
          </a:xfrm>
          <a:prstGeom prst="roundRect">
            <a:avLst>
              <a:gd name="adj" fmla="val 909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43550" y="2586037"/>
            <a:ext cx="5934075" cy="390525"/>
          </a:xfrm>
          <a:prstGeom prst="roundRect">
            <a:avLst>
              <a:gd name="adj" fmla="val 1463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543550" y="3662362"/>
            <a:ext cx="5934075" cy="409575"/>
          </a:xfrm>
          <a:prstGeom prst="roundRect">
            <a:avLst>
              <a:gd name="adj" fmla="val 13953"/>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43550" y="4148137"/>
            <a:ext cx="38100" cy="62865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VOI Numerical Example: Test vs. Cost</a:t>
            </a:r>
          </a:p>
        </p:txBody>
      </p:sp>
      <p:sp>
        <p:nvSpPr>
          <p:cNvPr id="13" name="TextBox 12"/>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78350F"/>
                </a:solidFill>
                <a:latin typeface="Plus Jakarta Sans"/>
              </a:rPr>
              <a:t>Teacher Note &amp; Classroom Script:</a:t>
            </a:r>
            <a:r>
              <a:rPr b="0" sz="1050" i="0" u="none">
                <a:solidFill>
                  <a:srgbClr val="78350F"/>
                </a:solidFill>
                <a:latin typeface="Plus Jakarta Sans"/>
              </a:rPr>
              <a:t> "Now ask: What if the test cost was 30 units? Net benefit would be 25 - 30 = -5. In that case, we should decline the test and decide immediately! Always check net benefit."</a:t>
            </a:r>
          </a:p>
        </p:txBody>
      </p:sp>
      <p:sp>
        <p:nvSpPr>
          <p:cNvPr id="14" name="TextBox 13"/>
          <p:cNvSpPr txBox="1"/>
          <p:nvPr/>
        </p:nvSpPr>
        <p:spPr>
          <a:xfrm>
            <a:off x="514350" y="342900"/>
            <a:ext cx="2893218" cy="171450"/>
          </a:xfrm>
          <a:prstGeom prst="rect">
            <a:avLst/>
          </a:prstGeom>
          <a:noFill/>
        </p:spPr>
        <p:txBody>
          <a:bodyPr wrap="none" lIns="0" rIns="0" tIns="0" bIns="0" anchor="t">
            <a:spAutoFit/>
          </a:bodyPr>
          <a:lstStyle/>
          <a:p>
            <a:pPr algn="l"/>
            <a:r>
              <a:rPr b="1" sz="1050" i="0" u="none">
                <a:solidFill>
                  <a:srgbClr val="D97706"/>
                </a:solidFill>
                <a:latin typeface="Plus Jakarta Sans"/>
              </a:rPr>
              <a:t>WORKED NUMERICAL PROBLEM</a:t>
            </a:r>
          </a:p>
        </p:txBody>
      </p:sp>
      <p:sp>
        <p:nvSpPr>
          <p:cNvPr id="15" name="TextBox 14"/>
          <p:cNvSpPr txBox="1"/>
          <p:nvPr/>
        </p:nvSpPr>
        <p:spPr>
          <a:xfrm>
            <a:off x="9753600" y="342900"/>
            <a:ext cx="2405062" cy="171450"/>
          </a:xfrm>
          <a:prstGeom prst="rect">
            <a:avLst/>
          </a:prstGeom>
          <a:noFill/>
        </p:spPr>
        <p:txBody>
          <a:bodyPr wrap="none" lIns="0" rIns="0" tIns="0" bIns="0" anchor="t">
            <a:spAutoFit/>
          </a:bodyPr>
          <a:lstStyle/>
          <a:p>
            <a:pPr algn="l"/>
            <a:r>
              <a:rPr b="1" sz="1050" i="0" u="none">
                <a:solidFill>
                  <a:srgbClr val="64748B"/>
                </a:solidFill>
                <a:latin typeface="Plus Jakarta Sans"/>
              </a:rPr>
              <a:t>Incorporating Acquisition Cost</a:t>
            </a:r>
          </a:p>
        </p:txBody>
      </p:sp>
      <p:sp>
        <p:nvSpPr>
          <p:cNvPr id="16" name="TextBox 15"/>
          <p:cNvSpPr txBox="1"/>
          <p:nvPr/>
        </p:nvSpPr>
        <p:spPr>
          <a:xfrm>
            <a:off x="714375" y="2290762"/>
            <a:ext cx="5563195" cy="219075"/>
          </a:xfrm>
          <a:prstGeom prst="rect">
            <a:avLst/>
          </a:prstGeom>
          <a:noFill/>
        </p:spPr>
        <p:txBody>
          <a:bodyPr wrap="none" lIns="0" rIns="0" tIns="0" bIns="0" anchor="t">
            <a:spAutoFit/>
          </a:bodyPr>
          <a:lstStyle/>
          <a:p>
            <a:pPr algn="l"/>
            <a:r>
              <a:rPr b="1" sz="1350" i="0" u="none">
                <a:solidFill>
                  <a:srgbClr val="0F172A"/>
                </a:solidFill>
                <a:latin typeface="Plus Jakarta Sans"/>
              </a:rPr>
              <a:t>Decision States</a:t>
            </a:r>
          </a:p>
        </p:txBody>
      </p:sp>
      <p:sp>
        <p:nvSpPr>
          <p:cNvPr id="17" name="TextBox 16"/>
          <p:cNvSpPr txBox="1"/>
          <p:nvPr/>
        </p:nvSpPr>
        <p:spPr>
          <a:xfrm>
            <a:off x="847725" y="2700337"/>
            <a:ext cx="4067175" cy="514350"/>
          </a:xfrm>
          <a:prstGeom prst="rect">
            <a:avLst/>
          </a:prstGeom>
          <a:noFill/>
        </p:spPr>
        <p:txBody>
          <a:bodyPr wrap="square" lIns="0" rIns="0" tIns="0" bIns="0" anchor="t">
            <a:spAutoFit/>
          </a:bodyPr>
          <a:lstStyle/>
          <a:p>
            <a:pPr algn="l"/>
            <a:r>
              <a:rPr b="0" sz="1050" i="0" u="none">
                <a:solidFill>
                  <a:srgbClr val="64748B"/>
                </a:solidFill>
                <a:latin typeface="Plus Jakarta Sans"/>
              </a:rPr>
              <a:t>Current Expected Utility</a:t>
            </a:r>
          </a:p>
        </p:txBody>
      </p:sp>
      <p:sp>
        <p:nvSpPr>
          <p:cNvPr id="18" name="TextBox 17"/>
          <p:cNvSpPr txBox="1"/>
          <p:nvPr/>
        </p:nvSpPr>
        <p:spPr>
          <a:xfrm>
            <a:off x="847725" y="3500437"/>
            <a:ext cx="4067175" cy="514350"/>
          </a:xfrm>
          <a:prstGeom prst="rect">
            <a:avLst/>
          </a:prstGeom>
          <a:noFill/>
        </p:spPr>
        <p:txBody>
          <a:bodyPr wrap="square" lIns="0" rIns="0" tIns="0" bIns="0" anchor="t">
            <a:spAutoFit/>
          </a:bodyPr>
          <a:lstStyle/>
          <a:p>
            <a:pPr algn="l"/>
            <a:r>
              <a:rPr b="0" sz="1050" i="0" u="none">
                <a:solidFill>
                  <a:srgbClr val="1E40AF"/>
                </a:solidFill>
                <a:latin typeface="Plus Jakarta Sans"/>
              </a:rPr>
              <a:t>Expected Utility with Blood Test</a:t>
            </a:r>
          </a:p>
        </p:txBody>
      </p:sp>
      <p:sp>
        <p:nvSpPr>
          <p:cNvPr id="19" name="TextBox 18"/>
          <p:cNvSpPr txBox="1"/>
          <p:nvPr/>
        </p:nvSpPr>
        <p:spPr>
          <a:xfrm>
            <a:off x="857250" y="2928937"/>
            <a:ext cx="4941093" cy="276225"/>
          </a:xfrm>
          <a:prstGeom prst="rect">
            <a:avLst/>
          </a:prstGeom>
          <a:noFill/>
        </p:spPr>
        <p:txBody>
          <a:bodyPr wrap="none" lIns="0" rIns="0" tIns="0" bIns="0" anchor="t">
            <a:spAutoFit/>
          </a:bodyPr>
          <a:lstStyle/>
          <a:p>
            <a:pPr algn="l"/>
            <a:r>
              <a:rPr b="1" sz="1650" i="0" u="none">
                <a:solidFill>
                  <a:srgbClr val="0F172A"/>
                </a:solidFill>
                <a:latin typeface="Fira Code"/>
              </a:rPr>
              <a:t>EU(x) = 60 units</a:t>
            </a:r>
          </a:p>
        </p:txBody>
      </p:sp>
      <p:sp>
        <p:nvSpPr>
          <p:cNvPr id="20" name="TextBox 19"/>
          <p:cNvSpPr txBox="1"/>
          <p:nvPr/>
        </p:nvSpPr>
        <p:spPr>
          <a:xfrm>
            <a:off x="857250" y="3729037"/>
            <a:ext cx="4941093" cy="276225"/>
          </a:xfrm>
          <a:prstGeom prst="rect">
            <a:avLst/>
          </a:prstGeom>
          <a:noFill/>
        </p:spPr>
        <p:txBody>
          <a:bodyPr wrap="none" lIns="0" rIns="0" tIns="0" bIns="0" anchor="t">
            <a:spAutoFit/>
          </a:bodyPr>
          <a:lstStyle/>
          <a:p>
            <a:pPr algn="l"/>
            <a:r>
              <a:rPr b="1" sz="1650" i="0" u="none">
                <a:solidFill>
                  <a:srgbClr val="1D4ED8"/>
                </a:solidFill>
                <a:latin typeface="Fira Code"/>
              </a:rPr>
              <a:t>EU(x, z) = 85 units</a:t>
            </a:r>
          </a:p>
        </p:txBody>
      </p:sp>
      <p:sp>
        <p:nvSpPr>
          <p:cNvPr id="21" name="TextBox 20"/>
          <p:cNvSpPr txBox="1"/>
          <p:nvPr/>
        </p:nvSpPr>
        <p:spPr>
          <a:xfrm>
            <a:off x="5543550" y="2290762"/>
            <a:ext cx="6648450" cy="219075"/>
          </a:xfrm>
          <a:prstGeom prst="rect">
            <a:avLst/>
          </a:prstGeom>
          <a:noFill/>
        </p:spPr>
        <p:txBody>
          <a:bodyPr wrap="none" lIns="0" rIns="0" tIns="0" bIns="0" anchor="t">
            <a:spAutoFit/>
          </a:bodyPr>
          <a:lstStyle/>
          <a:p>
            <a:pPr algn="l"/>
            <a:r>
              <a:rPr b="1" sz="1350" i="0" u="none">
                <a:solidFill>
                  <a:srgbClr val="0F172A"/>
                </a:solidFill>
                <a:latin typeface="Plus Jakarta Sans"/>
              </a:rPr>
              <a:t>1. Gross Value of Information</a:t>
            </a:r>
          </a:p>
        </p:txBody>
      </p:sp>
      <p:sp>
        <p:nvSpPr>
          <p:cNvPr id="22" name="TextBox 21"/>
          <p:cNvSpPr txBox="1"/>
          <p:nvPr/>
        </p:nvSpPr>
        <p:spPr>
          <a:xfrm>
            <a:off x="5676900" y="2681287"/>
            <a:ext cx="5762625" cy="200025"/>
          </a:xfrm>
          <a:prstGeom prst="rect">
            <a:avLst/>
          </a:prstGeom>
          <a:noFill/>
        </p:spPr>
        <p:txBody>
          <a:bodyPr wrap="square" lIns="0" rIns="0" tIns="0" bIns="0" anchor="t">
            <a:spAutoFit/>
          </a:bodyPr>
          <a:lstStyle/>
          <a:p>
            <a:pPr algn="l"/>
            <a:r>
              <a:rPr b="0" sz="1200" i="0" u="none">
                <a:solidFill>
                  <a:srgbClr val="000000"/>
                </a:solidFill>
                <a:latin typeface="Fira Code"/>
              </a:rPr>
              <a:t>VOI = EU(x, z) - EU(x) = 85 - 60 = </a:t>
            </a:r>
            <a:r>
              <a:rPr b="1" sz="1200" i="0" u="none">
                <a:solidFill>
                  <a:srgbClr val="000000"/>
                </a:solidFill>
                <a:latin typeface="Fira Code"/>
              </a:rPr>
              <a:t>25 units</a:t>
            </a:r>
          </a:p>
        </p:txBody>
      </p:sp>
      <p:sp>
        <p:nvSpPr>
          <p:cNvPr id="23" name="TextBox 22"/>
          <p:cNvSpPr txBox="1"/>
          <p:nvPr/>
        </p:nvSpPr>
        <p:spPr>
          <a:xfrm>
            <a:off x="5543550" y="3090862"/>
            <a:ext cx="6648450" cy="219075"/>
          </a:xfrm>
          <a:prstGeom prst="rect">
            <a:avLst/>
          </a:prstGeom>
          <a:noFill/>
        </p:spPr>
        <p:txBody>
          <a:bodyPr wrap="none" lIns="0" rIns="0" tIns="0" bIns="0" anchor="t">
            <a:spAutoFit/>
          </a:bodyPr>
          <a:lstStyle/>
          <a:p>
            <a:pPr algn="l"/>
            <a:r>
              <a:rPr b="1" sz="1350" i="0" u="none">
                <a:solidFill>
                  <a:srgbClr val="0F172A"/>
                </a:solidFill>
                <a:latin typeface="Plus Jakarta Sans"/>
              </a:rPr>
              <a:t>2. Deduct Cost of Test</a:t>
            </a:r>
          </a:p>
        </p:txBody>
      </p:sp>
      <p:sp>
        <p:nvSpPr>
          <p:cNvPr id="24" name="TextBox 23"/>
          <p:cNvSpPr txBox="1"/>
          <p:nvPr/>
        </p:nvSpPr>
        <p:spPr>
          <a:xfrm>
            <a:off x="5543550" y="3386137"/>
            <a:ext cx="6648450" cy="219075"/>
          </a:xfrm>
          <a:prstGeom prst="rect">
            <a:avLst/>
          </a:prstGeom>
          <a:noFill/>
        </p:spPr>
        <p:txBody>
          <a:bodyPr wrap="none" lIns="0" rIns="0" tIns="0" bIns="0" anchor="t">
            <a:spAutoFit/>
          </a:bodyPr>
          <a:lstStyle/>
          <a:p>
            <a:pPr algn="l"/>
            <a:r>
              <a:rPr b="0" sz="1350" i="0" u="none">
                <a:solidFill>
                  <a:srgbClr val="475569"/>
                </a:solidFill>
                <a:latin typeface="Plus Jakarta Sans"/>
              </a:rPr>
              <a:t>Assume the laboratory charges: </a:t>
            </a:r>
            <a:r>
              <a:rPr b="1" sz="1350" i="0" u="none">
                <a:solidFill>
                  <a:srgbClr val="475569"/>
                </a:solidFill>
                <a:latin typeface="Plus Jakarta Sans"/>
              </a:rPr>
              <a:t>Cost(z) = 10 units</a:t>
            </a:r>
            <a:r>
              <a:rPr b="0" sz="1350" i="0" u="none">
                <a:solidFill>
                  <a:srgbClr val="475569"/>
                </a:solidFill>
                <a:latin typeface="Plus Jakarta Sans"/>
              </a:rPr>
              <a:t>.</a:t>
            </a:r>
          </a:p>
        </p:txBody>
      </p:sp>
      <p:sp>
        <p:nvSpPr>
          <p:cNvPr id="25" name="TextBox 24"/>
          <p:cNvSpPr txBox="1"/>
          <p:nvPr/>
        </p:nvSpPr>
        <p:spPr>
          <a:xfrm>
            <a:off x="5676900" y="3757612"/>
            <a:ext cx="5762625" cy="219075"/>
          </a:xfrm>
          <a:prstGeom prst="rect">
            <a:avLst/>
          </a:prstGeom>
          <a:noFill/>
        </p:spPr>
        <p:txBody>
          <a:bodyPr wrap="square" lIns="0" rIns="0" tIns="0" bIns="0" anchor="t">
            <a:spAutoFit/>
          </a:bodyPr>
          <a:lstStyle/>
          <a:p>
            <a:pPr algn="l"/>
            <a:r>
              <a:rPr b="0" sz="1200" i="0" u="none">
                <a:solidFill>
                  <a:srgbClr val="000000"/>
                </a:solidFill>
                <a:latin typeface="Fira Code"/>
              </a:rPr>
              <a:t>Net Benefit = VOI - Cost = 25 - 10 = </a:t>
            </a:r>
            <a:r>
              <a:rPr b="1" sz="1200" i="0" u="none">
                <a:solidFill>
                  <a:srgbClr val="000000"/>
                </a:solidFill>
                <a:latin typeface="Fira Code"/>
              </a:rPr>
              <a:t>+15 units</a:t>
            </a:r>
          </a:p>
        </p:txBody>
      </p:sp>
      <p:sp>
        <p:nvSpPr>
          <p:cNvPr id="26" name="TextBox 25"/>
          <p:cNvSpPr txBox="1"/>
          <p:nvPr/>
        </p:nvSpPr>
        <p:spPr>
          <a:xfrm>
            <a:off x="5715000" y="4243387"/>
            <a:ext cx="5724525" cy="438150"/>
          </a:xfrm>
          <a:prstGeom prst="rect">
            <a:avLst/>
          </a:prstGeom>
          <a:noFill/>
        </p:spPr>
        <p:txBody>
          <a:bodyPr wrap="square" lIns="0" rIns="0" tIns="0" bIns="0" anchor="t">
            <a:spAutoFit/>
          </a:bodyPr>
          <a:lstStyle/>
          <a:p>
            <a:pPr algn="l"/>
            <a:r>
              <a:rPr b="1" sz="1350" i="0" u="none">
                <a:solidFill>
                  <a:srgbClr val="15803D"/>
                </a:solidFill>
                <a:latin typeface="Plus Jakarta Sans"/>
              </a:rPr>
              <a:t>Conclusion: Net benefit is positive (+15). YES, the test is worth taking!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4376737"/>
            <a:ext cx="11163300" cy="1000125"/>
          </a:xfrm>
          <a:prstGeom prst="roundRect">
            <a:avLst>
              <a:gd name="adj" fmla="val 952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981402"/>
            <a:ext cx="11163300" cy="533400"/>
          </a:xfrm>
          <a:prstGeom prst="roundRect">
            <a:avLst>
              <a:gd name="adj" fmla="val 10714"/>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1690389"/>
            <a:ext cx="5467350" cy="2081807"/>
          </a:xfrm>
          <a:prstGeom prst="roundRect">
            <a:avLst>
              <a:gd name="adj" fmla="val 45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0300" y="1690389"/>
            <a:ext cx="5467350" cy="2081807"/>
          </a:xfrm>
          <a:prstGeom prst="roundRect">
            <a:avLst>
              <a:gd name="adj" fmla="val 45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4350" y="5981402"/>
            <a:ext cx="38100" cy="533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1690389"/>
            <a:ext cx="546735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23900" y="2338089"/>
            <a:ext cx="5048250" cy="409575"/>
          </a:xfrm>
          <a:prstGeom prst="roundRect">
            <a:avLst>
              <a:gd name="adj" fmla="val 13953"/>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0300" y="1690389"/>
            <a:ext cx="546735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19850" y="2338089"/>
            <a:ext cx="5048250" cy="409575"/>
          </a:xfrm>
          <a:prstGeom prst="roundRect">
            <a:avLst>
              <a:gd name="adj" fmla="val 13953"/>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714375" y="4772025"/>
            <a:ext cx="228600" cy="228600"/>
          </a:xfrm>
          <a:prstGeom prst="rect">
            <a:avLst/>
          </a:prstGeom>
        </p:spPr>
      </p:pic>
      <p:pic>
        <p:nvPicPr>
          <p:cNvPr id="12" name="Picture 11" descr="image.png"/>
          <p:cNvPicPr>
            <a:picLocks noChangeAspect="1"/>
          </p:cNvPicPr>
          <p:nvPr/>
        </p:nvPicPr>
        <p:blipFill>
          <a:blip r:embed="rId3"/>
          <a:stretch>
            <a:fillRect/>
          </a:stretch>
        </p:blipFill>
        <p:spPr>
          <a:xfrm>
            <a:off x="723900" y="1938039"/>
            <a:ext cx="304800" cy="304800"/>
          </a:xfrm>
          <a:prstGeom prst="rect">
            <a:avLst/>
          </a:prstGeom>
        </p:spPr>
      </p:pic>
      <p:pic>
        <p:nvPicPr>
          <p:cNvPr id="13" name="Picture 12" descr="image.png"/>
          <p:cNvPicPr>
            <a:picLocks noChangeAspect="1"/>
          </p:cNvPicPr>
          <p:nvPr/>
        </p:nvPicPr>
        <p:blipFill>
          <a:blip r:embed="rId4"/>
          <a:stretch>
            <a:fillRect/>
          </a:stretch>
        </p:blipFill>
        <p:spPr>
          <a:xfrm>
            <a:off x="6419850" y="1938039"/>
            <a:ext cx="304800" cy="304800"/>
          </a:xfrm>
          <a:prstGeom prst="rect">
            <a:avLst/>
          </a:prstGeom>
        </p:spPr>
      </p:pic>
      <p:pic>
        <p:nvPicPr>
          <p:cNvPr id="14" name="Picture 13" descr="image.png"/>
          <p:cNvPicPr>
            <a:picLocks noChangeAspect="1"/>
          </p:cNvPicPr>
          <p:nvPr/>
        </p:nvPicPr>
        <p:blipFill>
          <a:blip r:embed="rId5"/>
          <a:stretch>
            <a:fillRect/>
          </a:stretch>
        </p:blipFill>
        <p:spPr>
          <a:xfrm>
            <a:off x="809625" y="2014239"/>
            <a:ext cx="133350" cy="152400"/>
          </a:xfrm>
          <a:prstGeom prst="rect">
            <a:avLst/>
          </a:prstGeom>
        </p:spPr>
      </p:pic>
      <p:pic>
        <p:nvPicPr>
          <p:cNvPr id="15" name="Picture 14" descr="image.png"/>
          <p:cNvPicPr>
            <a:picLocks noChangeAspect="1"/>
          </p:cNvPicPr>
          <p:nvPr/>
        </p:nvPicPr>
        <p:blipFill>
          <a:blip r:embed="rId6"/>
          <a:stretch>
            <a:fillRect/>
          </a:stretch>
        </p:blipFill>
        <p:spPr>
          <a:xfrm>
            <a:off x="6515100" y="2014239"/>
            <a:ext cx="114300" cy="152400"/>
          </a:xfrm>
          <a:prstGeom prst="rect">
            <a:avLst/>
          </a:prstGeom>
        </p:spPr>
      </p:pic>
      <p:sp>
        <p:nvSpPr>
          <p:cNvPr id="16" name="TextBox 15"/>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When is Information Worth Getting?</a:t>
            </a:r>
          </a:p>
        </p:txBody>
      </p:sp>
      <p:sp>
        <p:nvSpPr>
          <p:cNvPr id="17" name="TextBox 16"/>
          <p:cNvSpPr txBox="1"/>
          <p:nvPr/>
        </p:nvSpPr>
        <p:spPr>
          <a:xfrm>
            <a:off x="1095375" y="4538662"/>
            <a:ext cx="10477500" cy="676275"/>
          </a:xfrm>
          <a:prstGeom prst="rect">
            <a:avLst/>
          </a:prstGeom>
          <a:noFill/>
        </p:spPr>
        <p:txBody>
          <a:bodyPr wrap="square" lIns="0" rIns="0" tIns="0" bIns="0" anchor="t">
            <a:spAutoFit/>
          </a:bodyPr>
          <a:lstStyle/>
          <a:p>
            <a:pPr algn="l"/>
            <a:r>
              <a:rPr b="1" sz="1350" i="0" u="none">
                <a:solidFill>
                  <a:srgbClr val="0F172A"/>
                </a:solidFill>
                <a:latin typeface="Plus Jakarta Sans"/>
              </a:rPr>
              <a:t>Essential Statistical Clarification:</a:t>
            </a:r>
          </a:p>
        </p:txBody>
      </p:sp>
      <p:sp>
        <p:nvSpPr>
          <p:cNvPr id="18" name="TextBox 17"/>
          <p:cNvSpPr txBox="1"/>
          <p:nvPr/>
        </p:nvSpPr>
        <p:spPr>
          <a:xfrm>
            <a:off x="704850" y="6076652"/>
            <a:ext cx="10915650" cy="342900"/>
          </a:xfrm>
          <a:prstGeom prst="rect">
            <a:avLst/>
          </a:prstGeom>
          <a:noFill/>
        </p:spPr>
        <p:txBody>
          <a:bodyPr wrap="square" lIns="0" rIns="0" tIns="0" bIns="0" anchor="t">
            <a:spAutoFit/>
          </a:bodyPr>
          <a:lstStyle/>
          <a:p>
            <a:pPr algn="l"/>
            <a:r>
              <a:rPr b="1" sz="1050" i="0" u="none">
                <a:solidFill>
                  <a:srgbClr val="78350F"/>
                </a:solidFill>
                <a:latin typeface="Plus Jakarta Sans"/>
              </a:rPr>
              <a:t>Teacher Note &amp; Classroom Script:</a:t>
            </a:r>
            <a:r>
              <a:rPr b="0" sz="1050" i="0" u="none">
                <a:solidFill>
                  <a:srgbClr val="78350F"/>
                </a:solidFill>
                <a:latin typeface="Plus Jakarta Sans"/>
              </a:rPr>
              <a:t> "Give an everyday example: If an online course charges ₹50,000 but only increases your expected starting salary by ₹5,000, VOI &lt; Cost! Rational decision theory applies to life decisions."</a:t>
            </a:r>
          </a:p>
        </p:txBody>
      </p:sp>
      <p:sp>
        <p:nvSpPr>
          <p:cNvPr id="19" name="TextBox 18"/>
          <p:cNvSpPr txBox="1"/>
          <p:nvPr/>
        </p:nvSpPr>
        <p:spPr>
          <a:xfrm>
            <a:off x="514350" y="342900"/>
            <a:ext cx="1643062" cy="171450"/>
          </a:xfrm>
          <a:prstGeom prst="rect">
            <a:avLst/>
          </a:prstGeom>
          <a:noFill/>
        </p:spPr>
        <p:txBody>
          <a:bodyPr wrap="none" lIns="0" rIns="0" tIns="0" bIns="0" anchor="t">
            <a:spAutoFit/>
          </a:bodyPr>
          <a:lstStyle/>
          <a:p>
            <a:pPr algn="l"/>
            <a:r>
              <a:rPr b="1" sz="1050" i="0" u="none">
                <a:solidFill>
                  <a:srgbClr val="D97706"/>
                </a:solidFill>
                <a:latin typeface="Plus Jakarta Sans"/>
              </a:rPr>
              <a:t>DECISION POLICY</a:t>
            </a:r>
          </a:p>
        </p:txBody>
      </p:sp>
      <p:sp>
        <p:nvSpPr>
          <p:cNvPr id="20" name="TextBox 19"/>
          <p:cNvSpPr txBox="1"/>
          <p:nvPr/>
        </p:nvSpPr>
        <p:spPr>
          <a:xfrm>
            <a:off x="10020300" y="342900"/>
            <a:ext cx="2071687" cy="171450"/>
          </a:xfrm>
          <a:prstGeom prst="rect">
            <a:avLst/>
          </a:prstGeom>
          <a:noFill/>
        </p:spPr>
        <p:txBody>
          <a:bodyPr wrap="none" lIns="0" rIns="0" tIns="0" bIns="0" anchor="t">
            <a:spAutoFit/>
          </a:bodyPr>
          <a:lstStyle/>
          <a:p>
            <a:pPr algn="l"/>
            <a:r>
              <a:rPr b="1" sz="1050" i="0" u="none">
                <a:solidFill>
                  <a:srgbClr val="64748B"/>
                </a:solidFill>
                <a:latin typeface="Plus Jakarta Sans"/>
              </a:rPr>
              <a:t>The Golden Economic Rule</a:t>
            </a:r>
          </a:p>
        </p:txBody>
      </p:sp>
      <p:sp>
        <p:nvSpPr>
          <p:cNvPr id="21" name="TextBox 20"/>
          <p:cNvSpPr txBox="1"/>
          <p:nvPr/>
        </p:nvSpPr>
        <p:spPr>
          <a:xfrm>
            <a:off x="819150" y="2433339"/>
            <a:ext cx="4953000" cy="219075"/>
          </a:xfrm>
          <a:prstGeom prst="rect">
            <a:avLst/>
          </a:prstGeom>
          <a:noFill/>
        </p:spPr>
        <p:txBody>
          <a:bodyPr wrap="square" lIns="0" rIns="0" tIns="0" bIns="0" anchor="t">
            <a:spAutoFit/>
          </a:bodyPr>
          <a:lstStyle/>
          <a:p>
            <a:pPr algn="l"/>
            <a:r>
              <a:rPr b="1" sz="1350" i="0" u="none">
                <a:solidFill>
                  <a:srgbClr val="065F46"/>
                </a:solidFill>
                <a:latin typeface="Plus Jakarta Sans"/>
              </a:rPr>
              <a:t>Action: GATHER FEATURE z</a:t>
            </a:r>
          </a:p>
        </p:txBody>
      </p:sp>
      <p:sp>
        <p:nvSpPr>
          <p:cNvPr id="22" name="TextBox 21"/>
          <p:cNvSpPr txBox="1"/>
          <p:nvPr/>
        </p:nvSpPr>
        <p:spPr>
          <a:xfrm>
            <a:off x="723900" y="2842914"/>
            <a:ext cx="5143500" cy="479821"/>
          </a:xfrm>
          <a:prstGeom prst="rect">
            <a:avLst/>
          </a:prstGeom>
          <a:noFill/>
        </p:spPr>
        <p:txBody>
          <a:bodyPr wrap="square" lIns="0" rIns="0" tIns="0" bIns="0" anchor="t">
            <a:spAutoFit/>
          </a:bodyPr>
          <a:lstStyle/>
          <a:p>
            <a:pPr algn="l">
              <a:lnSpc>
                <a:spcPts val="1889"/>
              </a:lnSpc>
            </a:pPr>
            <a:r>
              <a:rPr b="0" sz="1350" i="0" u="none">
                <a:solidFill>
                  <a:srgbClr val="334155"/>
                </a:solidFill>
                <a:latin typeface="Plus Jakarta Sans"/>
              </a:rPr>
              <a:t>The expected improvement in outcome outweighs the financial, computational, or time expense of acquiring the data.</a:t>
            </a:r>
          </a:p>
        </p:txBody>
      </p:sp>
      <p:sp>
        <p:nvSpPr>
          <p:cNvPr id="23" name="TextBox 22"/>
          <p:cNvSpPr txBox="1"/>
          <p:nvPr/>
        </p:nvSpPr>
        <p:spPr>
          <a:xfrm>
            <a:off x="6515100" y="2433339"/>
            <a:ext cx="4953000" cy="219075"/>
          </a:xfrm>
          <a:prstGeom prst="rect">
            <a:avLst/>
          </a:prstGeom>
          <a:noFill/>
        </p:spPr>
        <p:txBody>
          <a:bodyPr wrap="square" lIns="0" rIns="0" tIns="0" bIns="0" anchor="t">
            <a:spAutoFit/>
          </a:bodyPr>
          <a:lstStyle/>
          <a:p>
            <a:pPr algn="l"/>
            <a:r>
              <a:rPr b="1" sz="1350" i="0" u="none">
                <a:solidFill>
                  <a:srgbClr val="991B1B"/>
                </a:solidFill>
                <a:latin typeface="Plus Jakarta Sans"/>
              </a:rPr>
              <a:t>Action: DO NOT GATHER (ACT NOW)</a:t>
            </a:r>
          </a:p>
        </p:txBody>
      </p:sp>
      <p:sp>
        <p:nvSpPr>
          <p:cNvPr id="24" name="TextBox 23"/>
          <p:cNvSpPr txBox="1"/>
          <p:nvPr/>
        </p:nvSpPr>
        <p:spPr>
          <a:xfrm>
            <a:off x="6419850" y="2842914"/>
            <a:ext cx="5143500" cy="719732"/>
          </a:xfrm>
          <a:prstGeom prst="rect">
            <a:avLst/>
          </a:prstGeom>
          <a:noFill/>
        </p:spPr>
        <p:txBody>
          <a:bodyPr wrap="square" lIns="0" rIns="0" tIns="0" bIns="0" anchor="t">
            <a:spAutoFit/>
          </a:bodyPr>
          <a:lstStyle/>
          <a:p>
            <a:pPr algn="l">
              <a:lnSpc>
                <a:spcPts val="1889"/>
              </a:lnSpc>
            </a:pPr>
            <a:r>
              <a:rPr b="0" sz="1350" i="0" u="none">
                <a:solidFill>
                  <a:srgbClr val="334155"/>
                </a:solidFill>
                <a:latin typeface="Plus Jakarta Sans"/>
              </a:rPr>
              <a:t>The test is overpriced relative to the clarity it offers. The algorithm should make the best possible call with existing data x.</a:t>
            </a:r>
          </a:p>
        </p:txBody>
      </p:sp>
      <p:sp>
        <p:nvSpPr>
          <p:cNvPr id="25" name="TextBox 24"/>
          <p:cNvSpPr txBox="1"/>
          <p:nvPr/>
        </p:nvSpPr>
        <p:spPr>
          <a:xfrm>
            <a:off x="1095375" y="4776787"/>
            <a:ext cx="10477500" cy="438150"/>
          </a:xfrm>
          <a:prstGeom prst="rect">
            <a:avLst/>
          </a:prstGeom>
          <a:noFill/>
        </p:spPr>
        <p:txBody>
          <a:bodyPr wrap="square" lIns="0" rIns="0" tIns="0" bIns="0" anchor="t">
            <a:spAutoFit/>
          </a:bodyPr>
          <a:lstStyle/>
          <a:p>
            <a:pPr algn="l"/>
            <a:r>
              <a:rPr b="0" sz="1350" i="0" u="none">
                <a:solidFill>
                  <a:srgbClr val="475569"/>
                </a:solidFill>
                <a:latin typeface="Plus Jakarta Sans"/>
              </a:rPr>
              <a:t>VOI evaluates </a:t>
            </a:r>
            <a:r>
              <a:rPr b="0" sz="1350" i="1" u="none">
                <a:solidFill>
                  <a:srgbClr val="475569"/>
                </a:solidFill>
                <a:latin typeface="Plus Jakarta Sans"/>
              </a:rPr>
              <a:t>expected</a:t>
            </a:r>
            <a:r>
              <a:rPr b="0" sz="1350" i="0" u="none">
                <a:solidFill>
                  <a:srgbClr val="475569"/>
                </a:solidFill>
                <a:latin typeface="Plus Jakarta Sans"/>
              </a:rPr>
              <a:t> benefit across all possible test outcomes; it does not guarantee that every individual test will change the final decision.</a:t>
            </a:r>
          </a:p>
        </p:txBody>
      </p:sp>
      <p:sp>
        <p:nvSpPr>
          <p:cNvPr id="26" name="TextBox 25"/>
          <p:cNvSpPr txBox="1"/>
          <p:nvPr/>
        </p:nvSpPr>
        <p:spPr>
          <a:xfrm>
            <a:off x="1104900" y="1971377"/>
            <a:ext cx="3100387" cy="238125"/>
          </a:xfrm>
          <a:prstGeom prst="rect">
            <a:avLst/>
          </a:prstGeom>
          <a:noFill/>
        </p:spPr>
        <p:txBody>
          <a:bodyPr wrap="none" lIns="0" rIns="0" tIns="0" bIns="0" anchor="t">
            <a:spAutoFit/>
          </a:bodyPr>
          <a:lstStyle/>
          <a:p>
            <a:pPr algn="l"/>
            <a:r>
              <a:rPr b="1" sz="1500" i="0" u="none">
                <a:solidFill>
                  <a:srgbClr val="15803D"/>
                </a:solidFill>
                <a:latin typeface="Plus Jakarta Sans"/>
              </a:rPr>
              <a:t>VOI &gt; Cost of Information</a:t>
            </a:r>
          </a:p>
        </p:txBody>
      </p:sp>
      <p:sp>
        <p:nvSpPr>
          <p:cNvPr id="27" name="TextBox 26"/>
          <p:cNvSpPr txBox="1"/>
          <p:nvPr/>
        </p:nvSpPr>
        <p:spPr>
          <a:xfrm>
            <a:off x="6800850" y="1966614"/>
            <a:ext cx="3075189" cy="247650"/>
          </a:xfrm>
          <a:prstGeom prst="rect">
            <a:avLst/>
          </a:prstGeom>
          <a:noFill/>
        </p:spPr>
        <p:txBody>
          <a:bodyPr wrap="none" lIns="0" rIns="0" tIns="0" bIns="0" anchor="t">
            <a:spAutoFit/>
          </a:bodyPr>
          <a:lstStyle/>
          <a:p>
            <a:pPr algn="l"/>
            <a:r>
              <a:rPr b="1" sz="1500" i="0" u="none">
                <a:solidFill>
                  <a:srgbClr val="B91C1C"/>
                </a:solidFill>
                <a:latin typeface="Plus Jakarta Sans"/>
              </a:rPr>
              <a:t>VOI ≤ Cost of Information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4108251"/>
            <a:ext cx="11163300" cy="990600"/>
          </a:xfrm>
          <a:prstGeom prst="roundRect">
            <a:avLst>
              <a:gd name="adj" fmla="val 961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5981402"/>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4350" y="1968400"/>
            <a:ext cx="3619500" cy="1257300"/>
          </a:xfrm>
          <a:prstGeom prst="roundRect">
            <a:avLst>
              <a:gd name="adj" fmla="val 7575"/>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86250" y="1968400"/>
            <a:ext cx="3619500" cy="1257300"/>
          </a:xfrm>
          <a:prstGeom prst="roundRect">
            <a:avLst>
              <a:gd name="adj" fmla="val 7575"/>
            </a:avLst>
          </a:prstGeom>
          <a:solidFill>
            <a:srgbClr val="FFFFFF"/>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058150" y="1968400"/>
            <a:ext cx="3619500" cy="1257300"/>
          </a:xfrm>
          <a:prstGeom prst="roundRect">
            <a:avLst>
              <a:gd name="adj" fmla="val 7575"/>
            </a:avLst>
          </a:prstGeom>
          <a:solidFill>
            <a:srgbClr val="FFFFFF"/>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5981402"/>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How Today's Three Topics Fit Together</a:t>
            </a:r>
          </a:p>
        </p:txBody>
      </p:sp>
      <p:sp>
        <p:nvSpPr>
          <p:cNvPr id="9" name="TextBox 8"/>
          <p:cNvSpPr txBox="1"/>
          <p:nvPr/>
        </p:nvSpPr>
        <p:spPr>
          <a:xfrm>
            <a:off x="214312" y="2120800"/>
            <a:ext cx="4219575" cy="952500"/>
          </a:xfrm>
          <a:prstGeom prst="rect">
            <a:avLst/>
          </a:prstGeom>
          <a:noFill/>
        </p:spPr>
        <p:txBody>
          <a:bodyPr wrap="square" lIns="0" rIns="0" tIns="0" bIns="0" anchor="t">
            <a:spAutoFit/>
          </a:bodyPr>
          <a:lstStyle/>
          <a:p>
            <a:pPr algn="ctr"/>
            <a:r>
              <a:rPr b="1" sz="1050" i="0" u="none">
                <a:solidFill>
                  <a:srgbClr val="1D4ED8"/>
                </a:solidFill>
                <a:latin typeface="Plus Jakarta Sans"/>
              </a:rPr>
              <a:t>1. Discriminant Functions</a:t>
            </a:r>
            <a:r>
              <a:rPr b="1" sz="1050" i="0" u="none">
                <a:solidFill>
                  <a:srgbClr val="1D4ED8"/>
                </a:solidFill>
                <a:latin typeface="Plus Jakarta Sans"/>
              </a:rPr>
              <a:t> </a:t>
            </a:r>
            <a:r>
              <a:rPr b="1" sz="1050" i="0" u="none">
                <a:solidFill>
                  <a:srgbClr val="64748B"/>
                </a:solidFill>
                <a:latin typeface="Plus Jakarta Sans"/>
              </a:rPr>
              <a:t>Translates probabilities &amp; losses into executable classification rules.</a:t>
            </a:r>
          </a:p>
        </p:txBody>
      </p:sp>
      <p:sp>
        <p:nvSpPr>
          <p:cNvPr id="10" name="TextBox 9"/>
          <p:cNvSpPr txBox="1"/>
          <p:nvPr/>
        </p:nvSpPr>
        <p:spPr>
          <a:xfrm>
            <a:off x="3986212" y="2120800"/>
            <a:ext cx="4219575" cy="952500"/>
          </a:xfrm>
          <a:prstGeom prst="rect">
            <a:avLst/>
          </a:prstGeom>
          <a:noFill/>
        </p:spPr>
        <p:txBody>
          <a:bodyPr wrap="square" lIns="0" rIns="0" tIns="0" bIns="0" anchor="t">
            <a:spAutoFit/>
          </a:bodyPr>
          <a:lstStyle/>
          <a:p>
            <a:pPr algn="ctr"/>
            <a:r>
              <a:rPr b="1" sz="1050" i="0" u="none">
                <a:solidFill>
                  <a:srgbClr val="0F766E"/>
                </a:solidFill>
                <a:latin typeface="Plus Jakarta Sans"/>
              </a:rPr>
              <a:t>2. Utility Theory</a:t>
            </a:r>
            <a:r>
              <a:rPr b="1" sz="1050" i="0" u="none">
                <a:solidFill>
                  <a:srgbClr val="0F766E"/>
                </a:solidFill>
                <a:latin typeface="Plus Jakarta Sans"/>
              </a:rPr>
              <a:t> </a:t>
            </a:r>
            <a:r>
              <a:rPr b="1" sz="1050" i="0" u="none">
                <a:solidFill>
                  <a:srgbClr val="64748B"/>
                </a:solidFill>
                <a:latin typeface="Plus Jakarta Sans"/>
              </a:rPr>
              <a:t>Measures positive desirability &amp; guides actions toward maximum payoff.</a:t>
            </a:r>
          </a:p>
        </p:txBody>
      </p:sp>
      <p:sp>
        <p:nvSpPr>
          <p:cNvPr id="11" name="TextBox 10"/>
          <p:cNvSpPr txBox="1"/>
          <p:nvPr/>
        </p:nvSpPr>
        <p:spPr>
          <a:xfrm>
            <a:off x="7758112" y="2120800"/>
            <a:ext cx="4219575" cy="952500"/>
          </a:xfrm>
          <a:prstGeom prst="rect">
            <a:avLst/>
          </a:prstGeom>
          <a:noFill/>
        </p:spPr>
        <p:txBody>
          <a:bodyPr wrap="square" lIns="0" rIns="0" tIns="0" bIns="0" anchor="t">
            <a:spAutoFit/>
          </a:bodyPr>
          <a:lstStyle/>
          <a:p>
            <a:pPr algn="ctr"/>
            <a:r>
              <a:rPr b="1" sz="1050" i="0" u="none">
                <a:solidFill>
                  <a:srgbClr val="B45309"/>
                </a:solidFill>
                <a:latin typeface="Plus Jakarta Sans"/>
              </a:rPr>
              <a:t>3. Value of Information</a:t>
            </a:r>
            <a:r>
              <a:rPr b="1" sz="1050" i="0" u="none">
                <a:solidFill>
                  <a:srgbClr val="B45309"/>
                </a:solidFill>
                <a:latin typeface="Plus Jakarta Sans"/>
              </a:rPr>
              <a:t> </a:t>
            </a:r>
            <a:r>
              <a:rPr b="1" sz="1050" i="0" u="none">
                <a:solidFill>
                  <a:srgbClr val="64748B"/>
                </a:solidFill>
                <a:latin typeface="Plus Jakarta Sans"/>
              </a:rPr>
              <a:t>Determines whether collecting more features is worth the cost.</a:t>
            </a:r>
          </a:p>
        </p:txBody>
      </p:sp>
      <p:sp>
        <p:nvSpPr>
          <p:cNvPr id="12" name="TextBox 11"/>
          <p:cNvSpPr txBox="1"/>
          <p:nvPr/>
        </p:nvSpPr>
        <p:spPr>
          <a:xfrm>
            <a:off x="714375" y="4270176"/>
            <a:ext cx="11477625" cy="171450"/>
          </a:xfrm>
          <a:prstGeom prst="rect">
            <a:avLst/>
          </a:prstGeom>
          <a:noFill/>
        </p:spPr>
        <p:txBody>
          <a:bodyPr wrap="none" lIns="0" rIns="0" tIns="0" bIns="0" anchor="t">
            <a:spAutoFit/>
          </a:bodyPr>
          <a:lstStyle/>
          <a:p>
            <a:pPr algn="l"/>
            <a:r>
              <a:rPr b="1" sz="1050" i="0" u="none">
                <a:solidFill>
                  <a:srgbClr val="64748B"/>
                </a:solidFill>
                <a:latin typeface="Plus Jakarta Sans"/>
              </a:rPr>
              <a:t>END-TO-END BAYESIAN DECISION CYCLE</a:t>
            </a:r>
          </a:p>
        </p:txBody>
      </p:sp>
      <p:sp>
        <p:nvSpPr>
          <p:cNvPr id="13" name="TextBox 12"/>
          <p:cNvSpPr txBox="1"/>
          <p:nvPr/>
        </p:nvSpPr>
        <p:spPr>
          <a:xfrm>
            <a:off x="704850" y="6076652"/>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"Summarize: Machine learning isn't just fitting a line. It is a complete pipeline of observing, testing if more data is needed, evaluating payoffs, and picking the winning action."</a:t>
            </a:r>
          </a:p>
        </p:txBody>
      </p:sp>
      <p:sp>
        <p:nvSpPr>
          <p:cNvPr id="14" name="TextBox 13"/>
          <p:cNvSpPr txBox="1"/>
          <p:nvPr/>
        </p:nvSpPr>
        <p:spPr>
          <a:xfrm>
            <a:off x="514350" y="342900"/>
            <a:ext cx="1702593" cy="171450"/>
          </a:xfrm>
          <a:prstGeom prst="rect">
            <a:avLst/>
          </a:prstGeom>
          <a:noFill/>
        </p:spPr>
        <p:txBody>
          <a:bodyPr wrap="none" lIns="0" rIns="0" tIns="0" bIns="0" anchor="t">
            <a:spAutoFit/>
          </a:bodyPr>
          <a:lstStyle/>
          <a:p>
            <a:pPr algn="l"/>
            <a:r>
              <a:rPr b="1" sz="1050" i="0" u="none">
                <a:solidFill>
                  <a:srgbClr val="2563EB"/>
                </a:solidFill>
                <a:latin typeface="Plus Jakarta Sans"/>
              </a:rPr>
              <a:t>GRAND SYNTHESIS</a:t>
            </a:r>
          </a:p>
        </p:txBody>
      </p:sp>
      <p:sp>
        <p:nvSpPr>
          <p:cNvPr id="15" name="TextBox 14"/>
          <p:cNvSpPr txBox="1"/>
          <p:nvPr/>
        </p:nvSpPr>
        <p:spPr>
          <a:xfrm>
            <a:off x="9620250" y="342900"/>
            <a:ext cx="2571750" cy="171450"/>
          </a:xfrm>
          <a:prstGeom prst="rect">
            <a:avLst/>
          </a:prstGeom>
          <a:noFill/>
        </p:spPr>
        <p:txBody>
          <a:bodyPr wrap="none" lIns="0" rIns="0" tIns="0" bIns="0" anchor="t">
            <a:spAutoFit/>
          </a:bodyPr>
          <a:lstStyle/>
          <a:p>
            <a:pPr algn="l"/>
            <a:r>
              <a:rPr b="1" sz="1050" i="0" u="none">
                <a:solidFill>
                  <a:srgbClr val="64748B"/>
                </a:solidFill>
                <a:latin typeface="Plus Jakarta Sans"/>
              </a:rPr>
              <a:t>The Unified Bayesian Framework</a:t>
            </a:r>
          </a:p>
        </p:txBody>
      </p:sp>
      <p:sp>
        <p:nvSpPr>
          <p:cNvPr id="16" name="TextBox 15"/>
          <p:cNvSpPr txBox="1"/>
          <p:nvPr/>
        </p:nvSpPr>
        <p:spPr>
          <a:xfrm>
            <a:off x="264318" y="2387500"/>
            <a:ext cx="4119562" cy="219075"/>
          </a:xfrm>
          <a:prstGeom prst="rect">
            <a:avLst/>
          </a:prstGeom>
          <a:noFill/>
        </p:spPr>
        <p:txBody>
          <a:bodyPr wrap="none" lIns="0" rIns="0" tIns="0" bIns="0" anchor="t">
            <a:spAutoFit/>
          </a:bodyPr>
          <a:lstStyle/>
          <a:p>
            <a:pPr algn="ctr"/>
            <a:r>
              <a:rPr b="1" sz="1350" i="0" u="none">
                <a:solidFill>
                  <a:srgbClr val="0F172A"/>
                </a:solidFill>
                <a:latin typeface="Plus Jakarta Sans"/>
              </a:rPr>
              <a:t>"How to Score"</a:t>
            </a:r>
          </a:p>
        </p:txBody>
      </p:sp>
      <p:sp>
        <p:nvSpPr>
          <p:cNvPr id="17" name="TextBox 16"/>
          <p:cNvSpPr txBox="1"/>
          <p:nvPr/>
        </p:nvSpPr>
        <p:spPr>
          <a:xfrm>
            <a:off x="4036218" y="2387500"/>
            <a:ext cx="4119562" cy="219075"/>
          </a:xfrm>
          <a:prstGeom prst="rect">
            <a:avLst/>
          </a:prstGeom>
          <a:noFill/>
        </p:spPr>
        <p:txBody>
          <a:bodyPr wrap="none" lIns="0" rIns="0" tIns="0" bIns="0" anchor="t">
            <a:spAutoFit/>
          </a:bodyPr>
          <a:lstStyle/>
          <a:p>
            <a:pPr algn="ctr"/>
            <a:r>
              <a:rPr b="1" sz="1350" i="0" u="none">
                <a:solidFill>
                  <a:srgbClr val="0F172A"/>
                </a:solidFill>
                <a:latin typeface="Plus Jakarta Sans"/>
              </a:rPr>
              <a:t>"How to Value"</a:t>
            </a:r>
          </a:p>
        </p:txBody>
      </p:sp>
      <p:sp>
        <p:nvSpPr>
          <p:cNvPr id="18" name="TextBox 17"/>
          <p:cNvSpPr txBox="1"/>
          <p:nvPr/>
        </p:nvSpPr>
        <p:spPr>
          <a:xfrm>
            <a:off x="7808118" y="2387500"/>
            <a:ext cx="4119562" cy="219075"/>
          </a:xfrm>
          <a:prstGeom prst="rect">
            <a:avLst/>
          </a:prstGeom>
          <a:noFill/>
        </p:spPr>
        <p:txBody>
          <a:bodyPr wrap="none" lIns="0" rIns="0" tIns="0" bIns="0" anchor="t">
            <a:spAutoFit/>
          </a:bodyPr>
          <a:lstStyle/>
          <a:p>
            <a:pPr algn="ctr"/>
            <a:r>
              <a:rPr b="1" sz="1350" i="0" u="none">
                <a:solidFill>
                  <a:srgbClr val="0F172A"/>
                </a:solidFill>
                <a:latin typeface="Plus Jakarta Sans"/>
              </a:rPr>
              <a:t>"When to Learn"</a:t>
            </a:r>
          </a:p>
        </p:txBody>
      </p:sp>
      <p:sp>
        <p:nvSpPr>
          <p:cNvPr id="19" name="TextBox 18"/>
          <p:cNvSpPr txBox="1"/>
          <p:nvPr/>
        </p:nvSpPr>
        <p:spPr>
          <a:xfrm>
            <a:off x="571500" y="4517826"/>
            <a:ext cx="1362075" cy="419100"/>
          </a:xfrm>
          <a:prstGeom prst="rect">
            <a:avLst/>
          </a:prstGeom>
          <a:noFill/>
        </p:spPr>
        <p:txBody>
          <a:bodyPr wrap="square" lIns="0" rIns="0" tIns="0" bIns="0" anchor="t">
            <a:spAutoFit/>
          </a:bodyPr>
          <a:lstStyle/>
          <a:p>
            <a:pPr algn="ctr"/>
            <a:r>
              <a:rPr b="1" sz="1350" i="0" u="none">
                <a:solidFill>
                  <a:srgbClr val="0F172A"/>
                </a:solidFill>
                <a:latin typeface="Plus Jakarta Sans"/>
              </a:rPr>
              <a:t>Input x</a:t>
            </a:r>
            <a:r>
              <a:t>
</a:t>
            </a:r>
            <a:r>
              <a:rPr b="1" sz="1050" i="0" u="none">
                <a:solidFill>
                  <a:srgbClr val="64748B"/>
                </a:solidFill>
                <a:latin typeface="Plus Jakarta Sans"/>
              </a:rPr>
              <a:t>Prior &amp; Likelihood</a:t>
            </a:r>
          </a:p>
        </p:txBody>
      </p:sp>
      <p:sp>
        <p:nvSpPr>
          <p:cNvPr id="20" name="TextBox 19"/>
          <p:cNvSpPr txBox="1"/>
          <p:nvPr/>
        </p:nvSpPr>
        <p:spPr>
          <a:xfrm>
            <a:off x="2426493" y="4613076"/>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21" name="TextBox 20"/>
          <p:cNvSpPr txBox="1"/>
          <p:nvPr/>
        </p:nvSpPr>
        <p:spPr>
          <a:xfrm>
            <a:off x="3071812" y="4517826"/>
            <a:ext cx="1066800" cy="419100"/>
          </a:xfrm>
          <a:prstGeom prst="rect">
            <a:avLst/>
          </a:prstGeom>
          <a:noFill/>
        </p:spPr>
        <p:txBody>
          <a:bodyPr wrap="square" lIns="0" rIns="0" tIns="0" bIns="0" anchor="t">
            <a:spAutoFit/>
          </a:bodyPr>
          <a:lstStyle/>
          <a:p>
            <a:pPr algn="ctr"/>
            <a:r>
              <a:rPr b="1" sz="1350" i="0" u="none">
                <a:solidFill>
                  <a:srgbClr val="0F172A"/>
                </a:solidFill>
                <a:latin typeface="Plus Jakarta Sans"/>
              </a:rPr>
              <a:t>Posterior</a:t>
            </a:r>
            <a:r>
              <a:t>
</a:t>
            </a:r>
            <a:r>
              <a:rPr b="1" sz="1050" i="0" u="none">
                <a:solidFill>
                  <a:srgbClr val="64748B"/>
                </a:solidFill>
                <a:latin typeface="Plus Jakarta Sans"/>
              </a:rPr>
              <a:t>P(State | x)</a:t>
            </a:r>
          </a:p>
        </p:txBody>
      </p:sp>
      <p:sp>
        <p:nvSpPr>
          <p:cNvPr id="22" name="TextBox 21"/>
          <p:cNvSpPr txBox="1"/>
          <p:nvPr/>
        </p:nvSpPr>
        <p:spPr>
          <a:xfrm>
            <a:off x="4631531" y="4613076"/>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23" name="TextBox 22"/>
          <p:cNvSpPr txBox="1"/>
          <p:nvPr/>
        </p:nvSpPr>
        <p:spPr>
          <a:xfrm>
            <a:off x="5276850" y="4517826"/>
            <a:ext cx="1276350" cy="419100"/>
          </a:xfrm>
          <a:prstGeom prst="rect">
            <a:avLst/>
          </a:prstGeom>
          <a:noFill/>
        </p:spPr>
        <p:txBody>
          <a:bodyPr wrap="square" lIns="0" rIns="0" tIns="0" bIns="0" anchor="t">
            <a:spAutoFit/>
          </a:bodyPr>
          <a:lstStyle/>
          <a:p>
            <a:pPr algn="ctr"/>
            <a:r>
              <a:rPr b="1" sz="1350" i="0" u="none">
                <a:solidFill>
                  <a:srgbClr val="D97706"/>
                </a:solidFill>
                <a:latin typeface="Plus Jakarta Sans"/>
              </a:rPr>
              <a:t>Check VOI</a:t>
            </a:r>
            <a:r>
              <a:t>
</a:t>
            </a:r>
            <a:r>
              <a:rPr b="1" sz="1050" i="0" u="none">
                <a:solidFill>
                  <a:srgbClr val="B45309"/>
                </a:solidFill>
                <a:latin typeface="Plus Jakarta Sans"/>
              </a:rPr>
              <a:t>Is test z worth it?</a:t>
            </a:r>
          </a:p>
        </p:txBody>
      </p:sp>
      <p:sp>
        <p:nvSpPr>
          <p:cNvPr id="24" name="TextBox 23"/>
          <p:cNvSpPr txBox="1"/>
          <p:nvPr/>
        </p:nvSpPr>
        <p:spPr>
          <a:xfrm>
            <a:off x="7046118" y="4613076"/>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25" name="TextBox 24"/>
          <p:cNvSpPr txBox="1"/>
          <p:nvPr/>
        </p:nvSpPr>
        <p:spPr>
          <a:xfrm>
            <a:off x="7690246" y="4517826"/>
            <a:ext cx="1440656" cy="419100"/>
          </a:xfrm>
          <a:prstGeom prst="rect">
            <a:avLst/>
          </a:prstGeom>
          <a:noFill/>
        </p:spPr>
        <p:txBody>
          <a:bodyPr wrap="square" lIns="0" rIns="0" tIns="0" bIns="0" anchor="t">
            <a:spAutoFit/>
          </a:bodyPr>
          <a:lstStyle/>
          <a:p>
            <a:pPr algn="ctr"/>
            <a:r>
              <a:rPr b="1" sz="1350" i="0" u="none">
                <a:solidFill>
                  <a:srgbClr val="0D9488"/>
                </a:solidFill>
                <a:latin typeface="Plus Jakarta Sans"/>
              </a:rPr>
              <a:t>Utility / Score</a:t>
            </a:r>
            <a:r>
              <a:t>
</a:t>
            </a:r>
            <a:r>
              <a:rPr b="1" sz="1050" i="0" u="none">
                <a:solidFill>
                  <a:srgbClr val="0F766E"/>
                </a:solidFill>
                <a:latin typeface="Plus Jakarta Sans"/>
              </a:rPr>
              <a:t>max EU or max g(x)</a:t>
            </a:r>
          </a:p>
        </p:txBody>
      </p:sp>
      <p:sp>
        <p:nvSpPr>
          <p:cNvPr id="26" name="TextBox 25"/>
          <p:cNvSpPr txBox="1"/>
          <p:nvPr/>
        </p:nvSpPr>
        <p:spPr>
          <a:xfrm>
            <a:off x="9622631" y="4613076"/>
            <a:ext cx="438150" cy="228600"/>
          </a:xfrm>
          <a:prstGeom prst="rect">
            <a:avLst/>
          </a:prstGeom>
          <a:noFill/>
        </p:spPr>
        <p:txBody>
          <a:bodyPr wrap="none" lIns="0" rIns="0" tIns="0" bIns="0" anchor="t">
            <a:spAutoFit/>
          </a:bodyPr>
          <a:lstStyle/>
          <a:p>
            <a:pPr algn="l"/>
            <a:r>
              <a:rPr b="0" sz="1350" i="0" u="none">
                <a:solidFill>
                  <a:srgbClr val="0F172A"/>
                </a:solidFill>
                <a:latin typeface="Plus Jakarta Sans"/>
              </a:rPr>
              <a:t>➔</a:t>
            </a:r>
          </a:p>
        </p:txBody>
      </p:sp>
      <p:sp>
        <p:nvSpPr>
          <p:cNvPr id="27" name="TextBox 26"/>
          <p:cNvSpPr txBox="1"/>
          <p:nvPr/>
        </p:nvSpPr>
        <p:spPr>
          <a:xfrm>
            <a:off x="10267950" y="4517826"/>
            <a:ext cx="1352550" cy="419100"/>
          </a:xfrm>
          <a:prstGeom prst="rect">
            <a:avLst/>
          </a:prstGeom>
          <a:noFill/>
        </p:spPr>
        <p:txBody>
          <a:bodyPr wrap="square" lIns="0" rIns="0" tIns="0" bIns="0" anchor="t">
            <a:spAutoFit/>
          </a:bodyPr>
          <a:lstStyle/>
          <a:p>
            <a:pPr algn="ctr"/>
            <a:r>
              <a:rPr b="1" sz="1350" i="0" u="none">
                <a:solidFill>
                  <a:srgbClr val="16A34A"/>
                </a:solidFill>
                <a:latin typeface="Plus Jakarta Sans"/>
              </a:rPr>
              <a:t>Final Action</a:t>
            </a:r>
            <a:r>
              <a:t>
</a:t>
            </a:r>
            <a:r>
              <a:rPr b="1" sz="1050" i="0" u="none">
                <a:solidFill>
                  <a:srgbClr val="15803D"/>
                </a:solidFill>
                <a:latin typeface="Plus Jakarta Sans"/>
              </a:rPr>
              <a:t>Optimal Decision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1829841"/>
            <a:ext cx="5973067" cy="3407866"/>
          </a:xfrm>
          <a:prstGeom prst="roundRect">
            <a:avLst>
              <a:gd name="adj" fmla="val 279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39817" y="1829841"/>
            <a:ext cx="5037832" cy="3407866"/>
          </a:xfrm>
          <a:prstGeom prst="roundRect">
            <a:avLst>
              <a:gd name="adj" fmla="val 279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20792" y="4647158"/>
            <a:ext cx="4675882" cy="409575"/>
          </a:xfrm>
          <a:prstGeom prst="roundRect">
            <a:avLst>
              <a:gd name="adj" fmla="val 13953"/>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5325" y="2325141"/>
            <a:ext cx="5611117" cy="634305"/>
          </a:xfrm>
          <a:prstGeom prst="roundRect">
            <a:avLst>
              <a:gd name="adj" fmla="val 90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5325" y="2325141"/>
            <a:ext cx="28575" cy="63430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5325" y="3035647"/>
            <a:ext cx="5611117" cy="634305"/>
          </a:xfrm>
          <a:prstGeom prst="roundRect">
            <a:avLst>
              <a:gd name="adj" fmla="val 90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5325" y="3035647"/>
            <a:ext cx="28575" cy="63430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5325" y="3746152"/>
            <a:ext cx="5611117" cy="634305"/>
          </a:xfrm>
          <a:prstGeom prst="roundRect">
            <a:avLst>
              <a:gd name="adj" fmla="val 90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5325" y="3746152"/>
            <a:ext cx="28575" cy="634305"/>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5325" y="4456658"/>
            <a:ext cx="5611117" cy="600075"/>
          </a:xfrm>
          <a:prstGeom prst="roundRect">
            <a:avLst>
              <a:gd name="adj" fmla="val 952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5325" y="4456658"/>
            <a:ext cx="28575" cy="60007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6820792" y="2358479"/>
            <a:ext cx="152400" cy="180975"/>
          </a:xfrm>
          <a:prstGeom prst="rect">
            <a:avLst/>
          </a:prstGeom>
        </p:spPr>
      </p:pic>
      <p:pic>
        <p:nvPicPr>
          <p:cNvPr id="16" name="Picture 15" descr="image.png"/>
          <p:cNvPicPr>
            <a:picLocks noChangeAspect="1"/>
          </p:cNvPicPr>
          <p:nvPr/>
        </p:nvPicPr>
        <p:blipFill>
          <a:blip r:embed="rId3"/>
          <a:stretch>
            <a:fillRect/>
          </a:stretch>
        </p:blipFill>
        <p:spPr>
          <a:xfrm>
            <a:off x="6820792" y="2687984"/>
            <a:ext cx="152400" cy="180975"/>
          </a:xfrm>
          <a:prstGeom prst="rect">
            <a:avLst/>
          </a:prstGeom>
        </p:spPr>
      </p:pic>
      <p:pic>
        <p:nvPicPr>
          <p:cNvPr id="17" name="Picture 16" descr="image.png"/>
          <p:cNvPicPr>
            <a:picLocks noChangeAspect="1"/>
          </p:cNvPicPr>
          <p:nvPr/>
        </p:nvPicPr>
        <p:blipFill>
          <a:blip r:embed="rId4"/>
          <a:stretch>
            <a:fillRect/>
          </a:stretch>
        </p:blipFill>
        <p:spPr>
          <a:xfrm>
            <a:off x="6820792" y="3017490"/>
            <a:ext cx="152400" cy="180975"/>
          </a:xfrm>
          <a:prstGeom prst="rect">
            <a:avLst/>
          </a:prstGeom>
        </p:spPr>
      </p:pic>
      <p:pic>
        <p:nvPicPr>
          <p:cNvPr id="18" name="Picture 17" descr="image.png"/>
          <p:cNvPicPr>
            <a:picLocks noChangeAspect="1"/>
          </p:cNvPicPr>
          <p:nvPr/>
        </p:nvPicPr>
        <p:blipFill>
          <a:blip r:embed="rId5"/>
          <a:stretch>
            <a:fillRect/>
          </a:stretch>
        </p:blipFill>
        <p:spPr>
          <a:xfrm>
            <a:off x="6820792" y="3346995"/>
            <a:ext cx="152400" cy="180975"/>
          </a:xfrm>
          <a:prstGeom prst="rect">
            <a:avLst/>
          </a:prstGeom>
        </p:spPr>
      </p:pic>
      <p:sp>
        <p:nvSpPr>
          <p:cNvPr id="19" name="TextBox 18"/>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Key Formulas &amp; Rules for BCA Exams</a:t>
            </a:r>
          </a:p>
        </p:txBody>
      </p:sp>
      <p:sp>
        <p:nvSpPr>
          <p:cNvPr id="20" name="TextBox 19"/>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Exam Tip:</a:t>
            </a:r>
            <a:r>
              <a:rPr b="0" sz="1050" i="0" u="none">
                <a:solidFill>
                  <a:srgbClr val="1E3A8A"/>
                </a:solidFill>
                <a:latin typeface="Plus Jakarta Sans"/>
              </a:rPr>
              <a:t> "Tell the class to take a screenshot or write this slide down in their revision notebook. 80% of Unit II numerical and short-answer questions are solved with these 4 lines."</a:t>
            </a:r>
          </a:p>
        </p:txBody>
      </p:sp>
      <p:sp>
        <p:nvSpPr>
          <p:cNvPr id="21" name="TextBox 20"/>
          <p:cNvSpPr txBox="1"/>
          <p:nvPr/>
        </p:nvSpPr>
        <p:spPr>
          <a:xfrm>
            <a:off x="514350" y="342900"/>
            <a:ext cx="1833562" cy="171450"/>
          </a:xfrm>
          <a:prstGeom prst="rect">
            <a:avLst/>
          </a:prstGeom>
          <a:noFill/>
        </p:spPr>
        <p:txBody>
          <a:bodyPr wrap="none" lIns="0" rIns="0" tIns="0" bIns="0" anchor="t">
            <a:spAutoFit/>
          </a:bodyPr>
          <a:lstStyle/>
          <a:p>
            <a:pPr algn="l"/>
            <a:r>
              <a:rPr b="1" sz="1050" i="0" u="none">
                <a:solidFill>
                  <a:srgbClr val="DC2626"/>
                </a:solidFill>
                <a:latin typeface="Plus Jakarta Sans"/>
              </a:rPr>
              <a:t>EXAM PREPARATION</a:t>
            </a:r>
          </a:p>
        </p:txBody>
      </p:sp>
      <p:sp>
        <p:nvSpPr>
          <p:cNvPr id="22" name="TextBox 21"/>
          <p:cNvSpPr txBox="1"/>
          <p:nvPr/>
        </p:nvSpPr>
        <p:spPr>
          <a:xfrm>
            <a:off x="9991725" y="342900"/>
            <a:ext cx="2107406" cy="171450"/>
          </a:xfrm>
          <a:prstGeom prst="rect">
            <a:avLst/>
          </a:prstGeom>
          <a:noFill/>
        </p:spPr>
        <p:txBody>
          <a:bodyPr wrap="none" lIns="0" rIns="0" tIns="0" bIns="0" anchor="t">
            <a:spAutoFit/>
          </a:bodyPr>
          <a:lstStyle/>
          <a:p>
            <a:pPr algn="l"/>
            <a:r>
              <a:rPr b="1" sz="1050" i="0" u="none">
                <a:solidFill>
                  <a:srgbClr val="64748B"/>
                </a:solidFill>
                <a:latin typeface="Plus Jakarta Sans"/>
              </a:rPr>
              <a:t>Formula &amp; Definition Sheet</a:t>
            </a:r>
          </a:p>
        </p:txBody>
      </p:sp>
      <p:sp>
        <p:nvSpPr>
          <p:cNvPr id="23" name="TextBox 22"/>
          <p:cNvSpPr txBox="1"/>
          <p:nvPr/>
        </p:nvSpPr>
        <p:spPr>
          <a:xfrm>
            <a:off x="695325" y="2010816"/>
            <a:ext cx="7364592" cy="219075"/>
          </a:xfrm>
          <a:prstGeom prst="rect">
            <a:avLst/>
          </a:prstGeom>
          <a:noFill/>
        </p:spPr>
        <p:txBody>
          <a:bodyPr wrap="none" lIns="0" rIns="0" tIns="0" bIns="0" anchor="t">
            <a:spAutoFit/>
          </a:bodyPr>
          <a:lstStyle/>
          <a:p>
            <a:pPr algn="l"/>
            <a:r>
              <a:rPr b="1" sz="1350" i="0" u="none">
                <a:solidFill>
                  <a:srgbClr val="1E40AF"/>
                </a:solidFill>
                <a:latin typeface="Plus Jakarta Sans"/>
              </a:rPr>
              <a:t>Formulas You MUST Memorize</a:t>
            </a:r>
          </a:p>
        </p:txBody>
      </p:sp>
      <p:sp>
        <p:nvSpPr>
          <p:cNvPr id="24" name="TextBox 23"/>
          <p:cNvSpPr txBox="1"/>
          <p:nvPr/>
        </p:nvSpPr>
        <p:spPr>
          <a:xfrm>
            <a:off x="6331557" y="4742408"/>
            <a:ext cx="5654352" cy="219075"/>
          </a:xfrm>
          <a:prstGeom prst="rect">
            <a:avLst/>
          </a:prstGeom>
          <a:noFill/>
        </p:spPr>
        <p:txBody>
          <a:bodyPr wrap="square" lIns="0" rIns="0" tIns="0" bIns="0" anchor="t">
            <a:spAutoFit/>
          </a:bodyPr>
          <a:lstStyle/>
          <a:p>
            <a:pPr algn="ctr"/>
            <a:r>
              <a:rPr b="1" sz="1050" i="0" u="none">
                <a:solidFill>
                  <a:srgbClr val="991B1B"/>
                </a:solidFill>
                <a:latin typeface="Plus Jakarta Sans"/>
              </a:rPr>
              <a:t>Direct Match for Alpaydin Ch 3 Questions!</a:t>
            </a:r>
          </a:p>
        </p:txBody>
      </p:sp>
      <p:sp>
        <p:nvSpPr>
          <p:cNvPr id="25" name="TextBox 24"/>
          <p:cNvSpPr txBox="1"/>
          <p:nvPr/>
        </p:nvSpPr>
        <p:spPr>
          <a:xfrm>
            <a:off x="809625" y="2401341"/>
            <a:ext cx="5477767" cy="481905"/>
          </a:xfrm>
          <a:prstGeom prst="rect">
            <a:avLst/>
          </a:prstGeom>
          <a:noFill/>
        </p:spPr>
        <p:txBody>
          <a:bodyPr wrap="square" lIns="0" rIns="0" tIns="0" bIns="0" anchor="t">
            <a:spAutoFit/>
          </a:bodyPr>
          <a:lstStyle/>
          <a:p>
            <a:pPr algn="l"/>
            <a:r>
              <a:rPr b="0" sz="1050" i="0" u="none">
                <a:solidFill>
                  <a:srgbClr val="64748B"/>
                </a:solidFill>
                <a:latin typeface="Plus Jakarta Sans"/>
              </a:rPr>
              <a:t>Risk Equivalence</a:t>
            </a:r>
          </a:p>
        </p:txBody>
      </p:sp>
      <p:sp>
        <p:nvSpPr>
          <p:cNvPr id="26" name="TextBox 25"/>
          <p:cNvSpPr txBox="1"/>
          <p:nvPr/>
        </p:nvSpPr>
        <p:spPr>
          <a:xfrm>
            <a:off x="809625" y="3111847"/>
            <a:ext cx="5477767" cy="481905"/>
          </a:xfrm>
          <a:prstGeom prst="rect">
            <a:avLst/>
          </a:prstGeom>
          <a:noFill/>
        </p:spPr>
        <p:txBody>
          <a:bodyPr wrap="square" lIns="0" rIns="0" tIns="0" bIns="0" anchor="t">
            <a:spAutoFit/>
          </a:bodyPr>
          <a:lstStyle/>
          <a:p>
            <a:pPr algn="l"/>
            <a:r>
              <a:rPr b="0" sz="1050" i="0" u="none">
                <a:solidFill>
                  <a:srgbClr val="64748B"/>
                </a:solidFill>
                <a:latin typeface="Plus Jakarta Sans"/>
              </a:rPr>
              <a:t>0–1 Loss Discriminant</a:t>
            </a:r>
          </a:p>
        </p:txBody>
      </p:sp>
      <p:sp>
        <p:nvSpPr>
          <p:cNvPr id="27" name="TextBox 26"/>
          <p:cNvSpPr txBox="1"/>
          <p:nvPr/>
        </p:nvSpPr>
        <p:spPr>
          <a:xfrm>
            <a:off x="809625" y="3822352"/>
            <a:ext cx="5477767" cy="481905"/>
          </a:xfrm>
          <a:prstGeom prst="rect">
            <a:avLst/>
          </a:prstGeom>
          <a:noFill/>
        </p:spPr>
        <p:txBody>
          <a:bodyPr wrap="square" lIns="0" rIns="0" tIns="0" bIns="0" anchor="t">
            <a:spAutoFit/>
          </a:bodyPr>
          <a:lstStyle/>
          <a:p>
            <a:pPr algn="l"/>
            <a:r>
              <a:rPr b="0" sz="1050" i="0" u="none">
                <a:solidFill>
                  <a:srgbClr val="64748B"/>
                </a:solidFill>
                <a:latin typeface="Plus Jakarta Sans"/>
              </a:rPr>
              <a:t>Expected Utility</a:t>
            </a:r>
          </a:p>
        </p:txBody>
      </p:sp>
      <p:sp>
        <p:nvSpPr>
          <p:cNvPr id="28" name="TextBox 27"/>
          <p:cNvSpPr txBox="1"/>
          <p:nvPr/>
        </p:nvSpPr>
        <p:spPr>
          <a:xfrm>
            <a:off x="809625" y="4532858"/>
            <a:ext cx="5477767" cy="447675"/>
          </a:xfrm>
          <a:prstGeom prst="rect">
            <a:avLst/>
          </a:prstGeom>
          <a:noFill/>
        </p:spPr>
        <p:txBody>
          <a:bodyPr wrap="square" lIns="0" rIns="0" tIns="0" bIns="0" anchor="t">
            <a:spAutoFit/>
          </a:bodyPr>
          <a:lstStyle/>
          <a:p>
            <a:pPr algn="l"/>
            <a:r>
              <a:rPr b="0" sz="1050" i="0" u="none">
                <a:solidFill>
                  <a:srgbClr val="64748B"/>
                </a:solidFill>
                <a:latin typeface="Plus Jakarta Sans"/>
              </a:rPr>
              <a:t>Value of Information</a:t>
            </a:r>
          </a:p>
        </p:txBody>
      </p:sp>
      <p:sp>
        <p:nvSpPr>
          <p:cNvPr id="29" name="TextBox 28"/>
          <p:cNvSpPr txBox="1"/>
          <p:nvPr/>
        </p:nvSpPr>
        <p:spPr>
          <a:xfrm>
            <a:off x="6820792" y="2010816"/>
            <a:ext cx="5371207" cy="219075"/>
          </a:xfrm>
          <a:prstGeom prst="rect">
            <a:avLst/>
          </a:prstGeom>
          <a:noFill/>
        </p:spPr>
        <p:txBody>
          <a:bodyPr wrap="none" lIns="0" rIns="0" tIns="0" bIns="0" anchor="t">
            <a:spAutoFit/>
          </a:bodyPr>
          <a:lstStyle/>
          <a:p>
            <a:pPr algn="l"/>
            <a:r>
              <a:rPr b="1" sz="1350" i="0" u="none">
                <a:solidFill>
                  <a:srgbClr val="0F172A"/>
                </a:solidFill>
                <a:latin typeface="Plus Jakarta Sans"/>
              </a:rPr>
              <a:t>Core Decision Criteria</a:t>
            </a:r>
          </a:p>
        </p:txBody>
      </p:sp>
      <p:sp>
        <p:nvSpPr>
          <p:cNvPr id="30" name="TextBox 29"/>
          <p:cNvSpPr txBox="1"/>
          <p:nvPr/>
        </p:nvSpPr>
        <p:spPr>
          <a:xfrm>
            <a:off x="838200" y="2620416"/>
            <a:ext cx="5449192" cy="262830"/>
          </a:xfrm>
          <a:prstGeom prst="rect">
            <a:avLst/>
          </a:prstGeom>
          <a:noFill/>
        </p:spPr>
        <p:txBody>
          <a:bodyPr wrap="square" lIns="0" rIns="0" tIns="0" bIns="0" anchor="t">
            <a:spAutoFit/>
          </a:bodyPr>
          <a:lstStyle/>
          <a:p>
            <a:pPr algn="l"/>
            <a:r>
              <a:rPr b="1" sz="1350" i="0" u="none">
                <a:solidFill>
                  <a:srgbClr val="0F172A"/>
                </a:solidFill>
                <a:latin typeface="Fira Code"/>
              </a:rPr>
              <a:t>g</a:t>
            </a:r>
            <a:r>
              <a:rPr b="1" sz="1125" i="0" u="none">
                <a:solidFill>
                  <a:srgbClr val="0F172A"/>
                </a:solidFill>
                <a:latin typeface="Fira Code"/>
              </a:rPr>
              <a:t>i</a:t>
            </a:r>
            <a:r>
              <a:rPr b="1" sz="1350" i="0" u="none">
                <a:solidFill>
                  <a:srgbClr val="0F172A"/>
                </a:solidFill>
                <a:latin typeface="Fira Code"/>
              </a:rPr>
              <a:t>(x) = -R(α</a:t>
            </a:r>
            <a:r>
              <a:rPr b="1" sz="1125" i="0" u="none">
                <a:solidFill>
                  <a:srgbClr val="0F172A"/>
                </a:solidFill>
                <a:latin typeface="Fira Code"/>
              </a:rPr>
              <a:t>i</a:t>
            </a:r>
            <a:r>
              <a:rPr b="1" sz="1350" i="0" u="none">
                <a:solidFill>
                  <a:srgbClr val="0F172A"/>
                </a:solidFill>
                <a:latin typeface="Fira Code"/>
              </a:rPr>
              <a:t> | x)</a:t>
            </a:r>
          </a:p>
        </p:txBody>
      </p:sp>
      <p:sp>
        <p:nvSpPr>
          <p:cNvPr id="31" name="TextBox 30"/>
          <p:cNvSpPr txBox="1"/>
          <p:nvPr/>
        </p:nvSpPr>
        <p:spPr>
          <a:xfrm>
            <a:off x="838200" y="3330922"/>
            <a:ext cx="5449192" cy="262830"/>
          </a:xfrm>
          <a:prstGeom prst="rect">
            <a:avLst/>
          </a:prstGeom>
          <a:noFill/>
        </p:spPr>
        <p:txBody>
          <a:bodyPr wrap="square" lIns="0" rIns="0" tIns="0" bIns="0" anchor="t">
            <a:spAutoFit/>
          </a:bodyPr>
          <a:lstStyle/>
          <a:p>
            <a:pPr algn="l"/>
            <a:r>
              <a:rPr b="1" sz="1350" i="0" u="none">
                <a:solidFill>
                  <a:srgbClr val="0F172A"/>
                </a:solidFill>
                <a:latin typeface="Fira Code"/>
              </a:rPr>
              <a:t>g</a:t>
            </a:r>
            <a:r>
              <a:rPr b="1" sz="1125" i="0" u="none">
                <a:solidFill>
                  <a:srgbClr val="0F172A"/>
                </a:solidFill>
                <a:latin typeface="Fira Code"/>
              </a:rPr>
              <a:t>i</a:t>
            </a:r>
            <a:r>
              <a:rPr b="1" sz="1350" i="0" u="none">
                <a:solidFill>
                  <a:srgbClr val="0F172A"/>
                </a:solidFill>
                <a:latin typeface="Fira Code"/>
              </a:rPr>
              <a:t>(x) = P(C</a:t>
            </a:r>
            <a:r>
              <a:rPr b="1" sz="1125" i="0" u="none">
                <a:solidFill>
                  <a:srgbClr val="0F172A"/>
                </a:solidFill>
                <a:latin typeface="Fira Code"/>
              </a:rPr>
              <a:t>i</a:t>
            </a:r>
            <a:r>
              <a:rPr b="1" sz="1350" i="0" u="none">
                <a:solidFill>
                  <a:srgbClr val="0F172A"/>
                </a:solidFill>
                <a:latin typeface="Fira Code"/>
              </a:rPr>
              <a:t> | x)</a:t>
            </a:r>
          </a:p>
        </p:txBody>
      </p:sp>
      <p:sp>
        <p:nvSpPr>
          <p:cNvPr id="32" name="TextBox 31"/>
          <p:cNvSpPr txBox="1"/>
          <p:nvPr/>
        </p:nvSpPr>
        <p:spPr>
          <a:xfrm>
            <a:off x="838200" y="4041427"/>
            <a:ext cx="5449192" cy="262830"/>
          </a:xfrm>
          <a:prstGeom prst="rect">
            <a:avLst/>
          </a:prstGeom>
          <a:noFill/>
        </p:spPr>
        <p:txBody>
          <a:bodyPr wrap="square" lIns="0" rIns="0" tIns="0" bIns="0" anchor="t">
            <a:spAutoFit/>
          </a:bodyPr>
          <a:lstStyle/>
          <a:p>
            <a:pPr algn="l"/>
            <a:r>
              <a:rPr b="1" sz="1350" i="0" u="none">
                <a:solidFill>
                  <a:srgbClr val="0F172A"/>
                </a:solidFill>
                <a:latin typeface="Fira Code"/>
              </a:rPr>
              <a:t>EU(α</a:t>
            </a:r>
            <a:r>
              <a:rPr b="1" sz="1125" i="0" u="none">
                <a:solidFill>
                  <a:srgbClr val="0F172A"/>
                </a:solidFill>
                <a:latin typeface="Fira Code"/>
              </a:rPr>
              <a:t>i</a:t>
            </a:r>
            <a:r>
              <a:rPr b="1" sz="1350" i="0" u="none">
                <a:solidFill>
                  <a:srgbClr val="0F172A"/>
                </a:solidFill>
                <a:latin typeface="Fira Code"/>
              </a:rPr>
              <a:t> | x) = Σ</a:t>
            </a:r>
            <a:r>
              <a:rPr b="1" sz="1125" i="0" u="none">
                <a:solidFill>
                  <a:srgbClr val="0F172A"/>
                </a:solidFill>
                <a:latin typeface="Fira Code"/>
              </a:rPr>
              <a:t>k</a:t>
            </a:r>
            <a:r>
              <a:rPr b="1" sz="1350" i="0" u="none">
                <a:solidFill>
                  <a:srgbClr val="0F172A"/>
                </a:solidFill>
                <a:latin typeface="Fira Code"/>
              </a:rPr>
              <a:t> U</a:t>
            </a:r>
            <a:r>
              <a:rPr b="1" sz="1125" i="0" u="none">
                <a:solidFill>
                  <a:srgbClr val="0F172A"/>
                </a:solidFill>
                <a:latin typeface="Fira Code"/>
              </a:rPr>
              <a:t>ik</a:t>
            </a:r>
            <a:r>
              <a:rPr b="1" sz="1350" i="0" u="none">
                <a:solidFill>
                  <a:srgbClr val="0F172A"/>
                </a:solidFill>
                <a:latin typeface="Fira Code"/>
              </a:rPr>
              <a:t> · P(S</a:t>
            </a:r>
            <a:r>
              <a:rPr b="1" sz="1125" i="0" u="none">
                <a:solidFill>
                  <a:srgbClr val="0F172A"/>
                </a:solidFill>
                <a:latin typeface="Fira Code"/>
              </a:rPr>
              <a:t>k</a:t>
            </a:r>
            <a:r>
              <a:rPr b="1" sz="1350" i="0" u="none">
                <a:solidFill>
                  <a:srgbClr val="0F172A"/>
                </a:solidFill>
                <a:latin typeface="Fira Code"/>
              </a:rPr>
              <a:t> | x)</a:t>
            </a:r>
          </a:p>
        </p:txBody>
      </p:sp>
      <p:sp>
        <p:nvSpPr>
          <p:cNvPr id="33" name="TextBox 32"/>
          <p:cNvSpPr txBox="1"/>
          <p:nvPr/>
        </p:nvSpPr>
        <p:spPr>
          <a:xfrm>
            <a:off x="838200" y="4751933"/>
            <a:ext cx="6692428" cy="228600"/>
          </a:xfrm>
          <a:prstGeom prst="rect">
            <a:avLst/>
          </a:prstGeom>
          <a:noFill/>
        </p:spPr>
        <p:txBody>
          <a:bodyPr wrap="none" lIns="0" rIns="0" tIns="0" bIns="0" anchor="t">
            <a:spAutoFit/>
          </a:bodyPr>
          <a:lstStyle/>
          <a:p>
            <a:pPr algn="l"/>
            <a:r>
              <a:rPr b="1" sz="1350" i="0" u="none">
                <a:solidFill>
                  <a:srgbClr val="0F172A"/>
                </a:solidFill>
                <a:latin typeface="Fira Code"/>
              </a:rPr>
              <a:t>VOI = EU(x, z) − EU(x)</a:t>
            </a:r>
          </a:p>
        </p:txBody>
      </p:sp>
      <p:sp>
        <p:nvSpPr>
          <p:cNvPr id="34" name="TextBox 33"/>
          <p:cNvSpPr txBox="1"/>
          <p:nvPr/>
        </p:nvSpPr>
        <p:spPr>
          <a:xfrm>
            <a:off x="6820792" y="2325141"/>
            <a:ext cx="5371207" cy="253305"/>
          </a:xfrm>
          <a:prstGeom prst="rect">
            <a:avLst/>
          </a:prstGeom>
          <a:noFill/>
        </p:spPr>
        <p:txBody>
          <a:bodyPr wrap="none" lIns="228600" rIns="0" tIns="0" bIns="0" anchor="t">
            <a:spAutoFit/>
          </a:bodyPr>
          <a:lstStyle/>
          <a:p>
            <a:pPr algn="l"/>
            <a:r>
              <a:rPr b="1" sz="1350" i="0" u="none">
                <a:solidFill>
                  <a:srgbClr val="334155"/>
                </a:solidFill>
                <a:latin typeface="Plus Jakarta Sans"/>
              </a:rPr>
              <a:t>Discriminant:</a:t>
            </a:r>
            <a:r>
              <a:rPr b="0" sz="1350" i="0" u="none">
                <a:solidFill>
                  <a:srgbClr val="334155"/>
                </a:solidFill>
                <a:latin typeface="Plus Jakarta Sans"/>
              </a:rPr>
              <a:t> Pick max g</a:t>
            </a:r>
            <a:r>
              <a:rPr b="0" sz="1125" i="0" u="none">
                <a:solidFill>
                  <a:srgbClr val="334155"/>
                </a:solidFill>
                <a:latin typeface="Plus Jakarta Sans"/>
              </a:rPr>
              <a:t>i</a:t>
            </a:r>
            <a:r>
              <a:rPr b="0" sz="1350" i="0" u="none">
                <a:solidFill>
                  <a:srgbClr val="334155"/>
                </a:solidFill>
                <a:latin typeface="Plus Jakarta Sans"/>
              </a:rPr>
              <a:t>(x)</a:t>
            </a:r>
          </a:p>
        </p:txBody>
      </p:sp>
      <p:sp>
        <p:nvSpPr>
          <p:cNvPr id="35" name="TextBox 34"/>
          <p:cNvSpPr txBox="1"/>
          <p:nvPr/>
        </p:nvSpPr>
        <p:spPr>
          <a:xfrm>
            <a:off x="6820792" y="2654647"/>
            <a:ext cx="5371207" cy="253305"/>
          </a:xfrm>
          <a:prstGeom prst="rect">
            <a:avLst/>
          </a:prstGeom>
          <a:noFill/>
        </p:spPr>
        <p:txBody>
          <a:bodyPr wrap="none" lIns="228600" rIns="0" tIns="0" bIns="0" anchor="t">
            <a:spAutoFit/>
          </a:bodyPr>
          <a:lstStyle/>
          <a:p>
            <a:pPr algn="l"/>
            <a:r>
              <a:rPr b="1" sz="1350" i="0" u="none">
                <a:solidFill>
                  <a:srgbClr val="334155"/>
                </a:solidFill>
                <a:latin typeface="Plus Jakarta Sans"/>
              </a:rPr>
              <a:t>Bayesian Risk:</a:t>
            </a:r>
            <a:r>
              <a:rPr b="0" sz="1350" i="0" u="none">
                <a:solidFill>
                  <a:srgbClr val="334155"/>
                </a:solidFill>
                <a:latin typeface="Plus Jakarta Sans"/>
              </a:rPr>
              <a:t> Pick min R(α</a:t>
            </a:r>
            <a:r>
              <a:rPr b="0" sz="1125" i="0" u="none">
                <a:solidFill>
                  <a:srgbClr val="334155"/>
                </a:solidFill>
                <a:latin typeface="Plus Jakarta Sans"/>
              </a:rPr>
              <a:t>i</a:t>
            </a:r>
            <a:r>
              <a:rPr b="0" sz="1350" i="0" u="none">
                <a:solidFill>
                  <a:srgbClr val="334155"/>
                </a:solidFill>
                <a:latin typeface="Plus Jakarta Sans"/>
              </a:rPr>
              <a:t>|x)</a:t>
            </a:r>
          </a:p>
        </p:txBody>
      </p:sp>
      <p:sp>
        <p:nvSpPr>
          <p:cNvPr id="36" name="TextBox 35"/>
          <p:cNvSpPr txBox="1"/>
          <p:nvPr/>
        </p:nvSpPr>
        <p:spPr>
          <a:xfrm>
            <a:off x="6820792" y="2984152"/>
            <a:ext cx="5371207" cy="253305"/>
          </a:xfrm>
          <a:prstGeom prst="rect">
            <a:avLst/>
          </a:prstGeom>
          <a:noFill/>
        </p:spPr>
        <p:txBody>
          <a:bodyPr wrap="none" lIns="228600" rIns="0" tIns="0" bIns="0" anchor="t">
            <a:spAutoFit/>
          </a:bodyPr>
          <a:lstStyle/>
          <a:p>
            <a:pPr algn="l"/>
            <a:r>
              <a:rPr b="1" sz="1350" i="0" u="none">
                <a:solidFill>
                  <a:srgbClr val="334155"/>
                </a:solidFill>
                <a:latin typeface="Plus Jakarta Sans"/>
              </a:rPr>
              <a:t>Expected Utility:</a:t>
            </a:r>
            <a:r>
              <a:rPr b="0" sz="1350" i="0" u="none">
                <a:solidFill>
                  <a:srgbClr val="334155"/>
                </a:solidFill>
                <a:latin typeface="Plus Jakarta Sans"/>
              </a:rPr>
              <a:t> Pick max EU(α</a:t>
            </a:r>
            <a:r>
              <a:rPr b="0" sz="1125" i="0" u="none">
                <a:solidFill>
                  <a:srgbClr val="334155"/>
                </a:solidFill>
                <a:latin typeface="Plus Jakarta Sans"/>
              </a:rPr>
              <a:t>i</a:t>
            </a:r>
            <a:r>
              <a:rPr b="0" sz="1350" i="0" u="none">
                <a:solidFill>
                  <a:srgbClr val="334155"/>
                </a:solidFill>
                <a:latin typeface="Plus Jakarta Sans"/>
              </a:rPr>
              <a:t>|x)</a:t>
            </a:r>
          </a:p>
        </p:txBody>
      </p:sp>
      <p:sp>
        <p:nvSpPr>
          <p:cNvPr id="37" name="TextBox 36"/>
          <p:cNvSpPr txBox="1"/>
          <p:nvPr/>
        </p:nvSpPr>
        <p:spPr>
          <a:xfrm>
            <a:off x="6820792" y="3313658"/>
            <a:ext cx="5371207" cy="219075"/>
          </a:xfrm>
          <a:prstGeom prst="rect">
            <a:avLst/>
          </a:prstGeom>
          <a:noFill/>
        </p:spPr>
        <p:txBody>
          <a:bodyPr wrap="none" lIns="228600" rIns="0" tIns="0" bIns="0" anchor="t">
            <a:spAutoFit/>
          </a:bodyPr>
          <a:lstStyle/>
          <a:p>
            <a:pPr algn="l"/>
            <a:r>
              <a:rPr b="1" sz="1350" i="0" u="none">
                <a:solidFill>
                  <a:srgbClr val="334155"/>
                </a:solidFill>
                <a:latin typeface="Plus Jakarta Sans"/>
              </a:rPr>
              <a:t>Acquire Data:</a:t>
            </a:r>
            <a:r>
              <a:rPr b="0" sz="1350" i="0" u="none">
                <a:solidFill>
                  <a:srgbClr val="334155"/>
                </a:solidFill>
                <a:latin typeface="Plus Jakarta Sans"/>
              </a:rPr>
              <a:t> If VOI &gt; Cost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514350" y="5981700"/>
            <a:ext cx="11163300" cy="533400"/>
          </a:xfrm>
          <a:prstGeom prst="roundRect">
            <a:avLst>
              <a:gd name="adj" fmla="val 1071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4350" y="2271712"/>
            <a:ext cx="3619500" cy="2524125"/>
          </a:xfrm>
          <a:prstGeom prst="roundRect">
            <a:avLst>
              <a:gd name="adj" fmla="val 37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286250" y="2271712"/>
            <a:ext cx="3619500" cy="2524125"/>
          </a:xfrm>
          <a:prstGeom prst="roundRect">
            <a:avLst>
              <a:gd name="adj" fmla="val 37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58150" y="2271712"/>
            <a:ext cx="3619500" cy="2524125"/>
          </a:xfrm>
          <a:prstGeom prst="roundRect">
            <a:avLst>
              <a:gd name="adj" fmla="val 37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4350" y="5981700"/>
            <a:ext cx="38100" cy="5334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76275" y="2433637"/>
            <a:ext cx="1552575" cy="209550"/>
          </a:xfrm>
          <a:prstGeom prst="roundRect">
            <a:avLst>
              <a:gd name="adj" fmla="val 1818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48175" y="2433637"/>
            <a:ext cx="1514475" cy="209550"/>
          </a:xfrm>
          <a:prstGeom prst="roundRect">
            <a:avLst>
              <a:gd name="adj" fmla="val 18181"/>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0075" y="2433637"/>
            <a:ext cx="1285875" cy="209550"/>
          </a:xfrm>
          <a:prstGeom prst="roundRect">
            <a:avLst>
              <a:gd name="adj" fmla="val 18181"/>
            </a:avLst>
          </a:prstGeom>
          <a:solidFill>
            <a:srgbClr val="FA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350" y="628650"/>
            <a:ext cx="11677650" cy="361950"/>
          </a:xfrm>
          <a:prstGeom prst="rect">
            <a:avLst/>
          </a:prstGeom>
          <a:noFill/>
        </p:spPr>
        <p:txBody>
          <a:bodyPr wrap="none" lIns="0" rIns="0" tIns="0" bIns="0" anchor="t">
            <a:spAutoFit/>
          </a:bodyPr>
          <a:lstStyle/>
          <a:p>
            <a:pPr algn="l"/>
            <a:r>
              <a:rPr b="1" sz="2250" i="0" u="none">
                <a:solidFill>
                  <a:srgbClr val="0F172A"/>
                </a:solidFill>
                <a:latin typeface="Plus Jakarta Sans"/>
              </a:rPr>
              <a:t>Model University Exam Questions &amp; Hints</a:t>
            </a:r>
          </a:p>
        </p:txBody>
      </p:sp>
      <p:sp>
        <p:nvSpPr>
          <p:cNvPr id="11" name="TextBox 10"/>
          <p:cNvSpPr txBox="1"/>
          <p:nvPr/>
        </p:nvSpPr>
        <p:spPr>
          <a:xfrm>
            <a:off x="704850" y="6076950"/>
            <a:ext cx="10915650" cy="342900"/>
          </a:xfrm>
          <a:prstGeom prst="rect">
            <a:avLst/>
          </a:prstGeom>
          <a:noFill/>
        </p:spPr>
        <p:txBody>
          <a:bodyPr wrap="square" lIns="0" rIns="0" tIns="0" bIns="0" anchor="t">
            <a:spAutoFit/>
          </a:bodyPr>
          <a:lstStyle/>
          <a:p>
            <a:pPr algn="l"/>
            <a:r>
              <a:rPr b="1" sz="1050" i="0" u="none">
                <a:solidFill>
                  <a:srgbClr val="1E3A8A"/>
                </a:solidFill>
                <a:latin typeface="Plus Jakarta Sans"/>
              </a:rPr>
              <a:t>Teacher Note &amp; Classroom Script:</a:t>
            </a:r>
            <a:r>
              <a:rPr b="0" sz="1050" i="0" u="none">
                <a:solidFill>
                  <a:srgbClr val="1E3A8A"/>
                </a:solidFill>
                <a:latin typeface="Plus Jakarta Sans"/>
              </a:rPr>
              <a:t> "Advise students: In a 10-mark question, always draw the decision boundary diagram and write out the numerical example we covered. That ensures full marks from external examiners."</a:t>
            </a:r>
          </a:p>
        </p:txBody>
      </p:sp>
      <p:sp>
        <p:nvSpPr>
          <p:cNvPr id="12" name="TextBox 11"/>
          <p:cNvSpPr txBox="1"/>
          <p:nvPr/>
        </p:nvSpPr>
        <p:spPr>
          <a:xfrm>
            <a:off x="514350" y="342900"/>
            <a:ext cx="1524000" cy="171450"/>
          </a:xfrm>
          <a:prstGeom prst="rect">
            <a:avLst/>
          </a:prstGeom>
          <a:noFill/>
        </p:spPr>
        <p:txBody>
          <a:bodyPr wrap="none" lIns="0" rIns="0" tIns="0" bIns="0" anchor="t">
            <a:spAutoFit/>
          </a:bodyPr>
          <a:lstStyle/>
          <a:p>
            <a:pPr algn="l"/>
            <a:r>
              <a:rPr b="1" sz="1050" i="0" u="none">
                <a:solidFill>
                  <a:srgbClr val="2563EB"/>
                </a:solidFill>
                <a:latin typeface="Plus Jakarta Sans"/>
              </a:rPr>
              <a:t>QUESTION BANK</a:t>
            </a:r>
          </a:p>
        </p:txBody>
      </p:sp>
      <p:sp>
        <p:nvSpPr>
          <p:cNvPr id="13" name="TextBox 12"/>
          <p:cNvSpPr txBox="1"/>
          <p:nvPr/>
        </p:nvSpPr>
        <p:spPr>
          <a:xfrm>
            <a:off x="9572625" y="342900"/>
            <a:ext cx="2619375" cy="171450"/>
          </a:xfrm>
          <a:prstGeom prst="rect">
            <a:avLst/>
          </a:prstGeom>
          <a:noFill/>
        </p:spPr>
        <p:txBody>
          <a:bodyPr wrap="none" lIns="0" rIns="0" tIns="0" bIns="0" anchor="t">
            <a:spAutoFit/>
          </a:bodyPr>
          <a:lstStyle/>
          <a:p>
            <a:pPr algn="l"/>
            <a:r>
              <a:rPr b="1" sz="1050" i="0" u="none">
                <a:solidFill>
                  <a:srgbClr val="64748B"/>
                </a:solidFill>
                <a:latin typeface="Plus Jakarta Sans"/>
              </a:rPr>
              <a:t>University Examination Questions</a:t>
            </a:r>
          </a:p>
        </p:txBody>
      </p:sp>
      <p:sp>
        <p:nvSpPr>
          <p:cNvPr id="14" name="TextBox 13"/>
          <p:cNvSpPr txBox="1"/>
          <p:nvPr/>
        </p:nvSpPr>
        <p:spPr>
          <a:xfrm>
            <a:off x="752475" y="2452687"/>
            <a:ext cx="1495425" cy="171450"/>
          </a:xfrm>
          <a:prstGeom prst="rect">
            <a:avLst/>
          </a:prstGeom>
          <a:noFill/>
        </p:spPr>
        <p:txBody>
          <a:bodyPr wrap="square" lIns="0" rIns="0" tIns="0" bIns="0" anchor="t">
            <a:spAutoFit/>
          </a:bodyPr>
          <a:lstStyle/>
          <a:p>
            <a:pPr algn="l"/>
            <a:r>
              <a:rPr b="1" sz="1050" i="0" u="none">
                <a:solidFill>
                  <a:srgbClr val="1D4ED8"/>
                </a:solidFill>
                <a:latin typeface="Plus Jakarta Sans"/>
              </a:rPr>
              <a:t>2 MARKS (Definitions)</a:t>
            </a:r>
          </a:p>
        </p:txBody>
      </p:sp>
      <p:sp>
        <p:nvSpPr>
          <p:cNvPr id="15" name="TextBox 14"/>
          <p:cNvSpPr txBox="1"/>
          <p:nvPr/>
        </p:nvSpPr>
        <p:spPr>
          <a:xfrm>
            <a:off x="4524375" y="2452687"/>
            <a:ext cx="1457325" cy="171450"/>
          </a:xfrm>
          <a:prstGeom prst="rect">
            <a:avLst/>
          </a:prstGeom>
          <a:noFill/>
        </p:spPr>
        <p:txBody>
          <a:bodyPr wrap="square" lIns="0" rIns="0" tIns="0" bIns="0" anchor="t">
            <a:spAutoFit/>
          </a:bodyPr>
          <a:lstStyle/>
          <a:p>
            <a:pPr algn="l"/>
            <a:r>
              <a:rPr b="1" sz="1050" i="0" u="none">
                <a:solidFill>
                  <a:srgbClr val="047857"/>
                </a:solidFill>
                <a:latin typeface="Plus Jakarta Sans"/>
              </a:rPr>
              <a:t>5 MARKS (Analytical)</a:t>
            </a:r>
          </a:p>
        </p:txBody>
      </p:sp>
      <p:sp>
        <p:nvSpPr>
          <p:cNvPr id="16" name="TextBox 15"/>
          <p:cNvSpPr txBox="1"/>
          <p:nvPr/>
        </p:nvSpPr>
        <p:spPr>
          <a:xfrm>
            <a:off x="8296275" y="2452687"/>
            <a:ext cx="1228725" cy="171450"/>
          </a:xfrm>
          <a:prstGeom prst="rect">
            <a:avLst/>
          </a:prstGeom>
          <a:noFill/>
        </p:spPr>
        <p:txBody>
          <a:bodyPr wrap="square" lIns="0" rIns="0" tIns="0" bIns="0" anchor="t">
            <a:spAutoFit/>
          </a:bodyPr>
          <a:lstStyle/>
          <a:p>
            <a:pPr algn="l"/>
            <a:r>
              <a:rPr b="1" sz="1050" i="0" u="none">
                <a:solidFill>
                  <a:srgbClr val="7C3AED"/>
                </a:solidFill>
                <a:latin typeface="Plus Jakarta Sans"/>
              </a:rPr>
              <a:t>10 MARKS (Essay)</a:t>
            </a:r>
          </a:p>
        </p:txBody>
      </p:sp>
      <p:sp>
        <p:nvSpPr>
          <p:cNvPr id="17" name="TextBox 16"/>
          <p:cNvSpPr txBox="1"/>
          <p:nvPr/>
        </p:nvSpPr>
        <p:spPr>
          <a:xfrm>
            <a:off x="676275" y="2728912"/>
            <a:ext cx="3390900" cy="438150"/>
          </a:xfrm>
          <a:prstGeom prst="rect">
            <a:avLst/>
          </a:prstGeom>
          <a:noFill/>
        </p:spPr>
        <p:txBody>
          <a:bodyPr wrap="square" lIns="0" rIns="0" tIns="0" bIns="0" anchor="t">
            <a:spAutoFit/>
          </a:bodyPr>
          <a:lstStyle/>
          <a:p>
            <a:pPr algn="l"/>
            <a:r>
              <a:rPr b="1" sz="1350" i="0" u="none">
                <a:solidFill>
                  <a:srgbClr val="0F172A"/>
                </a:solidFill>
                <a:latin typeface="Plus Jakarta Sans"/>
              </a:rPr>
              <a:t>Q: Define discriminant function.</a:t>
            </a:r>
            <a:r>
              <a:t>
</a:t>
            </a:r>
            <a:r>
              <a:rPr b="1" sz="1050" i="0" u="none">
                <a:solidFill>
                  <a:srgbClr val="64748B"/>
                </a:solidFill>
                <a:latin typeface="Plus Jakarta Sans"/>
              </a:rPr>
              <a:t>Hint: Score-assigning function; choose max.</a:t>
            </a:r>
          </a:p>
        </p:txBody>
      </p:sp>
      <p:sp>
        <p:nvSpPr>
          <p:cNvPr id="18" name="TextBox 17"/>
          <p:cNvSpPr txBox="1"/>
          <p:nvPr/>
        </p:nvSpPr>
        <p:spPr>
          <a:xfrm>
            <a:off x="676275" y="3243262"/>
            <a:ext cx="3390900" cy="438150"/>
          </a:xfrm>
          <a:prstGeom prst="rect">
            <a:avLst/>
          </a:prstGeom>
          <a:noFill/>
        </p:spPr>
        <p:txBody>
          <a:bodyPr wrap="square" lIns="0" rIns="0" tIns="0" bIns="0" anchor="t">
            <a:spAutoFit/>
          </a:bodyPr>
          <a:lstStyle/>
          <a:p>
            <a:pPr algn="l"/>
            <a:r>
              <a:rPr b="1" sz="1350" i="0" u="none">
                <a:solidFill>
                  <a:srgbClr val="0F172A"/>
                </a:solidFill>
                <a:latin typeface="Plus Jakarta Sans"/>
              </a:rPr>
              <a:t>Q: Define VOI.</a:t>
            </a:r>
            <a:r>
              <a:t>
</a:t>
            </a:r>
            <a:r>
              <a:rPr b="1" sz="1050" i="0" u="none">
                <a:solidFill>
                  <a:srgbClr val="64748B"/>
                </a:solidFill>
                <a:latin typeface="Plus Jakarta Sans"/>
              </a:rPr>
              <a:t>Hint: Difference between EU(x,z) and EU(x).</a:t>
            </a:r>
          </a:p>
        </p:txBody>
      </p:sp>
      <p:sp>
        <p:nvSpPr>
          <p:cNvPr id="19" name="TextBox 18"/>
          <p:cNvSpPr txBox="1"/>
          <p:nvPr/>
        </p:nvSpPr>
        <p:spPr>
          <a:xfrm>
            <a:off x="676275" y="3757612"/>
            <a:ext cx="3390900" cy="464790"/>
          </a:xfrm>
          <a:prstGeom prst="rect">
            <a:avLst/>
          </a:prstGeom>
          <a:noFill/>
        </p:spPr>
        <p:txBody>
          <a:bodyPr wrap="square" lIns="0" rIns="0" tIns="0" bIns="0" anchor="t">
            <a:spAutoFit/>
          </a:bodyPr>
          <a:lstStyle/>
          <a:p>
            <a:pPr algn="l"/>
            <a:r>
              <a:rPr b="1" sz="1350" i="0" u="none">
                <a:solidFill>
                  <a:srgbClr val="0F172A"/>
                </a:solidFill>
                <a:latin typeface="Plus Jakarta Sans"/>
              </a:rPr>
              <a:t>Q: What is a decision boundary?</a:t>
            </a:r>
            <a:r>
              <a:t>
</a:t>
            </a:r>
            <a:r>
              <a:rPr b="1" sz="1050" i="0" u="none">
                <a:solidFill>
                  <a:srgbClr val="64748B"/>
                </a:solidFill>
                <a:latin typeface="Plus Jakarta Sans"/>
              </a:rPr>
              <a:t>Hint: Surface where g</a:t>
            </a:r>
            <a:r>
              <a:rPr b="1" sz="875" i="0" u="none">
                <a:solidFill>
                  <a:srgbClr val="64748B"/>
                </a:solidFill>
                <a:latin typeface="Plus Jakarta Sans"/>
              </a:rPr>
              <a:t>1</a:t>
            </a:r>
            <a:r>
              <a:rPr b="1" sz="1050" i="0" u="none">
                <a:solidFill>
                  <a:srgbClr val="64748B"/>
                </a:solidFill>
                <a:latin typeface="Plus Jakarta Sans"/>
              </a:rPr>
              <a:t>(x) = g</a:t>
            </a:r>
            <a:r>
              <a:rPr b="1" sz="875" i="0" u="none">
                <a:solidFill>
                  <a:srgbClr val="64748B"/>
                </a:solidFill>
                <a:latin typeface="Plus Jakarta Sans"/>
              </a:rPr>
              <a:t>2</a:t>
            </a:r>
            <a:r>
              <a:rPr b="1" sz="1050" i="0" u="none">
                <a:solidFill>
                  <a:srgbClr val="64748B"/>
                </a:solidFill>
                <a:latin typeface="Plus Jakarta Sans"/>
              </a:rPr>
              <a:t>(x).</a:t>
            </a:r>
          </a:p>
        </p:txBody>
      </p:sp>
      <p:sp>
        <p:nvSpPr>
          <p:cNvPr id="20" name="TextBox 19"/>
          <p:cNvSpPr txBox="1"/>
          <p:nvPr/>
        </p:nvSpPr>
        <p:spPr>
          <a:xfrm>
            <a:off x="4448175" y="2728912"/>
            <a:ext cx="3390900" cy="438150"/>
          </a:xfrm>
          <a:prstGeom prst="rect">
            <a:avLst/>
          </a:prstGeom>
          <a:noFill/>
        </p:spPr>
        <p:txBody>
          <a:bodyPr wrap="square" lIns="0" rIns="0" tIns="0" bIns="0" anchor="t">
            <a:spAutoFit/>
          </a:bodyPr>
          <a:lstStyle/>
          <a:p>
            <a:pPr algn="l"/>
            <a:r>
              <a:rPr b="1" sz="1350" i="0" u="none">
                <a:solidFill>
                  <a:srgbClr val="0F172A"/>
                </a:solidFill>
                <a:latin typeface="Plus Jakarta Sans"/>
              </a:rPr>
              <a:t>Q: Differentiate Loss and Utility.</a:t>
            </a:r>
            <a:r>
              <a:t>
</a:t>
            </a:r>
            <a:r>
              <a:rPr b="1" sz="1050" i="0" u="none">
                <a:solidFill>
                  <a:srgbClr val="64748B"/>
                </a:solidFill>
                <a:latin typeface="Plus Jakarta Sans"/>
              </a:rPr>
              <a:t>Hint: Loss = penalty/min; Utility = reward/max.</a:t>
            </a:r>
          </a:p>
        </p:txBody>
      </p:sp>
      <p:sp>
        <p:nvSpPr>
          <p:cNvPr id="21" name="TextBox 20"/>
          <p:cNvSpPr txBox="1"/>
          <p:nvPr/>
        </p:nvSpPr>
        <p:spPr>
          <a:xfrm>
            <a:off x="4448175" y="3243262"/>
            <a:ext cx="3390900" cy="657225"/>
          </a:xfrm>
          <a:prstGeom prst="rect">
            <a:avLst/>
          </a:prstGeom>
          <a:noFill/>
        </p:spPr>
        <p:txBody>
          <a:bodyPr wrap="square" lIns="0" rIns="0" tIns="0" bIns="0" anchor="t">
            <a:spAutoFit/>
          </a:bodyPr>
          <a:lstStyle/>
          <a:p>
            <a:pPr algn="l"/>
            <a:r>
              <a:rPr b="1" sz="1350" i="0" u="none">
                <a:solidFill>
                  <a:srgbClr val="0F172A"/>
                </a:solidFill>
                <a:latin typeface="Plus Jakarta Sans"/>
              </a:rPr>
              <a:t>Q: Explain Expected Utility with an example.</a:t>
            </a:r>
            <a:r>
              <a:t>
</a:t>
            </a:r>
            <a:r>
              <a:rPr b="1" sz="1050" i="0" u="none">
                <a:solidFill>
                  <a:srgbClr val="64748B"/>
                </a:solidFill>
                <a:latin typeface="Plus Jakarta Sans"/>
              </a:rPr>
              <a:t>Hint: Formula + medical Treat/No-treat example.</a:t>
            </a:r>
          </a:p>
        </p:txBody>
      </p:sp>
      <p:sp>
        <p:nvSpPr>
          <p:cNvPr id="22" name="TextBox 21"/>
          <p:cNvSpPr txBox="1"/>
          <p:nvPr/>
        </p:nvSpPr>
        <p:spPr>
          <a:xfrm>
            <a:off x="4448175" y="3976687"/>
            <a:ext cx="3390900" cy="657225"/>
          </a:xfrm>
          <a:prstGeom prst="rect">
            <a:avLst/>
          </a:prstGeom>
          <a:noFill/>
        </p:spPr>
        <p:txBody>
          <a:bodyPr wrap="square" lIns="0" rIns="0" tIns="0" bIns="0" anchor="t">
            <a:spAutoFit/>
          </a:bodyPr>
          <a:lstStyle/>
          <a:p>
            <a:pPr algn="l"/>
            <a:r>
              <a:rPr b="1" sz="1350" i="0" u="none">
                <a:solidFill>
                  <a:srgbClr val="0F172A"/>
                </a:solidFill>
                <a:latin typeface="Plus Jakarta Sans"/>
              </a:rPr>
              <a:t>Q: When is additional information worth getting?</a:t>
            </a:r>
            <a:r>
              <a:t>
</a:t>
            </a:r>
            <a:r>
              <a:rPr b="1" sz="1050" i="0" u="none">
                <a:solidFill>
                  <a:srgbClr val="64748B"/>
                </a:solidFill>
                <a:latin typeface="Plus Jakarta Sans"/>
              </a:rPr>
              <a:t>Hint: Explain VOI &gt; Cost trade-off.</a:t>
            </a:r>
          </a:p>
        </p:txBody>
      </p:sp>
      <p:sp>
        <p:nvSpPr>
          <p:cNvPr id="23" name="TextBox 22"/>
          <p:cNvSpPr txBox="1"/>
          <p:nvPr/>
        </p:nvSpPr>
        <p:spPr>
          <a:xfrm>
            <a:off x="8220075" y="2728912"/>
            <a:ext cx="3390900" cy="876300"/>
          </a:xfrm>
          <a:prstGeom prst="rect">
            <a:avLst/>
          </a:prstGeom>
          <a:noFill/>
        </p:spPr>
        <p:txBody>
          <a:bodyPr wrap="square" lIns="0" rIns="0" tIns="0" bIns="0" anchor="t">
            <a:spAutoFit/>
          </a:bodyPr>
          <a:lstStyle/>
          <a:p>
            <a:pPr algn="l"/>
            <a:r>
              <a:rPr b="1" sz="1350" i="0" u="none">
                <a:solidFill>
                  <a:srgbClr val="0F172A"/>
                </a:solidFill>
                <a:latin typeface="Plus Jakarta Sans"/>
              </a:rPr>
              <a:t>Q: Explain Discriminant Functions &amp; their relationship with Bayesian Risk.</a:t>
            </a:r>
            <a:r>
              <a:t>
</a:t>
            </a:r>
            <a:r>
              <a:rPr b="1" sz="1050" i="0" u="none">
                <a:solidFill>
                  <a:srgbClr val="64748B"/>
                </a:solidFill>
                <a:latin typeface="Plus Jakarta Sans"/>
              </a:rPr>
              <a:t>Hint: Define gi(x), derivation under 0-1 loss, decision boundary diagram.</a:t>
            </a:r>
          </a:p>
        </p:txBody>
      </p:sp>
      <p:sp>
        <p:nvSpPr>
          <p:cNvPr id="24" name="TextBox 23"/>
          <p:cNvSpPr txBox="1"/>
          <p:nvPr/>
        </p:nvSpPr>
        <p:spPr>
          <a:xfrm>
            <a:off x="8220075" y="3681412"/>
            <a:ext cx="3390900" cy="657225"/>
          </a:xfrm>
          <a:prstGeom prst="rect">
            <a:avLst/>
          </a:prstGeom>
          <a:noFill/>
        </p:spPr>
        <p:txBody>
          <a:bodyPr wrap="square" lIns="0" rIns="0" tIns="0" bIns="0" anchor="t">
            <a:spAutoFit/>
          </a:bodyPr>
          <a:lstStyle/>
          <a:p>
            <a:pPr algn="l"/>
            <a:r>
              <a:rPr b="1" sz="1350" i="0" u="none">
                <a:solidFill>
                  <a:srgbClr val="0F172A"/>
                </a:solidFill>
                <a:latin typeface="Plus Jakarta Sans"/>
              </a:rPr>
              <a:t>Q: Discuss Utility Theory and Value of Information in ML decision making.</a:t>
            </a:r>
            <a:r>
              <a:t>
</a:t>
            </a:r>
            <a:r>
              <a:rPr b="1" sz="1050" i="0" u="none">
                <a:solidFill>
                  <a:srgbClr val="64748B"/>
                </a:solidFill>
                <a:latin typeface="Plus Jakarta Sans"/>
              </a:rPr>
              <a:t>Hint: EU formula, x vs z, VOI formula &amp; cost analysis.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66750" y="5476726"/>
            <a:ext cx="10858500" cy="866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66750" y="514350"/>
            <a:ext cx="3286125" cy="285750"/>
          </a:xfrm>
          <a:prstGeom prst="roundRect">
            <a:avLst>
              <a:gd name="adj" fmla="val 20000"/>
            </a:avLst>
          </a:prstGeom>
          <a:solidFill>
            <a:srgbClr val="142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6750" y="3802260"/>
            <a:ext cx="10858500" cy="628650"/>
          </a:xfrm>
          <a:prstGeom prst="roundRect">
            <a:avLst>
              <a:gd name="adj" fmla="val 15151"/>
            </a:avLst>
          </a:prstGeom>
          <a:solidFill>
            <a:srgbClr val="12243A"/>
          </a:solidFill>
          <a:ln w="9525">
            <a:solidFill>
              <a:srgbClr val="1941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66750" y="5476726"/>
            <a:ext cx="108585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81750" y="5676751"/>
            <a:ext cx="5143500" cy="666750"/>
          </a:xfrm>
          <a:prstGeom prst="roundRect">
            <a:avLst>
              <a:gd name="adj" fmla="val 571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6750" y="2592585"/>
            <a:ext cx="3492549" cy="1019175"/>
          </a:xfrm>
          <a:prstGeom prst="roundRect">
            <a:avLst>
              <a:gd name="adj" fmla="val 7476"/>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6750" y="2592585"/>
            <a:ext cx="38100" cy="10191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49799" y="2592585"/>
            <a:ext cx="3492549" cy="1019175"/>
          </a:xfrm>
          <a:prstGeom prst="roundRect">
            <a:avLst>
              <a:gd name="adj" fmla="val 7476"/>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9799" y="2592585"/>
            <a:ext cx="38100" cy="1019175"/>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32849" y="2592585"/>
            <a:ext cx="3492549" cy="1019175"/>
          </a:xfrm>
          <a:prstGeom prst="roundRect">
            <a:avLst>
              <a:gd name="adj" fmla="val 7476"/>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32849" y="2592585"/>
            <a:ext cx="38100" cy="1019175"/>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81750" y="5676751"/>
            <a:ext cx="38100" cy="6667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666750" y="5952976"/>
            <a:ext cx="133350" cy="133350"/>
          </a:xfrm>
          <a:prstGeom prst="rect">
            <a:avLst/>
          </a:prstGeom>
        </p:spPr>
      </p:pic>
      <p:pic>
        <p:nvPicPr>
          <p:cNvPr id="15" name="Picture 14" descr="image.png"/>
          <p:cNvPicPr>
            <a:picLocks noChangeAspect="1"/>
          </p:cNvPicPr>
          <p:nvPr/>
        </p:nvPicPr>
        <p:blipFill>
          <a:blip r:embed="rId3"/>
          <a:stretch>
            <a:fillRect/>
          </a:stretch>
        </p:blipFill>
        <p:spPr>
          <a:xfrm>
            <a:off x="2981325" y="5952976"/>
            <a:ext cx="171450" cy="133350"/>
          </a:xfrm>
          <a:prstGeom prst="rect">
            <a:avLst/>
          </a:prstGeom>
        </p:spPr>
      </p:pic>
      <p:sp>
        <p:nvSpPr>
          <p:cNvPr id="16" name="TextBox 15"/>
          <p:cNvSpPr txBox="1"/>
          <p:nvPr/>
        </p:nvSpPr>
        <p:spPr>
          <a:xfrm>
            <a:off x="800100" y="571500"/>
            <a:ext cx="3114675" cy="171450"/>
          </a:xfrm>
          <a:prstGeom prst="rect">
            <a:avLst/>
          </a:prstGeom>
          <a:noFill/>
        </p:spPr>
        <p:txBody>
          <a:bodyPr wrap="square" lIns="0" rIns="0" tIns="0" bIns="0" anchor="t">
            <a:spAutoFit/>
          </a:bodyPr>
          <a:lstStyle/>
          <a:p>
            <a:pPr algn="l"/>
            <a:r>
              <a:rPr b="1" sz="1050" i="0" u="none">
                <a:solidFill>
                  <a:srgbClr val="38BDF8"/>
                </a:solidFill>
                <a:latin typeface="Plus Jakarta Sans"/>
              </a:rPr>
              <a:t>UNIT II SUMMARY • CLASS 2 COMPLETE</a:t>
            </a:r>
          </a:p>
        </p:txBody>
      </p:sp>
      <p:sp>
        <p:nvSpPr>
          <p:cNvPr id="17" name="TextBox 16"/>
          <p:cNvSpPr txBox="1"/>
          <p:nvPr/>
        </p:nvSpPr>
        <p:spPr>
          <a:xfrm>
            <a:off x="8201025" y="571500"/>
            <a:ext cx="3990975" cy="171450"/>
          </a:xfrm>
          <a:prstGeom prst="rect">
            <a:avLst/>
          </a:prstGeom>
          <a:noFill/>
        </p:spPr>
        <p:txBody>
          <a:bodyPr wrap="none" lIns="0" rIns="0" tIns="0" bIns="0" anchor="t">
            <a:spAutoFit/>
          </a:bodyPr>
          <a:lstStyle/>
          <a:p>
            <a:pPr algn="l"/>
            <a:r>
              <a:rPr b="1" sz="1050" i="0" u="none">
                <a:solidFill>
                  <a:srgbClr val="94A3B8"/>
                </a:solidFill>
                <a:latin typeface="Plus Jakarta Sans"/>
              </a:rPr>
              <a:t>Next Class: Bayesian Networks &amp; Influence Diagrams</a:t>
            </a:r>
          </a:p>
        </p:txBody>
      </p:sp>
      <p:sp>
        <p:nvSpPr>
          <p:cNvPr id="18" name="TextBox 17"/>
          <p:cNvSpPr txBox="1"/>
          <p:nvPr/>
        </p:nvSpPr>
        <p:spPr>
          <a:xfrm>
            <a:off x="666750" y="1845915"/>
            <a:ext cx="11525250" cy="479970"/>
          </a:xfrm>
          <a:prstGeom prst="rect">
            <a:avLst/>
          </a:prstGeom>
          <a:noFill/>
        </p:spPr>
        <p:txBody>
          <a:bodyPr wrap="none" lIns="0" rIns="0" tIns="0" bIns="0" anchor="t">
            <a:spAutoFit/>
          </a:bodyPr>
          <a:lstStyle/>
          <a:p>
            <a:pPr algn="l">
              <a:lnSpc>
                <a:spcPts val="3779"/>
              </a:lnSpc>
            </a:pPr>
            <a:r>
              <a:rPr b="1" sz="3150" i="0" u="none">
                <a:solidFill>
                  <a:srgbClr val="FFFFFF"/>
                </a:solidFill>
                <a:latin typeface="Plus Jakarta Sans"/>
              </a:rPr>
              <a:t>The Three Pillars of Rational Decisions</a:t>
            </a:r>
          </a:p>
        </p:txBody>
      </p:sp>
      <p:sp>
        <p:nvSpPr>
          <p:cNvPr id="19" name="TextBox 18"/>
          <p:cNvSpPr txBox="1"/>
          <p:nvPr/>
        </p:nvSpPr>
        <p:spPr>
          <a:xfrm>
            <a:off x="838200" y="2935485"/>
            <a:ext cx="3244899" cy="504825"/>
          </a:xfrm>
          <a:prstGeom prst="rect">
            <a:avLst/>
          </a:prstGeom>
          <a:noFill/>
        </p:spPr>
        <p:txBody>
          <a:bodyPr wrap="square" lIns="0" rIns="0" tIns="0" bIns="0" anchor="t">
            <a:spAutoFit/>
          </a:bodyPr>
          <a:lstStyle/>
          <a:p>
            <a:pPr algn="l"/>
            <a:r>
              <a:rPr b="1" sz="1050" i="0" u="none">
                <a:solidFill>
                  <a:srgbClr val="94A3B8"/>
                </a:solidFill>
                <a:latin typeface="Plus Jakarta Sans"/>
              </a:rPr>
              <a:t>Choose the highest score.</a:t>
            </a:r>
          </a:p>
        </p:txBody>
      </p:sp>
      <p:sp>
        <p:nvSpPr>
          <p:cNvPr id="20" name="TextBox 19"/>
          <p:cNvSpPr txBox="1"/>
          <p:nvPr/>
        </p:nvSpPr>
        <p:spPr>
          <a:xfrm>
            <a:off x="4521249" y="2935485"/>
            <a:ext cx="3244899" cy="504825"/>
          </a:xfrm>
          <a:prstGeom prst="rect">
            <a:avLst/>
          </a:prstGeom>
          <a:noFill/>
        </p:spPr>
        <p:txBody>
          <a:bodyPr wrap="square" lIns="0" rIns="0" tIns="0" bIns="0" anchor="t">
            <a:spAutoFit/>
          </a:bodyPr>
          <a:lstStyle/>
          <a:p>
            <a:pPr algn="l"/>
            <a:r>
              <a:rPr b="1" sz="1050" i="0" u="none">
                <a:solidFill>
                  <a:srgbClr val="94A3B8"/>
                </a:solidFill>
                <a:latin typeface="Plus Jakarta Sans"/>
              </a:rPr>
              <a:t>Maximize expected utility.</a:t>
            </a:r>
          </a:p>
        </p:txBody>
      </p:sp>
      <p:sp>
        <p:nvSpPr>
          <p:cNvPr id="21" name="TextBox 20"/>
          <p:cNvSpPr txBox="1"/>
          <p:nvPr/>
        </p:nvSpPr>
        <p:spPr>
          <a:xfrm>
            <a:off x="8204299" y="2935485"/>
            <a:ext cx="3244899" cy="504825"/>
          </a:xfrm>
          <a:prstGeom prst="rect">
            <a:avLst/>
          </a:prstGeom>
          <a:noFill/>
        </p:spPr>
        <p:txBody>
          <a:bodyPr wrap="square" lIns="0" rIns="0" tIns="0" bIns="0" anchor="t">
            <a:spAutoFit/>
          </a:bodyPr>
          <a:lstStyle/>
          <a:p>
            <a:pPr algn="l"/>
            <a:r>
              <a:rPr b="1" sz="1050" i="0" u="none">
                <a:solidFill>
                  <a:srgbClr val="94A3B8"/>
                </a:solidFill>
                <a:latin typeface="Plus Jakarta Sans"/>
              </a:rPr>
              <a:t>Collect if VOI &gt; Cost.</a:t>
            </a:r>
          </a:p>
        </p:txBody>
      </p:sp>
      <p:sp>
        <p:nvSpPr>
          <p:cNvPr id="22" name="TextBox 21"/>
          <p:cNvSpPr txBox="1"/>
          <p:nvPr/>
        </p:nvSpPr>
        <p:spPr>
          <a:xfrm>
            <a:off x="-196453" y="3983235"/>
            <a:ext cx="12584906" cy="266700"/>
          </a:xfrm>
          <a:prstGeom prst="rect">
            <a:avLst/>
          </a:prstGeom>
          <a:noFill/>
        </p:spPr>
        <p:txBody>
          <a:bodyPr wrap="none" lIns="0" rIns="0" tIns="0" bIns="0" anchor="t">
            <a:spAutoFit/>
          </a:bodyPr>
          <a:lstStyle/>
          <a:p>
            <a:pPr algn="ctr"/>
            <a:r>
              <a:rPr b="1" sz="1650" i="0" u="none">
                <a:solidFill>
                  <a:srgbClr val="F8FAFC"/>
                </a:solidFill>
                <a:latin typeface="Plus Jakarta Sans"/>
              </a:rPr>
              <a:t>"Bayesian Decision Theory helps intelligent systems make optimal choices in an uncertain world."</a:t>
            </a:r>
          </a:p>
        </p:txBody>
      </p:sp>
      <p:sp>
        <p:nvSpPr>
          <p:cNvPr id="23" name="TextBox 22"/>
          <p:cNvSpPr txBox="1"/>
          <p:nvPr/>
        </p:nvSpPr>
        <p:spPr>
          <a:xfrm>
            <a:off x="666750" y="5924401"/>
            <a:ext cx="2655093" cy="171450"/>
          </a:xfrm>
          <a:prstGeom prst="rect">
            <a:avLst/>
          </a:prstGeom>
          <a:noFill/>
        </p:spPr>
        <p:txBody>
          <a:bodyPr wrap="none" lIns="209550" rIns="0" tIns="0" bIns="0" anchor="t">
            <a:spAutoFit/>
          </a:bodyPr>
          <a:lstStyle/>
          <a:p>
            <a:pPr algn="l"/>
            <a:r>
              <a:rPr b="0" sz="1050" i="0" u="none">
                <a:solidFill>
                  <a:srgbClr val="94A3B8"/>
                </a:solidFill>
                <a:latin typeface="Plus Jakarta Sans"/>
              </a:rPr>
              <a:t>Syllabus Topics 100% Covered</a:t>
            </a:r>
          </a:p>
        </p:txBody>
      </p:sp>
      <p:sp>
        <p:nvSpPr>
          <p:cNvPr id="24" name="TextBox 23"/>
          <p:cNvSpPr txBox="1"/>
          <p:nvPr/>
        </p:nvSpPr>
        <p:spPr>
          <a:xfrm>
            <a:off x="2981325" y="5924401"/>
            <a:ext cx="3512343" cy="171450"/>
          </a:xfrm>
          <a:prstGeom prst="rect">
            <a:avLst/>
          </a:prstGeom>
          <a:noFill/>
        </p:spPr>
        <p:txBody>
          <a:bodyPr wrap="none" lIns="247650" rIns="0" tIns="0" bIns="0" anchor="t">
            <a:spAutoFit/>
          </a:bodyPr>
          <a:lstStyle/>
          <a:p>
            <a:pPr algn="l"/>
            <a:r>
              <a:rPr b="0" sz="1050" i="0" u="none">
                <a:solidFill>
                  <a:srgbClr val="94A3B8"/>
                </a:solidFill>
                <a:latin typeface="Plus Jakarta Sans"/>
              </a:rPr>
              <a:t>Open for Student Questions &amp; Discussion</a:t>
            </a:r>
          </a:p>
        </p:txBody>
      </p:sp>
      <p:sp>
        <p:nvSpPr>
          <p:cNvPr id="25" name="TextBox 24"/>
          <p:cNvSpPr txBox="1"/>
          <p:nvPr/>
        </p:nvSpPr>
        <p:spPr>
          <a:xfrm>
            <a:off x="6572250" y="5752951"/>
            <a:ext cx="4895850" cy="514350"/>
          </a:xfrm>
          <a:prstGeom prst="rect">
            <a:avLst/>
          </a:prstGeom>
          <a:noFill/>
        </p:spPr>
        <p:txBody>
          <a:bodyPr wrap="square" lIns="0" rIns="0" tIns="0" bIns="0" anchor="t">
            <a:spAutoFit/>
          </a:bodyPr>
          <a:lstStyle/>
          <a:p>
            <a:pPr algn="l"/>
            <a:r>
              <a:rPr b="1" sz="1050" i="0" u="none">
                <a:solidFill>
                  <a:srgbClr val="F8FAFC"/>
                </a:solidFill>
                <a:latin typeface="Plus Jakarta Sans"/>
              </a:rPr>
              <a:t>Teacher Note:</a:t>
            </a:r>
            <a:r>
              <a:rPr b="0" sz="1050" i="0" u="none">
                <a:solidFill>
                  <a:srgbClr val="94A3B8"/>
                </a:solidFill>
                <a:latin typeface="Plus Jakarta Sans"/>
              </a:rPr>
              <a:t> Congratulate the students on completing the mathematical core of Unit II. Preview next lecture on Bayesian Networks (directed acyclic graphs) and influence diagrams.</a:t>
            </a:r>
          </a:p>
        </p:txBody>
      </p:sp>
      <p:sp>
        <p:nvSpPr>
          <p:cNvPr id="26" name="TextBox 25"/>
          <p:cNvSpPr txBox="1"/>
          <p:nvPr/>
        </p:nvSpPr>
        <p:spPr>
          <a:xfrm>
            <a:off x="876300" y="2764035"/>
            <a:ext cx="4083908" cy="219075"/>
          </a:xfrm>
          <a:prstGeom prst="rect">
            <a:avLst/>
          </a:prstGeom>
          <a:noFill/>
        </p:spPr>
        <p:txBody>
          <a:bodyPr wrap="none" lIns="0" rIns="0" tIns="0" bIns="0" anchor="t">
            <a:spAutoFit/>
          </a:bodyPr>
          <a:lstStyle/>
          <a:p>
            <a:pPr algn="l"/>
            <a:r>
              <a:rPr b="1" sz="1350" i="0" u="none">
                <a:solidFill>
                  <a:srgbClr val="38BDF8"/>
                </a:solidFill>
                <a:latin typeface="Plus Jakarta Sans"/>
              </a:rPr>
              <a:t>1. Discriminants</a:t>
            </a:r>
          </a:p>
        </p:txBody>
      </p:sp>
      <p:sp>
        <p:nvSpPr>
          <p:cNvPr id="27" name="TextBox 26"/>
          <p:cNvSpPr txBox="1"/>
          <p:nvPr/>
        </p:nvSpPr>
        <p:spPr>
          <a:xfrm>
            <a:off x="876300" y="3021210"/>
            <a:ext cx="3889437" cy="219075"/>
          </a:xfrm>
          <a:prstGeom prst="rect">
            <a:avLst/>
          </a:prstGeom>
          <a:noFill/>
        </p:spPr>
        <p:txBody>
          <a:bodyPr wrap="none" lIns="0" rIns="0" tIns="0" bIns="0" anchor="t">
            <a:spAutoFit/>
          </a:bodyPr>
          <a:lstStyle/>
          <a:p>
            <a:pPr algn="l"/>
            <a:r>
              <a:rPr b="1" sz="1350" i="0" u="none">
                <a:solidFill>
                  <a:srgbClr val="F8FAFC"/>
                </a:solidFill>
                <a:latin typeface="Plus Jakarta Sans"/>
              </a:rPr>
              <a:t>Give classes a score.</a:t>
            </a:r>
          </a:p>
        </p:txBody>
      </p:sp>
      <p:sp>
        <p:nvSpPr>
          <p:cNvPr id="28" name="TextBox 27"/>
          <p:cNvSpPr txBox="1"/>
          <p:nvPr/>
        </p:nvSpPr>
        <p:spPr>
          <a:xfrm>
            <a:off x="4559349" y="2764035"/>
            <a:ext cx="4083908" cy="219075"/>
          </a:xfrm>
          <a:prstGeom prst="rect">
            <a:avLst/>
          </a:prstGeom>
          <a:noFill/>
        </p:spPr>
        <p:txBody>
          <a:bodyPr wrap="none" lIns="0" rIns="0" tIns="0" bIns="0" anchor="t">
            <a:spAutoFit/>
          </a:bodyPr>
          <a:lstStyle/>
          <a:p>
            <a:pPr algn="l"/>
            <a:r>
              <a:rPr b="1" sz="1350" i="0" u="none">
                <a:solidFill>
                  <a:srgbClr val="34D399"/>
                </a:solidFill>
                <a:latin typeface="Plus Jakarta Sans"/>
              </a:rPr>
              <a:t>2. Utility Theory</a:t>
            </a:r>
          </a:p>
        </p:txBody>
      </p:sp>
      <p:sp>
        <p:nvSpPr>
          <p:cNvPr id="29" name="TextBox 28"/>
          <p:cNvSpPr txBox="1"/>
          <p:nvPr/>
        </p:nvSpPr>
        <p:spPr>
          <a:xfrm>
            <a:off x="4559349" y="3021210"/>
            <a:ext cx="3889437" cy="219075"/>
          </a:xfrm>
          <a:prstGeom prst="rect">
            <a:avLst/>
          </a:prstGeom>
          <a:noFill/>
        </p:spPr>
        <p:txBody>
          <a:bodyPr wrap="none" lIns="0" rIns="0" tIns="0" bIns="0" anchor="t">
            <a:spAutoFit/>
          </a:bodyPr>
          <a:lstStyle/>
          <a:p>
            <a:pPr algn="l"/>
            <a:r>
              <a:rPr b="1" sz="1350" i="0" u="none">
                <a:solidFill>
                  <a:srgbClr val="F8FAFC"/>
                </a:solidFill>
                <a:latin typeface="Plus Jakarta Sans"/>
              </a:rPr>
              <a:t>Measures benefits.</a:t>
            </a:r>
          </a:p>
        </p:txBody>
      </p:sp>
      <p:sp>
        <p:nvSpPr>
          <p:cNvPr id="30" name="TextBox 29"/>
          <p:cNvSpPr txBox="1"/>
          <p:nvPr/>
        </p:nvSpPr>
        <p:spPr>
          <a:xfrm>
            <a:off x="8242399" y="2764035"/>
            <a:ext cx="3949600" cy="219075"/>
          </a:xfrm>
          <a:prstGeom prst="rect">
            <a:avLst/>
          </a:prstGeom>
          <a:noFill/>
        </p:spPr>
        <p:txBody>
          <a:bodyPr wrap="none" lIns="0" rIns="0" tIns="0" bIns="0" anchor="t">
            <a:spAutoFit/>
          </a:bodyPr>
          <a:lstStyle/>
          <a:p>
            <a:pPr algn="l"/>
            <a:r>
              <a:rPr b="1" sz="1350" i="0" u="none">
                <a:solidFill>
                  <a:srgbClr val="FBBF24"/>
                </a:solidFill>
                <a:latin typeface="Plus Jakarta Sans"/>
              </a:rPr>
              <a:t>3. Value of Info</a:t>
            </a:r>
          </a:p>
        </p:txBody>
      </p:sp>
      <p:sp>
        <p:nvSpPr>
          <p:cNvPr id="31" name="TextBox 30"/>
          <p:cNvSpPr txBox="1"/>
          <p:nvPr/>
        </p:nvSpPr>
        <p:spPr>
          <a:xfrm>
            <a:off x="8242399" y="3021210"/>
            <a:ext cx="3889437" cy="219075"/>
          </a:xfrm>
          <a:prstGeom prst="rect">
            <a:avLst/>
          </a:prstGeom>
          <a:noFill/>
        </p:spPr>
        <p:txBody>
          <a:bodyPr wrap="none" lIns="0" rIns="0" tIns="0" bIns="0" anchor="t">
            <a:spAutoFit/>
          </a:bodyPr>
          <a:lstStyle/>
          <a:p>
            <a:pPr algn="l"/>
            <a:r>
              <a:rPr b="1" sz="1350" i="0" u="none">
                <a:solidFill>
                  <a:srgbClr val="F8FAFC"/>
                </a:solidFill>
                <a:latin typeface="Plus Jakarta Sans"/>
              </a:rPr>
              <a:t>Evaluates new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