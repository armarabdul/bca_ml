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image" Target="../media/image28.png"/><Relationship Id="rId12" Type="http://schemas.openxmlformats.org/officeDocument/2006/relationships/image" Target="../media/image29.png"/><Relationship Id="rId13"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51.png"/><Relationship Id="rId10" Type="http://schemas.openxmlformats.org/officeDocument/2006/relationships/image" Target="../media/image52.png"/><Relationship Id="rId11" Type="http://schemas.openxmlformats.org/officeDocument/2006/relationships/image" Target="../media/image53.png"/><Relationship Id="rId12" Type="http://schemas.openxmlformats.org/officeDocument/2006/relationships/image" Target="../media/image54.png"/><Relationship Id="rId13" Type="http://schemas.openxmlformats.org/officeDocument/2006/relationships/image" Target="../media/image5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68.png"/><Relationship Id="rId11" Type="http://schemas.openxmlformats.org/officeDocument/2006/relationships/image" Target="../media/image6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80.png"/><Relationship Id="rId9" Type="http://schemas.openxmlformats.org/officeDocument/2006/relationships/image" Target="../media/image8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image" Target="../media/image103.png"/><Relationship Id="rId9" Type="http://schemas.openxmlformats.org/officeDocument/2006/relationships/image" Target="../media/image104.png"/><Relationship Id="rId10" Type="http://schemas.openxmlformats.org/officeDocument/2006/relationships/image" Target="../media/image10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image" Target="../media/image109.png"/><Relationship Id="rId6" Type="http://schemas.openxmlformats.org/officeDocument/2006/relationships/image" Target="../media/image110.png"/><Relationship Id="rId7" Type="http://schemas.openxmlformats.org/officeDocument/2006/relationships/image" Target="../media/image111.png"/><Relationship Id="rId8" Type="http://schemas.openxmlformats.org/officeDocument/2006/relationships/image" Target="../media/image1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118.png"/><Relationship Id="rId8" Type="http://schemas.openxmlformats.org/officeDocument/2006/relationships/image" Target="../media/image1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28.png"/><Relationship Id="rId6" Type="http://schemas.openxmlformats.org/officeDocument/2006/relationships/image" Target="../media/image129.png"/><Relationship Id="rId7" Type="http://schemas.openxmlformats.org/officeDocument/2006/relationships/image" Target="../media/image13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85800" y="5438775"/>
            <a:ext cx="10820400" cy="885825"/>
          </a:xfrm>
          <a:prstGeom prst="rect">
            <a:avLst/>
          </a:prstGeom>
        </p:spPr>
      </p:pic>
      <p:pic>
        <p:nvPicPr>
          <p:cNvPr id="3" name="Picture 2" descr="image.png"/>
          <p:cNvPicPr>
            <a:picLocks noChangeAspect="1"/>
          </p:cNvPicPr>
          <p:nvPr/>
        </p:nvPicPr>
        <p:blipFill>
          <a:blip r:embed="rId3"/>
          <a:stretch>
            <a:fillRect/>
          </a:stretch>
        </p:blipFill>
        <p:spPr>
          <a:xfrm>
            <a:off x="685800" y="5676900"/>
            <a:ext cx="5314950" cy="647700"/>
          </a:xfrm>
          <a:prstGeom prst="rect">
            <a:avLst/>
          </a:prstGeom>
        </p:spPr>
      </p:pic>
      <p:pic>
        <p:nvPicPr>
          <p:cNvPr id="4" name="Picture 3" descr="image.png"/>
          <p:cNvPicPr>
            <a:picLocks noChangeAspect="1"/>
          </p:cNvPicPr>
          <p:nvPr/>
        </p:nvPicPr>
        <p:blipFill>
          <a:blip r:embed="rId3"/>
          <a:stretch>
            <a:fillRect/>
          </a:stretch>
        </p:blipFill>
        <p:spPr>
          <a:xfrm>
            <a:off x="6191250" y="5676900"/>
            <a:ext cx="5314950" cy="647700"/>
          </a:xfrm>
          <a:prstGeom prst="rect">
            <a:avLst/>
          </a:prstGeom>
        </p:spPr>
      </p:pic>
      <p:sp>
        <p:nvSpPr>
          <p:cNvPr id="5" name="TextBox 4"/>
          <p:cNvSpPr txBox="1"/>
          <p:nvPr/>
        </p:nvSpPr>
        <p:spPr>
          <a:xfrm>
            <a:off x="685800" y="533400"/>
            <a:ext cx="10820400" cy="285750"/>
          </a:xfrm>
          <a:prstGeom prst="rect">
            <a:avLst/>
          </a:prstGeom>
          <a:noFill/>
        </p:spPr>
        <p:txBody>
          <a:bodyPr wrap="square" lIns="0" rIns="0" tIns="0" bIns="0" anchor="ctr">
            <a:spAutoFit/>
          </a:bodyPr>
          <a:lstStyle/>
          <a:p>
            <a:pPr algn="l"/>
            <a:r>
              <a:rPr b="1" sz="1200" i="0" u="none">
                <a:solidFill>
                  <a:srgbClr val="38BDF8"/>
                </a:solidFill>
                <a:latin typeface="Plus Jakarta Sans"/>
              </a:rPr>
              <a:t>BCA Semester V • Machine Learning</a:t>
            </a:r>
          </a:p>
        </p:txBody>
      </p:sp>
      <p:pic>
        <p:nvPicPr>
          <p:cNvPr id="6" name="Picture 5" descr="image.png"/>
          <p:cNvPicPr>
            <a:picLocks noChangeAspect="1"/>
          </p:cNvPicPr>
          <p:nvPr/>
        </p:nvPicPr>
        <p:blipFill>
          <a:blip r:embed="rId4"/>
          <a:stretch>
            <a:fillRect/>
          </a:stretch>
        </p:blipFill>
        <p:spPr>
          <a:xfrm>
            <a:off x="9896475" y="533400"/>
            <a:ext cx="1609725" cy="285750"/>
          </a:xfrm>
          <a:prstGeom prst="rect">
            <a:avLst/>
          </a:prstGeom>
        </p:spPr>
      </p:pic>
      <p:sp>
        <p:nvSpPr>
          <p:cNvPr id="7" name="TextBox 6"/>
          <p:cNvSpPr txBox="1"/>
          <p:nvPr/>
        </p:nvSpPr>
        <p:spPr>
          <a:xfrm>
            <a:off x="685800" y="2523232"/>
            <a:ext cx="11361420" cy="525660"/>
          </a:xfrm>
          <a:prstGeom prst="rect">
            <a:avLst/>
          </a:prstGeom>
          <a:noFill/>
        </p:spPr>
        <p:txBody>
          <a:bodyPr wrap="square" lIns="0" rIns="0" tIns="0" bIns="0" anchor="t">
            <a:spAutoFit/>
          </a:bodyPr>
          <a:lstStyle/>
          <a:p>
            <a:pPr algn="l">
              <a:lnSpc>
                <a:spcPts val="4140"/>
              </a:lnSpc>
            </a:pPr>
            <a:r>
              <a:rPr b="1" sz="3600" i="0" u="none">
                <a:solidFill>
                  <a:srgbClr val="FFFFFF"/>
                </a:solidFill>
                <a:latin typeface="Space Grotesk"/>
              </a:rPr>
              <a:t>Core Machine Learning Concepts</a:t>
            </a:r>
          </a:p>
        </p:txBody>
      </p:sp>
      <p:sp>
        <p:nvSpPr>
          <p:cNvPr id="8" name="TextBox 7"/>
          <p:cNvSpPr txBox="1"/>
          <p:nvPr/>
        </p:nvSpPr>
        <p:spPr>
          <a:xfrm>
            <a:off x="685800" y="3201292"/>
            <a:ext cx="7810500" cy="533400"/>
          </a:xfrm>
          <a:prstGeom prst="rect">
            <a:avLst/>
          </a:prstGeom>
          <a:noFill/>
        </p:spPr>
        <p:txBody>
          <a:bodyPr wrap="square" lIns="0" rIns="0" tIns="0" bIns="0" anchor="t">
            <a:spAutoFit/>
          </a:bodyPr>
          <a:lstStyle/>
          <a:p>
            <a:pPr algn="l">
              <a:lnSpc>
                <a:spcPts val="2100"/>
              </a:lnSpc>
            </a:pPr>
            <a:r>
              <a:rPr b="0" sz="1500" i="0" u="none">
                <a:solidFill>
                  <a:srgbClr val="94A3B8"/>
                </a:solidFill>
                <a:latin typeface="Plus Jakarta Sans"/>
              </a:rPr>
              <a:t>A visual, foundational walkthrough of PAC Learning, Noise, Multi-Class Learning, Regression, and Generalization.</a:t>
            </a:r>
          </a:p>
        </p:txBody>
      </p:sp>
      <p:sp>
        <p:nvSpPr>
          <p:cNvPr id="9" name="TextBox 8"/>
          <p:cNvSpPr txBox="1"/>
          <p:nvPr/>
        </p:nvSpPr>
        <p:spPr>
          <a:xfrm>
            <a:off x="857250" y="5810250"/>
            <a:ext cx="4972050" cy="171450"/>
          </a:xfrm>
          <a:prstGeom prst="rect">
            <a:avLst/>
          </a:prstGeom>
          <a:noFill/>
        </p:spPr>
        <p:txBody>
          <a:bodyPr wrap="square" lIns="171450" rIns="0" tIns="0" bIns="0" anchor="t">
            <a:spAutoFit/>
          </a:bodyPr>
          <a:lstStyle/>
          <a:p>
            <a:pPr algn="l"/>
            <a:r>
              <a:rPr b="1" sz="1050" i="0" u="none">
                <a:solidFill>
                  <a:srgbClr val="38BDF8"/>
                </a:solidFill>
                <a:latin typeface="Plus Jakarta Sans"/>
              </a:rPr>
              <a:t>Pedagogical Focus</a:t>
            </a:r>
          </a:p>
        </p:txBody>
      </p:sp>
      <p:sp>
        <p:nvSpPr>
          <p:cNvPr id="10" name="TextBox 9"/>
          <p:cNvSpPr txBox="1"/>
          <p:nvPr/>
        </p:nvSpPr>
        <p:spPr>
          <a:xfrm>
            <a:off x="857250" y="6019800"/>
            <a:ext cx="4972050" cy="171450"/>
          </a:xfrm>
          <a:prstGeom prst="rect">
            <a:avLst/>
          </a:prstGeom>
          <a:noFill/>
        </p:spPr>
        <p:txBody>
          <a:bodyPr wrap="square" lIns="0" rIns="0" tIns="0" bIns="0" anchor="t">
            <a:spAutoFit/>
          </a:bodyPr>
          <a:lstStyle/>
          <a:p>
            <a:pPr algn="l"/>
            <a:r>
              <a:rPr b="0" sz="1050" i="0" u="none">
                <a:solidFill>
                  <a:srgbClr val="CBD5E1"/>
                </a:solidFill>
                <a:latin typeface="Plus Jakarta Sans"/>
              </a:rPr>
              <a:t>Intuitive explanations, minimal math, zero derivations.</a:t>
            </a:r>
          </a:p>
        </p:txBody>
      </p:sp>
      <p:sp>
        <p:nvSpPr>
          <p:cNvPr id="11" name="TextBox 10"/>
          <p:cNvSpPr txBox="1"/>
          <p:nvPr/>
        </p:nvSpPr>
        <p:spPr>
          <a:xfrm>
            <a:off x="6362700" y="5810250"/>
            <a:ext cx="4972050" cy="171450"/>
          </a:xfrm>
          <a:prstGeom prst="rect">
            <a:avLst/>
          </a:prstGeom>
          <a:noFill/>
        </p:spPr>
        <p:txBody>
          <a:bodyPr wrap="square" lIns="133350" rIns="0" tIns="0" bIns="0" anchor="t">
            <a:spAutoFit/>
          </a:bodyPr>
          <a:lstStyle/>
          <a:p>
            <a:pPr algn="l"/>
            <a:r>
              <a:rPr b="1" sz="1050" i="0" u="none">
                <a:solidFill>
                  <a:srgbClr val="38BDF8"/>
                </a:solidFill>
                <a:latin typeface="Plus Jakarta Sans"/>
              </a:rPr>
              <a:t>Scope</a:t>
            </a:r>
          </a:p>
        </p:txBody>
      </p:sp>
      <p:sp>
        <p:nvSpPr>
          <p:cNvPr id="12" name="TextBox 11"/>
          <p:cNvSpPr txBox="1"/>
          <p:nvPr/>
        </p:nvSpPr>
        <p:spPr>
          <a:xfrm>
            <a:off x="6362700" y="6019800"/>
            <a:ext cx="4972050" cy="171450"/>
          </a:xfrm>
          <a:prstGeom prst="rect">
            <a:avLst/>
          </a:prstGeom>
          <a:noFill/>
        </p:spPr>
        <p:txBody>
          <a:bodyPr wrap="square" lIns="0" rIns="0" tIns="0" bIns="0" anchor="t">
            <a:spAutoFit/>
          </a:bodyPr>
          <a:lstStyle/>
          <a:p>
            <a:pPr algn="l"/>
            <a:r>
              <a:rPr b="0" sz="1050" i="0" u="none">
                <a:solidFill>
                  <a:srgbClr val="CBD5E1"/>
                </a:solidFill>
                <a:latin typeface="Plus Jakarta Sans"/>
              </a:rPr>
              <a:t>5 key syllabus modules designed for classroom clarity.</a:t>
            </a:r>
          </a:p>
        </p:txBody>
      </p:sp>
      <p:pic>
        <p:nvPicPr>
          <p:cNvPr id="13" name="Picture 12" descr="image.png"/>
          <p:cNvPicPr>
            <a:picLocks noChangeAspect="1"/>
          </p:cNvPicPr>
          <p:nvPr/>
        </p:nvPicPr>
        <p:blipFill>
          <a:blip r:embed="rId5"/>
          <a:stretch>
            <a:fillRect/>
          </a:stretch>
        </p:blipFill>
        <p:spPr>
          <a:xfrm>
            <a:off x="857250" y="5838825"/>
            <a:ext cx="171450" cy="133350"/>
          </a:xfrm>
          <a:prstGeom prst="rect">
            <a:avLst/>
          </a:prstGeom>
        </p:spPr>
      </p:pic>
      <p:pic>
        <p:nvPicPr>
          <p:cNvPr id="14" name="Picture 13" descr="image.png"/>
          <p:cNvPicPr>
            <a:picLocks noChangeAspect="1"/>
          </p:cNvPicPr>
          <p:nvPr/>
        </p:nvPicPr>
        <p:blipFill>
          <a:blip r:embed="rId6"/>
          <a:stretch>
            <a:fillRect/>
          </a:stretch>
        </p:blipFill>
        <p:spPr>
          <a:xfrm>
            <a:off x="6362700" y="5838825"/>
            <a:ext cx="133350" cy="13335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725191"/>
            <a:ext cx="2072580" cy="1447800"/>
          </a:xfrm>
          <a:prstGeom prst="rect">
            <a:avLst/>
          </a:prstGeom>
        </p:spPr>
      </p:pic>
      <p:pic>
        <p:nvPicPr>
          <p:cNvPr id="3" name="Picture 2" descr="image.png"/>
          <p:cNvPicPr>
            <a:picLocks noChangeAspect="1"/>
          </p:cNvPicPr>
          <p:nvPr/>
        </p:nvPicPr>
        <p:blipFill>
          <a:blip r:embed="rId3"/>
          <a:stretch>
            <a:fillRect/>
          </a:stretch>
        </p:blipFill>
        <p:spPr>
          <a:xfrm>
            <a:off x="2834580" y="2725191"/>
            <a:ext cx="2072580" cy="1447800"/>
          </a:xfrm>
          <a:prstGeom prst="rect">
            <a:avLst/>
          </a:prstGeom>
        </p:spPr>
      </p:pic>
      <p:pic>
        <p:nvPicPr>
          <p:cNvPr id="4" name="Picture 3" descr="image.png"/>
          <p:cNvPicPr>
            <a:picLocks noChangeAspect="1"/>
          </p:cNvPicPr>
          <p:nvPr/>
        </p:nvPicPr>
        <p:blipFill>
          <a:blip r:embed="rId4"/>
          <a:stretch>
            <a:fillRect/>
          </a:stretch>
        </p:blipFill>
        <p:spPr>
          <a:xfrm>
            <a:off x="5059560" y="2725191"/>
            <a:ext cx="2072580" cy="1447800"/>
          </a:xfrm>
          <a:prstGeom prst="rect">
            <a:avLst/>
          </a:prstGeom>
        </p:spPr>
      </p:pic>
      <p:pic>
        <p:nvPicPr>
          <p:cNvPr id="5" name="Picture 4" descr="image.png"/>
          <p:cNvPicPr>
            <a:picLocks noChangeAspect="1"/>
          </p:cNvPicPr>
          <p:nvPr/>
        </p:nvPicPr>
        <p:blipFill>
          <a:blip r:embed="rId5"/>
          <a:stretch>
            <a:fillRect/>
          </a:stretch>
        </p:blipFill>
        <p:spPr>
          <a:xfrm>
            <a:off x="7284541" y="2725191"/>
            <a:ext cx="2072580" cy="1447800"/>
          </a:xfrm>
          <a:prstGeom prst="rect">
            <a:avLst/>
          </a:prstGeom>
        </p:spPr>
      </p:pic>
      <p:pic>
        <p:nvPicPr>
          <p:cNvPr id="6" name="Picture 5" descr="image.png"/>
          <p:cNvPicPr>
            <a:picLocks noChangeAspect="1"/>
          </p:cNvPicPr>
          <p:nvPr/>
        </p:nvPicPr>
        <p:blipFill>
          <a:blip r:embed="rId2"/>
          <a:stretch>
            <a:fillRect/>
          </a:stretch>
        </p:blipFill>
        <p:spPr>
          <a:xfrm>
            <a:off x="9509521" y="2725191"/>
            <a:ext cx="2072580" cy="1447800"/>
          </a:xfrm>
          <a:prstGeom prst="rect">
            <a:avLst/>
          </a:prstGeom>
        </p:spPr>
      </p:pic>
      <p:pic>
        <p:nvPicPr>
          <p:cNvPr id="7" name="Picture 6" descr="image.png"/>
          <p:cNvPicPr>
            <a:picLocks noChangeAspect="1"/>
          </p:cNvPicPr>
          <p:nvPr/>
        </p:nvPicPr>
        <p:blipFill>
          <a:blip r:embed="rId6"/>
          <a:stretch>
            <a:fillRect/>
          </a:stretch>
        </p:blipFill>
        <p:spPr>
          <a:xfrm>
            <a:off x="1474440" y="2925216"/>
            <a:ext cx="342900" cy="342900"/>
          </a:xfrm>
          <a:prstGeom prst="rect">
            <a:avLst/>
          </a:prstGeom>
        </p:spPr>
      </p:pic>
      <p:pic>
        <p:nvPicPr>
          <p:cNvPr id="8" name="Picture 7" descr="image.png"/>
          <p:cNvPicPr>
            <a:picLocks noChangeAspect="1"/>
          </p:cNvPicPr>
          <p:nvPr/>
        </p:nvPicPr>
        <p:blipFill>
          <a:blip r:embed="rId7"/>
          <a:stretch>
            <a:fillRect/>
          </a:stretch>
        </p:blipFill>
        <p:spPr>
          <a:xfrm>
            <a:off x="3699420" y="2925216"/>
            <a:ext cx="342900" cy="342900"/>
          </a:xfrm>
          <a:prstGeom prst="rect">
            <a:avLst/>
          </a:prstGeom>
        </p:spPr>
      </p:pic>
      <p:pic>
        <p:nvPicPr>
          <p:cNvPr id="9" name="Picture 8" descr="image.png"/>
          <p:cNvPicPr>
            <a:picLocks noChangeAspect="1"/>
          </p:cNvPicPr>
          <p:nvPr/>
        </p:nvPicPr>
        <p:blipFill>
          <a:blip r:embed="rId8"/>
          <a:stretch>
            <a:fillRect/>
          </a:stretch>
        </p:blipFill>
        <p:spPr>
          <a:xfrm>
            <a:off x="5924401" y="2925216"/>
            <a:ext cx="342900" cy="342900"/>
          </a:xfrm>
          <a:prstGeom prst="rect">
            <a:avLst/>
          </a:prstGeom>
        </p:spPr>
      </p:pic>
      <p:pic>
        <p:nvPicPr>
          <p:cNvPr id="10" name="Picture 9" descr="image.png"/>
          <p:cNvPicPr>
            <a:picLocks noChangeAspect="1"/>
          </p:cNvPicPr>
          <p:nvPr/>
        </p:nvPicPr>
        <p:blipFill>
          <a:blip r:embed="rId9"/>
          <a:stretch>
            <a:fillRect/>
          </a:stretch>
        </p:blipFill>
        <p:spPr>
          <a:xfrm>
            <a:off x="8149381" y="2925216"/>
            <a:ext cx="342900" cy="342900"/>
          </a:xfrm>
          <a:prstGeom prst="rect">
            <a:avLst/>
          </a:prstGeom>
        </p:spPr>
      </p:pic>
      <p:pic>
        <p:nvPicPr>
          <p:cNvPr id="11" name="Picture 10" descr="image.png"/>
          <p:cNvPicPr>
            <a:picLocks noChangeAspect="1"/>
          </p:cNvPicPr>
          <p:nvPr/>
        </p:nvPicPr>
        <p:blipFill>
          <a:blip r:embed="rId10"/>
          <a:stretch>
            <a:fillRect/>
          </a:stretch>
        </p:blipFill>
        <p:spPr>
          <a:xfrm>
            <a:off x="10374362" y="2925216"/>
            <a:ext cx="342900" cy="342900"/>
          </a:xfrm>
          <a:prstGeom prst="rect">
            <a:avLst/>
          </a:prstGeom>
        </p:spPr>
      </p:pic>
      <p:sp>
        <p:nvSpPr>
          <p:cNvPr id="12" name="Rectangle 11"/>
          <p:cNvSpPr/>
          <p:nvPr/>
        </p:nvSpPr>
        <p:spPr>
          <a:xfrm>
            <a:off x="609600" y="588853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950" y="598378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"Welcome class! Today we cover the foundation of Machine Learning from Unit-I. We will look at 5 intuitive building blocks. You don't need complex math—just follow the logic of how a computer learns from data."</a:t>
            </a:r>
          </a:p>
        </p:txBody>
      </p:sp>
      <p:sp>
        <p:nvSpPr>
          <p:cNvPr id="14" name="Rectangle 13"/>
          <p:cNvSpPr/>
          <p:nvPr/>
        </p:nvSpPr>
        <p:spPr>
          <a:xfrm>
            <a:off x="609600" y="588853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600" y="419100"/>
            <a:ext cx="10972800" cy="171450"/>
          </a:xfrm>
          <a:prstGeom prst="rect">
            <a:avLst/>
          </a:prstGeom>
          <a:noFill/>
        </p:spPr>
        <p:txBody>
          <a:bodyPr wrap="square" lIns="0" rIns="0" tIns="0" bIns="0" anchor="t">
            <a:spAutoFit/>
          </a:bodyPr>
          <a:lstStyle/>
          <a:p>
            <a:pPr algn="l"/>
            <a:r>
              <a:rPr b="1" sz="1050" i="0" u="none">
                <a:solidFill>
                  <a:srgbClr val="2563EB"/>
                </a:solidFill>
                <a:latin typeface="Plus Jakarta Sans"/>
              </a:rPr>
              <a:t>LECTURE OUTLINE</a:t>
            </a:r>
          </a:p>
        </p:txBody>
      </p:sp>
      <p:sp>
        <p:nvSpPr>
          <p:cNvPr id="16" name="TextBox 15"/>
          <p:cNvSpPr txBox="1"/>
          <p:nvPr/>
        </p:nvSpPr>
        <p:spPr>
          <a:xfrm>
            <a:off x="609600" y="628650"/>
            <a:ext cx="11521440" cy="381000"/>
          </a:xfrm>
          <a:prstGeom prst="rect">
            <a:avLst/>
          </a:prstGeom>
          <a:noFill/>
        </p:spPr>
        <p:txBody>
          <a:bodyPr wrap="square" lIns="0" rIns="0" tIns="0" bIns="0" anchor="t">
            <a:spAutoFit/>
          </a:bodyPr>
          <a:lstStyle/>
          <a:p>
            <a:pPr algn="l"/>
            <a:r>
              <a:rPr b="1" sz="2400" i="0" u="none">
                <a:solidFill>
                  <a:srgbClr val="0F172A"/>
                </a:solidFill>
                <a:latin typeface="Space Grotesk"/>
              </a:rPr>
              <a:t>Five Core Machine Learning Topics</a:t>
            </a:r>
          </a:p>
        </p:txBody>
      </p:sp>
      <p:sp>
        <p:nvSpPr>
          <p:cNvPr id="17" name="TextBox 16"/>
          <p:cNvSpPr txBox="1"/>
          <p:nvPr/>
        </p:nvSpPr>
        <p:spPr>
          <a:xfrm>
            <a:off x="727806" y="3363366"/>
            <a:ext cx="1836166" cy="209550"/>
          </a:xfrm>
          <a:prstGeom prst="rect">
            <a:avLst/>
          </a:prstGeom>
          <a:noFill/>
        </p:spPr>
        <p:txBody>
          <a:bodyPr wrap="square" lIns="0" rIns="0" tIns="0" bIns="0" anchor="t">
            <a:spAutoFit/>
          </a:bodyPr>
          <a:lstStyle/>
          <a:p>
            <a:pPr algn="ctr"/>
            <a:r>
              <a:rPr b="1" sz="1275" i="0" u="none">
                <a:solidFill>
                  <a:srgbClr val="0F172A"/>
                </a:solidFill>
                <a:latin typeface="Plus Jakarta Sans"/>
              </a:rPr>
              <a:t>PAC Learning</a:t>
            </a:r>
          </a:p>
        </p:txBody>
      </p:sp>
      <p:sp>
        <p:nvSpPr>
          <p:cNvPr id="18" name="TextBox 17"/>
          <p:cNvSpPr txBox="1"/>
          <p:nvPr/>
        </p:nvSpPr>
        <p:spPr>
          <a:xfrm>
            <a:off x="771525" y="3630066"/>
            <a:ext cx="1748730" cy="342900"/>
          </a:xfrm>
          <a:prstGeom prst="rect">
            <a:avLst/>
          </a:prstGeom>
          <a:noFill/>
        </p:spPr>
        <p:txBody>
          <a:bodyPr wrap="square" lIns="0" rIns="0" tIns="0" bIns="0" anchor="t">
            <a:spAutoFit/>
          </a:bodyPr>
          <a:lstStyle/>
          <a:p>
            <a:pPr algn="ctr"/>
            <a:r>
              <a:rPr b="0" sz="1050" i="0" u="none">
                <a:solidFill>
                  <a:srgbClr val="64748B"/>
                </a:solidFill>
                <a:latin typeface="Plus Jakarta Sans"/>
              </a:rPr>
              <a:t>Probably Approximately Correct framework</a:t>
            </a:r>
          </a:p>
        </p:txBody>
      </p:sp>
      <p:sp>
        <p:nvSpPr>
          <p:cNvPr id="19" name="TextBox 18"/>
          <p:cNvSpPr txBox="1"/>
          <p:nvPr/>
        </p:nvSpPr>
        <p:spPr>
          <a:xfrm>
            <a:off x="2952787" y="3363366"/>
            <a:ext cx="1836166" cy="209550"/>
          </a:xfrm>
          <a:prstGeom prst="rect">
            <a:avLst/>
          </a:prstGeom>
          <a:noFill/>
        </p:spPr>
        <p:txBody>
          <a:bodyPr wrap="square" lIns="0" rIns="0" tIns="0" bIns="0" anchor="t">
            <a:spAutoFit/>
          </a:bodyPr>
          <a:lstStyle/>
          <a:p>
            <a:pPr algn="ctr"/>
            <a:r>
              <a:rPr b="1" sz="1275" i="0" u="none">
                <a:solidFill>
                  <a:srgbClr val="0F172A"/>
                </a:solidFill>
                <a:latin typeface="Plus Jakarta Sans"/>
              </a:rPr>
              <a:t>Noise</a:t>
            </a:r>
          </a:p>
        </p:txBody>
      </p:sp>
      <p:sp>
        <p:nvSpPr>
          <p:cNvPr id="20" name="TextBox 19"/>
          <p:cNvSpPr txBox="1"/>
          <p:nvPr/>
        </p:nvSpPr>
        <p:spPr>
          <a:xfrm>
            <a:off x="2996505" y="3630066"/>
            <a:ext cx="1748730" cy="342900"/>
          </a:xfrm>
          <a:prstGeom prst="rect">
            <a:avLst/>
          </a:prstGeom>
          <a:noFill/>
        </p:spPr>
        <p:txBody>
          <a:bodyPr wrap="square" lIns="0" rIns="0" tIns="0" bIns="0" anchor="t">
            <a:spAutoFit/>
          </a:bodyPr>
          <a:lstStyle/>
          <a:p>
            <a:pPr algn="ctr"/>
            <a:r>
              <a:rPr b="0" sz="1050" i="0" u="none">
                <a:solidFill>
                  <a:srgbClr val="64748B"/>
                </a:solidFill>
                <a:latin typeface="Plus Jakarta Sans"/>
              </a:rPr>
              <a:t>Imperfect labels, features &amp; hidden factors</a:t>
            </a:r>
          </a:p>
        </p:txBody>
      </p:sp>
      <p:sp>
        <p:nvSpPr>
          <p:cNvPr id="21" name="TextBox 20"/>
          <p:cNvSpPr txBox="1"/>
          <p:nvPr/>
        </p:nvSpPr>
        <p:spPr>
          <a:xfrm>
            <a:off x="5177767" y="3363366"/>
            <a:ext cx="1836166" cy="209550"/>
          </a:xfrm>
          <a:prstGeom prst="rect">
            <a:avLst/>
          </a:prstGeom>
          <a:noFill/>
        </p:spPr>
        <p:txBody>
          <a:bodyPr wrap="square" lIns="0" rIns="0" tIns="0" bIns="0" anchor="t">
            <a:spAutoFit/>
          </a:bodyPr>
          <a:lstStyle/>
          <a:p>
            <a:pPr algn="ctr"/>
            <a:r>
              <a:rPr b="1" sz="1275" i="0" u="none">
                <a:solidFill>
                  <a:srgbClr val="0F172A"/>
                </a:solidFill>
                <a:latin typeface="Plus Jakarta Sans"/>
              </a:rPr>
              <a:t>Multiple Classes</a:t>
            </a:r>
          </a:p>
        </p:txBody>
      </p:sp>
      <p:sp>
        <p:nvSpPr>
          <p:cNvPr id="22" name="TextBox 21"/>
          <p:cNvSpPr txBox="1"/>
          <p:nvPr/>
        </p:nvSpPr>
        <p:spPr>
          <a:xfrm>
            <a:off x="5221485" y="3630066"/>
            <a:ext cx="1748730" cy="342900"/>
          </a:xfrm>
          <a:prstGeom prst="rect">
            <a:avLst/>
          </a:prstGeom>
          <a:noFill/>
        </p:spPr>
        <p:txBody>
          <a:bodyPr wrap="square" lIns="0" rIns="0" tIns="0" bIns="0" anchor="t">
            <a:spAutoFit/>
          </a:bodyPr>
          <a:lstStyle/>
          <a:p>
            <a:pPr algn="ctr"/>
            <a:r>
              <a:rPr b="0" sz="1050" i="0" u="none">
                <a:solidFill>
                  <a:srgbClr val="64748B"/>
                </a:solidFill>
                <a:latin typeface="Plus Jakarta Sans"/>
              </a:rPr>
              <a:t>One-vs-Rest vs. One-vs-One strategies</a:t>
            </a:r>
          </a:p>
        </p:txBody>
      </p:sp>
      <p:sp>
        <p:nvSpPr>
          <p:cNvPr id="23" name="TextBox 22"/>
          <p:cNvSpPr txBox="1"/>
          <p:nvPr/>
        </p:nvSpPr>
        <p:spPr>
          <a:xfrm>
            <a:off x="7402748" y="3363366"/>
            <a:ext cx="1836166" cy="209550"/>
          </a:xfrm>
          <a:prstGeom prst="rect">
            <a:avLst/>
          </a:prstGeom>
          <a:noFill/>
        </p:spPr>
        <p:txBody>
          <a:bodyPr wrap="square" lIns="0" rIns="0" tIns="0" bIns="0" anchor="t">
            <a:spAutoFit/>
          </a:bodyPr>
          <a:lstStyle/>
          <a:p>
            <a:pPr algn="ctr"/>
            <a:r>
              <a:rPr b="1" sz="1275" i="0" u="none">
                <a:solidFill>
                  <a:srgbClr val="0F172A"/>
                </a:solidFill>
                <a:latin typeface="Plus Jakarta Sans"/>
              </a:rPr>
              <a:t>Regression</a:t>
            </a:r>
          </a:p>
        </p:txBody>
      </p:sp>
      <p:sp>
        <p:nvSpPr>
          <p:cNvPr id="24" name="TextBox 23"/>
          <p:cNvSpPr txBox="1"/>
          <p:nvPr/>
        </p:nvSpPr>
        <p:spPr>
          <a:xfrm>
            <a:off x="7446466" y="3630066"/>
            <a:ext cx="1748730" cy="342900"/>
          </a:xfrm>
          <a:prstGeom prst="rect">
            <a:avLst/>
          </a:prstGeom>
          <a:noFill/>
        </p:spPr>
        <p:txBody>
          <a:bodyPr wrap="square" lIns="0" rIns="0" tIns="0" bIns="0" anchor="t">
            <a:spAutoFit/>
          </a:bodyPr>
          <a:lstStyle/>
          <a:p>
            <a:pPr algn="ctr"/>
            <a:r>
              <a:rPr b="0" sz="1050" i="0" u="none">
                <a:solidFill>
                  <a:srgbClr val="64748B"/>
                </a:solidFill>
                <a:latin typeface="Plus Jakarta Sans"/>
              </a:rPr>
              <a:t>Predicting continuous numerical outcomes</a:t>
            </a:r>
          </a:p>
        </p:txBody>
      </p:sp>
      <p:sp>
        <p:nvSpPr>
          <p:cNvPr id="25" name="TextBox 24"/>
          <p:cNvSpPr txBox="1"/>
          <p:nvPr/>
        </p:nvSpPr>
        <p:spPr>
          <a:xfrm>
            <a:off x="9627728" y="3363366"/>
            <a:ext cx="1836166" cy="209550"/>
          </a:xfrm>
          <a:prstGeom prst="rect">
            <a:avLst/>
          </a:prstGeom>
          <a:noFill/>
        </p:spPr>
        <p:txBody>
          <a:bodyPr wrap="square" lIns="0" rIns="0" tIns="0" bIns="0" anchor="t">
            <a:spAutoFit/>
          </a:bodyPr>
          <a:lstStyle/>
          <a:p>
            <a:pPr algn="ctr"/>
            <a:r>
              <a:rPr b="1" sz="1275" i="0" u="none">
                <a:solidFill>
                  <a:srgbClr val="0F172A"/>
                </a:solidFill>
                <a:latin typeface="Plus Jakarta Sans"/>
              </a:rPr>
              <a:t>Generalization</a:t>
            </a:r>
          </a:p>
        </p:txBody>
      </p:sp>
      <p:sp>
        <p:nvSpPr>
          <p:cNvPr id="26" name="TextBox 25"/>
          <p:cNvSpPr txBox="1"/>
          <p:nvPr/>
        </p:nvSpPr>
        <p:spPr>
          <a:xfrm>
            <a:off x="9671446" y="3630066"/>
            <a:ext cx="1748730" cy="342900"/>
          </a:xfrm>
          <a:prstGeom prst="rect">
            <a:avLst/>
          </a:prstGeom>
          <a:noFill/>
        </p:spPr>
        <p:txBody>
          <a:bodyPr wrap="square" lIns="0" rIns="0" tIns="0" bIns="0" anchor="t">
            <a:spAutoFit/>
          </a:bodyPr>
          <a:lstStyle/>
          <a:p>
            <a:pPr algn="ctr"/>
            <a:r>
              <a:rPr b="0" sz="1050" i="0" u="none">
                <a:solidFill>
                  <a:srgbClr val="64748B"/>
                </a:solidFill>
                <a:latin typeface="Plus Jakarta Sans"/>
              </a:rPr>
              <a:t>Overfitting, validation &amp; bias-variance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448073"/>
            <a:ext cx="5157787" cy="1992510"/>
          </a:xfrm>
          <a:prstGeom prst="rect">
            <a:avLst/>
          </a:prstGeom>
        </p:spPr>
      </p:pic>
      <p:pic>
        <p:nvPicPr>
          <p:cNvPr id="3" name="Picture 2" descr="image.png"/>
          <p:cNvPicPr>
            <a:picLocks noChangeAspect="1"/>
          </p:cNvPicPr>
          <p:nvPr/>
        </p:nvPicPr>
        <p:blipFill>
          <a:blip r:embed="rId3"/>
          <a:stretch>
            <a:fillRect/>
          </a:stretch>
        </p:blipFill>
        <p:spPr>
          <a:xfrm>
            <a:off x="6424612" y="2448073"/>
            <a:ext cx="5157787" cy="1992510"/>
          </a:xfrm>
          <a:prstGeom prst="rect">
            <a:avLst/>
          </a:prstGeom>
        </p:spPr>
      </p:pic>
      <p:pic>
        <p:nvPicPr>
          <p:cNvPr id="4" name="Picture 3" descr="image.png"/>
          <p:cNvPicPr>
            <a:picLocks noChangeAspect="1"/>
          </p:cNvPicPr>
          <p:nvPr/>
        </p:nvPicPr>
        <p:blipFill>
          <a:blip r:embed="rId4"/>
          <a:stretch>
            <a:fillRect/>
          </a:stretch>
        </p:blipFill>
        <p:spPr>
          <a:xfrm>
            <a:off x="885825" y="3830984"/>
            <a:ext cx="4605337" cy="333375"/>
          </a:xfrm>
          <a:prstGeom prst="rect">
            <a:avLst/>
          </a:prstGeom>
        </p:spPr>
      </p:pic>
      <p:pic>
        <p:nvPicPr>
          <p:cNvPr id="5" name="Picture 4" descr="image.png"/>
          <p:cNvPicPr>
            <a:picLocks noChangeAspect="1"/>
          </p:cNvPicPr>
          <p:nvPr/>
        </p:nvPicPr>
        <p:blipFill>
          <a:blip r:embed="rId5"/>
          <a:stretch>
            <a:fillRect/>
          </a:stretch>
        </p:blipFill>
        <p:spPr>
          <a:xfrm>
            <a:off x="6700837" y="3830984"/>
            <a:ext cx="4605337" cy="333375"/>
          </a:xfrm>
          <a:prstGeom prst="rect">
            <a:avLst/>
          </a:prstGeom>
        </p:spPr>
      </p:pic>
      <p:sp>
        <p:nvSpPr>
          <p:cNvPr id="6" name="Rectangle 5"/>
          <p:cNvSpPr/>
          <p:nvPr/>
        </p:nvSpPr>
        <p:spPr>
          <a:xfrm>
            <a:off x="609600" y="592663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602188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"Explain the acronym: PAC = Probably Approximately Correct. Ask students: 'Can a machine be 100% right on future data?' No! So we aim for two guarantees: (1) High probability of working well ('Probably'), and (2) Very low error rate ('Approximately Correct')."</a:t>
            </a:r>
          </a:p>
        </p:txBody>
      </p:sp>
      <p:sp>
        <p:nvSpPr>
          <p:cNvPr id="8" name="Rectangle 7"/>
          <p:cNvSpPr/>
          <p:nvPr/>
        </p:nvSpPr>
        <p:spPr>
          <a:xfrm>
            <a:off x="609600" y="592663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600" y="381000"/>
            <a:ext cx="10972800" cy="171450"/>
          </a:xfrm>
          <a:prstGeom prst="rect">
            <a:avLst/>
          </a:prstGeom>
          <a:noFill/>
        </p:spPr>
        <p:txBody>
          <a:bodyPr wrap="square" lIns="0" rIns="0" tIns="0" bIns="0" anchor="t">
            <a:spAutoFit/>
          </a:bodyPr>
          <a:lstStyle/>
          <a:p>
            <a:pPr algn="l"/>
            <a:r>
              <a:rPr b="1" sz="1050" i="0" u="none">
                <a:solidFill>
                  <a:srgbClr val="2563EB"/>
                </a:solidFill>
                <a:latin typeface="Plus Jakarta Sans"/>
              </a:rPr>
              <a:t>SECTION 1 • PAC LEARNING</a:t>
            </a:r>
          </a:p>
        </p:txBody>
      </p:sp>
      <p:sp>
        <p:nvSpPr>
          <p:cNvPr id="10" name="TextBox 9"/>
          <p:cNvSpPr txBox="1"/>
          <p:nvPr/>
        </p:nvSpPr>
        <p:spPr>
          <a:xfrm>
            <a:off x="609600" y="59055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What is PAC Learning?</a:t>
            </a:r>
          </a:p>
        </p:txBody>
      </p:sp>
      <p:sp>
        <p:nvSpPr>
          <p:cNvPr id="11" name="TextBox 10"/>
          <p:cNvSpPr txBox="1"/>
          <p:nvPr/>
        </p:nvSpPr>
        <p:spPr>
          <a:xfrm>
            <a:off x="5995987" y="2448073"/>
            <a:ext cx="200025" cy="1992510"/>
          </a:xfrm>
          <a:prstGeom prst="rect">
            <a:avLst/>
          </a:prstGeom>
          <a:noFill/>
        </p:spPr>
        <p:txBody>
          <a:bodyPr wrap="square" lIns="0" rIns="0" tIns="0" bIns="0" anchor="ctr">
            <a:spAutoFit/>
          </a:bodyPr>
          <a:lstStyle/>
          <a:p>
            <a:pPr algn="l"/>
            <a:r>
              <a:rPr b="1" sz="2400" i="0" u="none">
                <a:solidFill>
                  <a:srgbClr val="94A3B8"/>
                </a:solidFill>
                <a:latin typeface="Plus Jakarta Sans"/>
              </a:rPr>
              <a:t>+</a:t>
            </a:r>
          </a:p>
        </p:txBody>
      </p:sp>
      <p:sp>
        <p:nvSpPr>
          <p:cNvPr id="12" name="TextBox 11"/>
          <p:cNvSpPr txBox="1"/>
          <p:nvPr/>
        </p:nvSpPr>
        <p:spPr>
          <a:xfrm>
            <a:off x="885825" y="2724298"/>
            <a:ext cx="4605337" cy="180975"/>
          </a:xfrm>
          <a:prstGeom prst="rect">
            <a:avLst/>
          </a:prstGeom>
          <a:noFill/>
        </p:spPr>
        <p:txBody>
          <a:bodyPr wrap="square" lIns="0" rIns="0" tIns="0" bIns="0" anchor="t">
            <a:spAutoFit/>
          </a:bodyPr>
          <a:lstStyle/>
          <a:p>
            <a:pPr algn="l"/>
            <a:r>
              <a:rPr b="1" sz="1125" i="0" u="none">
                <a:solidFill>
                  <a:srgbClr val="2563EB"/>
                </a:solidFill>
                <a:latin typeface="Plus Jakarta Sans"/>
              </a:rPr>
              <a:t>WORD 1</a:t>
            </a:r>
          </a:p>
        </p:txBody>
      </p:sp>
      <p:sp>
        <p:nvSpPr>
          <p:cNvPr id="13" name="TextBox 12"/>
          <p:cNvSpPr txBox="1"/>
          <p:nvPr/>
        </p:nvSpPr>
        <p:spPr>
          <a:xfrm>
            <a:off x="885825" y="2943373"/>
            <a:ext cx="4835604" cy="381000"/>
          </a:xfrm>
          <a:prstGeom prst="rect">
            <a:avLst/>
          </a:prstGeom>
          <a:noFill/>
        </p:spPr>
        <p:txBody>
          <a:bodyPr wrap="square" lIns="0" rIns="0" tIns="0" bIns="0" anchor="t">
            <a:spAutoFit/>
          </a:bodyPr>
          <a:lstStyle/>
          <a:p>
            <a:pPr algn="l"/>
            <a:r>
              <a:rPr b="1" sz="2400" i="0" u="none">
                <a:solidFill>
                  <a:srgbClr val="0F172A"/>
                </a:solidFill>
                <a:latin typeface="Plus Jakarta Sans"/>
              </a:rPr>
              <a:t>Probably</a:t>
            </a:r>
          </a:p>
        </p:txBody>
      </p:sp>
      <p:sp>
        <p:nvSpPr>
          <p:cNvPr id="14" name="TextBox 13"/>
          <p:cNvSpPr txBox="1"/>
          <p:nvPr/>
        </p:nvSpPr>
        <p:spPr>
          <a:xfrm>
            <a:off x="885825" y="3438673"/>
            <a:ext cx="4605337" cy="239910"/>
          </a:xfrm>
          <a:prstGeom prst="rect">
            <a:avLst/>
          </a:prstGeom>
          <a:noFill/>
        </p:spPr>
        <p:txBody>
          <a:bodyPr wrap="square" lIns="0" rIns="0" tIns="0" bIns="0" anchor="t">
            <a:spAutoFit/>
          </a:bodyPr>
          <a:lstStyle/>
          <a:p>
            <a:pPr algn="l">
              <a:lnSpc>
                <a:spcPts val="1889"/>
              </a:lnSpc>
            </a:pPr>
            <a:r>
              <a:rPr b="0" sz="1350" i="0" u="none">
                <a:solidFill>
                  <a:srgbClr val="475569"/>
                </a:solidFill>
                <a:latin typeface="Plus Jakarta Sans"/>
              </a:rPr>
              <a:t>High chance the learned model is successful.</a:t>
            </a:r>
          </a:p>
        </p:txBody>
      </p:sp>
      <p:sp>
        <p:nvSpPr>
          <p:cNvPr id="15" name="TextBox 14"/>
          <p:cNvSpPr txBox="1"/>
          <p:nvPr/>
        </p:nvSpPr>
        <p:spPr>
          <a:xfrm>
            <a:off x="6700837" y="2724298"/>
            <a:ext cx="4605337" cy="180975"/>
          </a:xfrm>
          <a:prstGeom prst="rect">
            <a:avLst/>
          </a:prstGeom>
          <a:noFill/>
        </p:spPr>
        <p:txBody>
          <a:bodyPr wrap="square" lIns="0" rIns="0" tIns="0" bIns="0" anchor="t">
            <a:spAutoFit/>
          </a:bodyPr>
          <a:lstStyle/>
          <a:p>
            <a:pPr algn="l"/>
            <a:r>
              <a:rPr b="1" sz="1125" i="0" u="none">
                <a:solidFill>
                  <a:srgbClr val="16A34A"/>
                </a:solidFill>
                <a:latin typeface="Plus Jakarta Sans"/>
              </a:rPr>
              <a:t>WORD 2</a:t>
            </a:r>
          </a:p>
        </p:txBody>
      </p:sp>
      <p:sp>
        <p:nvSpPr>
          <p:cNvPr id="16" name="TextBox 15"/>
          <p:cNvSpPr txBox="1"/>
          <p:nvPr/>
        </p:nvSpPr>
        <p:spPr>
          <a:xfrm>
            <a:off x="6700837" y="2943373"/>
            <a:ext cx="4835604" cy="381000"/>
          </a:xfrm>
          <a:prstGeom prst="rect">
            <a:avLst/>
          </a:prstGeom>
          <a:noFill/>
        </p:spPr>
        <p:txBody>
          <a:bodyPr wrap="square" lIns="0" rIns="0" tIns="0" bIns="0" anchor="t">
            <a:spAutoFit/>
          </a:bodyPr>
          <a:lstStyle/>
          <a:p>
            <a:pPr algn="l"/>
            <a:r>
              <a:rPr b="1" sz="2400" i="0" u="none">
                <a:solidFill>
                  <a:srgbClr val="0F172A"/>
                </a:solidFill>
                <a:latin typeface="Plus Jakarta Sans"/>
              </a:rPr>
              <a:t>Approximately Correct</a:t>
            </a:r>
          </a:p>
        </p:txBody>
      </p:sp>
      <p:sp>
        <p:nvSpPr>
          <p:cNvPr id="17" name="TextBox 16"/>
          <p:cNvSpPr txBox="1"/>
          <p:nvPr/>
        </p:nvSpPr>
        <p:spPr>
          <a:xfrm>
            <a:off x="6700837" y="3438673"/>
            <a:ext cx="4605337" cy="239910"/>
          </a:xfrm>
          <a:prstGeom prst="rect">
            <a:avLst/>
          </a:prstGeom>
          <a:noFill/>
        </p:spPr>
        <p:txBody>
          <a:bodyPr wrap="square" lIns="0" rIns="0" tIns="0" bIns="0" anchor="t">
            <a:spAutoFit/>
          </a:bodyPr>
          <a:lstStyle/>
          <a:p>
            <a:pPr algn="l">
              <a:lnSpc>
                <a:spcPts val="1889"/>
              </a:lnSpc>
            </a:pPr>
            <a:r>
              <a:rPr b="0" sz="1350" i="0" u="none">
                <a:solidFill>
                  <a:srgbClr val="475569"/>
                </a:solidFill>
                <a:latin typeface="Plus Jakarta Sans"/>
              </a:rPr>
              <a:t>Small tolerable error on unseen samples.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1972270"/>
            <a:ext cx="10972800" cy="1400175"/>
          </a:xfrm>
          <a:prstGeom prst="rect">
            <a:avLst/>
          </a:prstGeom>
        </p:spPr>
      </p:pic>
      <p:sp>
        <p:nvSpPr>
          <p:cNvPr id="3" name="Rectangle 2"/>
          <p:cNvSpPr/>
          <p:nvPr/>
        </p:nvSpPr>
        <p:spPr>
          <a:xfrm>
            <a:off x="609600" y="5945385"/>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2950" y="6040635"/>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"Walk through the 4 steps left-to-right. Give the spam filter example: You don't need 100% perfection. If your spam filter catches 98 out of 100 spam emails, that small 2% error is completely acceptable in practice."</a:t>
            </a:r>
          </a:p>
        </p:txBody>
      </p:sp>
      <p:sp>
        <p:nvSpPr>
          <p:cNvPr id="5" name="Rectangle 4"/>
          <p:cNvSpPr/>
          <p:nvPr/>
        </p:nvSpPr>
        <p:spPr>
          <a:xfrm>
            <a:off x="609600" y="5945385"/>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2563EB"/>
                </a:solidFill>
                <a:latin typeface="Plus Jakarta Sans"/>
              </a:rPr>
              <a:t>SECTION 1 • PAC LEARNING</a:t>
            </a:r>
          </a:p>
        </p:txBody>
      </p:sp>
      <p:sp>
        <p:nvSpPr>
          <p:cNvPr id="7" name="TextBox 6"/>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The Learning Workflow in PAC</a:t>
            </a:r>
          </a:p>
        </p:txBody>
      </p:sp>
      <p:pic>
        <p:nvPicPr>
          <p:cNvPr id="8" name="Picture 7" descr="image.png"/>
          <p:cNvPicPr>
            <a:picLocks noChangeAspect="1"/>
          </p:cNvPicPr>
          <p:nvPr/>
        </p:nvPicPr>
        <p:blipFill>
          <a:blip r:embed="rId3"/>
          <a:stretch>
            <a:fillRect/>
          </a:stretch>
        </p:blipFill>
        <p:spPr>
          <a:xfrm>
            <a:off x="809625" y="4544615"/>
            <a:ext cx="171450" cy="228600"/>
          </a:xfrm>
          <a:prstGeom prst="rect">
            <a:avLst/>
          </a:prstGeom>
        </p:spPr>
      </p:pic>
      <p:sp>
        <p:nvSpPr>
          <p:cNvPr id="9" name="TextBox 8"/>
          <p:cNvSpPr txBox="1"/>
          <p:nvPr/>
        </p:nvSpPr>
        <p:spPr>
          <a:xfrm>
            <a:off x="1133475" y="4568428"/>
            <a:ext cx="8822382" cy="180975"/>
          </a:xfrm>
          <a:prstGeom prst="rect">
            <a:avLst/>
          </a:prstGeom>
          <a:noFill/>
        </p:spPr>
        <p:txBody>
          <a:bodyPr wrap="square" lIns="0" rIns="0" tIns="0" bIns="0" anchor="t">
            <a:spAutoFit/>
          </a:bodyPr>
          <a:lstStyle/>
          <a:p>
            <a:pPr algn="l"/>
            <a:r>
              <a:rPr b="1" sz="1125" i="0" u="none">
                <a:solidFill>
                  <a:srgbClr val="334155"/>
                </a:solidFill>
                <a:latin typeface="Plus Jakarta Sans"/>
              </a:rPr>
              <a:t>Spam Filter Example:</a:t>
            </a:r>
            <a:r>
              <a:rPr b="0" sz="1125" i="0" u="none">
                <a:solidFill>
                  <a:srgbClr val="334155"/>
                </a:solidFill>
                <a:latin typeface="Plus Jakarta Sans"/>
              </a:rPr>
              <a:t> Out of 100 new emails, filtering 98 correctly (≤ 2% error) with 99% reliability means the model is PAC-learned.</a:t>
            </a:r>
          </a:p>
        </p:txBody>
      </p:sp>
      <p:pic>
        <p:nvPicPr>
          <p:cNvPr id="10" name="Picture 9" descr="image.png"/>
          <p:cNvPicPr>
            <a:picLocks noChangeAspect="1"/>
          </p:cNvPicPr>
          <p:nvPr/>
        </p:nvPicPr>
        <p:blipFill>
          <a:blip r:embed="rId4"/>
          <a:stretch>
            <a:fillRect/>
          </a:stretch>
        </p:blipFill>
        <p:spPr>
          <a:xfrm>
            <a:off x="1838325" y="2210395"/>
            <a:ext cx="457200" cy="457200"/>
          </a:xfrm>
          <a:prstGeom prst="rect">
            <a:avLst/>
          </a:prstGeom>
        </p:spPr>
      </p:pic>
      <p:sp>
        <p:nvSpPr>
          <p:cNvPr id="11" name="TextBox 10"/>
          <p:cNvSpPr txBox="1"/>
          <p:nvPr/>
        </p:nvSpPr>
        <p:spPr>
          <a:xfrm>
            <a:off x="746760" y="2743795"/>
            <a:ext cx="2640330" cy="200025"/>
          </a:xfrm>
          <a:prstGeom prst="rect">
            <a:avLst/>
          </a:prstGeom>
          <a:noFill/>
        </p:spPr>
        <p:txBody>
          <a:bodyPr wrap="square" lIns="0" rIns="0" tIns="0" bIns="0" anchor="t">
            <a:spAutoFit/>
          </a:bodyPr>
          <a:lstStyle/>
          <a:p>
            <a:pPr algn="ctr"/>
            <a:r>
              <a:rPr b="1" sz="1200" i="0" u="none">
                <a:solidFill>
                  <a:srgbClr val="0F172A"/>
                </a:solidFill>
                <a:latin typeface="Plus Jakarta Sans"/>
              </a:rPr>
              <a:t>Training Data</a:t>
            </a:r>
          </a:p>
        </p:txBody>
      </p:sp>
      <p:sp>
        <p:nvSpPr>
          <p:cNvPr id="12" name="TextBox 11"/>
          <p:cNvSpPr txBox="1"/>
          <p:nvPr/>
        </p:nvSpPr>
        <p:spPr>
          <a:xfrm>
            <a:off x="809625" y="2962870"/>
            <a:ext cx="25146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Past emails (Spam / Ham)</a:t>
            </a:r>
          </a:p>
        </p:txBody>
      </p:sp>
      <p:pic>
        <p:nvPicPr>
          <p:cNvPr id="13" name="Picture 12" descr="image.png"/>
          <p:cNvPicPr>
            <a:picLocks noChangeAspect="1"/>
          </p:cNvPicPr>
          <p:nvPr/>
        </p:nvPicPr>
        <p:blipFill>
          <a:blip r:embed="rId5"/>
          <a:stretch>
            <a:fillRect/>
          </a:stretch>
        </p:blipFill>
        <p:spPr>
          <a:xfrm>
            <a:off x="3324225" y="2591395"/>
            <a:ext cx="171450" cy="190500"/>
          </a:xfrm>
          <a:prstGeom prst="rect">
            <a:avLst/>
          </a:prstGeom>
        </p:spPr>
      </p:pic>
      <p:pic>
        <p:nvPicPr>
          <p:cNvPr id="14" name="Picture 13" descr="image.png"/>
          <p:cNvPicPr>
            <a:picLocks noChangeAspect="1"/>
          </p:cNvPicPr>
          <p:nvPr/>
        </p:nvPicPr>
        <p:blipFill>
          <a:blip r:embed="rId6"/>
          <a:stretch>
            <a:fillRect/>
          </a:stretch>
        </p:blipFill>
        <p:spPr>
          <a:xfrm>
            <a:off x="4524375" y="2210395"/>
            <a:ext cx="457200" cy="457200"/>
          </a:xfrm>
          <a:prstGeom prst="rect">
            <a:avLst/>
          </a:prstGeom>
        </p:spPr>
      </p:pic>
      <p:sp>
        <p:nvSpPr>
          <p:cNvPr id="15" name="TextBox 14"/>
          <p:cNvSpPr txBox="1"/>
          <p:nvPr/>
        </p:nvSpPr>
        <p:spPr>
          <a:xfrm>
            <a:off x="3432810" y="2743795"/>
            <a:ext cx="2640330" cy="200025"/>
          </a:xfrm>
          <a:prstGeom prst="rect">
            <a:avLst/>
          </a:prstGeom>
          <a:noFill/>
        </p:spPr>
        <p:txBody>
          <a:bodyPr wrap="square" lIns="0" rIns="0" tIns="0" bIns="0" anchor="t">
            <a:spAutoFit/>
          </a:bodyPr>
          <a:lstStyle/>
          <a:p>
            <a:pPr algn="ctr"/>
            <a:r>
              <a:rPr b="1" sz="1200" i="0" u="none">
                <a:solidFill>
                  <a:srgbClr val="0F172A"/>
                </a:solidFill>
                <a:latin typeface="Plus Jakarta Sans"/>
              </a:rPr>
              <a:t>Algorithm</a:t>
            </a:r>
          </a:p>
        </p:txBody>
      </p:sp>
      <p:sp>
        <p:nvSpPr>
          <p:cNvPr id="16" name="TextBox 15"/>
          <p:cNvSpPr txBox="1"/>
          <p:nvPr/>
        </p:nvSpPr>
        <p:spPr>
          <a:xfrm>
            <a:off x="3495675" y="2962870"/>
            <a:ext cx="25146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Finds rules &amp; patterns</a:t>
            </a:r>
          </a:p>
        </p:txBody>
      </p:sp>
      <p:pic>
        <p:nvPicPr>
          <p:cNvPr id="17" name="Picture 16" descr="image.png"/>
          <p:cNvPicPr>
            <a:picLocks noChangeAspect="1"/>
          </p:cNvPicPr>
          <p:nvPr/>
        </p:nvPicPr>
        <p:blipFill>
          <a:blip r:embed="rId7"/>
          <a:stretch>
            <a:fillRect/>
          </a:stretch>
        </p:blipFill>
        <p:spPr>
          <a:xfrm>
            <a:off x="6010275" y="2591395"/>
            <a:ext cx="171450" cy="190500"/>
          </a:xfrm>
          <a:prstGeom prst="rect">
            <a:avLst/>
          </a:prstGeom>
        </p:spPr>
      </p:pic>
      <p:pic>
        <p:nvPicPr>
          <p:cNvPr id="18" name="Picture 17" descr="image.png"/>
          <p:cNvPicPr>
            <a:picLocks noChangeAspect="1"/>
          </p:cNvPicPr>
          <p:nvPr/>
        </p:nvPicPr>
        <p:blipFill>
          <a:blip r:embed="rId8"/>
          <a:stretch>
            <a:fillRect/>
          </a:stretch>
        </p:blipFill>
        <p:spPr>
          <a:xfrm>
            <a:off x="7210425" y="2210395"/>
            <a:ext cx="457200" cy="457200"/>
          </a:xfrm>
          <a:prstGeom prst="rect">
            <a:avLst/>
          </a:prstGeom>
        </p:spPr>
      </p:pic>
      <p:sp>
        <p:nvSpPr>
          <p:cNvPr id="19" name="TextBox 18"/>
          <p:cNvSpPr txBox="1"/>
          <p:nvPr/>
        </p:nvSpPr>
        <p:spPr>
          <a:xfrm>
            <a:off x="6118860" y="2743795"/>
            <a:ext cx="2640330" cy="200025"/>
          </a:xfrm>
          <a:prstGeom prst="rect">
            <a:avLst/>
          </a:prstGeom>
          <a:noFill/>
        </p:spPr>
        <p:txBody>
          <a:bodyPr wrap="square" lIns="0" rIns="0" tIns="0" bIns="0" anchor="t">
            <a:spAutoFit/>
          </a:bodyPr>
          <a:lstStyle/>
          <a:p>
            <a:pPr algn="ctr"/>
            <a:r>
              <a:rPr b="1" sz="1200" i="0" u="none">
                <a:solidFill>
                  <a:srgbClr val="0F172A"/>
                </a:solidFill>
                <a:latin typeface="Plus Jakarta Sans"/>
              </a:rPr>
              <a:t>Learned Model</a:t>
            </a:r>
          </a:p>
        </p:txBody>
      </p:sp>
      <p:sp>
        <p:nvSpPr>
          <p:cNvPr id="20" name="TextBox 19"/>
          <p:cNvSpPr txBox="1"/>
          <p:nvPr/>
        </p:nvSpPr>
        <p:spPr>
          <a:xfrm>
            <a:off x="6181725" y="2962870"/>
            <a:ext cx="25146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Spam classifier filter</a:t>
            </a:r>
          </a:p>
        </p:txBody>
      </p:sp>
      <p:pic>
        <p:nvPicPr>
          <p:cNvPr id="21" name="Picture 20" descr="image.png"/>
          <p:cNvPicPr>
            <a:picLocks noChangeAspect="1"/>
          </p:cNvPicPr>
          <p:nvPr/>
        </p:nvPicPr>
        <p:blipFill>
          <a:blip r:embed="rId5"/>
          <a:stretch>
            <a:fillRect/>
          </a:stretch>
        </p:blipFill>
        <p:spPr>
          <a:xfrm>
            <a:off x="8696325" y="2591395"/>
            <a:ext cx="171450" cy="190500"/>
          </a:xfrm>
          <a:prstGeom prst="rect">
            <a:avLst/>
          </a:prstGeom>
        </p:spPr>
      </p:pic>
      <p:pic>
        <p:nvPicPr>
          <p:cNvPr id="22" name="Picture 21" descr="image.png"/>
          <p:cNvPicPr>
            <a:picLocks noChangeAspect="1"/>
          </p:cNvPicPr>
          <p:nvPr/>
        </p:nvPicPr>
        <p:blipFill>
          <a:blip r:embed="rId9"/>
          <a:stretch>
            <a:fillRect/>
          </a:stretch>
        </p:blipFill>
        <p:spPr>
          <a:xfrm>
            <a:off x="9896475" y="2210395"/>
            <a:ext cx="457200" cy="457200"/>
          </a:xfrm>
          <a:prstGeom prst="rect">
            <a:avLst/>
          </a:prstGeom>
        </p:spPr>
      </p:pic>
      <p:sp>
        <p:nvSpPr>
          <p:cNvPr id="23" name="TextBox 22"/>
          <p:cNvSpPr txBox="1"/>
          <p:nvPr/>
        </p:nvSpPr>
        <p:spPr>
          <a:xfrm>
            <a:off x="8804910" y="2743795"/>
            <a:ext cx="2640330" cy="200025"/>
          </a:xfrm>
          <a:prstGeom prst="rect">
            <a:avLst/>
          </a:prstGeom>
          <a:noFill/>
        </p:spPr>
        <p:txBody>
          <a:bodyPr wrap="square" lIns="0" rIns="0" tIns="0" bIns="0" anchor="t">
            <a:spAutoFit/>
          </a:bodyPr>
          <a:lstStyle/>
          <a:p>
            <a:pPr algn="ctr"/>
            <a:r>
              <a:rPr b="1" sz="1200" i="0" u="none">
                <a:solidFill>
                  <a:srgbClr val="0F172A"/>
                </a:solidFill>
                <a:latin typeface="Plus Jakarta Sans"/>
              </a:rPr>
              <a:t>New Email</a:t>
            </a:r>
          </a:p>
        </p:txBody>
      </p:sp>
      <p:sp>
        <p:nvSpPr>
          <p:cNvPr id="24" name="TextBox 23"/>
          <p:cNvSpPr txBox="1"/>
          <p:nvPr/>
        </p:nvSpPr>
        <p:spPr>
          <a:xfrm>
            <a:off x="8867775" y="2962870"/>
            <a:ext cx="25146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Accurate classification</a:t>
            </a:r>
          </a:p>
        </p:txBody>
      </p:sp>
      <p:pic>
        <p:nvPicPr>
          <p:cNvPr id="25" name="Picture 24" descr="image.png"/>
          <p:cNvPicPr>
            <a:picLocks noChangeAspect="1"/>
          </p:cNvPicPr>
          <p:nvPr/>
        </p:nvPicPr>
        <p:blipFill>
          <a:blip r:embed="rId10"/>
          <a:stretch>
            <a:fillRect/>
          </a:stretch>
        </p:blipFill>
        <p:spPr>
          <a:xfrm>
            <a:off x="1981200" y="2343745"/>
            <a:ext cx="171450" cy="190500"/>
          </a:xfrm>
          <a:prstGeom prst="rect">
            <a:avLst/>
          </a:prstGeom>
        </p:spPr>
      </p:pic>
      <p:pic>
        <p:nvPicPr>
          <p:cNvPr id="26" name="Picture 25" descr="image.png"/>
          <p:cNvPicPr>
            <a:picLocks noChangeAspect="1"/>
          </p:cNvPicPr>
          <p:nvPr/>
        </p:nvPicPr>
        <p:blipFill>
          <a:blip r:embed="rId11"/>
          <a:stretch>
            <a:fillRect/>
          </a:stretch>
        </p:blipFill>
        <p:spPr>
          <a:xfrm>
            <a:off x="4657725" y="2343745"/>
            <a:ext cx="190500" cy="190500"/>
          </a:xfrm>
          <a:prstGeom prst="rect">
            <a:avLst/>
          </a:prstGeom>
        </p:spPr>
      </p:pic>
      <p:pic>
        <p:nvPicPr>
          <p:cNvPr id="27" name="Picture 26" descr="image.png"/>
          <p:cNvPicPr>
            <a:picLocks noChangeAspect="1"/>
          </p:cNvPicPr>
          <p:nvPr/>
        </p:nvPicPr>
        <p:blipFill>
          <a:blip r:embed="rId12"/>
          <a:stretch>
            <a:fillRect/>
          </a:stretch>
        </p:blipFill>
        <p:spPr>
          <a:xfrm>
            <a:off x="7343775" y="2343745"/>
            <a:ext cx="190500" cy="190500"/>
          </a:xfrm>
          <a:prstGeom prst="rect">
            <a:avLst/>
          </a:prstGeom>
        </p:spPr>
      </p:pic>
      <p:pic>
        <p:nvPicPr>
          <p:cNvPr id="28" name="Picture 27" descr="image.png"/>
          <p:cNvPicPr>
            <a:picLocks noChangeAspect="1"/>
          </p:cNvPicPr>
          <p:nvPr/>
        </p:nvPicPr>
        <p:blipFill>
          <a:blip r:embed="rId13"/>
          <a:stretch>
            <a:fillRect/>
          </a:stretch>
        </p:blipFill>
        <p:spPr>
          <a:xfrm>
            <a:off x="10029825" y="2343745"/>
            <a:ext cx="190500" cy="190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4414539"/>
            <a:ext cx="10972800" cy="552450"/>
          </a:xfrm>
          <a:prstGeom prst="rect">
            <a:avLst/>
          </a:prstGeom>
        </p:spPr>
      </p:pic>
      <p:pic>
        <p:nvPicPr>
          <p:cNvPr id="3" name="Picture 2" descr="image.png"/>
          <p:cNvPicPr>
            <a:picLocks noChangeAspect="1"/>
          </p:cNvPicPr>
          <p:nvPr/>
        </p:nvPicPr>
        <p:blipFill>
          <a:blip r:embed="rId3"/>
          <a:stretch>
            <a:fillRect/>
          </a:stretch>
        </p:blipFill>
        <p:spPr>
          <a:xfrm>
            <a:off x="609600" y="1921519"/>
            <a:ext cx="5391150" cy="1514475"/>
          </a:xfrm>
          <a:prstGeom prst="rect">
            <a:avLst/>
          </a:prstGeom>
        </p:spPr>
      </p:pic>
      <p:pic>
        <p:nvPicPr>
          <p:cNvPr id="4" name="Picture 3" descr="image.png"/>
          <p:cNvPicPr>
            <a:picLocks noChangeAspect="1"/>
          </p:cNvPicPr>
          <p:nvPr/>
        </p:nvPicPr>
        <p:blipFill>
          <a:blip r:embed="rId4"/>
          <a:stretch>
            <a:fillRect/>
          </a:stretch>
        </p:blipFill>
        <p:spPr>
          <a:xfrm>
            <a:off x="6191250" y="1921519"/>
            <a:ext cx="5391150" cy="1514475"/>
          </a:xfrm>
          <a:prstGeom prst="rect">
            <a:avLst/>
          </a:prstGeom>
        </p:spPr>
      </p:pic>
      <p:pic>
        <p:nvPicPr>
          <p:cNvPr id="5" name="Picture 4" descr="image.png"/>
          <p:cNvPicPr>
            <a:picLocks noChangeAspect="1"/>
          </p:cNvPicPr>
          <p:nvPr/>
        </p:nvPicPr>
        <p:blipFill>
          <a:blip r:embed="rId5"/>
          <a:stretch>
            <a:fillRect/>
          </a:stretch>
        </p:blipFill>
        <p:spPr>
          <a:xfrm>
            <a:off x="828675" y="2854969"/>
            <a:ext cx="4953000" cy="361950"/>
          </a:xfrm>
          <a:prstGeom prst="rect">
            <a:avLst/>
          </a:prstGeom>
        </p:spPr>
      </p:pic>
      <p:pic>
        <p:nvPicPr>
          <p:cNvPr id="6" name="Picture 5" descr="image.png"/>
          <p:cNvPicPr>
            <a:picLocks noChangeAspect="1"/>
          </p:cNvPicPr>
          <p:nvPr/>
        </p:nvPicPr>
        <p:blipFill>
          <a:blip r:embed="rId6"/>
          <a:stretch>
            <a:fillRect/>
          </a:stretch>
        </p:blipFill>
        <p:spPr>
          <a:xfrm>
            <a:off x="6410325" y="2854969"/>
            <a:ext cx="4953000" cy="361950"/>
          </a:xfrm>
          <a:prstGeom prst="rect">
            <a:avLst/>
          </a:prstGeom>
        </p:spPr>
      </p:pic>
      <p:sp>
        <p:nvSpPr>
          <p:cNvPr id="7" name="Rectangle 6"/>
          <p:cNvSpPr/>
          <p:nvPr/>
        </p:nvSpPr>
        <p:spPr>
          <a:xfrm>
            <a:off x="609600" y="5945534"/>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950" y="6040784"/>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"Students often fear Greek symbols. Tell them: Epsilon (ε) is just your budget for error (like 5%). Delta (δ) is the chance of bad luck (like 1%). So 1-δ is your 99% confidence. Reassure them: No derivations required, just the intuitive meaning."</a:t>
            </a:r>
          </a:p>
        </p:txBody>
      </p:sp>
      <p:sp>
        <p:nvSpPr>
          <p:cNvPr id="9" name="Rectangle 8"/>
          <p:cNvSpPr/>
          <p:nvPr/>
        </p:nvSpPr>
        <p:spPr>
          <a:xfrm>
            <a:off x="609600" y="5945534"/>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2563EB"/>
                </a:solidFill>
                <a:latin typeface="Plus Jakarta Sans"/>
              </a:rPr>
              <a:t>SECTION 1 • PAC LEARNING</a:t>
            </a:r>
          </a:p>
        </p:txBody>
      </p:sp>
      <p:sp>
        <p:nvSpPr>
          <p:cNvPr id="11" name="TextBox 10"/>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Understanding ε (Epsilon) and δ (Delta)</a:t>
            </a:r>
          </a:p>
        </p:txBody>
      </p:sp>
      <p:sp>
        <p:nvSpPr>
          <p:cNvPr id="12" name="TextBox 11"/>
          <p:cNvSpPr txBox="1"/>
          <p:nvPr/>
        </p:nvSpPr>
        <p:spPr>
          <a:xfrm>
            <a:off x="847725" y="4576464"/>
            <a:ext cx="10496550" cy="228600"/>
          </a:xfrm>
          <a:prstGeom prst="rect">
            <a:avLst/>
          </a:prstGeom>
          <a:noFill/>
        </p:spPr>
        <p:txBody>
          <a:bodyPr wrap="square" lIns="0" rIns="0" tIns="0" bIns="0" anchor="t">
            <a:spAutoFit/>
          </a:bodyPr>
          <a:lstStyle/>
          <a:p>
            <a:pPr algn="ctr"/>
            <a:r>
              <a:rPr b="1" sz="1350" i="0" u="none">
                <a:solidFill>
                  <a:srgbClr val="0F172A"/>
                </a:solidFill>
                <a:latin typeface="Plus Jakarta Sans"/>
              </a:rPr>
              <a:t>Rule: With probability </a:t>
            </a:r>
            <a:r>
              <a:rPr b="1" sz="1350" i="0" u="none">
                <a:solidFill>
                  <a:srgbClr val="2563EB"/>
                </a:solidFill>
                <a:latin typeface="Plus Jakarta Sans"/>
              </a:rPr>
              <a:t>≥ (1 - δ)</a:t>
            </a:r>
            <a:r>
              <a:rPr b="1" sz="1350" i="0" u="none">
                <a:solidFill>
                  <a:srgbClr val="0F172A"/>
                </a:solidFill>
                <a:latin typeface="Plus Jakarta Sans"/>
              </a:rPr>
              <a:t>, Model Error </a:t>
            </a:r>
            <a:r>
              <a:rPr b="1" sz="1350" i="0" u="none">
                <a:solidFill>
                  <a:srgbClr val="DC2626"/>
                </a:solidFill>
                <a:latin typeface="Plus Jakarta Sans"/>
              </a:rPr>
              <a:t>≤ ε</a:t>
            </a:r>
          </a:p>
        </p:txBody>
      </p:sp>
      <p:sp>
        <p:nvSpPr>
          <p:cNvPr id="13" name="TextBox 12"/>
          <p:cNvSpPr txBox="1"/>
          <p:nvPr/>
        </p:nvSpPr>
        <p:spPr>
          <a:xfrm>
            <a:off x="828675" y="2140594"/>
            <a:ext cx="4953000" cy="342900"/>
          </a:xfrm>
          <a:prstGeom prst="rect">
            <a:avLst/>
          </a:prstGeom>
          <a:noFill/>
        </p:spPr>
        <p:txBody>
          <a:bodyPr wrap="square" lIns="0" rIns="0" tIns="0" bIns="0" anchor="ctr">
            <a:spAutoFit/>
          </a:bodyPr>
          <a:lstStyle/>
          <a:p>
            <a:pPr algn="l"/>
            <a:r>
              <a:rPr b="0" sz="1200" i="0" u="none">
                <a:solidFill>
                  <a:srgbClr val="DC2626"/>
                </a:solidFill>
                <a:latin typeface="Plus Jakarta Sans ExtraBold"/>
              </a:rPr>
              <a:t>ε</a:t>
            </a:r>
          </a:p>
        </p:txBody>
      </p:sp>
      <p:sp>
        <p:nvSpPr>
          <p:cNvPr id="14" name="TextBox 13"/>
          <p:cNvSpPr txBox="1"/>
          <p:nvPr/>
        </p:nvSpPr>
        <p:spPr>
          <a:xfrm>
            <a:off x="828675" y="2578744"/>
            <a:ext cx="4953000" cy="180975"/>
          </a:xfrm>
          <a:prstGeom prst="rect">
            <a:avLst/>
          </a:prstGeom>
          <a:noFill/>
        </p:spPr>
        <p:txBody>
          <a:bodyPr wrap="square" lIns="0" rIns="0" tIns="0" bIns="0" anchor="t">
            <a:spAutoFit/>
          </a:bodyPr>
          <a:lstStyle/>
          <a:p>
            <a:pPr algn="l"/>
            <a:r>
              <a:rPr b="0" sz="1125" i="0" u="none">
                <a:solidFill>
                  <a:srgbClr val="475569"/>
                </a:solidFill>
                <a:latin typeface="Plus Jakarta Sans"/>
              </a:rPr>
              <a:t>How much mistake is tolerated.</a:t>
            </a:r>
          </a:p>
        </p:txBody>
      </p:sp>
      <p:sp>
        <p:nvSpPr>
          <p:cNvPr id="15" name="TextBox 14"/>
          <p:cNvSpPr txBox="1"/>
          <p:nvPr/>
        </p:nvSpPr>
        <p:spPr>
          <a:xfrm>
            <a:off x="6410325" y="2140594"/>
            <a:ext cx="4953000" cy="342900"/>
          </a:xfrm>
          <a:prstGeom prst="rect">
            <a:avLst/>
          </a:prstGeom>
          <a:noFill/>
        </p:spPr>
        <p:txBody>
          <a:bodyPr wrap="square" lIns="0" rIns="0" tIns="0" bIns="0" anchor="ctr">
            <a:spAutoFit/>
          </a:bodyPr>
          <a:lstStyle/>
          <a:p>
            <a:pPr algn="l"/>
            <a:r>
              <a:rPr b="0" sz="1200" i="0" u="none">
                <a:solidFill>
                  <a:srgbClr val="2563EB"/>
                </a:solidFill>
                <a:latin typeface="Plus Jakarta Sans ExtraBold"/>
              </a:rPr>
              <a:t>δ</a:t>
            </a:r>
          </a:p>
        </p:txBody>
      </p:sp>
      <p:sp>
        <p:nvSpPr>
          <p:cNvPr id="16" name="TextBox 15"/>
          <p:cNvSpPr txBox="1"/>
          <p:nvPr/>
        </p:nvSpPr>
        <p:spPr>
          <a:xfrm>
            <a:off x="6410325" y="2578744"/>
            <a:ext cx="4953000" cy="180975"/>
          </a:xfrm>
          <a:prstGeom prst="rect">
            <a:avLst/>
          </a:prstGeom>
          <a:noFill/>
        </p:spPr>
        <p:txBody>
          <a:bodyPr wrap="square" lIns="0" rIns="0" tIns="0" bIns="0" anchor="t">
            <a:spAutoFit/>
          </a:bodyPr>
          <a:lstStyle/>
          <a:p>
            <a:pPr algn="l"/>
            <a:r>
              <a:rPr b="0" sz="1125" i="0" u="none">
                <a:solidFill>
                  <a:srgbClr val="475569"/>
                </a:solidFill>
                <a:latin typeface="Plus Jakarta Sans"/>
              </a:rPr>
              <a:t>Risk of drawing bad training sample.</a:t>
            </a:r>
          </a:p>
        </p:txBody>
      </p:sp>
      <p:sp>
        <p:nvSpPr>
          <p:cNvPr id="17" name="TextBox 16"/>
          <p:cNvSpPr txBox="1"/>
          <p:nvPr/>
        </p:nvSpPr>
        <p:spPr>
          <a:xfrm>
            <a:off x="1069627" y="2202507"/>
            <a:ext cx="2200275" cy="219075"/>
          </a:xfrm>
          <a:prstGeom prst="rect">
            <a:avLst/>
          </a:prstGeom>
          <a:noFill/>
        </p:spPr>
        <p:txBody>
          <a:bodyPr wrap="square" lIns="0" rIns="0" tIns="0" bIns="0" anchor="t">
            <a:spAutoFit/>
          </a:bodyPr>
          <a:lstStyle/>
          <a:p>
            <a:pPr algn="l"/>
            <a:r>
              <a:rPr b="1" sz="1350" i="0" u="none">
                <a:solidFill>
                  <a:srgbClr val="0F172A"/>
                </a:solidFill>
                <a:latin typeface="Plus Jakarta Sans"/>
              </a:rPr>
              <a:t>Error Parameter (Epsilon)</a:t>
            </a:r>
          </a:p>
        </p:txBody>
      </p:sp>
      <p:sp>
        <p:nvSpPr>
          <p:cNvPr id="18" name="TextBox 17"/>
          <p:cNvSpPr txBox="1"/>
          <p:nvPr/>
        </p:nvSpPr>
        <p:spPr>
          <a:xfrm>
            <a:off x="6686401" y="2202507"/>
            <a:ext cx="2170271" cy="219075"/>
          </a:xfrm>
          <a:prstGeom prst="rect">
            <a:avLst/>
          </a:prstGeom>
          <a:noFill/>
        </p:spPr>
        <p:txBody>
          <a:bodyPr wrap="square" lIns="0" rIns="0" tIns="0" bIns="0" anchor="t">
            <a:spAutoFit/>
          </a:bodyPr>
          <a:lstStyle/>
          <a:p>
            <a:pPr algn="l"/>
            <a:r>
              <a:rPr b="1" sz="1350" i="0" u="none">
                <a:solidFill>
                  <a:srgbClr val="0F172A"/>
                </a:solidFill>
                <a:latin typeface="Plus Jakarta Sans"/>
              </a:rPr>
              <a:t>Failure Parameter (Delta)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055465"/>
            <a:ext cx="10972800" cy="712440"/>
          </a:xfrm>
          <a:prstGeom prst="rect">
            <a:avLst/>
          </a:prstGeom>
        </p:spPr>
      </p:pic>
      <p:pic>
        <p:nvPicPr>
          <p:cNvPr id="3" name="Picture 2" descr="image.png"/>
          <p:cNvPicPr>
            <a:picLocks noChangeAspect="1"/>
          </p:cNvPicPr>
          <p:nvPr/>
        </p:nvPicPr>
        <p:blipFill>
          <a:blip r:embed="rId3"/>
          <a:stretch>
            <a:fillRect/>
          </a:stretch>
        </p:blipFill>
        <p:spPr>
          <a:xfrm>
            <a:off x="609600" y="3880395"/>
            <a:ext cx="2455068" cy="952500"/>
          </a:xfrm>
          <a:prstGeom prst="rect">
            <a:avLst/>
          </a:prstGeom>
        </p:spPr>
      </p:pic>
      <p:pic>
        <p:nvPicPr>
          <p:cNvPr id="4" name="Picture 3" descr="image.png"/>
          <p:cNvPicPr>
            <a:picLocks noChangeAspect="1"/>
          </p:cNvPicPr>
          <p:nvPr/>
        </p:nvPicPr>
        <p:blipFill>
          <a:blip r:embed="rId4"/>
          <a:stretch>
            <a:fillRect/>
          </a:stretch>
        </p:blipFill>
        <p:spPr>
          <a:xfrm>
            <a:off x="3455193" y="3880395"/>
            <a:ext cx="2455068" cy="952500"/>
          </a:xfrm>
          <a:prstGeom prst="rect">
            <a:avLst/>
          </a:prstGeom>
        </p:spPr>
      </p:pic>
      <p:pic>
        <p:nvPicPr>
          <p:cNvPr id="5" name="Picture 4" descr="image.png"/>
          <p:cNvPicPr>
            <a:picLocks noChangeAspect="1"/>
          </p:cNvPicPr>
          <p:nvPr/>
        </p:nvPicPr>
        <p:blipFill>
          <a:blip r:embed="rId5"/>
          <a:stretch>
            <a:fillRect/>
          </a:stretch>
        </p:blipFill>
        <p:spPr>
          <a:xfrm>
            <a:off x="6291262" y="3880395"/>
            <a:ext cx="2455068" cy="952500"/>
          </a:xfrm>
          <a:prstGeom prst="rect">
            <a:avLst/>
          </a:prstGeom>
        </p:spPr>
      </p:pic>
      <p:pic>
        <p:nvPicPr>
          <p:cNvPr id="6" name="Picture 5" descr="image.png"/>
          <p:cNvPicPr>
            <a:picLocks noChangeAspect="1"/>
          </p:cNvPicPr>
          <p:nvPr/>
        </p:nvPicPr>
        <p:blipFill>
          <a:blip r:embed="rId6"/>
          <a:stretch>
            <a:fillRect/>
          </a:stretch>
        </p:blipFill>
        <p:spPr>
          <a:xfrm>
            <a:off x="9127331" y="3880395"/>
            <a:ext cx="2455068" cy="952500"/>
          </a:xfrm>
          <a:prstGeom prst="rect">
            <a:avLst/>
          </a:prstGeom>
        </p:spPr>
      </p:pic>
      <p:sp>
        <p:nvSpPr>
          <p:cNvPr id="7" name="Rectangle 6"/>
          <p:cNvSpPr/>
          <p:nvPr/>
        </p:nvSpPr>
        <p:spPr>
          <a:xfrm>
            <a:off x="609600" y="5945385"/>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950" y="6040635"/>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"Define noise simply: Any error or distortion in the data. Compare it to static on a radio channel: When static enters the radio, you can't hear the song clearly. Similarly, when noise enters data, the algorithm struggles to find the true pattern."</a:t>
            </a:r>
          </a:p>
        </p:txBody>
      </p:sp>
      <p:sp>
        <p:nvSpPr>
          <p:cNvPr id="9" name="Rectangle 8"/>
          <p:cNvSpPr/>
          <p:nvPr/>
        </p:nvSpPr>
        <p:spPr>
          <a:xfrm>
            <a:off x="609600" y="5945385"/>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DC2626"/>
                </a:solidFill>
                <a:latin typeface="Plus Jakarta Sans"/>
              </a:rPr>
              <a:t>SECTION 2 • NOISE IN MACHINE LEARNING</a:t>
            </a:r>
          </a:p>
        </p:txBody>
      </p:sp>
      <p:sp>
        <p:nvSpPr>
          <p:cNvPr id="11" name="TextBox 10"/>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What is Noise?</a:t>
            </a:r>
          </a:p>
        </p:txBody>
      </p:sp>
      <p:sp>
        <p:nvSpPr>
          <p:cNvPr id="12" name="TextBox 11"/>
          <p:cNvSpPr txBox="1"/>
          <p:nvPr/>
        </p:nvSpPr>
        <p:spPr>
          <a:xfrm>
            <a:off x="933450" y="2265015"/>
            <a:ext cx="10382250" cy="293340"/>
          </a:xfrm>
          <a:prstGeom prst="rect">
            <a:avLst/>
          </a:prstGeom>
          <a:noFill/>
        </p:spPr>
        <p:txBody>
          <a:bodyPr wrap="square" lIns="0" rIns="0" tIns="0" bIns="0" anchor="t">
            <a:spAutoFit/>
          </a:bodyPr>
          <a:lstStyle/>
          <a:p>
            <a:pPr algn="l">
              <a:lnSpc>
                <a:spcPts val="2310"/>
              </a:lnSpc>
            </a:pPr>
            <a:r>
              <a:rPr b="0" sz="1650" i="0" u="none">
                <a:solidFill>
                  <a:srgbClr val="0F172A"/>
                </a:solidFill>
                <a:latin typeface="Plus Jakarta Sans SemiBold"/>
              </a:rPr>
              <a:t>"Noise is unwanted, incorrect, or misleading information present in the dataset."</a:t>
            </a:r>
          </a:p>
        </p:txBody>
      </p:sp>
      <p:sp>
        <p:nvSpPr>
          <p:cNvPr id="13" name="TextBox 12"/>
          <p:cNvSpPr txBox="1"/>
          <p:nvPr/>
        </p:nvSpPr>
        <p:spPr>
          <a:xfrm>
            <a:off x="1656159" y="4080420"/>
            <a:ext cx="361950" cy="152400"/>
          </a:xfrm>
          <a:prstGeom prst="rect">
            <a:avLst/>
          </a:prstGeom>
          <a:noFill/>
        </p:spPr>
        <p:txBody>
          <a:bodyPr wrap="square" lIns="0" rIns="0" tIns="0" bIns="0" anchor="t">
            <a:spAutoFit/>
          </a:bodyPr>
          <a:lstStyle/>
          <a:p>
            <a:pPr algn="ctr"/>
            <a:r>
              <a:rPr b="1" sz="975" i="0" u="none">
                <a:solidFill>
                  <a:srgbClr val="16A34A"/>
                </a:solidFill>
                <a:latin typeface="Plus Jakarta Sans"/>
              </a:rPr>
              <a:t>STEP 1</a:t>
            </a:r>
          </a:p>
        </p:txBody>
      </p:sp>
      <p:sp>
        <p:nvSpPr>
          <p:cNvPr id="14" name="TextBox 13"/>
          <p:cNvSpPr txBox="1"/>
          <p:nvPr/>
        </p:nvSpPr>
        <p:spPr>
          <a:xfrm>
            <a:off x="718244" y="4280445"/>
            <a:ext cx="2237779" cy="200025"/>
          </a:xfrm>
          <a:prstGeom prst="rect">
            <a:avLst/>
          </a:prstGeom>
          <a:noFill/>
        </p:spPr>
        <p:txBody>
          <a:bodyPr wrap="square" lIns="0" rIns="0" tIns="0" bIns="0" anchor="t">
            <a:spAutoFit/>
          </a:bodyPr>
          <a:lstStyle/>
          <a:p>
            <a:pPr algn="ctr"/>
            <a:r>
              <a:rPr b="1" sz="1200" i="0" u="none">
                <a:solidFill>
                  <a:srgbClr val="0F172A"/>
                </a:solidFill>
                <a:latin typeface="Plus Jakarta Sans"/>
              </a:rPr>
              <a:t>Clean Data</a:t>
            </a:r>
          </a:p>
        </p:txBody>
      </p:sp>
      <p:sp>
        <p:nvSpPr>
          <p:cNvPr id="15" name="TextBox 14"/>
          <p:cNvSpPr txBox="1"/>
          <p:nvPr/>
        </p:nvSpPr>
        <p:spPr>
          <a:xfrm>
            <a:off x="771525" y="4518570"/>
            <a:ext cx="2131218" cy="152400"/>
          </a:xfrm>
          <a:prstGeom prst="rect">
            <a:avLst/>
          </a:prstGeom>
          <a:noFill/>
        </p:spPr>
        <p:txBody>
          <a:bodyPr wrap="square" lIns="0" rIns="0" tIns="0" bIns="0" anchor="t">
            <a:spAutoFit/>
          </a:bodyPr>
          <a:lstStyle/>
          <a:p>
            <a:pPr algn="ctr"/>
            <a:r>
              <a:rPr b="0" sz="975" i="0" u="none">
                <a:solidFill>
                  <a:srgbClr val="64748B"/>
                </a:solidFill>
                <a:latin typeface="Plus Jakarta Sans"/>
              </a:rPr>
              <a:t>True underlying patterns</a:t>
            </a:r>
          </a:p>
        </p:txBody>
      </p:sp>
      <p:pic>
        <p:nvPicPr>
          <p:cNvPr id="16" name="Picture 15" descr="image.png"/>
          <p:cNvPicPr>
            <a:picLocks noChangeAspect="1"/>
          </p:cNvPicPr>
          <p:nvPr/>
        </p:nvPicPr>
        <p:blipFill>
          <a:blip r:embed="rId7"/>
          <a:stretch>
            <a:fillRect/>
          </a:stretch>
        </p:blipFill>
        <p:spPr>
          <a:xfrm>
            <a:off x="3178968" y="4285208"/>
            <a:ext cx="161925" cy="171450"/>
          </a:xfrm>
          <a:prstGeom prst="rect">
            <a:avLst/>
          </a:prstGeom>
        </p:spPr>
      </p:pic>
      <p:sp>
        <p:nvSpPr>
          <p:cNvPr id="17" name="TextBox 16"/>
          <p:cNvSpPr txBox="1"/>
          <p:nvPr/>
        </p:nvSpPr>
        <p:spPr>
          <a:xfrm>
            <a:off x="4487465" y="4080420"/>
            <a:ext cx="390525" cy="152400"/>
          </a:xfrm>
          <a:prstGeom prst="rect">
            <a:avLst/>
          </a:prstGeom>
          <a:noFill/>
        </p:spPr>
        <p:txBody>
          <a:bodyPr wrap="square" lIns="0" rIns="0" tIns="0" bIns="0" anchor="t">
            <a:spAutoFit/>
          </a:bodyPr>
          <a:lstStyle/>
          <a:p>
            <a:pPr algn="ctr"/>
            <a:r>
              <a:rPr b="1" sz="975" i="0" u="none">
                <a:solidFill>
                  <a:srgbClr val="DC2626"/>
                </a:solidFill>
                <a:latin typeface="Plus Jakarta Sans"/>
              </a:rPr>
              <a:t>STEP 2</a:t>
            </a:r>
          </a:p>
        </p:txBody>
      </p:sp>
      <p:sp>
        <p:nvSpPr>
          <p:cNvPr id="18" name="TextBox 17"/>
          <p:cNvSpPr txBox="1"/>
          <p:nvPr/>
        </p:nvSpPr>
        <p:spPr>
          <a:xfrm>
            <a:off x="3563838" y="4280445"/>
            <a:ext cx="2237779" cy="200025"/>
          </a:xfrm>
          <a:prstGeom prst="rect">
            <a:avLst/>
          </a:prstGeom>
          <a:noFill/>
        </p:spPr>
        <p:txBody>
          <a:bodyPr wrap="square" lIns="0" rIns="0" tIns="0" bIns="0" anchor="t">
            <a:spAutoFit/>
          </a:bodyPr>
          <a:lstStyle/>
          <a:p>
            <a:pPr algn="ctr"/>
            <a:r>
              <a:rPr b="1" sz="1200" i="0" u="none">
                <a:solidFill>
                  <a:srgbClr val="0F172A"/>
                </a:solidFill>
                <a:latin typeface="Plus Jakarta Sans"/>
              </a:rPr>
              <a:t>Noise Injected</a:t>
            </a:r>
          </a:p>
        </p:txBody>
      </p:sp>
      <p:sp>
        <p:nvSpPr>
          <p:cNvPr id="19" name="TextBox 18"/>
          <p:cNvSpPr txBox="1"/>
          <p:nvPr/>
        </p:nvSpPr>
        <p:spPr>
          <a:xfrm>
            <a:off x="3617118" y="4518570"/>
            <a:ext cx="2131218" cy="152400"/>
          </a:xfrm>
          <a:prstGeom prst="rect">
            <a:avLst/>
          </a:prstGeom>
          <a:noFill/>
        </p:spPr>
        <p:txBody>
          <a:bodyPr wrap="square" lIns="0" rIns="0" tIns="0" bIns="0" anchor="t">
            <a:spAutoFit/>
          </a:bodyPr>
          <a:lstStyle/>
          <a:p>
            <a:pPr algn="ctr"/>
            <a:r>
              <a:rPr b="0" sz="975" i="0" u="none">
                <a:solidFill>
                  <a:srgbClr val="64748B"/>
                </a:solidFill>
                <a:latin typeface="Plus Jakarta Sans"/>
              </a:rPr>
              <a:t>Typos, faulty sensors</a:t>
            </a:r>
          </a:p>
        </p:txBody>
      </p:sp>
      <p:pic>
        <p:nvPicPr>
          <p:cNvPr id="20" name="Picture 19" descr="image.png"/>
          <p:cNvPicPr>
            <a:picLocks noChangeAspect="1"/>
          </p:cNvPicPr>
          <p:nvPr/>
        </p:nvPicPr>
        <p:blipFill>
          <a:blip r:embed="rId8"/>
          <a:stretch>
            <a:fillRect/>
          </a:stretch>
        </p:blipFill>
        <p:spPr>
          <a:xfrm>
            <a:off x="6024562" y="4285208"/>
            <a:ext cx="152400" cy="171450"/>
          </a:xfrm>
          <a:prstGeom prst="rect">
            <a:avLst/>
          </a:prstGeom>
        </p:spPr>
      </p:pic>
      <p:sp>
        <p:nvSpPr>
          <p:cNvPr id="21" name="TextBox 20"/>
          <p:cNvSpPr txBox="1"/>
          <p:nvPr/>
        </p:nvSpPr>
        <p:spPr>
          <a:xfrm>
            <a:off x="7323534" y="4080420"/>
            <a:ext cx="390525" cy="152400"/>
          </a:xfrm>
          <a:prstGeom prst="rect">
            <a:avLst/>
          </a:prstGeom>
          <a:noFill/>
        </p:spPr>
        <p:txBody>
          <a:bodyPr wrap="square" lIns="0" rIns="0" tIns="0" bIns="0" anchor="t">
            <a:spAutoFit/>
          </a:bodyPr>
          <a:lstStyle/>
          <a:p>
            <a:pPr algn="ctr"/>
            <a:r>
              <a:rPr b="1" sz="975" i="0" u="none">
                <a:solidFill>
                  <a:srgbClr val="D97706"/>
                </a:solidFill>
                <a:latin typeface="Plus Jakarta Sans"/>
              </a:rPr>
              <a:t>STEP 3</a:t>
            </a:r>
          </a:p>
        </p:txBody>
      </p:sp>
      <p:sp>
        <p:nvSpPr>
          <p:cNvPr id="22" name="TextBox 21"/>
          <p:cNvSpPr txBox="1"/>
          <p:nvPr/>
        </p:nvSpPr>
        <p:spPr>
          <a:xfrm>
            <a:off x="6399907" y="4280445"/>
            <a:ext cx="2237779" cy="200025"/>
          </a:xfrm>
          <a:prstGeom prst="rect">
            <a:avLst/>
          </a:prstGeom>
          <a:noFill/>
        </p:spPr>
        <p:txBody>
          <a:bodyPr wrap="square" lIns="0" rIns="0" tIns="0" bIns="0" anchor="t">
            <a:spAutoFit/>
          </a:bodyPr>
          <a:lstStyle/>
          <a:p>
            <a:pPr algn="ctr"/>
            <a:r>
              <a:rPr b="1" sz="1200" i="0" u="none">
                <a:solidFill>
                  <a:srgbClr val="0F172A"/>
                </a:solidFill>
                <a:latin typeface="Plus Jakarta Sans"/>
              </a:rPr>
              <a:t>Harder Learning</a:t>
            </a:r>
          </a:p>
        </p:txBody>
      </p:sp>
      <p:sp>
        <p:nvSpPr>
          <p:cNvPr id="23" name="TextBox 22"/>
          <p:cNvSpPr txBox="1"/>
          <p:nvPr/>
        </p:nvSpPr>
        <p:spPr>
          <a:xfrm>
            <a:off x="6453187" y="4518570"/>
            <a:ext cx="2131218" cy="152400"/>
          </a:xfrm>
          <a:prstGeom prst="rect">
            <a:avLst/>
          </a:prstGeom>
          <a:noFill/>
        </p:spPr>
        <p:txBody>
          <a:bodyPr wrap="square" lIns="0" rIns="0" tIns="0" bIns="0" anchor="t">
            <a:spAutoFit/>
          </a:bodyPr>
          <a:lstStyle/>
          <a:p>
            <a:pPr algn="ctr"/>
            <a:r>
              <a:rPr b="0" sz="975" i="0" u="none">
                <a:solidFill>
                  <a:srgbClr val="64748B"/>
                </a:solidFill>
                <a:latin typeface="Plus Jakarta Sans"/>
              </a:rPr>
              <a:t>Model gets confused</a:t>
            </a:r>
          </a:p>
        </p:txBody>
      </p:sp>
      <p:pic>
        <p:nvPicPr>
          <p:cNvPr id="24" name="Picture 23" descr="image.png"/>
          <p:cNvPicPr>
            <a:picLocks noChangeAspect="1"/>
          </p:cNvPicPr>
          <p:nvPr/>
        </p:nvPicPr>
        <p:blipFill>
          <a:blip r:embed="rId9"/>
          <a:stretch>
            <a:fillRect/>
          </a:stretch>
        </p:blipFill>
        <p:spPr>
          <a:xfrm>
            <a:off x="8860631" y="4285208"/>
            <a:ext cx="152400" cy="171450"/>
          </a:xfrm>
          <a:prstGeom prst="rect">
            <a:avLst/>
          </a:prstGeom>
        </p:spPr>
      </p:pic>
      <p:sp>
        <p:nvSpPr>
          <p:cNvPr id="25" name="TextBox 24"/>
          <p:cNvSpPr txBox="1"/>
          <p:nvPr/>
        </p:nvSpPr>
        <p:spPr>
          <a:xfrm>
            <a:off x="10131028" y="4080420"/>
            <a:ext cx="447675" cy="152400"/>
          </a:xfrm>
          <a:prstGeom prst="rect">
            <a:avLst/>
          </a:prstGeom>
          <a:noFill/>
        </p:spPr>
        <p:txBody>
          <a:bodyPr wrap="square" lIns="0" rIns="0" tIns="0" bIns="0" anchor="t">
            <a:spAutoFit/>
          </a:bodyPr>
          <a:lstStyle/>
          <a:p>
            <a:pPr algn="ctr"/>
            <a:r>
              <a:rPr b="1" sz="975" i="0" u="none">
                <a:solidFill>
                  <a:srgbClr val="DC2626"/>
                </a:solidFill>
                <a:latin typeface="Plus Jakarta Sans"/>
              </a:rPr>
              <a:t>RESULT</a:t>
            </a:r>
          </a:p>
        </p:txBody>
      </p:sp>
      <p:sp>
        <p:nvSpPr>
          <p:cNvPr id="26" name="TextBox 25"/>
          <p:cNvSpPr txBox="1"/>
          <p:nvPr/>
        </p:nvSpPr>
        <p:spPr>
          <a:xfrm>
            <a:off x="9235975" y="4280445"/>
            <a:ext cx="2237779" cy="200025"/>
          </a:xfrm>
          <a:prstGeom prst="rect">
            <a:avLst/>
          </a:prstGeom>
          <a:noFill/>
        </p:spPr>
        <p:txBody>
          <a:bodyPr wrap="square" lIns="0" rIns="0" tIns="0" bIns="0" anchor="t">
            <a:spAutoFit/>
          </a:bodyPr>
          <a:lstStyle/>
          <a:p>
            <a:pPr algn="ctr"/>
            <a:r>
              <a:rPr b="1" sz="1200" i="0" u="none">
                <a:solidFill>
                  <a:srgbClr val="991B1B"/>
                </a:solidFill>
                <a:latin typeface="Plus Jakarta Sans"/>
              </a:rPr>
              <a:t>Wrong Output</a:t>
            </a:r>
          </a:p>
        </p:txBody>
      </p:sp>
      <p:sp>
        <p:nvSpPr>
          <p:cNvPr id="27" name="TextBox 26"/>
          <p:cNvSpPr txBox="1"/>
          <p:nvPr/>
        </p:nvSpPr>
        <p:spPr>
          <a:xfrm>
            <a:off x="9289256" y="4518570"/>
            <a:ext cx="2131218" cy="152400"/>
          </a:xfrm>
          <a:prstGeom prst="rect">
            <a:avLst/>
          </a:prstGeom>
          <a:noFill/>
        </p:spPr>
        <p:txBody>
          <a:bodyPr wrap="square" lIns="0" rIns="0" tIns="0" bIns="0" anchor="t">
            <a:spAutoFit/>
          </a:bodyPr>
          <a:lstStyle/>
          <a:p>
            <a:pPr algn="ctr"/>
            <a:r>
              <a:rPr b="0" sz="975" i="0" u="none">
                <a:solidFill>
                  <a:srgbClr val="B91C1C"/>
                </a:solidFill>
                <a:latin typeface="Plus Jakarta Sans"/>
              </a:rPr>
              <a:t>Poor future accuracy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482304"/>
            <a:ext cx="3555950" cy="1924050"/>
          </a:xfrm>
          <a:prstGeom prst="rect">
            <a:avLst/>
          </a:prstGeom>
        </p:spPr>
      </p:pic>
      <p:pic>
        <p:nvPicPr>
          <p:cNvPr id="3" name="Picture 2" descr="image.png"/>
          <p:cNvPicPr>
            <a:picLocks noChangeAspect="1"/>
          </p:cNvPicPr>
          <p:nvPr/>
        </p:nvPicPr>
        <p:blipFill>
          <a:blip r:embed="rId3"/>
          <a:stretch>
            <a:fillRect/>
          </a:stretch>
        </p:blipFill>
        <p:spPr>
          <a:xfrm>
            <a:off x="4317950" y="2482304"/>
            <a:ext cx="3555950" cy="1924050"/>
          </a:xfrm>
          <a:prstGeom prst="rect">
            <a:avLst/>
          </a:prstGeom>
        </p:spPr>
      </p:pic>
      <p:pic>
        <p:nvPicPr>
          <p:cNvPr id="4" name="Picture 3" descr="image.png"/>
          <p:cNvPicPr>
            <a:picLocks noChangeAspect="1"/>
          </p:cNvPicPr>
          <p:nvPr/>
        </p:nvPicPr>
        <p:blipFill>
          <a:blip r:embed="rId4"/>
          <a:stretch>
            <a:fillRect/>
          </a:stretch>
        </p:blipFill>
        <p:spPr>
          <a:xfrm>
            <a:off x="8026300" y="2482304"/>
            <a:ext cx="3555950" cy="1924050"/>
          </a:xfrm>
          <a:prstGeom prst="rect">
            <a:avLst/>
          </a:prstGeom>
        </p:spPr>
      </p:pic>
      <p:pic>
        <p:nvPicPr>
          <p:cNvPr id="5" name="Picture 4" descr="image.png"/>
          <p:cNvPicPr>
            <a:picLocks noChangeAspect="1"/>
          </p:cNvPicPr>
          <p:nvPr/>
        </p:nvPicPr>
        <p:blipFill>
          <a:blip r:embed="rId5"/>
          <a:stretch>
            <a:fillRect/>
          </a:stretch>
        </p:blipFill>
        <p:spPr>
          <a:xfrm>
            <a:off x="809625" y="3749129"/>
            <a:ext cx="3155900" cy="457200"/>
          </a:xfrm>
          <a:prstGeom prst="rect">
            <a:avLst/>
          </a:prstGeom>
        </p:spPr>
      </p:pic>
      <p:pic>
        <p:nvPicPr>
          <p:cNvPr id="6" name="Picture 5" descr="image.png"/>
          <p:cNvPicPr>
            <a:picLocks noChangeAspect="1"/>
          </p:cNvPicPr>
          <p:nvPr/>
        </p:nvPicPr>
        <p:blipFill>
          <a:blip r:embed="rId6"/>
          <a:stretch>
            <a:fillRect/>
          </a:stretch>
        </p:blipFill>
        <p:spPr>
          <a:xfrm>
            <a:off x="4517975" y="3749129"/>
            <a:ext cx="3155900" cy="457200"/>
          </a:xfrm>
          <a:prstGeom prst="rect">
            <a:avLst/>
          </a:prstGeom>
        </p:spPr>
      </p:pic>
      <p:pic>
        <p:nvPicPr>
          <p:cNvPr id="7" name="Picture 6" descr="image.png"/>
          <p:cNvPicPr>
            <a:picLocks noChangeAspect="1"/>
          </p:cNvPicPr>
          <p:nvPr/>
        </p:nvPicPr>
        <p:blipFill>
          <a:blip r:embed="rId7"/>
          <a:stretch>
            <a:fillRect/>
          </a:stretch>
        </p:blipFill>
        <p:spPr>
          <a:xfrm>
            <a:off x="8226325" y="3749129"/>
            <a:ext cx="3155900" cy="457200"/>
          </a:xfrm>
          <a:prstGeom prst="rect">
            <a:avLst/>
          </a:prstGeom>
        </p:spPr>
      </p:pic>
      <p:sp>
        <p:nvSpPr>
          <p:cNvPr id="8" name="Rectangle 7"/>
          <p:cNvSpPr/>
          <p:nvPr/>
        </p:nvSpPr>
        <p:spPr>
          <a:xfrm>
            <a:off x="609600" y="594568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2950" y="604093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"Highlight the 3 sources: Feature noise (bad measurement like faulty thermometer), Label noise (human error during data tagging), and Hidden factors (missing information that wasn't recorded). Students must know all three."</a:t>
            </a:r>
          </a:p>
        </p:txBody>
      </p:sp>
      <p:sp>
        <p:nvSpPr>
          <p:cNvPr id="10" name="Rectangle 9"/>
          <p:cNvSpPr/>
          <p:nvPr/>
        </p:nvSpPr>
        <p:spPr>
          <a:xfrm>
            <a:off x="609600" y="594568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DC2626"/>
                </a:solidFill>
                <a:latin typeface="Plus Jakarta Sans"/>
              </a:rPr>
              <a:t>SECTION 2 • NOISE IN MACHINE LEARNING</a:t>
            </a:r>
          </a:p>
        </p:txBody>
      </p:sp>
      <p:sp>
        <p:nvSpPr>
          <p:cNvPr id="12" name="TextBox 11"/>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Three Common Sources of Noise</a:t>
            </a:r>
          </a:p>
        </p:txBody>
      </p:sp>
      <p:pic>
        <p:nvPicPr>
          <p:cNvPr id="13" name="Picture 12" descr="image.png"/>
          <p:cNvPicPr>
            <a:picLocks noChangeAspect="1"/>
          </p:cNvPicPr>
          <p:nvPr/>
        </p:nvPicPr>
        <p:blipFill>
          <a:blip r:embed="rId8"/>
          <a:stretch>
            <a:fillRect/>
          </a:stretch>
        </p:blipFill>
        <p:spPr>
          <a:xfrm>
            <a:off x="809625" y="2682329"/>
            <a:ext cx="381000" cy="381000"/>
          </a:xfrm>
          <a:prstGeom prst="rect">
            <a:avLst/>
          </a:prstGeom>
        </p:spPr>
      </p:pic>
      <p:sp>
        <p:nvSpPr>
          <p:cNvPr id="14" name="TextBox 13"/>
          <p:cNvSpPr txBox="1"/>
          <p:nvPr/>
        </p:nvSpPr>
        <p:spPr>
          <a:xfrm>
            <a:off x="809625" y="3177629"/>
            <a:ext cx="3313695" cy="209550"/>
          </a:xfrm>
          <a:prstGeom prst="rect">
            <a:avLst/>
          </a:prstGeom>
          <a:noFill/>
        </p:spPr>
        <p:txBody>
          <a:bodyPr wrap="square" lIns="0" rIns="0" tIns="0" bIns="0" anchor="t">
            <a:spAutoFit/>
          </a:bodyPr>
          <a:lstStyle/>
          <a:p>
            <a:pPr algn="l"/>
            <a:r>
              <a:rPr b="1" sz="1275" i="0" u="none">
                <a:solidFill>
                  <a:srgbClr val="0F172A"/>
                </a:solidFill>
                <a:latin typeface="Plus Jakarta Sans"/>
              </a:rPr>
              <a:t>1. Feature Noise</a:t>
            </a:r>
          </a:p>
        </p:txBody>
      </p:sp>
      <p:sp>
        <p:nvSpPr>
          <p:cNvPr id="15" name="TextBox 14"/>
          <p:cNvSpPr txBox="1"/>
          <p:nvPr/>
        </p:nvSpPr>
        <p:spPr>
          <a:xfrm>
            <a:off x="809625" y="3463379"/>
            <a:ext cx="3155900" cy="171450"/>
          </a:xfrm>
          <a:prstGeom prst="rect">
            <a:avLst/>
          </a:prstGeom>
          <a:noFill/>
        </p:spPr>
        <p:txBody>
          <a:bodyPr wrap="square" lIns="0" rIns="0" tIns="0" bIns="0" anchor="t">
            <a:spAutoFit/>
          </a:bodyPr>
          <a:lstStyle/>
          <a:p>
            <a:pPr algn="l"/>
            <a:r>
              <a:rPr b="0" sz="1050" i="0" u="none">
                <a:solidFill>
                  <a:srgbClr val="64748B"/>
                </a:solidFill>
                <a:latin typeface="Plus Jakarta Sans"/>
              </a:rPr>
              <a:t>Errors in measured inputs (x).</a:t>
            </a:r>
          </a:p>
        </p:txBody>
      </p:sp>
      <p:pic>
        <p:nvPicPr>
          <p:cNvPr id="16" name="Picture 15" descr="image.png"/>
          <p:cNvPicPr>
            <a:picLocks noChangeAspect="1"/>
          </p:cNvPicPr>
          <p:nvPr/>
        </p:nvPicPr>
        <p:blipFill>
          <a:blip r:embed="rId9"/>
          <a:stretch>
            <a:fillRect/>
          </a:stretch>
        </p:blipFill>
        <p:spPr>
          <a:xfrm>
            <a:off x="4517975" y="2682329"/>
            <a:ext cx="381000" cy="381000"/>
          </a:xfrm>
          <a:prstGeom prst="rect">
            <a:avLst/>
          </a:prstGeom>
        </p:spPr>
      </p:pic>
      <p:sp>
        <p:nvSpPr>
          <p:cNvPr id="17" name="TextBox 16"/>
          <p:cNvSpPr txBox="1"/>
          <p:nvPr/>
        </p:nvSpPr>
        <p:spPr>
          <a:xfrm>
            <a:off x="4517975" y="3177629"/>
            <a:ext cx="3313695" cy="209550"/>
          </a:xfrm>
          <a:prstGeom prst="rect">
            <a:avLst/>
          </a:prstGeom>
          <a:noFill/>
        </p:spPr>
        <p:txBody>
          <a:bodyPr wrap="square" lIns="0" rIns="0" tIns="0" bIns="0" anchor="t">
            <a:spAutoFit/>
          </a:bodyPr>
          <a:lstStyle/>
          <a:p>
            <a:pPr algn="l"/>
            <a:r>
              <a:rPr b="1" sz="1275" i="0" u="none">
                <a:solidFill>
                  <a:srgbClr val="0F172A"/>
                </a:solidFill>
                <a:latin typeface="Plus Jakarta Sans"/>
              </a:rPr>
              <a:t>2. Label Noise</a:t>
            </a:r>
          </a:p>
        </p:txBody>
      </p:sp>
      <p:sp>
        <p:nvSpPr>
          <p:cNvPr id="18" name="TextBox 17"/>
          <p:cNvSpPr txBox="1"/>
          <p:nvPr/>
        </p:nvSpPr>
        <p:spPr>
          <a:xfrm>
            <a:off x="4517975" y="3463379"/>
            <a:ext cx="3155900" cy="171450"/>
          </a:xfrm>
          <a:prstGeom prst="rect">
            <a:avLst/>
          </a:prstGeom>
          <a:noFill/>
        </p:spPr>
        <p:txBody>
          <a:bodyPr wrap="square" lIns="0" rIns="0" tIns="0" bIns="0" anchor="t">
            <a:spAutoFit/>
          </a:bodyPr>
          <a:lstStyle/>
          <a:p>
            <a:pPr algn="l"/>
            <a:r>
              <a:rPr b="0" sz="1050" i="0" u="none">
                <a:solidFill>
                  <a:srgbClr val="64748B"/>
                </a:solidFill>
                <a:latin typeface="Plus Jakarta Sans"/>
              </a:rPr>
              <a:t>Wrong teacher annotations (y).</a:t>
            </a:r>
          </a:p>
        </p:txBody>
      </p:sp>
      <p:pic>
        <p:nvPicPr>
          <p:cNvPr id="19" name="Picture 18" descr="image.png"/>
          <p:cNvPicPr>
            <a:picLocks noChangeAspect="1"/>
          </p:cNvPicPr>
          <p:nvPr/>
        </p:nvPicPr>
        <p:blipFill>
          <a:blip r:embed="rId10"/>
          <a:stretch>
            <a:fillRect/>
          </a:stretch>
        </p:blipFill>
        <p:spPr>
          <a:xfrm>
            <a:off x="8226325" y="2682329"/>
            <a:ext cx="381000" cy="381000"/>
          </a:xfrm>
          <a:prstGeom prst="rect">
            <a:avLst/>
          </a:prstGeom>
        </p:spPr>
      </p:pic>
      <p:sp>
        <p:nvSpPr>
          <p:cNvPr id="20" name="TextBox 19"/>
          <p:cNvSpPr txBox="1"/>
          <p:nvPr/>
        </p:nvSpPr>
        <p:spPr>
          <a:xfrm>
            <a:off x="8226325" y="3177629"/>
            <a:ext cx="3313695" cy="209550"/>
          </a:xfrm>
          <a:prstGeom prst="rect">
            <a:avLst/>
          </a:prstGeom>
          <a:noFill/>
        </p:spPr>
        <p:txBody>
          <a:bodyPr wrap="square" lIns="0" rIns="0" tIns="0" bIns="0" anchor="t">
            <a:spAutoFit/>
          </a:bodyPr>
          <a:lstStyle/>
          <a:p>
            <a:pPr algn="l"/>
            <a:r>
              <a:rPr b="1" sz="1275" i="0" u="none">
                <a:solidFill>
                  <a:srgbClr val="0F172A"/>
                </a:solidFill>
                <a:latin typeface="Plus Jakarta Sans"/>
              </a:rPr>
              <a:t>3. Hidden Factors</a:t>
            </a:r>
          </a:p>
        </p:txBody>
      </p:sp>
      <p:sp>
        <p:nvSpPr>
          <p:cNvPr id="21" name="TextBox 20"/>
          <p:cNvSpPr txBox="1"/>
          <p:nvPr/>
        </p:nvSpPr>
        <p:spPr>
          <a:xfrm>
            <a:off x="8226325" y="3463379"/>
            <a:ext cx="3155900" cy="171450"/>
          </a:xfrm>
          <a:prstGeom prst="rect">
            <a:avLst/>
          </a:prstGeom>
          <a:noFill/>
        </p:spPr>
        <p:txBody>
          <a:bodyPr wrap="square" lIns="0" rIns="0" tIns="0" bIns="0" anchor="t">
            <a:spAutoFit/>
          </a:bodyPr>
          <a:lstStyle/>
          <a:p>
            <a:pPr algn="l"/>
            <a:r>
              <a:rPr b="0" sz="1050" i="0" u="none">
                <a:solidFill>
                  <a:srgbClr val="64748B"/>
                </a:solidFill>
                <a:latin typeface="Plus Jakarta Sans"/>
              </a:rPr>
              <a:t>Unobserved critical variables.</a:t>
            </a:r>
          </a:p>
        </p:txBody>
      </p:sp>
      <p:pic>
        <p:nvPicPr>
          <p:cNvPr id="22" name="Picture 21" descr="image.png"/>
          <p:cNvPicPr>
            <a:picLocks noChangeAspect="1"/>
          </p:cNvPicPr>
          <p:nvPr/>
        </p:nvPicPr>
        <p:blipFill>
          <a:blip r:embed="rId11"/>
          <a:stretch>
            <a:fillRect/>
          </a:stretch>
        </p:blipFill>
        <p:spPr>
          <a:xfrm>
            <a:off x="914400" y="2787104"/>
            <a:ext cx="171450" cy="171450"/>
          </a:xfrm>
          <a:prstGeom prst="rect">
            <a:avLst/>
          </a:prstGeom>
        </p:spPr>
      </p:pic>
      <p:pic>
        <p:nvPicPr>
          <p:cNvPr id="23" name="Picture 22" descr="image.png"/>
          <p:cNvPicPr>
            <a:picLocks noChangeAspect="1"/>
          </p:cNvPicPr>
          <p:nvPr/>
        </p:nvPicPr>
        <p:blipFill>
          <a:blip r:embed="rId12"/>
          <a:stretch>
            <a:fillRect/>
          </a:stretch>
        </p:blipFill>
        <p:spPr>
          <a:xfrm>
            <a:off x="4632275" y="2787104"/>
            <a:ext cx="152400" cy="171450"/>
          </a:xfrm>
          <a:prstGeom prst="rect">
            <a:avLst/>
          </a:prstGeom>
        </p:spPr>
      </p:pic>
      <p:pic>
        <p:nvPicPr>
          <p:cNvPr id="24" name="Picture 23" descr="image.png"/>
          <p:cNvPicPr>
            <a:picLocks noChangeAspect="1"/>
          </p:cNvPicPr>
          <p:nvPr/>
        </p:nvPicPr>
        <p:blipFill>
          <a:blip r:embed="rId13"/>
          <a:stretch>
            <a:fillRect/>
          </a:stretch>
        </p:blipFill>
        <p:spPr>
          <a:xfrm>
            <a:off x="8307288" y="2787104"/>
            <a:ext cx="219075" cy="1714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665660"/>
            <a:ext cx="5391150" cy="1557337"/>
          </a:xfrm>
          <a:prstGeom prst="rect">
            <a:avLst/>
          </a:prstGeom>
        </p:spPr>
      </p:pic>
      <p:pic>
        <p:nvPicPr>
          <p:cNvPr id="3" name="Picture 2" descr="image.png"/>
          <p:cNvPicPr>
            <a:picLocks noChangeAspect="1"/>
          </p:cNvPicPr>
          <p:nvPr/>
        </p:nvPicPr>
        <p:blipFill>
          <a:blip r:embed="rId3"/>
          <a:stretch>
            <a:fillRect/>
          </a:stretch>
        </p:blipFill>
        <p:spPr>
          <a:xfrm>
            <a:off x="6191250" y="2663279"/>
            <a:ext cx="5391150" cy="1562100"/>
          </a:xfrm>
          <a:prstGeom prst="rect">
            <a:avLst/>
          </a:prstGeom>
        </p:spPr>
      </p:pic>
      <p:sp>
        <p:nvSpPr>
          <p:cNvPr id="4" name="Rectangle 3"/>
          <p:cNvSpPr/>
          <p:nvPr/>
        </p:nvSpPr>
        <p:spPr>
          <a:xfrm>
            <a:off x="609600" y="594568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604093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"Emphasize this core takeaway: If you force your algorithm to get 100% training accuracy on noisy data, it will memorize the mistakes. It's like a student memorizing typo errors from a notebook instead of understanding the concept."</a:t>
            </a:r>
          </a:p>
        </p:txBody>
      </p:sp>
      <p:sp>
        <p:nvSpPr>
          <p:cNvPr id="6" name="Rectangle 5"/>
          <p:cNvSpPr/>
          <p:nvPr/>
        </p:nvSpPr>
        <p:spPr>
          <a:xfrm>
            <a:off x="609600" y="594568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DC2626"/>
                </a:solidFill>
                <a:latin typeface="Plus Jakarta Sans"/>
              </a:rPr>
              <a:t>SECTION 2 • NOISE IN MACHINE LEARNING</a:t>
            </a:r>
          </a:p>
        </p:txBody>
      </p:sp>
      <p:sp>
        <p:nvSpPr>
          <p:cNvPr id="8" name="TextBox 7"/>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Why is Noise a Major Problem?</a:t>
            </a:r>
          </a:p>
        </p:txBody>
      </p:sp>
      <p:sp>
        <p:nvSpPr>
          <p:cNvPr id="9" name="TextBox 8"/>
          <p:cNvSpPr txBox="1"/>
          <p:nvPr/>
        </p:nvSpPr>
        <p:spPr>
          <a:xfrm>
            <a:off x="847725" y="2903785"/>
            <a:ext cx="5160645" cy="219075"/>
          </a:xfrm>
          <a:prstGeom prst="rect">
            <a:avLst/>
          </a:prstGeom>
          <a:noFill/>
        </p:spPr>
        <p:txBody>
          <a:bodyPr wrap="square" lIns="171450" rIns="0" tIns="0" bIns="0" anchor="t">
            <a:spAutoFit/>
          </a:bodyPr>
          <a:lstStyle/>
          <a:p>
            <a:pPr algn="l"/>
            <a:r>
              <a:rPr b="1" sz="1350" i="0" u="none">
                <a:solidFill>
                  <a:srgbClr val="DC2626"/>
                </a:solidFill>
                <a:latin typeface="Plus Jakarta Sans"/>
              </a:rPr>
              <a:t>Key Consequences</a:t>
            </a:r>
          </a:p>
        </p:txBody>
      </p:sp>
      <p:sp>
        <p:nvSpPr>
          <p:cNvPr id="10" name="TextBox 9"/>
          <p:cNvSpPr txBox="1"/>
          <p:nvPr/>
        </p:nvSpPr>
        <p:spPr>
          <a:xfrm>
            <a:off x="6429375" y="2901404"/>
            <a:ext cx="5160645" cy="219075"/>
          </a:xfrm>
          <a:prstGeom prst="rect">
            <a:avLst/>
          </a:prstGeom>
          <a:noFill/>
        </p:spPr>
        <p:txBody>
          <a:bodyPr wrap="square" lIns="171450" rIns="0" tIns="0" bIns="0" anchor="t">
            <a:spAutoFit/>
          </a:bodyPr>
          <a:lstStyle/>
          <a:p>
            <a:pPr algn="l"/>
            <a:r>
              <a:rPr b="1" sz="1350" i="0" u="none">
                <a:solidFill>
                  <a:srgbClr val="1E40AF"/>
                </a:solidFill>
                <a:latin typeface="Plus Jakarta Sans"/>
              </a:rPr>
              <a:t>Golden Rule for Students</a:t>
            </a:r>
          </a:p>
        </p:txBody>
      </p:sp>
      <p:sp>
        <p:nvSpPr>
          <p:cNvPr id="11" name="TextBox 10"/>
          <p:cNvSpPr txBox="1"/>
          <p:nvPr/>
        </p:nvSpPr>
        <p:spPr>
          <a:xfrm>
            <a:off x="6429375" y="3215729"/>
            <a:ext cx="4914900" cy="457200"/>
          </a:xfrm>
          <a:prstGeom prst="rect">
            <a:avLst/>
          </a:prstGeom>
          <a:noFill/>
        </p:spPr>
        <p:txBody>
          <a:bodyPr wrap="square" lIns="0" rIns="0" tIns="0" bIns="0" anchor="t">
            <a:spAutoFit/>
          </a:bodyPr>
          <a:lstStyle/>
          <a:p>
            <a:pPr algn="l">
              <a:lnSpc>
                <a:spcPts val="1800"/>
              </a:lnSpc>
            </a:pPr>
            <a:r>
              <a:rPr b="0" sz="1200" i="0" u="none">
                <a:solidFill>
                  <a:srgbClr val="1E3A8A"/>
                </a:solidFill>
                <a:latin typeface="Plus Jakarta Sans"/>
              </a:rPr>
              <a:t>A simple model that ignores noise is far superior to a complex model that tries to explain every single error point.</a:t>
            </a:r>
          </a:p>
        </p:txBody>
      </p:sp>
      <p:sp>
        <p:nvSpPr>
          <p:cNvPr id="12" name="TextBox 11"/>
          <p:cNvSpPr txBox="1"/>
          <p:nvPr/>
        </p:nvSpPr>
        <p:spPr>
          <a:xfrm>
            <a:off x="6429375" y="3806279"/>
            <a:ext cx="2714625" cy="171450"/>
          </a:xfrm>
          <a:prstGeom prst="rect">
            <a:avLst/>
          </a:prstGeom>
          <a:noFill/>
        </p:spPr>
        <p:txBody>
          <a:bodyPr wrap="square" lIns="0" rIns="0" tIns="0" bIns="0" anchor="t">
            <a:spAutoFit/>
          </a:bodyPr>
          <a:lstStyle/>
          <a:p>
            <a:pPr algn="l"/>
            <a:r>
              <a:rPr b="1" sz="1050" i="0" u="none">
                <a:solidFill>
                  <a:srgbClr val="2563EB"/>
                </a:solidFill>
                <a:latin typeface="Plus Jakarta Sans"/>
              </a:rPr>
              <a:t>→ Simplicity prevents overfitting to noise!</a:t>
            </a:r>
          </a:p>
        </p:txBody>
      </p:sp>
      <p:pic>
        <p:nvPicPr>
          <p:cNvPr id="13" name="Picture 12" descr="image.png"/>
          <p:cNvPicPr>
            <a:picLocks noChangeAspect="1"/>
          </p:cNvPicPr>
          <p:nvPr/>
        </p:nvPicPr>
        <p:blipFill>
          <a:blip r:embed="rId4"/>
          <a:stretch>
            <a:fillRect/>
          </a:stretch>
        </p:blipFill>
        <p:spPr>
          <a:xfrm>
            <a:off x="847725" y="2941885"/>
            <a:ext cx="171450" cy="171450"/>
          </a:xfrm>
          <a:prstGeom prst="rect">
            <a:avLst/>
          </a:prstGeom>
        </p:spPr>
      </p:pic>
      <p:sp>
        <p:nvSpPr>
          <p:cNvPr id="14" name="TextBox 13"/>
          <p:cNvSpPr txBox="1"/>
          <p:nvPr/>
        </p:nvSpPr>
        <p:spPr>
          <a:xfrm>
            <a:off x="962025" y="3253829"/>
            <a:ext cx="76200" cy="247650"/>
          </a:xfrm>
          <a:prstGeom prst="rect">
            <a:avLst/>
          </a:prstGeom>
          <a:noFill/>
        </p:spPr>
        <p:txBody>
          <a:bodyPr wrap="square" lIns="0" rIns="0" tIns="0" bIns="0" anchor="t">
            <a:spAutoFit/>
          </a:bodyPr>
          <a:lstStyle/>
          <a:p>
            <a:pPr algn="l"/>
            <a:r>
              <a:rPr b="0" sz="1125" i="0" u="none">
                <a:solidFill>
                  <a:srgbClr val="334155"/>
                </a:solidFill>
                <a:latin typeface="Plus Jakarta Sans"/>
              </a:rPr>
              <a:t>•</a:t>
            </a:r>
          </a:p>
        </p:txBody>
      </p:sp>
      <p:sp>
        <p:nvSpPr>
          <p:cNvPr id="15" name="TextBox 14"/>
          <p:cNvSpPr txBox="1"/>
          <p:nvPr/>
        </p:nvSpPr>
        <p:spPr>
          <a:xfrm>
            <a:off x="1038225" y="3256210"/>
            <a:ext cx="4724400" cy="242887"/>
          </a:xfrm>
          <a:prstGeom prst="rect">
            <a:avLst/>
          </a:prstGeom>
          <a:noFill/>
        </p:spPr>
        <p:txBody>
          <a:bodyPr wrap="square" lIns="76200" rIns="0" tIns="0" bIns="0" anchor="t">
            <a:spAutoFit/>
          </a:bodyPr>
          <a:lstStyle/>
          <a:p>
            <a:pPr algn="l">
              <a:lnSpc>
                <a:spcPts val="1912"/>
              </a:lnSpc>
            </a:pPr>
            <a:r>
              <a:rPr b="1" sz="1125" i="0" u="none">
                <a:solidFill>
                  <a:srgbClr val="334155"/>
                </a:solidFill>
                <a:latin typeface="Plus Jakarta Sans"/>
              </a:rPr>
              <a:t>Over-complexity:</a:t>
            </a:r>
            <a:r>
              <a:rPr b="0" sz="1125" i="0" u="none">
                <a:solidFill>
                  <a:srgbClr val="334155"/>
                </a:solidFill>
                <a:latin typeface="Plus Jakarta Sans"/>
              </a:rPr>
              <a:t> Model invents weird rules to fit noisy points.</a:t>
            </a:r>
          </a:p>
        </p:txBody>
      </p:sp>
      <p:sp>
        <p:nvSpPr>
          <p:cNvPr id="16" name="TextBox 15"/>
          <p:cNvSpPr txBox="1"/>
          <p:nvPr/>
        </p:nvSpPr>
        <p:spPr>
          <a:xfrm>
            <a:off x="962025" y="3496716"/>
            <a:ext cx="76200" cy="247650"/>
          </a:xfrm>
          <a:prstGeom prst="rect">
            <a:avLst/>
          </a:prstGeom>
          <a:noFill/>
        </p:spPr>
        <p:txBody>
          <a:bodyPr wrap="square" lIns="0" rIns="0" tIns="0" bIns="0" anchor="t">
            <a:spAutoFit/>
          </a:bodyPr>
          <a:lstStyle/>
          <a:p>
            <a:pPr algn="l"/>
            <a:r>
              <a:rPr b="0" sz="1125" i="0" u="none">
                <a:solidFill>
                  <a:srgbClr val="334155"/>
                </a:solidFill>
                <a:latin typeface="Plus Jakarta Sans"/>
              </a:rPr>
              <a:t>•</a:t>
            </a:r>
          </a:p>
        </p:txBody>
      </p:sp>
      <p:sp>
        <p:nvSpPr>
          <p:cNvPr id="17" name="TextBox 16"/>
          <p:cNvSpPr txBox="1"/>
          <p:nvPr/>
        </p:nvSpPr>
        <p:spPr>
          <a:xfrm>
            <a:off x="1038225" y="3499098"/>
            <a:ext cx="4724400" cy="242887"/>
          </a:xfrm>
          <a:prstGeom prst="rect">
            <a:avLst/>
          </a:prstGeom>
          <a:noFill/>
        </p:spPr>
        <p:txBody>
          <a:bodyPr wrap="square" lIns="76200" rIns="0" tIns="0" bIns="0" anchor="t">
            <a:spAutoFit/>
          </a:bodyPr>
          <a:lstStyle/>
          <a:p>
            <a:pPr algn="l">
              <a:lnSpc>
                <a:spcPts val="1912"/>
              </a:lnSpc>
            </a:pPr>
            <a:r>
              <a:rPr b="1" sz="1125" i="0" u="none">
                <a:solidFill>
                  <a:srgbClr val="334155"/>
                </a:solidFill>
                <a:latin typeface="Plus Jakarta Sans"/>
              </a:rPr>
              <a:t>Memorization:</a:t>
            </a:r>
            <a:r>
              <a:rPr b="0" sz="1125" i="0" u="none">
                <a:solidFill>
                  <a:srgbClr val="334155"/>
                </a:solidFill>
                <a:latin typeface="Plus Jakarta Sans"/>
              </a:rPr>
              <a:t> Model learns random errors instead of patterns.</a:t>
            </a:r>
          </a:p>
        </p:txBody>
      </p:sp>
      <p:sp>
        <p:nvSpPr>
          <p:cNvPr id="18" name="TextBox 17"/>
          <p:cNvSpPr txBox="1"/>
          <p:nvPr/>
        </p:nvSpPr>
        <p:spPr>
          <a:xfrm>
            <a:off x="962025" y="3739604"/>
            <a:ext cx="76200" cy="247650"/>
          </a:xfrm>
          <a:prstGeom prst="rect">
            <a:avLst/>
          </a:prstGeom>
          <a:noFill/>
        </p:spPr>
        <p:txBody>
          <a:bodyPr wrap="square" lIns="0" rIns="0" tIns="0" bIns="0" anchor="t">
            <a:spAutoFit/>
          </a:bodyPr>
          <a:lstStyle/>
          <a:p>
            <a:pPr algn="l"/>
            <a:r>
              <a:rPr b="0" sz="1125" i="0" u="none">
                <a:solidFill>
                  <a:srgbClr val="334155"/>
                </a:solidFill>
                <a:latin typeface="Plus Jakarta Sans"/>
              </a:rPr>
              <a:t>•</a:t>
            </a:r>
          </a:p>
        </p:txBody>
      </p:sp>
      <p:sp>
        <p:nvSpPr>
          <p:cNvPr id="19" name="TextBox 18"/>
          <p:cNvSpPr txBox="1"/>
          <p:nvPr/>
        </p:nvSpPr>
        <p:spPr>
          <a:xfrm>
            <a:off x="1038225" y="3741985"/>
            <a:ext cx="4724400" cy="242887"/>
          </a:xfrm>
          <a:prstGeom prst="rect">
            <a:avLst/>
          </a:prstGeom>
          <a:noFill/>
        </p:spPr>
        <p:txBody>
          <a:bodyPr wrap="square" lIns="76200" rIns="0" tIns="0" bIns="0" anchor="t">
            <a:spAutoFit/>
          </a:bodyPr>
          <a:lstStyle/>
          <a:p>
            <a:pPr algn="l">
              <a:lnSpc>
                <a:spcPts val="1912"/>
              </a:lnSpc>
            </a:pPr>
            <a:r>
              <a:rPr b="1" sz="1125" i="0" u="none">
                <a:solidFill>
                  <a:srgbClr val="334155"/>
                </a:solidFill>
                <a:latin typeface="Plus Jakarta Sans"/>
              </a:rPr>
              <a:t>Poor generalization:</a:t>
            </a:r>
            <a:r>
              <a:rPr b="0" sz="1125" i="0" u="none">
                <a:solidFill>
                  <a:srgbClr val="334155"/>
                </a:solidFill>
                <a:latin typeface="Plus Jakarta Sans"/>
              </a:rPr>
              <a:t> Fails when tested on clean, real-world data.</a:t>
            </a:r>
          </a:p>
        </p:txBody>
      </p:sp>
      <p:pic>
        <p:nvPicPr>
          <p:cNvPr id="20" name="Picture 19" descr="image.png"/>
          <p:cNvPicPr>
            <a:picLocks noChangeAspect="1"/>
          </p:cNvPicPr>
          <p:nvPr/>
        </p:nvPicPr>
        <p:blipFill>
          <a:blip r:embed="rId5"/>
          <a:stretch>
            <a:fillRect/>
          </a:stretch>
        </p:blipFill>
        <p:spPr>
          <a:xfrm>
            <a:off x="6429375" y="2939504"/>
            <a:ext cx="171450" cy="17145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382291"/>
            <a:ext cx="5372100" cy="2124075"/>
          </a:xfrm>
          <a:prstGeom prst="rect">
            <a:avLst/>
          </a:prstGeom>
        </p:spPr>
      </p:pic>
      <p:pic>
        <p:nvPicPr>
          <p:cNvPr id="3" name="Picture 2" descr="image.png"/>
          <p:cNvPicPr>
            <a:picLocks noChangeAspect="1"/>
          </p:cNvPicPr>
          <p:nvPr/>
        </p:nvPicPr>
        <p:blipFill>
          <a:blip r:embed="rId3"/>
          <a:stretch>
            <a:fillRect/>
          </a:stretch>
        </p:blipFill>
        <p:spPr>
          <a:xfrm>
            <a:off x="6210300" y="2382291"/>
            <a:ext cx="5372100" cy="2124075"/>
          </a:xfrm>
          <a:prstGeom prst="rect">
            <a:avLst/>
          </a:prstGeom>
        </p:spPr>
      </p:pic>
      <p:pic>
        <p:nvPicPr>
          <p:cNvPr id="4" name="Picture 3" descr="image.png"/>
          <p:cNvPicPr>
            <a:picLocks noChangeAspect="1"/>
          </p:cNvPicPr>
          <p:nvPr/>
        </p:nvPicPr>
        <p:blipFill>
          <a:blip r:embed="rId4"/>
          <a:stretch>
            <a:fillRect/>
          </a:stretch>
        </p:blipFill>
        <p:spPr>
          <a:xfrm>
            <a:off x="847725" y="3572916"/>
            <a:ext cx="2400300" cy="428625"/>
          </a:xfrm>
          <a:prstGeom prst="rect">
            <a:avLst/>
          </a:prstGeom>
        </p:spPr>
      </p:pic>
      <p:pic>
        <p:nvPicPr>
          <p:cNvPr id="5" name="Picture 4" descr="image.png"/>
          <p:cNvPicPr>
            <a:picLocks noChangeAspect="1"/>
          </p:cNvPicPr>
          <p:nvPr/>
        </p:nvPicPr>
        <p:blipFill>
          <a:blip r:embed="rId5"/>
          <a:stretch>
            <a:fillRect/>
          </a:stretch>
        </p:blipFill>
        <p:spPr>
          <a:xfrm>
            <a:off x="3343275" y="3572916"/>
            <a:ext cx="2400300" cy="428625"/>
          </a:xfrm>
          <a:prstGeom prst="rect">
            <a:avLst/>
          </a:prstGeom>
        </p:spPr>
      </p:pic>
      <p:pic>
        <p:nvPicPr>
          <p:cNvPr id="6" name="Picture 5" descr="image.png"/>
          <p:cNvPicPr>
            <a:picLocks noChangeAspect="1"/>
          </p:cNvPicPr>
          <p:nvPr/>
        </p:nvPicPr>
        <p:blipFill>
          <a:blip r:embed="rId6"/>
          <a:stretch>
            <a:fillRect/>
          </a:stretch>
        </p:blipFill>
        <p:spPr>
          <a:xfrm>
            <a:off x="6448425" y="3572916"/>
            <a:ext cx="1568499" cy="428625"/>
          </a:xfrm>
          <a:prstGeom prst="rect">
            <a:avLst/>
          </a:prstGeom>
        </p:spPr>
      </p:pic>
      <p:pic>
        <p:nvPicPr>
          <p:cNvPr id="7" name="Picture 6" descr="image.png"/>
          <p:cNvPicPr>
            <a:picLocks noChangeAspect="1"/>
          </p:cNvPicPr>
          <p:nvPr/>
        </p:nvPicPr>
        <p:blipFill>
          <a:blip r:embed="rId7"/>
          <a:stretch>
            <a:fillRect/>
          </a:stretch>
        </p:blipFill>
        <p:spPr>
          <a:xfrm>
            <a:off x="8112174" y="3572916"/>
            <a:ext cx="1568499" cy="428625"/>
          </a:xfrm>
          <a:prstGeom prst="rect">
            <a:avLst/>
          </a:prstGeom>
        </p:spPr>
      </p:pic>
      <p:pic>
        <p:nvPicPr>
          <p:cNvPr id="8" name="Picture 7" descr="image.png"/>
          <p:cNvPicPr>
            <a:picLocks noChangeAspect="1"/>
          </p:cNvPicPr>
          <p:nvPr/>
        </p:nvPicPr>
        <p:blipFill>
          <a:blip r:embed="rId8"/>
          <a:stretch>
            <a:fillRect/>
          </a:stretch>
        </p:blipFill>
        <p:spPr>
          <a:xfrm>
            <a:off x="9775924" y="3572916"/>
            <a:ext cx="1568499" cy="428625"/>
          </a:xfrm>
          <a:prstGeom prst="rect">
            <a:avLst/>
          </a:prstGeom>
        </p:spPr>
      </p:pic>
      <p:sp>
        <p:nvSpPr>
          <p:cNvPr id="9" name="Rectangle 8"/>
          <p:cNvSpPr/>
          <p:nvPr/>
        </p:nvSpPr>
        <p:spPr>
          <a:xfrm>
            <a:off x="609600" y="594568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604093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"Start by asking: 'So far we classified Yes or No. But what if we want to classify an animal into Cat, Dog, or Bird?' Explain that most basic algorithms are built for 2 classes. To handle 3 or more classes, we use two simple strategies: One-vs-Rest and One-vs-One."</a:t>
            </a:r>
          </a:p>
        </p:txBody>
      </p:sp>
      <p:sp>
        <p:nvSpPr>
          <p:cNvPr id="11" name="Rectangle 10"/>
          <p:cNvSpPr/>
          <p:nvPr/>
        </p:nvSpPr>
        <p:spPr>
          <a:xfrm>
            <a:off x="609600" y="594568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16A34A"/>
                </a:solidFill>
                <a:latin typeface="Plus Jakarta Sans"/>
              </a:rPr>
              <a:t>SECTION 3 • LEARNING MULTIPLE CLASSES</a:t>
            </a:r>
          </a:p>
        </p:txBody>
      </p:sp>
      <p:sp>
        <p:nvSpPr>
          <p:cNvPr id="13" name="TextBox 12"/>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Binary vs. Multi-Class Classification</a:t>
            </a:r>
          </a:p>
        </p:txBody>
      </p:sp>
      <p:sp>
        <p:nvSpPr>
          <p:cNvPr id="14" name="TextBox 13"/>
          <p:cNvSpPr txBox="1"/>
          <p:nvPr/>
        </p:nvSpPr>
        <p:spPr>
          <a:xfrm>
            <a:off x="847725" y="2658516"/>
            <a:ext cx="762000" cy="152400"/>
          </a:xfrm>
          <a:prstGeom prst="rect">
            <a:avLst/>
          </a:prstGeom>
          <a:noFill/>
        </p:spPr>
        <p:txBody>
          <a:bodyPr wrap="square" lIns="0" rIns="0" tIns="0" bIns="0" anchor="t">
            <a:spAutoFit/>
          </a:bodyPr>
          <a:lstStyle/>
          <a:p>
            <a:pPr algn="l"/>
            <a:r>
              <a:rPr b="1" sz="975" i="0" u="none">
                <a:solidFill>
                  <a:srgbClr val="2563EB"/>
                </a:solidFill>
                <a:latin typeface="Plus Jakarta Sans"/>
              </a:rPr>
              <a:t>SCENARIO A</a:t>
            </a:r>
          </a:p>
        </p:txBody>
      </p:sp>
      <p:sp>
        <p:nvSpPr>
          <p:cNvPr id="15" name="TextBox 14"/>
          <p:cNvSpPr txBox="1"/>
          <p:nvPr/>
        </p:nvSpPr>
        <p:spPr>
          <a:xfrm>
            <a:off x="847725" y="2858541"/>
            <a:ext cx="5140642" cy="266700"/>
          </a:xfrm>
          <a:prstGeom prst="rect">
            <a:avLst/>
          </a:prstGeom>
          <a:noFill/>
        </p:spPr>
        <p:txBody>
          <a:bodyPr wrap="square" lIns="0" rIns="0" tIns="0" bIns="0" anchor="t">
            <a:spAutoFit/>
          </a:bodyPr>
          <a:lstStyle/>
          <a:p>
            <a:pPr algn="l"/>
            <a:r>
              <a:rPr b="1" sz="1650" i="0" u="none">
                <a:solidFill>
                  <a:srgbClr val="0F172A"/>
                </a:solidFill>
                <a:latin typeface="Plus Jakarta Sans"/>
              </a:rPr>
              <a:t>Binary Classification</a:t>
            </a:r>
          </a:p>
        </p:txBody>
      </p:sp>
      <p:sp>
        <p:nvSpPr>
          <p:cNvPr id="16" name="TextBox 15"/>
          <p:cNvSpPr txBox="1"/>
          <p:nvPr/>
        </p:nvSpPr>
        <p:spPr>
          <a:xfrm>
            <a:off x="847725" y="3239541"/>
            <a:ext cx="4895850" cy="180975"/>
          </a:xfrm>
          <a:prstGeom prst="rect">
            <a:avLst/>
          </a:prstGeom>
          <a:noFill/>
        </p:spPr>
        <p:txBody>
          <a:bodyPr wrap="square" lIns="0" rIns="0" tIns="0" bIns="0" anchor="t">
            <a:spAutoFit/>
          </a:bodyPr>
          <a:lstStyle/>
          <a:p>
            <a:pPr algn="l"/>
            <a:r>
              <a:rPr b="0" sz="1125" i="0" u="none">
                <a:solidFill>
                  <a:srgbClr val="64748B"/>
                </a:solidFill>
                <a:latin typeface="Plus Jakarta Sans"/>
              </a:rPr>
              <a:t>Only </a:t>
            </a:r>
            <a:r>
              <a:rPr b="1" sz="1125" i="0" u="none">
                <a:solidFill>
                  <a:srgbClr val="64748B"/>
                </a:solidFill>
                <a:latin typeface="Plus Jakarta Sans"/>
              </a:rPr>
              <a:t>2 possible outcomes</a:t>
            </a:r>
            <a:r>
              <a:rPr b="0" sz="1125" i="0" u="none">
                <a:solidFill>
                  <a:srgbClr val="64748B"/>
                </a:solidFill>
                <a:latin typeface="Plus Jakarta Sans"/>
              </a:rPr>
              <a:t>.</a:t>
            </a:r>
          </a:p>
        </p:txBody>
      </p:sp>
      <p:sp>
        <p:nvSpPr>
          <p:cNvPr id="17" name="TextBox 16"/>
          <p:cNvSpPr txBox="1"/>
          <p:nvPr/>
        </p:nvSpPr>
        <p:spPr>
          <a:xfrm>
            <a:off x="847725" y="4115841"/>
            <a:ext cx="4895850" cy="152400"/>
          </a:xfrm>
          <a:prstGeom prst="rect">
            <a:avLst/>
          </a:prstGeom>
          <a:noFill/>
        </p:spPr>
        <p:txBody>
          <a:bodyPr wrap="square" lIns="0" rIns="0" tIns="0" bIns="0" anchor="t">
            <a:spAutoFit/>
          </a:bodyPr>
          <a:lstStyle/>
          <a:p>
            <a:pPr algn="l"/>
            <a:r>
              <a:rPr b="0" sz="975" i="0" u="none">
                <a:solidFill>
                  <a:srgbClr val="64748B"/>
                </a:solidFill>
                <a:latin typeface="Plus Jakarta Sans"/>
              </a:rPr>
              <a:t>Examples: Spam vs Not Spam • Pass vs Fail</a:t>
            </a:r>
          </a:p>
        </p:txBody>
      </p:sp>
      <p:sp>
        <p:nvSpPr>
          <p:cNvPr id="18" name="TextBox 17"/>
          <p:cNvSpPr txBox="1"/>
          <p:nvPr/>
        </p:nvSpPr>
        <p:spPr>
          <a:xfrm>
            <a:off x="6448425" y="2658516"/>
            <a:ext cx="762000" cy="152400"/>
          </a:xfrm>
          <a:prstGeom prst="rect">
            <a:avLst/>
          </a:prstGeom>
          <a:noFill/>
        </p:spPr>
        <p:txBody>
          <a:bodyPr wrap="square" lIns="0" rIns="0" tIns="0" bIns="0" anchor="t">
            <a:spAutoFit/>
          </a:bodyPr>
          <a:lstStyle/>
          <a:p>
            <a:pPr algn="l"/>
            <a:r>
              <a:rPr b="1" sz="975" i="0" u="none">
                <a:solidFill>
                  <a:srgbClr val="16A34A"/>
                </a:solidFill>
                <a:latin typeface="Plus Jakarta Sans"/>
              </a:rPr>
              <a:t>SCENARIO B</a:t>
            </a:r>
          </a:p>
        </p:txBody>
      </p:sp>
      <p:sp>
        <p:nvSpPr>
          <p:cNvPr id="19" name="TextBox 18"/>
          <p:cNvSpPr txBox="1"/>
          <p:nvPr/>
        </p:nvSpPr>
        <p:spPr>
          <a:xfrm>
            <a:off x="6448425" y="2858541"/>
            <a:ext cx="5140642" cy="266700"/>
          </a:xfrm>
          <a:prstGeom prst="rect">
            <a:avLst/>
          </a:prstGeom>
          <a:noFill/>
        </p:spPr>
        <p:txBody>
          <a:bodyPr wrap="square" lIns="0" rIns="0" tIns="0" bIns="0" anchor="t">
            <a:spAutoFit/>
          </a:bodyPr>
          <a:lstStyle/>
          <a:p>
            <a:pPr algn="l"/>
            <a:r>
              <a:rPr b="1" sz="1650" i="0" u="none">
                <a:solidFill>
                  <a:srgbClr val="0F172A"/>
                </a:solidFill>
                <a:latin typeface="Plus Jakarta Sans"/>
              </a:rPr>
              <a:t>Multi-Class Classification</a:t>
            </a:r>
          </a:p>
        </p:txBody>
      </p:sp>
      <p:sp>
        <p:nvSpPr>
          <p:cNvPr id="20" name="TextBox 19"/>
          <p:cNvSpPr txBox="1"/>
          <p:nvPr/>
        </p:nvSpPr>
        <p:spPr>
          <a:xfrm>
            <a:off x="6448425" y="3239541"/>
            <a:ext cx="4895850" cy="180975"/>
          </a:xfrm>
          <a:prstGeom prst="rect">
            <a:avLst/>
          </a:prstGeom>
          <a:noFill/>
        </p:spPr>
        <p:txBody>
          <a:bodyPr wrap="square" lIns="0" rIns="0" tIns="0" bIns="0" anchor="t">
            <a:spAutoFit/>
          </a:bodyPr>
          <a:lstStyle/>
          <a:p>
            <a:pPr algn="l"/>
            <a:r>
              <a:rPr b="1" sz="1125" i="0" u="none">
                <a:solidFill>
                  <a:srgbClr val="64748B"/>
                </a:solidFill>
                <a:latin typeface="Plus Jakarta Sans"/>
              </a:rPr>
              <a:t>3 or more distinct classes</a:t>
            </a:r>
            <a:r>
              <a:rPr b="0" sz="1125" i="0" u="none">
                <a:solidFill>
                  <a:srgbClr val="64748B"/>
                </a:solidFill>
                <a:latin typeface="Plus Jakarta Sans"/>
              </a:rPr>
              <a:t> (K ≥ 3).</a:t>
            </a:r>
          </a:p>
        </p:txBody>
      </p:sp>
      <p:sp>
        <p:nvSpPr>
          <p:cNvPr id="21" name="TextBox 20"/>
          <p:cNvSpPr txBox="1"/>
          <p:nvPr/>
        </p:nvSpPr>
        <p:spPr>
          <a:xfrm>
            <a:off x="6448425" y="4115841"/>
            <a:ext cx="4895850" cy="152400"/>
          </a:xfrm>
          <a:prstGeom prst="rect">
            <a:avLst/>
          </a:prstGeom>
          <a:noFill/>
        </p:spPr>
        <p:txBody>
          <a:bodyPr wrap="square" lIns="0" rIns="0" tIns="0" bIns="0" anchor="t">
            <a:spAutoFit/>
          </a:bodyPr>
          <a:lstStyle/>
          <a:p>
            <a:pPr algn="l"/>
            <a:r>
              <a:rPr b="0" sz="975" i="0" u="none">
                <a:solidFill>
                  <a:srgbClr val="64748B"/>
                </a:solidFill>
                <a:latin typeface="Plus Jakarta Sans"/>
              </a:rPr>
              <a:t>Question: How do we solve this using simple 2-way classifiers?</a:t>
            </a:r>
          </a:p>
        </p:txBody>
      </p:sp>
      <p:pic>
        <p:nvPicPr>
          <p:cNvPr id="22" name="Picture 21" descr="image.png"/>
          <p:cNvPicPr>
            <a:picLocks noChangeAspect="1"/>
          </p:cNvPicPr>
          <p:nvPr/>
        </p:nvPicPr>
        <p:blipFill>
          <a:blip r:embed="rId9"/>
          <a:stretch>
            <a:fillRect/>
          </a:stretch>
        </p:blipFill>
        <p:spPr>
          <a:xfrm>
            <a:off x="6999237" y="3715791"/>
            <a:ext cx="171450" cy="152400"/>
          </a:xfrm>
          <a:prstGeom prst="rect">
            <a:avLst/>
          </a:prstGeom>
        </p:spPr>
      </p:pic>
      <p:pic>
        <p:nvPicPr>
          <p:cNvPr id="23" name="Picture 22" descr="image.png"/>
          <p:cNvPicPr>
            <a:picLocks noChangeAspect="1"/>
          </p:cNvPicPr>
          <p:nvPr/>
        </p:nvPicPr>
        <p:blipFill>
          <a:blip r:embed="rId10"/>
          <a:stretch>
            <a:fillRect/>
          </a:stretch>
        </p:blipFill>
        <p:spPr>
          <a:xfrm>
            <a:off x="8643937" y="3715791"/>
            <a:ext cx="171450" cy="152400"/>
          </a:xfrm>
          <a:prstGeom prst="rect">
            <a:avLst/>
          </a:prstGeom>
        </p:spPr>
      </p:pic>
      <p:pic>
        <p:nvPicPr>
          <p:cNvPr id="24" name="Picture 23" descr="image.png"/>
          <p:cNvPicPr>
            <a:picLocks noChangeAspect="1"/>
          </p:cNvPicPr>
          <p:nvPr/>
        </p:nvPicPr>
        <p:blipFill>
          <a:blip r:embed="rId11"/>
          <a:stretch>
            <a:fillRect/>
          </a:stretch>
        </p:blipFill>
        <p:spPr>
          <a:xfrm>
            <a:off x="10317212" y="3715791"/>
            <a:ext cx="152400" cy="1524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4284464"/>
            <a:ext cx="10972800" cy="571500"/>
          </a:xfrm>
          <a:prstGeom prst="rect">
            <a:avLst/>
          </a:prstGeom>
        </p:spPr>
      </p:pic>
      <p:pic>
        <p:nvPicPr>
          <p:cNvPr id="3" name="Picture 2" descr="image.png"/>
          <p:cNvPicPr>
            <a:picLocks noChangeAspect="1"/>
          </p:cNvPicPr>
          <p:nvPr/>
        </p:nvPicPr>
        <p:blipFill>
          <a:blip r:embed="rId3"/>
          <a:stretch>
            <a:fillRect/>
          </a:stretch>
        </p:blipFill>
        <p:spPr>
          <a:xfrm>
            <a:off x="609600" y="2032694"/>
            <a:ext cx="3555950" cy="1162050"/>
          </a:xfrm>
          <a:prstGeom prst="rect">
            <a:avLst/>
          </a:prstGeom>
        </p:spPr>
      </p:pic>
      <p:pic>
        <p:nvPicPr>
          <p:cNvPr id="4" name="Picture 3" descr="image.png"/>
          <p:cNvPicPr>
            <a:picLocks noChangeAspect="1"/>
          </p:cNvPicPr>
          <p:nvPr/>
        </p:nvPicPr>
        <p:blipFill>
          <a:blip r:embed="rId4"/>
          <a:stretch>
            <a:fillRect/>
          </a:stretch>
        </p:blipFill>
        <p:spPr>
          <a:xfrm>
            <a:off x="4317950" y="2032694"/>
            <a:ext cx="3555950" cy="1162050"/>
          </a:xfrm>
          <a:prstGeom prst="rect">
            <a:avLst/>
          </a:prstGeom>
        </p:spPr>
      </p:pic>
      <p:pic>
        <p:nvPicPr>
          <p:cNvPr id="5" name="Picture 4" descr="image.png"/>
          <p:cNvPicPr>
            <a:picLocks noChangeAspect="1"/>
          </p:cNvPicPr>
          <p:nvPr/>
        </p:nvPicPr>
        <p:blipFill>
          <a:blip r:embed="rId5"/>
          <a:stretch>
            <a:fillRect/>
          </a:stretch>
        </p:blipFill>
        <p:spPr>
          <a:xfrm>
            <a:off x="8026300" y="2032694"/>
            <a:ext cx="3555950" cy="1162050"/>
          </a:xfrm>
          <a:prstGeom prst="rect">
            <a:avLst/>
          </a:prstGeom>
        </p:spPr>
      </p:pic>
      <p:sp>
        <p:nvSpPr>
          <p:cNvPr id="6" name="Rectangle 5"/>
          <p:cNvSpPr/>
          <p:nvPr/>
        </p:nvSpPr>
        <p:spPr>
          <a:xfrm>
            <a:off x="609600" y="594568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604093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"One-vs-Rest trains one binary classifier per class. Each classifier separates one specific class from all other classes combined. The class with the highest prediction score wins. For K classes, we need exactly K classifiers."</a:t>
            </a:r>
          </a:p>
        </p:txBody>
      </p:sp>
      <p:sp>
        <p:nvSpPr>
          <p:cNvPr id="8" name="Rectangle 7"/>
          <p:cNvSpPr/>
          <p:nvPr/>
        </p:nvSpPr>
        <p:spPr>
          <a:xfrm>
            <a:off x="609600" y="594568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16A34A"/>
                </a:solidFill>
                <a:latin typeface="Plus Jakarta Sans"/>
              </a:rPr>
              <a:t>SECTION 3 • LEARNING MULTIPLE CLASSES</a:t>
            </a:r>
          </a:p>
        </p:txBody>
      </p:sp>
      <p:sp>
        <p:nvSpPr>
          <p:cNvPr id="10" name="TextBox 9"/>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Strategy 1: One-vs-Rest (OvR / One-vs-All)</a:t>
            </a:r>
          </a:p>
        </p:txBody>
      </p:sp>
      <p:sp>
        <p:nvSpPr>
          <p:cNvPr id="11" name="TextBox 10"/>
          <p:cNvSpPr txBox="1"/>
          <p:nvPr/>
        </p:nvSpPr>
        <p:spPr>
          <a:xfrm>
            <a:off x="809625" y="4479726"/>
            <a:ext cx="5791200" cy="180975"/>
          </a:xfrm>
          <a:prstGeom prst="rect">
            <a:avLst/>
          </a:prstGeom>
          <a:noFill/>
        </p:spPr>
        <p:txBody>
          <a:bodyPr wrap="square" lIns="0" rIns="0" tIns="0" bIns="0" anchor="t">
            <a:spAutoFit/>
          </a:bodyPr>
          <a:lstStyle/>
          <a:p>
            <a:pPr algn="l"/>
            <a:r>
              <a:rPr b="1" sz="1125" i="0" u="none">
                <a:solidFill>
                  <a:srgbClr val="334155"/>
                </a:solidFill>
                <a:latin typeface="Plus Jakarta Sans"/>
              </a:rPr>
              <a:t>Formula for Number of Classifiers:</a:t>
            </a:r>
            <a:r>
              <a:rPr b="0" sz="1125" i="0" u="none">
                <a:solidFill>
                  <a:srgbClr val="334155"/>
                </a:solidFill>
                <a:latin typeface="Plus Jakarta Sans"/>
              </a:rPr>
              <a:t> Total Classifiers = </a:t>
            </a:r>
            <a:r>
              <a:rPr b="1" sz="1125" i="0" u="none">
                <a:solidFill>
                  <a:srgbClr val="334155"/>
                </a:solidFill>
                <a:latin typeface="Plus Jakarta Sans"/>
              </a:rPr>
              <a:t>K</a:t>
            </a:r>
            <a:r>
              <a:rPr b="0" sz="1125" i="0" u="none">
                <a:solidFill>
                  <a:srgbClr val="334155"/>
                </a:solidFill>
                <a:latin typeface="Plus Jakarta Sans"/>
              </a:rPr>
              <a:t> (where K = number of classes)</a:t>
            </a:r>
          </a:p>
        </p:txBody>
      </p:sp>
      <p:pic>
        <p:nvPicPr>
          <p:cNvPr id="12" name="Picture 11" descr="image.png"/>
          <p:cNvPicPr>
            <a:picLocks noChangeAspect="1"/>
          </p:cNvPicPr>
          <p:nvPr/>
        </p:nvPicPr>
        <p:blipFill>
          <a:blip r:embed="rId6"/>
          <a:stretch>
            <a:fillRect/>
          </a:stretch>
        </p:blipFill>
        <p:spPr>
          <a:xfrm>
            <a:off x="9086850" y="4427339"/>
            <a:ext cx="2295525" cy="285750"/>
          </a:xfrm>
          <a:prstGeom prst="rect">
            <a:avLst/>
          </a:prstGeom>
        </p:spPr>
      </p:pic>
      <p:pic>
        <p:nvPicPr>
          <p:cNvPr id="13" name="Picture 12" descr="image.png"/>
          <p:cNvPicPr>
            <a:picLocks noChangeAspect="1"/>
          </p:cNvPicPr>
          <p:nvPr/>
        </p:nvPicPr>
        <p:blipFill>
          <a:blip r:embed="rId7"/>
          <a:stretch>
            <a:fillRect/>
          </a:stretch>
        </p:blipFill>
        <p:spPr>
          <a:xfrm>
            <a:off x="1977925" y="2232719"/>
            <a:ext cx="819150" cy="228600"/>
          </a:xfrm>
          <a:prstGeom prst="rect">
            <a:avLst/>
          </a:prstGeom>
        </p:spPr>
      </p:pic>
      <p:sp>
        <p:nvSpPr>
          <p:cNvPr id="14" name="TextBox 13"/>
          <p:cNvSpPr txBox="1"/>
          <p:nvPr/>
        </p:nvSpPr>
        <p:spPr>
          <a:xfrm>
            <a:off x="730727" y="2547044"/>
            <a:ext cx="3313695" cy="219075"/>
          </a:xfrm>
          <a:prstGeom prst="rect">
            <a:avLst/>
          </a:prstGeom>
          <a:noFill/>
        </p:spPr>
        <p:txBody>
          <a:bodyPr wrap="square" lIns="0" rIns="0" tIns="0" bIns="0" anchor="t">
            <a:spAutoFit/>
          </a:bodyPr>
          <a:lstStyle/>
          <a:p>
            <a:pPr algn="ctr"/>
            <a:r>
              <a:rPr b="1" sz="1350" i="0" u="none">
                <a:solidFill>
                  <a:srgbClr val="0F172A"/>
                </a:solidFill>
                <a:latin typeface="Plus Jakarta Sans"/>
              </a:rPr>
              <a:t>Cat vs. [Dog + Bird]</a:t>
            </a:r>
          </a:p>
        </p:txBody>
      </p:sp>
      <p:sp>
        <p:nvSpPr>
          <p:cNvPr id="15" name="TextBox 14"/>
          <p:cNvSpPr txBox="1"/>
          <p:nvPr/>
        </p:nvSpPr>
        <p:spPr>
          <a:xfrm>
            <a:off x="809625" y="2823269"/>
            <a:ext cx="31559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Is it a Cat or NOT a Cat?</a:t>
            </a:r>
          </a:p>
        </p:txBody>
      </p:sp>
      <p:pic>
        <p:nvPicPr>
          <p:cNvPr id="16" name="Picture 15" descr="image.png"/>
          <p:cNvPicPr>
            <a:picLocks noChangeAspect="1"/>
          </p:cNvPicPr>
          <p:nvPr/>
        </p:nvPicPr>
        <p:blipFill>
          <a:blip r:embed="rId8"/>
          <a:stretch>
            <a:fillRect/>
          </a:stretch>
        </p:blipFill>
        <p:spPr>
          <a:xfrm>
            <a:off x="5671988" y="2232719"/>
            <a:ext cx="847725" cy="228600"/>
          </a:xfrm>
          <a:prstGeom prst="rect">
            <a:avLst/>
          </a:prstGeom>
        </p:spPr>
      </p:pic>
      <p:sp>
        <p:nvSpPr>
          <p:cNvPr id="17" name="TextBox 16"/>
          <p:cNvSpPr txBox="1"/>
          <p:nvPr/>
        </p:nvSpPr>
        <p:spPr>
          <a:xfrm>
            <a:off x="4439077" y="2547044"/>
            <a:ext cx="3313695" cy="219075"/>
          </a:xfrm>
          <a:prstGeom prst="rect">
            <a:avLst/>
          </a:prstGeom>
          <a:noFill/>
        </p:spPr>
        <p:txBody>
          <a:bodyPr wrap="square" lIns="0" rIns="0" tIns="0" bIns="0" anchor="t">
            <a:spAutoFit/>
          </a:bodyPr>
          <a:lstStyle/>
          <a:p>
            <a:pPr algn="ctr"/>
            <a:r>
              <a:rPr b="1" sz="1350" i="0" u="none">
                <a:solidFill>
                  <a:srgbClr val="0F172A"/>
                </a:solidFill>
                <a:latin typeface="Plus Jakarta Sans"/>
              </a:rPr>
              <a:t>Dog vs. [Cat + Bird]</a:t>
            </a:r>
          </a:p>
        </p:txBody>
      </p:sp>
      <p:sp>
        <p:nvSpPr>
          <p:cNvPr id="18" name="TextBox 17"/>
          <p:cNvSpPr txBox="1"/>
          <p:nvPr/>
        </p:nvSpPr>
        <p:spPr>
          <a:xfrm>
            <a:off x="4517975" y="2823269"/>
            <a:ext cx="31559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Is it a Dog or NOT a Dog?</a:t>
            </a:r>
          </a:p>
        </p:txBody>
      </p:sp>
      <p:pic>
        <p:nvPicPr>
          <p:cNvPr id="19" name="Picture 18" descr="image.png"/>
          <p:cNvPicPr>
            <a:picLocks noChangeAspect="1"/>
          </p:cNvPicPr>
          <p:nvPr/>
        </p:nvPicPr>
        <p:blipFill>
          <a:blip r:embed="rId9"/>
          <a:stretch>
            <a:fillRect/>
          </a:stretch>
        </p:blipFill>
        <p:spPr>
          <a:xfrm>
            <a:off x="9380339" y="2232719"/>
            <a:ext cx="847725" cy="228600"/>
          </a:xfrm>
          <a:prstGeom prst="rect">
            <a:avLst/>
          </a:prstGeom>
        </p:spPr>
      </p:pic>
      <p:sp>
        <p:nvSpPr>
          <p:cNvPr id="20" name="TextBox 19"/>
          <p:cNvSpPr txBox="1"/>
          <p:nvPr/>
        </p:nvSpPr>
        <p:spPr>
          <a:xfrm>
            <a:off x="8147428" y="2547044"/>
            <a:ext cx="3313695" cy="219075"/>
          </a:xfrm>
          <a:prstGeom prst="rect">
            <a:avLst/>
          </a:prstGeom>
          <a:noFill/>
        </p:spPr>
        <p:txBody>
          <a:bodyPr wrap="square" lIns="0" rIns="0" tIns="0" bIns="0" anchor="t">
            <a:spAutoFit/>
          </a:bodyPr>
          <a:lstStyle/>
          <a:p>
            <a:pPr algn="ctr"/>
            <a:r>
              <a:rPr b="1" sz="1350" i="0" u="none">
                <a:solidFill>
                  <a:srgbClr val="0F172A"/>
                </a:solidFill>
                <a:latin typeface="Plus Jakarta Sans"/>
              </a:rPr>
              <a:t>Bird vs. [Cat + Dog]</a:t>
            </a:r>
          </a:p>
        </p:txBody>
      </p:sp>
      <p:sp>
        <p:nvSpPr>
          <p:cNvPr id="21" name="TextBox 20"/>
          <p:cNvSpPr txBox="1"/>
          <p:nvPr/>
        </p:nvSpPr>
        <p:spPr>
          <a:xfrm>
            <a:off x="8226325" y="2823269"/>
            <a:ext cx="31559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Is it a Bird or NOT a Bird?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4284464"/>
            <a:ext cx="10972800" cy="571500"/>
          </a:xfrm>
          <a:prstGeom prst="rect">
            <a:avLst/>
          </a:prstGeom>
        </p:spPr>
      </p:pic>
      <p:pic>
        <p:nvPicPr>
          <p:cNvPr id="3" name="Picture 2" descr="image.png"/>
          <p:cNvPicPr>
            <a:picLocks noChangeAspect="1"/>
          </p:cNvPicPr>
          <p:nvPr/>
        </p:nvPicPr>
        <p:blipFill>
          <a:blip r:embed="rId3"/>
          <a:stretch>
            <a:fillRect/>
          </a:stretch>
        </p:blipFill>
        <p:spPr>
          <a:xfrm>
            <a:off x="609600" y="2032694"/>
            <a:ext cx="3555950" cy="1162050"/>
          </a:xfrm>
          <a:prstGeom prst="rect">
            <a:avLst/>
          </a:prstGeom>
        </p:spPr>
      </p:pic>
      <p:pic>
        <p:nvPicPr>
          <p:cNvPr id="4" name="Picture 3" descr="image.png"/>
          <p:cNvPicPr>
            <a:picLocks noChangeAspect="1"/>
          </p:cNvPicPr>
          <p:nvPr/>
        </p:nvPicPr>
        <p:blipFill>
          <a:blip r:embed="rId4"/>
          <a:stretch>
            <a:fillRect/>
          </a:stretch>
        </p:blipFill>
        <p:spPr>
          <a:xfrm>
            <a:off x="4317950" y="2032694"/>
            <a:ext cx="3555950" cy="1162050"/>
          </a:xfrm>
          <a:prstGeom prst="rect">
            <a:avLst/>
          </a:prstGeom>
        </p:spPr>
      </p:pic>
      <p:pic>
        <p:nvPicPr>
          <p:cNvPr id="5" name="Picture 4" descr="image.png"/>
          <p:cNvPicPr>
            <a:picLocks noChangeAspect="1"/>
          </p:cNvPicPr>
          <p:nvPr/>
        </p:nvPicPr>
        <p:blipFill>
          <a:blip r:embed="rId5"/>
          <a:stretch>
            <a:fillRect/>
          </a:stretch>
        </p:blipFill>
        <p:spPr>
          <a:xfrm>
            <a:off x="8026300" y="2032694"/>
            <a:ext cx="3555950" cy="1162050"/>
          </a:xfrm>
          <a:prstGeom prst="rect">
            <a:avLst/>
          </a:prstGeom>
        </p:spPr>
      </p:pic>
      <p:sp>
        <p:nvSpPr>
          <p:cNvPr id="6" name="Rectangle 5"/>
          <p:cNvSpPr/>
          <p:nvPr/>
        </p:nvSpPr>
        <p:spPr>
          <a:xfrm>
            <a:off x="609600" y="594568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604093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"In One-vs-One, we organize a tournament. Every pair plays a match against each other. Each classifier votes for one class, and the class with the most votes wins. If we have 4 classes, we need 4*(3)/2 = 6 classifiers."</a:t>
            </a:r>
          </a:p>
        </p:txBody>
      </p:sp>
      <p:sp>
        <p:nvSpPr>
          <p:cNvPr id="8" name="Rectangle 7"/>
          <p:cNvSpPr/>
          <p:nvPr/>
        </p:nvSpPr>
        <p:spPr>
          <a:xfrm>
            <a:off x="609600" y="594568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16A34A"/>
                </a:solidFill>
                <a:latin typeface="Plus Jakarta Sans"/>
              </a:rPr>
              <a:t>SECTION 3 • LEARNING MULTIPLE CLASSES</a:t>
            </a:r>
          </a:p>
        </p:txBody>
      </p:sp>
      <p:sp>
        <p:nvSpPr>
          <p:cNvPr id="10" name="TextBox 9"/>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Strategy 2: One-vs-One (OvO)</a:t>
            </a:r>
          </a:p>
        </p:txBody>
      </p:sp>
      <p:sp>
        <p:nvSpPr>
          <p:cNvPr id="11" name="TextBox 10"/>
          <p:cNvSpPr txBox="1"/>
          <p:nvPr/>
        </p:nvSpPr>
        <p:spPr>
          <a:xfrm>
            <a:off x="809625" y="4479726"/>
            <a:ext cx="4953000" cy="180975"/>
          </a:xfrm>
          <a:prstGeom prst="rect">
            <a:avLst/>
          </a:prstGeom>
          <a:noFill/>
        </p:spPr>
        <p:txBody>
          <a:bodyPr wrap="square" lIns="0" rIns="0" tIns="0" bIns="0" anchor="t">
            <a:spAutoFit/>
          </a:bodyPr>
          <a:lstStyle/>
          <a:p>
            <a:pPr algn="l"/>
            <a:r>
              <a:rPr b="1" sz="1125" i="0" u="none">
                <a:solidFill>
                  <a:srgbClr val="334155"/>
                </a:solidFill>
                <a:latin typeface="Plus Jakarta Sans"/>
              </a:rPr>
              <a:t>Formula:</a:t>
            </a:r>
            <a:r>
              <a:rPr b="0" sz="1125" i="0" u="none">
                <a:solidFill>
                  <a:srgbClr val="334155"/>
                </a:solidFill>
                <a:latin typeface="Plus Jakarta Sans"/>
              </a:rPr>
              <a:t> Total Classifiers = </a:t>
            </a:r>
            <a:r>
              <a:rPr b="1" sz="1125" i="0" u="none">
                <a:solidFill>
                  <a:srgbClr val="334155"/>
                </a:solidFill>
                <a:latin typeface="Plus Jakarta Sans"/>
              </a:rPr>
              <a:t>K × (K - 1) / 2</a:t>
            </a:r>
            <a:r>
              <a:rPr b="0" sz="1125" i="0" u="none">
                <a:solidFill>
                  <a:srgbClr val="334155"/>
                </a:solidFill>
                <a:latin typeface="Plus Jakarta Sans"/>
              </a:rPr>
              <a:t> • Majority voting decides winner</a:t>
            </a:r>
          </a:p>
        </p:txBody>
      </p:sp>
      <p:pic>
        <p:nvPicPr>
          <p:cNvPr id="12" name="Picture 11" descr="image.png"/>
          <p:cNvPicPr>
            <a:picLocks noChangeAspect="1"/>
          </p:cNvPicPr>
          <p:nvPr/>
        </p:nvPicPr>
        <p:blipFill>
          <a:blip r:embed="rId6"/>
          <a:stretch>
            <a:fillRect/>
          </a:stretch>
        </p:blipFill>
        <p:spPr>
          <a:xfrm>
            <a:off x="8982075" y="4427339"/>
            <a:ext cx="2400300" cy="285750"/>
          </a:xfrm>
          <a:prstGeom prst="rect">
            <a:avLst/>
          </a:prstGeom>
        </p:spPr>
      </p:pic>
      <p:pic>
        <p:nvPicPr>
          <p:cNvPr id="13" name="Picture 12" descr="image.png"/>
          <p:cNvPicPr>
            <a:picLocks noChangeAspect="1"/>
          </p:cNvPicPr>
          <p:nvPr/>
        </p:nvPicPr>
        <p:blipFill>
          <a:blip r:embed="rId7"/>
          <a:stretch>
            <a:fillRect/>
          </a:stretch>
        </p:blipFill>
        <p:spPr>
          <a:xfrm>
            <a:off x="2063650" y="2232719"/>
            <a:ext cx="647700" cy="228600"/>
          </a:xfrm>
          <a:prstGeom prst="rect">
            <a:avLst/>
          </a:prstGeom>
        </p:spPr>
      </p:pic>
      <p:sp>
        <p:nvSpPr>
          <p:cNvPr id="14" name="TextBox 13"/>
          <p:cNvSpPr txBox="1"/>
          <p:nvPr/>
        </p:nvSpPr>
        <p:spPr>
          <a:xfrm>
            <a:off x="730727" y="2547044"/>
            <a:ext cx="3313695" cy="219075"/>
          </a:xfrm>
          <a:prstGeom prst="rect">
            <a:avLst/>
          </a:prstGeom>
          <a:noFill/>
        </p:spPr>
        <p:txBody>
          <a:bodyPr wrap="square" lIns="0" rIns="0" tIns="0" bIns="0" anchor="t">
            <a:spAutoFit/>
          </a:bodyPr>
          <a:lstStyle/>
          <a:p>
            <a:pPr algn="ctr"/>
            <a:r>
              <a:rPr b="1" sz="1350" i="0" u="none">
                <a:solidFill>
                  <a:srgbClr val="0F172A"/>
                </a:solidFill>
                <a:latin typeface="Plus Jakarta Sans"/>
              </a:rPr>
              <a:t>Cat vs. Dog</a:t>
            </a:r>
          </a:p>
        </p:txBody>
      </p:sp>
      <p:sp>
        <p:nvSpPr>
          <p:cNvPr id="15" name="TextBox 14"/>
          <p:cNvSpPr txBox="1"/>
          <p:nvPr/>
        </p:nvSpPr>
        <p:spPr>
          <a:xfrm>
            <a:off x="809625" y="2823269"/>
            <a:ext cx="31559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Ignores Bird data completely</a:t>
            </a:r>
          </a:p>
        </p:txBody>
      </p:sp>
      <p:pic>
        <p:nvPicPr>
          <p:cNvPr id="16" name="Picture 15" descr="image.png"/>
          <p:cNvPicPr>
            <a:picLocks noChangeAspect="1"/>
          </p:cNvPicPr>
          <p:nvPr/>
        </p:nvPicPr>
        <p:blipFill>
          <a:blip r:embed="rId8"/>
          <a:stretch>
            <a:fillRect/>
          </a:stretch>
        </p:blipFill>
        <p:spPr>
          <a:xfrm>
            <a:off x="5757713" y="2232719"/>
            <a:ext cx="676275" cy="228600"/>
          </a:xfrm>
          <a:prstGeom prst="rect">
            <a:avLst/>
          </a:prstGeom>
        </p:spPr>
      </p:pic>
      <p:sp>
        <p:nvSpPr>
          <p:cNvPr id="17" name="TextBox 16"/>
          <p:cNvSpPr txBox="1"/>
          <p:nvPr/>
        </p:nvSpPr>
        <p:spPr>
          <a:xfrm>
            <a:off x="4439077" y="2547044"/>
            <a:ext cx="3313695" cy="219075"/>
          </a:xfrm>
          <a:prstGeom prst="rect">
            <a:avLst/>
          </a:prstGeom>
          <a:noFill/>
        </p:spPr>
        <p:txBody>
          <a:bodyPr wrap="square" lIns="0" rIns="0" tIns="0" bIns="0" anchor="t">
            <a:spAutoFit/>
          </a:bodyPr>
          <a:lstStyle/>
          <a:p>
            <a:pPr algn="ctr"/>
            <a:r>
              <a:rPr b="1" sz="1350" i="0" u="none">
                <a:solidFill>
                  <a:srgbClr val="0F172A"/>
                </a:solidFill>
                <a:latin typeface="Plus Jakarta Sans"/>
              </a:rPr>
              <a:t>Cat vs. Bird</a:t>
            </a:r>
          </a:p>
        </p:txBody>
      </p:sp>
      <p:sp>
        <p:nvSpPr>
          <p:cNvPr id="18" name="TextBox 17"/>
          <p:cNvSpPr txBox="1"/>
          <p:nvPr/>
        </p:nvSpPr>
        <p:spPr>
          <a:xfrm>
            <a:off x="4517975" y="2823269"/>
            <a:ext cx="31559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Ignores Dog data completely</a:t>
            </a:r>
          </a:p>
        </p:txBody>
      </p:sp>
      <p:pic>
        <p:nvPicPr>
          <p:cNvPr id="19" name="Picture 18" descr="image.png"/>
          <p:cNvPicPr>
            <a:picLocks noChangeAspect="1"/>
          </p:cNvPicPr>
          <p:nvPr/>
        </p:nvPicPr>
        <p:blipFill>
          <a:blip r:embed="rId9"/>
          <a:stretch>
            <a:fillRect/>
          </a:stretch>
        </p:blipFill>
        <p:spPr>
          <a:xfrm>
            <a:off x="9466064" y="2232719"/>
            <a:ext cx="676275" cy="228600"/>
          </a:xfrm>
          <a:prstGeom prst="rect">
            <a:avLst/>
          </a:prstGeom>
        </p:spPr>
      </p:pic>
      <p:sp>
        <p:nvSpPr>
          <p:cNvPr id="20" name="TextBox 19"/>
          <p:cNvSpPr txBox="1"/>
          <p:nvPr/>
        </p:nvSpPr>
        <p:spPr>
          <a:xfrm>
            <a:off x="8147428" y="2547044"/>
            <a:ext cx="3313695" cy="219075"/>
          </a:xfrm>
          <a:prstGeom prst="rect">
            <a:avLst/>
          </a:prstGeom>
          <a:noFill/>
        </p:spPr>
        <p:txBody>
          <a:bodyPr wrap="square" lIns="0" rIns="0" tIns="0" bIns="0" anchor="t">
            <a:spAutoFit/>
          </a:bodyPr>
          <a:lstStyle/>
          <a:p>
            <a:pPr algn="ctr"/>
            <a:r>
              <a:rPr b="1" sz="1350" i="0" u="none">
                <a:solidFill>
                  <a:srgbClr val="0F172A"/>
                </a:solidFill>
                <a:latin typeface="Plus Jakarta Sans"/>
              </a:rPr>
              <a:t>Dog vs. Bird</a:t>
            </a:r>
          </a:p>
        </p:txBody>
      </p:sp>
      <p:sp>
        <p:nvSpPr>
          <p:cNvPr id="21" name="TextBox 20"/>
          <p:cNvSpPr txBox="1"/>
          <p:nvPr/>
        </p:nvSpPr>
        <p:spPr>
          <a:xfrm>
            <a:off x="8226325" y="2823269"/>
            <a:ext cx="3155900" cy="171450"/>
          </a:xfrm>
          <a:prstGeom prst="rect">
            <a:avLst/>
          </a:prstGeom>
          <a:noFill/>
        </p:spPr>
        <p:txBody>
          <a:bodyPr wrap="square" lIns="0" rIns="0" tIns="0" bIns="0" anchor="t">
            <a:spAutoFit/>
          </a:bodyPr>
          <a:lstStyle/>
          <a:p>
            <a:pPr algn="ctr"/>
            <a:r>
              <a:rPr b="0" sz="1050" i="0" u="none">
                <a:solidFill>
                  <a:srgbClr val="64748B"/>
                </a:solidFill>
                <a:latin typeface="Plus Jakarta Sans"/>
              </a:rPr>
              <a:t>Ignores Cat data completely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389882"/>
            <a:ext cx="5372100" cy="2108745"/>
          </a:xfrm>
          <a:prstGeom prst="rect">
            <a:avLst/>
          </a:prstGeom>
        </p:spPr>
      </p:pic>
      <p:pic>
        <p:nvPicPr>
          <p:cNvPr id="3" name="Picture 2" descr="image.png"/>
          <p:cNvPicPr>
            <a:picLocks noChangeAspect="1"/>
          </p:cNvPicPr>
          <p:nvPr/>
        </p:nvPicPr>
        <p:blipFill>
          <a:blip r:embed="rId3"/>
          <a:stretch>
            <a:fillRect/>
          </a:stretch>
        </p:blipFill>
        <p:spPr>
          <a:xfrm>
            <a:off x="6210300" y="2389882"/>
            <a:ext cx="5372100" cy="2108745"/>
          </a:xfrm>
          <a:prstGeom prst="rect">
            <a:avLst/>
          </a:prstGeom>
        </p:spPr>
      </p:pic>
      <p:sp>
        <p:nvSpPr>
          <p:cNvPr id="4" name="Rectangle 3"/>
          <p:cNvSpPr/>
          <p:nvPr/>
        </p:nvSpPr>
        <p:spPr>
          <a:xfrm>
            <a:off x="609600" y="5945534"/>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6040784"/>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"Make the distinction crystal clear: Classification gives a category ('Is this email spam? Yes/No'). Regression gives a continuous number ('What will the price of this house be? $350,000'). Ask students to name other examples of numbers we might predict."</a:t>
            </a:r>
          </a:p>
        </p:txBody>
      </p:sp>
      <p:sp>
        <p:nvSpPr>
          <p:cNvPr id="6" name="Rectangle 5"/>
          <p:cNvSpPr/>
          <p:nvPr/>
        </p:nvSpPr>
        <p:spPr>
          <a:xfrm>
            <a:off x="609600" y="5945534"/>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9333EA"/>
                </a:solidFill>
                <a:latin typeface="Plus Jakarta Sans"/>
              </a:rPr>
              <a:t>SECTION 4 • REGRESSION</a:t>
            </a:r>
          </a:p>
        </p:txBody>
      </p:sp>
      <p:sp>
        <p:nvSpPr>
          <p:cNvPr id="8" name="TextBox 7"/>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Classification vs. Regression</a:t>
            </a:r>
          </a:p>
        </p:txBody>
      </p:sp>
      <p:sp>
        <p:nvSpPr>
          <p:cNvPr id="9" name="TextBox 8"/>
          <p:cNvSpPr txBox="1"/>
          <p:nvPr/>
        </p:nvSpPr>
        <p:spPr>
          <a:xfrm>
            <a:off x="847725" y="2647057"/>
            <a:ext cx="419100" cy="171450"/>
          </a:xfrm>
          <a:prstGeom prst="rect">
            <a:avLst/>
          </a:prstGeom>
          <a:noFill/>
        </p:spPr>
        <p:txBody>
          <a:bodyPr wrap="square" lIns="0" rIns="0" tIns="0" bIns="0" anchor="t">
            <a:spAutoFit/>
          </a:bodyPr>
          <a:lstStyle/>
          <a:p>
            <a:pPr algn="l"/>
            <a:r>
              <a:rPr b="1" sz="1050" i="0" u="none">
                <a:solidFill>
                  <a:srgbClr val="2563EB"/>
                </a:solidFill>
                <a:latin typeface="Plus Jakarta Sans"/>
              </a:rPr>
              <a:t>TASK 1</a:t>
            </a:r>
          </a:p>
        </p:txBody>
      </p:sp>
      <p:sp>
        <p:nvSpPr>
          <p:cNvPr id="10" name="TextBox 9"/>
          <p:cNvSpPr txBox="1"/>
          <p:nvPr/>
        </p:nvSpPr>
        <p:spPr>
          <a:xfrm>
            <a:off x="847725" y="2866132"/>
            <a:ext cx="5140642" cy="285750"/>
          </a:xfrm>
          <a:prstGeom prst="rect">
            <a:avLst/>
          </a:prstGeom>
          <a:noFill/>
        </p:spPr>
        <p:txBody>
          <a:bodyPr wrap="square" lIns="0" rIns="0" tIns="0" bIns="0" anchor="t">
            <a:spAutoFit/>
          </a:bodyPr>
          <a:lstStyle/>
          <a:p>
            <a:pPr algn="l"/>
            <a:r>
              <a:rPr b="1" sz="1800" i="0" u="none">
                <a:solidFill>
                  <a:srgbClr val="0F172A"/>
                </a:solidFill>
                <a:latin typeface="Plus Jakarta Sans"/>
              </a:rPr>
              <a:t>Classification</a:t>
            </a:r>
          </a:p>
        </p:txBody>
      </p:sp>
      <p:sp>
        <p:nvSpPr>
          <p:cNvPr id="11" name="TextBox 10"/>
          <p:cNvSpPr txBox="1"/>
          <p:nvPr/>
        </p:nvSpPr>
        <p:spPr>
          <a:xfrm>
            <a:off x="847725" y="3228082"/>
            <a:ext cx="4895850" cy="200025"/>
          </a:xfrm>
          <a:prstGeom prst="rect">
            <a:avLst/>
          </a:prstGeom>
          <a:noFill/>
        </p:spPr>
        <p:txBody>
          <a:bodyPr wrap="square" lIns="0" rIns="0" tIns="0" bIns="0" anchor="t">
            <a:spAutoFit/>
          </a:bodyPr>
          <a:lstStyle/>
          <a:p>
            <a:pPr algn="l"/>
            <a:r>
              <a:rPr b="0" sz="1200" i="0" u="none">
                <a:solidFill>
                  <a:srgbClr val="475569"/>
                </a:solidFill>
                <a:latin typeface="Plus Jakarta Sans"/>
              </a:rPr>
              <a:t>Predicts a </a:t>
            </a:r>
            <a:r>
              <a:rPr b="1" sz="1200" i="0" u="none">
                <a:solidFill>
                  <a:srgbClr val="475569"/>
                </a:solidFill>
                <a:latin typeface="Plus Jakarta Sans"/>
              </a:rPr>
              <a:t>discrete category / label</a:t>
            </a:r>
            <a:r>
              <a:rPr b="0" sz="1200" i="0" u="none">
                <a:solidFill>
                  <a:srgbClr val="475569"/>
                </a:solidFill>
                <a:latin typeface="Plus Jakarta Sans"/>
              </a:rPr>
              <a:t>.</a:t>
            </a:r>
          </a:p>
        </p:txBody>
      </p:sp>
      <p:sp>
        <p:nvSpPr>
          <p:cNvPr id="12" name="TextBox 11"/>
          <p:cNvSpPr txBox="1"/>
          <p:nvPr/>
        </p:nvSpPr>
        <p:spPr>
          <a:xfrm>
            <a:off x="6448425" y="2647057"/>
            <a:ext cx="438150" cy="171450"/>
          </a:xfrm>
          <a:prstGeom prst="rect">
            <a:avLst/>
          </a:prstGeom>
          <a:noFill/>
        </p:spPr>
        <p:txBody>
          <a:bodyPr wrap="square" lIns="0" rIns="0" tIns="0" bIns="0" anchor="t">
            <a:spAutoFit/>
          </a:bodyPr>
          <a:lstStyle/>
          <a:p>
            <a:pPr algn="l"/>
            <a:r>
              <a:rPr b="1" sz="1050" i="0" u="none">
                <a:solidFill>
                  <a:srgbClr val="9333EA"/>
                </a:solidFill>
                <a:latin typeface="Plus Jakarta Sans"/>
              </a:rPr>
              <a:t>TASK 2</a:t>
            </a:r>
          </a:p>
        </p:txBody>
      </p:sp>
      <p:sp>
        <p:nvSpPr>
          <p:cNvPr id="13" name="TextBox 12"/>
          <p:cNvSpPr txBox="1"/>
          <p:nvPr/>
        </p:nvSpPr>
        <p:spPr>
          <a:xfrm>
            <a:off x="6448425" y="2866132"/>
            <a:ext cx="5140642" cy="285750"/>
          </a:xfrm>
          <a:prstGeom prst="rect">
            <a:avLst/>
          </a:prstGeom>
          <a:noFill/>
        </p:spPr>
        <p:txBody>
          <a:bodyPr wrap="square" lIns="0" rIns="0" tIns="0" bIns="0" anchor="t">
            <a:spAutoFit/>
          </a:bodyPr>
          <a:lstStyle/>
          <a:p>
            <a:pPr algn="l"/>
            <a:r>
              <a:rPr b="1" sz="1800" i="0" u="none">
                <a:solidFill>
                  <a:srgbClr val="0F172A"/>
                </a:solidFill>
                <a:latin typeface="Plus Jakarta Sans"/>
              </a:rPr>
              <a:t>Regression</a:t>
            </a:r>
          </a:p>
        </p:txBody>
      </p:sp>
      <p:sp>
        <p:nvSpPr>
          <p:cNvPr id="14" name="TextBox 13"/>
          <p:cNvSpPr txBox="1"/>
          <p:nvPr/>
        </p:nvSpPr>
        <p:spPr>
          <a:xfrm>
            <a:off x="6448425" y="3228082"/>
            <a:ext cx="4895850" cy="200025"/>
          </a:xfrm>
          <a:prstGeom prst="rect">
            <a:avLst/>
          </a:prstGeom>
          <a:noFill/>
        </p:spPr>
        <p:txBody>
          <a:bodyPr wrap="square" lIns="0" rIns="0" tIns="0" bIns="0" anchor="t">
            <a:spAutoFit/>
          </a:bodyPr>
          <a:lstStyle/>
          <a:p>
            <a:pPr algn="l"/>
            <a:r>
              <a:rPr b="0" sz="1200" i="0" u="none">
                <a:solidFill>
                  <a:srgbClr val="475569"/>
                </a:solidFill>
                <a:latin typeface="Plus Jakarta Sans"/>
              </a:rPr>
              <a:t>Predicts a </a:t>
            </a:r>
            <a:r>
              <a:rPr b="1" sz="1200" i="0" u="none">
                <a:solidFill>
                  <a:srgbClr val="475569"/>
                </a:solidFill>
                <a:latin typeface="Plus Jakarta Sans"/>
              </a:rPr>
              <a:t>continuous numerical value</a:t>
            </a:r>
            <a:r>
              <a:rPr b="0" sz="1200" i="0" u="none">
                <a:solidFill>
                  <a:srgbClr val="475569"/>
                </a:solidFill>
                <a:latin typeface="Plus Jakarta Sans"/>
              </a:rPr>
              <a:t>.</a:t>
            </a:r>
          </a:p>
        </p:txBody>
      </p:sp>
      <p:sp>
        <p:nvSpPr>
          <p:cNvPr id="15" name="TextBox 14"/>
          <p:cNvSpPr txBox="1"/>
          <p:nvPr/>
        </p:nvSpPr>
        <p:spPr>
          <a:xfrm>
            <a:off x="942975" y="3579554"/>
            <a:ext cx="76200" cy="228600"/>
          </a:xfrm>
          <a:prstGeom prst="rect">
            <a:avLst/>
          </a:prstGeom>
          <a:noFill/>
        </p:spPr>
        <p:txBody>
          <a:bodyPr wrap="square" lIns="0" rIns="0" tIns="0" bIns="0" anchor="t">
            <a:spAutoFit/>
          </a:bodyPr>
          <a:lstStyle/>
          <a:p>
            <a:pPr algn="l"/>
            <a:r>
              <a:rPr b="0" sz="1050" i="0" u="none">
                <a:solidFill>
                  <a:srgbClr val="334155"/>
                </a:solidFill>
                <a:latin typeface="Plus Jakarta Sans"/>
              </a:rPr>
              <a:t>•</a:t>
            </a:r>
          </a:p>
        </p:txBody>
      </p:sp>
      <p:sp>
        <p:nvSpPr>
          <p:cNvPr id="16" name="TextBox 15"/>
          <p:cNvSpPr txBox="1"/>
          <p:nvPr/>
        </p:nvSpPr>
        <p:spPr>
          <a:xfrm>
            <a:off x="1019175" y="3580507"/>
            <a:ext cx="4724400" cy="226665"/>
          </a:xfrm>
          <a:prstGeom prst="rect">
            <a:avLst/>
          </a:prstGeom>
          <a:noFill/>
        </p:spPr>
        <p:txBody>
          <a:bodyPr wrap="square" lIns="76200" rIns="0" tIns="0" bIns="0" anchor="t">
            <a:spAutoFit/>
          </a:bodyPr>
          <a:lstStyle/>
          <a:p>
            <a:pPr algn="l">
              <a:lnSpc>
                <a:spcPts val="1785"/>
              </a:lnSpc>
            </a:pPr>
            <a:r>
              <a:rPr b="0" sz="1050" i="0" u="none">
                <a:solidFill>
                  <a:srgbClr val="334155"/>
                </a:solidFill>
                <a:latin typeface="Plus Jakarta Sans"/>
              </a:rPr>
              <a:t>Spam vs. Not Spam</a:t>
            </a:r>
          </a:p>
        </p:txBody>
      </p:sp>
      <p:sp>
        <p:nvSpPr>
          <p:cNvPr id="17" name="TextBox 16"/>
          <p:cNvSpPr txBox="1"/>
          <p:nvPr/>
        </p:nvSpPr>
        <p:spPr>
          <a:xfrm>
            <a:off x="942975" y="3806219"/>
            <a:ext cx="76200" cy="228600"/>
          </a:xfrm>
          <a:prstGeom prst="rect">
            <a:avLst/>
          </a:prstGeom>
          <a:noFill/>
        </p:spPr>
        <p:txBody>
          <a:bodyPr wrap="square" lIns="0" rIns="0" tIns="0" bIns="0" anchor="t">
            <a:spAutoFit/>
          </a:bodyPr>
          <a:lstStyle/>
          <a:p>
            <a:pPr algn="l"/>
            <a:r>
              <a:rPr b="0" sz="1050" i="0" u="none">
                <a:solidFill>
                  <a:srgbClr val="334155"/>
                </a:solidFill>
                <a:latin typeface="Plus Jakarta Sans"/>
              </a:rPr>
              <a:t>•</a:t>
            </a:r>
          </a:p>
        </p:txBody>
      </p:sp>
      <p:sp>
        <p:nvSpPr>
          <p:cNvPr id="18" name="TextBox 17"/>
          <p:cNvSpPr txBox="1"/>
          <p:nvPr/>
        </p:nvSpPr>
        <p:spPr>
          <a:xfrm>
            <a:off x="1019175" y="3807172"/>
            <a:ext cx="4724400" cy="226665"/>
          </a:xfrm>
          <a:prstGeom prst="rect">
            <a:avLst/>
          </a:prstGeom>
          <a:noFill/>
        </p:spPr>
        <p:txBody>
          <a:bodyPr wrap="square" lIns="76200" rIns="0" tIns="0" bIns="0" anchor="t">
            <a:spAutoFit/>
          </a:bodyPr>
          <a:lstStyle/>
          <a:p>
            <a:pPr algn="l">
              <a:lnSpc>
                <a:spcPts val="1785"/>
              </a:lnSpc>
            </a:pPr>
            <a:r>
              <a:rPr b="0" sz="1050" i="0" u="none">
                <a:solidFill>
                  <a:srgbClr val="334155"/>
                </a:solidFill>
                <a:latin typeface="Plus Jakarta Sans"/>
              </a:rPr>
              <a:t>Cat vs. Dog</a:t>
            </a:r>
          </a:p>
        </p:txBody>
      </p:sp>
      <p:sp>
        <p:nvSpPr>
          <p:cNvPr id="19" name="TextBox 18"/>
          <p:cNvSpPr txBox="1"/>
          <p:nvPr/>
        </p:nvSpPr>
        <p:spPr>
          <a:xfrm>
            <a:off x="942975" y="4032885"/>
            <a:ext cx="76200" cy="228600"/>
          </a:xfrm>
          <a:prstGeom prst="rect">
            <a:avLst/>
          </a:prstGeom>
          <a:noFill/>
        </p:spPr>
        <p:txBody>
          <a:bodyPr wrap="square" lIns="0" rIns="0" tIns="0" bIns="0" anchor="t">
            <a:spAutoFit/>
          </a:bodyPr>
          <a:lstStyle/>
          <a:p>
            <a:pPr algn="l"/>
            <a:r>
              <a:rPr b="0" sz="1050" i="0" u="none">
                <a:solidFill>
                  <a:srgbClr val="334155"/>
                </a:solidFill>
                <a:latin typeface="Plus Jakarta Sans"/>
              </a:rPr>
              <a:t>•</a:t>
            </a:r>
          </a:p>
        </p:txBody>
      </p:sp>
      <p:sp>
        <p:nvSpPr>
          <p:cNvPr id="20" name="TextBox 19"/>
          <p:cNvSpPr txBox="1"/>
          <p:nvPr/>
        </p:nvSpPr>
        <p:spPr>
          <a:xfrm>
            <a:off x="1019175" y="4033837"/>
            <a:ext cx="4724400" cy="226665"/>
          </a:xfrm>
          <a:prstGeom prst="rect">
            <a:avLst/>
          </a:prstGeom>
          <a:noFill/>
        </p:spPr>
        <p:txBody>
          <a:bodyPr wrap="square" lIns="76200" rIns="0" tIns="0" bIns="0" anchor="t">
            <a:spAutoFit/>
          </a:bodyPr>
          <a:lstStyle/>
          <a:p>
            <a:pPr algn="l">
              <a:lnSpc>
                <a:spcPts val="1785"/>
              </a:lnSpc>
            </a:pPr>
            <a:r>
              <a:rPr b="0" sz="1050" i="0" u="none">
                <a:solidFill>
                  <a:srgbClr val="334155"/>
                </a:solidFill>
                <a:latin typeface="Plus Jakarta Sans"/>
              </a:rPr>
              <a:t>Pass vs. Fail</a:t>
            </a:r>
          </a:p>
        </p:txBody>
      </p:sp>
      <p:sp>
        <p:nvSpPr>
          <p:cNvPr id="21" name="TextBox 20"/>
          <p:cNvSpPr txBox="1"/>
          <p:nvPr/>
        </p:nvSpPr>
        <p:spPr>
          <a:xfrm>
            <a:off x="6543675" y="3579554"/>
            <a:ext cx="76200" cy="228600"/>
          </a:xfrm>
          <a:prstGeom prst="rect">
            <a:avLst/>
          </a:prstGeom>
          <a:noFill/>
        </p:spPr>
        <p:txBody>
          <a:bodyPr wrap="square" lIns="0" rIns="0" tIns="0" bIns="0" anchor="t">
            <a:spAutoFit/>
          </a:bodyPr>
          <a:lstStyle/>
          <a:p>
            <a:pPr algn="l"/>
            <a:r>
              <a:rPr b="0" sz="1050" i="0" u="none">
                <a:solidFill>
                  <a:srgbClr val="334155"/>
                </a:solidFill>
                <a:latin typeface="Plus Jakarta Sans"/>
              </a:rPr>
              <a:t>•</a:t>
            </a:r>
          </a:p>
        </p:txBody>
      </p:sp>
      <p:sp>
        <p:nvSpPr>
          <p:cNvPr id="22" name="TextBox 21"/>
          <p:cNvSpPr txBox="1"/>
          <p:nvPr/>
        </p:nvSpPr>
        <p:spPr>
          <a:xfrm>
            <a:off x="6619875" y="3580507"/>
            <a:ext cx="4724400" cy="226665"/>
          </a:xfrm>
          <a:prstGeom prst="rect">
            <a:avLst/>
          </a:prstGeom>
          <a:noFill/>
        </p:spPr>
        <p:txBody>
          <a:bodyPr wrap="square" lIns="76200" rIns="0" tIns="0" bIns="0" anchor="t">
            <a:spAutoFit/>
          </a:bodyPr>
          <a:lstStyle/>
          <a:p>
            <a:pPr algn="l">
              <a:lnSpc>
                <a:spcPts val="1785"/>
              </a:lnSpc>
            </a:pPr>
            <a:r>
              <a:rPr b="0" sz="1050" i="0" u="none">
                <a:solidFill>
                  <a:srgbClr val="334155"/>
                </a:solidFill>
                <a:latin typeface="Plus Jakarta Sans"/>
              </a:rPr>
              <a:t>House Price ($350,000)</a:t>
            </a:r>
          </a:p>
        </p:txBody>
      </p:sp>
      <p:sp>
        <p:nvSpPr>
          <p:cNvPr id="23" name="TextBox 22"/>
          <p:cNvSpPr txBox="1"/>
          <p:nvPr/>
        </p:nvSpPr>
        <p:spPr>
          <a:xfrm>
            <a:off x="6543675" y="3806219"/>
            <a:ext cx="76200" cy="228600"/>
          </a:xfrm>
          <a:prstGeom prst="rect">
            <a:avLst/>
          </a:prstGeom>
          <a:noFill/>
        </p:spPr>
        <p:txBody>
          <a:bodyPr wrap="square" lIns="0" rIns="0" tIns="0" bIns="0" anchor="t">
            <a:spAutoFit/>
          </a:bodyPr>
          <a:lstStyle/>
          <a:p>
            <a:pPr algn="l"/>
            <a:r>
              <a:rPr b="0" sz="1050" i="0" u="none">
                <a:solidFill>
                  <a:srgbClr val="334155"/>
                </a:solidFill>
                <a:latin typeface="Plus Jakarta Sans"/>
              </a:rPr>
              <a:t>•</a:t>
            </a:r>
          </a:p>
        </p:txBody>
      </p:sp>
      <p:sp>
        <p:nvSpPr>
          <p:cNvPr id="24" name="TextBox 23"/>
          <p:cNvSpPr txBox="1"/>
          <p:nvPr/>
        </p:nvSpPr>
        <p:spPr>
          <a:xfrm>
            <a:off x="6619875" y="3807172"/>
            <a:ext cx="4724400" cy="226665"/>
          </a:xfrm>
          <a:prstGeom prst="rect">
            <a:avLst/>
          </a:prstGeom>
          <a:noFill/>
        </p:spPr>
        <p:txBody>
          <a:bodyPr wrap="square" lIns="76200" rIns="0" tIns="0" bIns="0" anchor="t">
            <a:spAutoFit/>
          </a:bodyPr>
          <a:lstStyle/>
          <a:p>
            <a:pPr algn="l">
              <a:lnSpc>
                <a:spcPts val="1785"/>
              </a:lnSpc>
            </a:pPr>
            <a:r>
              <a:rPr b="0" sz="1050" i="0" u="none">
                <a:solidFill>
                  <a:srgbClr val="334155"/>
                </a:solidFill>
                <a:latin typeface="Plus Jakarta Sans"/>
              </a:rPr>
              <a:t>Tomorrow's Temperature (28.5°C)</a:t>
            </a:r>
          </a:p>
        </p:txBody>
      </p:sp>
      <p:sp>
        <p:nvSpPr>
          <p:cNvPr id="25" name="TextBox 24"/>
          <p:cNvSpPr txBox="1"/>
          <p:nvPr/>
        </p:nvSpPr>
        <p:spPr>
          <a:xfrm>
            <a:off x="6543675" y="4032885"/>
            <a:ext cx="76200" cy="228600"/>
          </a:xfrm>
          <a:prstGeom prst="rect">
            <a:avLst/>
          </a:prstGeom>
          <a:noFill/>
        </p:spPr>
        <p:txBody>
          <a:bodyPr wrap="square" lIns="0" rIns="0" tIns="0" bIns="0" anchor="t">
            <a:spAutoFit/>
          </a:bodyPr>
          <a:lstStyle/>
          <a:p>
            <a:pPr algn="l"/>
            <a:r>
              <a:rPr b="0" sz="1050" i="0" u="none">
                <a:solidFill>
                  <a:srgbClr val="334155"/>
                </a:solidFill>
                <a:latin typeface="Plus Jakarta Sans"/>
              </a:rPr>
              <a:t>•</a:t>
            </a:r>
          </a:p>
        </p:txBody>
      </p:sp>
      <p:sp>
        <p:nvSpPr>
          <p:cNvPr id="26" name="TextBox 25"/>
          <p:cNvSpPr txBox="1"/>
          <p:nvPr/>
        </p:nvSpPr>
        <p:spPr>
          <a:xfrm>
            <a:off x="6619875" y="4033837"/>
            <a:ext cx="4724400" cy="226665"/>
          </a:xfrm>
          <a:prstGeom prst="rect">
            <a:avLst/>
          </a:prstGeom>
          <a:noFill/>
        </p:spPr>
        <p:txBody>
          <a:bodyPr wrap="square" lIns="76200" rIns="0" tIns="0" bIns="0" anchor="t">
            <a:spAutoFit/>
          </a:bodyPr>
          <a:lstStyle/>
          <a:p>
            <a:pPr algn="l">
              <a:lnSpc>
                <a:spcPts val="1785"/>
              </a:lnSpc>
            </a:pPr>
            <a:r>
              <a:rPr b="0" sz="1050" i="0" u="none">
                <a:solidFill>
                  <a:srgbClr val="334155"/>
                </a:solidFill>
                <a:latin typeface="Plus Jakarta Sans"/>
              </a:rPr>
              <a:t>Employee Salary ($65,000/yr)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258466"/>
            <a:ext cx="5534025" cy="2371725"/>
          </a:xfrm>
          <a:prstGeom prst="rect">
            <a:avLst/>
          </a:prstGeom>
        </p:spPr>
      </p:pic>
      <p:pic>
        <p:nvPicPr>
          <p:cNvPr id="3" name="Picture 2" descr="image.png"/>
          <p:cNvPicPr>
            <a:picLocks noChangeAspect="1"/>
          </p:cNvPicPr>
          <p:nvPr/>
        </p:nvPicPr>
        <p:blipFill>
          <a:blip r:embed="rId3"/>
          <a:stretch>
            <a:fillRect/>
          </a:stretch>
        </p:blipFill>
        <p:spPr>
          <a:xfrm>
            <a:off x="6372225" y="2653754"/>
            <a:ext cx="5210175" cy="733425"/>
          </a:xfrm>
          <a:prstGeom prst="rect">
            <a:avLst/>
          </a:prstGeom>
        </p:spPr>
      </p:pic>
      <p:pic>
        <p:nvPicPr>
          <p:cNvPr id="4" name="Picture 3" descr="image.png"/>
          <p:cNvPicPr>
            <a:picLocks noChangeAspect="1"/>
          </p:cNvPicPr>
          <p:nvPr/>
        </p:nvPicPr>
        <p:blipFill>
          <a:blip r:embed="rId3"/>
          <a:stretch>
            <a:fillRect/>
          </a:stretch>
        </p:blipFill>
        <p:spPr>
          <a:xfrm>
            <a:off x="6372225" y="3501479"/>
            <a:ext cx="5210175" cy="733425"/>
          </a:xfrm>
          <a:prstGeom prst="rect">
            <a:avLst/>
          </a:prstGeom>
        </p:spPr>
      </p:pic>
      <p:sp>
        <p:nvSpPr>
          <p:cNvPr id="5" name="Rectangle 4"/>
          <p:cNvSpPr/>
          <p:nvPr/>
        </p:nvSpPr>
        <p:spPr>
          <a:xfrm>
            <a:off x="609600" y="594568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2950" y="604093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"Point at the graph: The horizontal axis is House Size (Input x), and the vertical axis is Price (Output y). Our goal in regression is simply to draw the best straight line through these points so we can predict the price for any new house size."</a:t>
            </a:r>
          </a:p>
        </p:txBody>
      </p:sp>
      <p:sp>
        <p:nvSpPr>
          <p:cNvPr id="7" name="Rectangle 6"/>
          <p:cNvSpPr/>
          <p:nvPr/>
        </p:nvSpPr>
        <p:spPr>
          <a:xfrm>
            <a:off x="609600" y="594568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9333EA"/>
                </a:solidFill>
                <a:latin typeface="Plus Jakarta Sans"/>
              </a:rPr>
              <a:t>SECTION 4 • REGRESSION</a:t>
            </a:r>
          </a:p>
        </p:txBody>
      </p:sp>
      <p:sp>
        <p:nvSpPr>
          <p:cNvPr id="9" name="TextBox 8"/>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Linear Regression Example: House Prices</a:t>
            </a:r>
          </a:p>
        </p:txBody>
      </p:sp>
      <p:sp>
        <p:nvSpPr>
          <p:cNvPr id="10" name="TextBox 9"/>
          <p:cNvSpPr txBox="1"/>
          <p:nvPr/>
        </p:nvSpPr>
        <p:spPr>
          <a:xfrm>
            <a:off x="962025" y="4325391"/>
            <a:ext cx="4829175" cy="142875"/>
          </a:xfrm>
          <a:prstGeom prst="rect">
            <a:avLst/>
          </a:prstGeom>
          <a:noFill/>
        </p:spPr>
        <p:txBody>
          <a:bodyPr wrap="square" lIns="0" rIns="0" tIns="0" bIns="0" anchor="t">
            <a:spAutoFit/>
          </a:bodyPr>
          <a:lstStyle/>
          <a:p>
            <a:pPr algn="l"/>
            <a:r>
              <a:rPr b="0" sz="900" i="0" u="none">
                <a:solidFill>
                  <a:srgbClr val="64748B"/>
                </a:solidFill>
                <a:latin typeface="Plus Jakarta Sans"/>
              </a:rPr>
              <a:t>← Small Size (sq ft)</a:t>
            </a:r>
            <a:r>
              <a:rPr b="0" sz="900" i="0" u="none">
                <a:solidFill>
                  <a:srgbClr val="64748B"/>
                </a:solidFill>
                <a:latin typeface="Plus Jakarta Sans"/>
              </a:rPr>
              <a:t> </a:t>
            </a:r>
            <a:r>
              <a:rPr b="0" sz="900" i="0" u="none">
                <a:solidFill>
                  <a:srgbClr val="64748B"/>
                </a:solidFill>
                <a:latin typeface="Plus Jakarta Sans"/>
              </a:rPr>
              <a:t>Large Size (sq ft) →</a:t>
            </a:r>
          </a:p>
        </p:txBody>
      </p:sp>
      <p:pic>
        <p:nvPicPr>
          <p:cNvPr id="11" name="Picture 10" descr="image.png"/>
          <p:cNvPicPr>
            <a:picLocks noChangeAspect="1"/>
          </p:cNvPicPr>
          <p:nvPr/>
        </p:nvPicPr>
        <p:blipFill>
          <a:blip r:embed="rId4"/>
          <a:stretch>
            <a:fillRect/>
          </a:stretch>
        </p:blipFill>
        <p:spPr>
          <a:xfrm>
            <a:off x="771525" y="2420391"/>
            <a:ext cx="5210175" cy="1905000"/>
          </a:xfrm>
          <a:prstGeom prst="rect">
            <a:avLst/>
          </a:prstGeom>
        </p:spPr>
      </p:pic>
      <p:sp>
        <p:nvSpPr>
          <p:cNvPr id="12" name="TextBox 11"/>
          <p:cNvSpPr txBox="1"/>
          <p:nvPr/>
        </p:nvSpPr>
        <p:spPr>
          <a:xfrm>
            <a:off x="6534150" y="2815679"/>
            <a:ext cx="5130641" cy="200025"/>
          </a:xfrm>
          <a:prstGeom prst="rect">
            <a:avLst/>
          </a:prstGeom>
          <a:noFill/>
        </p:spPr>
        <p:txBody>
          <a:bodyPr wrap="square" lIns="95250" rIns="0" tIns="0" bIns="0" anchor="t">
            <a:spAutoFit/>
          </a:bodyPr>
          <a:lstStyle/>
          <a:p>
            <a:pPr algn="l"/>
            <a:r>
              <a:rPr b="1" sz="1200" i="0" u="none">
                <a:solidFill>
                  <a:srgbClr val="0F172A"/>
                </a:solidFill>
                <a:latin typeface="Plus Jakarta Sans"/>
              </a:rPr>
              <a:t>Blue Dots (Data)</a:t>
            </a:r>
          </a:p>
        </p:txBody>
      </p:sp>
      <p:sp>
        <p:nvSpPr>
          <p:cNvPr id="13" name="TextBox 12"/>
          <p:cNvSpPr txBox="1"/>
          <p:nvPr/>
        </p:nvSpPr>
        <p:spPr>
          <a:xfrm>
            <a:off x="6534150" y="3053804"/>
            <a:ext cx="4886325" cy="171450"/>
          </a:xfrm>
          <a:prstGeom prst="rect">
            <a:avLst/>
          </a:prstGeom>
          <a:noFill/>
        </p:spPr>
        <p:txBody>
          <a:bodyPr wrap="square" lIns="0" rIns="0" tIns="0" bIns="0" anchor="t">
            <a:spAutoFit/>
          </a:bodyPr>
          <a:lstStyle/>
          <a:p>
            <a:pPr algn="l"/>
            <a:r>
              <a:rPr b="0" sz="1050" i="0" u="none">
                <a:solidFill>
                  <a:srgbClr val="64748B"/>
                </a:solidFill>
                <a:latin typeface="Plus Jakarta Sans"/>
              </a:rPr>
              <a:t>Known house size and selling price.</a:t>
            </a:r>
          </a:p>
        </p:txBody>
      </p:sp>
      <p:sp>
        <p:nvSpPr>
          <p:cNvPr id="14" name="TextBox 13"/>
          <p:cNvSpPr txBox="1"/>
          <p:nvPr/>
        </p:nvSpPr>
        <p:spPr>
          <a:xfrm>
            <a:off x="6534150" y="3663404"/>
            <a:ext cx="5130641" cy="200025"/>
          </a:xfrm>
          <a:prstGeom prst="rect">
            <a:avLst/>
          </a:prstGeom>
          <a:noFill/>
        </p:spPr>
        <p:txBody>
          <a:bodyPr wrap="square" lIns="123825" rIns="0" tIns="0" bIns="0" anchor="t">
            <a:spAutoFit/>
          </a:bodyPr>
          <a:lstStyle/>
          <a:p>
            <a:pPr algn="l"/>
            <a:r>
              <a:rPr b="1" sz="1200" i="0" u="none">
                <a:solidFill>
                  <a:srgbClr val="0F172A"/>
                </a:solidFill>
                <a:latin typeface="Plus Jakarta Sans"/>
              </a:rPr>
              <a:t>Purple Line (Best Fit)</a:t>
            </a:r>
          </a:p>
        </p:txBody>
      </p:sp>
      <p:sp>
        <p:nvSpPr>
          <p:cNvPr id="15" name="TextBox 14"/>
          <p:cNvSpPr txBox="1"/>
          <p:nvPr/>
        </p:nvSpPr>
        <p:spPr>
          <a:xfrm>
            <a:off x="6534150" y="3901529"/>
            <a:ext cx="4886325" cy="171450"/>
          </a:xfrm>
          <a:prstGeom prst="rect">
            <a:avLst/>
          </a:prstGeom>
          <a:noFill/>
        </p:spPr>
        <p:txBody>
          <a:bodyPr wrap="square" lIns="0" rIns="0" tIns="0" bIns="0" anchor="t">
            <a:spAutoFit/>
          </a:bodyPr>
          <a:lstStyle/>
          <a:p>
            <a:pPr algn="l"/>
            <a:r>
              <a:rPr b="0" sz="1050" i="0" u="none">
                <a:solidFill>
                  <a:srgbClr val="64748B"/>
                </a:solidFill>
                <a:latin typeface="Plus Jakarta Sans"/>
              </a:rPr>
              <a:t>Straight line that passes closest to all dots.</a:t>
            </a:r>
          </a:p>
        </p:txBody>
      </p:sp>
      <p:pic>
        <p:nvPicPr>
          <p:cNvPr id="16" name="Picture 15" descr="image.png"/>
          <p:cNvPicPr>
            <a:picLocks noChangeAspect="1"/>
          </p:cNvPicPr>
          <p:nvPr/>
        </p:nvPicPr>
        <p:blipFill>
          <a:blip r:embed="rId5"/>
          <a:stretch>
            <a:fillRect/>
          </a:stretch>
        </p:blipFill>
        <p:spPr>
          <a:xfrm>
            <a:off x="6534150" y="2891879"/>
            <a:ext cx="95250" cy="95250"/>
          </a:xfrm>
          <a:prstGeom prst="rect">
            <a:avLst/>
          </a:prstGeom>
        </p:spPr>
      </p:pic>
      <p:pic>
        <p:nvPicPr>
          <p:cNvPr id="17" name="Picture 16" descr="image.png"/>
          <p:cNvPicPr>
            <a:picLocks noChangeAspect="1"/>
          </p:cNvPicPr>
          <p:nvPr/>
        </p:nvPicPr>
        <p:blipFill>
          <a:blip r:embed="rId6"/>
          <a:stretch>
            <a:fillRect/>
          </a:stretch>
        </p:blipFill>
        <p:spPr>
          <a:xfrm>
            <a:off x="6534150" y="3711029"/>
            <a:ext cx="123825" cy="13335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1636365"/>
            <a:ext cx="10972800" cy="952500"/>
          </a:xfrm>
          <a:prstGeom prst="rect">
            <a:avLst/>
          </a:prstGeom>
        </p:spPr>
      </p:pic>
      <p:pic>
        <p:nvPicPr>
          <p:cNvPr id="3" name="Picture 2" descr="image.png"/>
          <p:cNvPicPr>
            <a:picLocks noChangeAspect="1"/>
          </p:cNvPicPr>
          <p:nvPr/>
        </p:nvPicPr>
        <p:blipFill>
          <a:blip r:embed="rId3"/>
          <a:stretch>
            <a:fillRect/>
          </a:stretch>
        </p:blipFill>
        <p:spPr>
          <a:xfrm>
            <a:off x="609600" y="4890045"/>
            <a:ext cx="10972800" cy="361950"/>
          </a:xfrm>
          <a:prstGeom prst="rect">
            <a:avLst/>
          </a:prstGeom>
        </p:spPr>
      </p:pic>
      <p:pic>
        <p:nvPicPr>
          <p:cNvPr id="4" name="Picture 3" descr="image.png"/>
          <p:cNvPicPr>
            <a:picLocks noChangeAspect="1"/>
          </p:cNvPicPr>
          <p:nvPr/>
        </p:nvPicPr>
        <p:blipFill>
          <a:blip r:embed="rId4"/>
          <a:stretch>
            <a:fillRect/>
          </a:stretch>
        </p:blipFill>
        <p:spPr>
          <a:xfrm>
            <a:off x="609600" y="3282255"/>
            <a:ext cx="2628900" cy="914400"/>
          </a:xfrm>
          <a:prstGeom prst="rect">
            <a:avLst/>
          </a:prstGeom>
        </p:spPr>
      </p:pic>
      <p:pic>
        <p:nvPicPr>
          <p:cNvPr id="5" name="Picture 4" descr="image.png"/>
          <p:cNvPicPr>
            <a:picLocks noChangeAspect="1"/>
          </p:cNvPicPr>
          <p:nvPr/>
        </p:nvPicPr>
        <p:blipFill>
          <a:blip r:embed="rId4"/>
          <a:stretch>
            <a:fillRect/>
          </a:stretch>
        </p:blipFill>
        <p:spPr>
          <a:xfrm>
            <a:off x="3390900" y="3282255"/>
            <a:ext cx="2628900" cy="914400"/>
          </a:xfrm>
          <a:prstGeom prst="rect">
            <a:avLst/>
          </a:prstGeom>
        </p:spPr>
      </p:pic>
      <p:pic>
        <p:nvPicPr>
          <p:cNvPr id="6" name="Picture 5" descr="image.png"/>
          <p:cNvPicPr>
            <a:picLocks noChangeAspect="1"/>
          </p:cNvPicPr>
          <p:nvPr/>
        </p:nvPicPr>
        <p:blipFill>
          <a:blip r:embed="rId4"/>
          <a:stretch>
            <a:fillRect/>
          </a:stretch>
        </p:blipFill>
        <p:spPr>
          <a:xfrm>
            <a:off x="6172200" y="3282255"/>
            <a:ext cx="2628900" cy="914400"/>
          </a:xfrm>
          <a:prstGeom prst="rect">
            <a:avLst/>
          </a:prstGeom>
        </p:spPr>
      </p:pic>
      <p:pic>
        <p:nvPicPr>
          <p:cNvPr id="7" name="Picture 6" descr="image.png"/>
          <p:cNvPicPr>
            <a:picLocks noChangeAspect="1"/>
          </p:cNvPicPr>
          <p:nvPr/>
        </p:nvPicPr>
        <p:blipFill>
          <a:blip r:embed="rId4"/>
          <a:stretch>
            <a:fillRect/>
          </a:stretch>
        </p:blipFill>
        <p:spPr>
          <a:xfrm>
            <a:off x="8953500" y="3282255"/>
            <a:ext cx="2628900" cy="914400"/>
          </a:xfrm>
          <a:prstGeom prst="rect">
            <a:avLst/>
          </a:prstGeom>
        </p:spPr>
      </p:pic>
      <p:sp>
        <p:nvSpPr>
          <p:cNvPr id="8" name="Rectangle 7"/>
          <p:cNvSpPr/>
          <p:nvPr/>
        </p:nvSpPr>
        <p:spPr>
          <a:xfrm>
            <a:off x="609600" y="5945385"/>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2950" y="6040635"/>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"Break down y = wx + b using simple terms: x is what we give the model (house size). w is the slope (how much price jumps per square foot). b is the base starting price. The model adjusts w and b during training to make errors as small as possible."</a:t>
            </a:r>
          </a:p>
        </p:txBody>
      </p:sp>
      <p:sp>
        <p:nvSpPr>
          <p:cNvPr id="10" name="Rectangle 9"/>
          <p:cNvSpPr/>
          <p:nvPr/>
        </p:nvSpPr>
        <p:spPr>
          <a:xfrm>
            <a:off x="609600" y="5945385"/>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9333EA"/>
                </a:solidFill>
                <a:latin typeface="Plus Jakarta Sans"/>
              </a:rPr>
              <a:t>SECTION 4 • REGRESSION</a:t>
            </a:r>
          </a:p>
        </p:txBody>
      </p:sp>
      <p:sp>
        <p:nvSpPr>
          <p:cNvPr id="12" name="TextBox 11"/>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The Linear Model: y = wx + b</a:t>
            </a:r>
          </a:p>
        </p:txBody>
      </p:sp>
      <p:sp>
        <p:nvSpPr>
          <p:cNvPr id="13" name="TextBox 12"/>
          <p:cNvSpPr txBox="1"/>
          <p:nvPr/>
        </p:nvSpPr>
        <p:spPr>
          <a:xfrm>
            <a:off x="809625" y="2217390"/>
            <a:ext cx="10572750" cy="171450"/>
          </a:xfrm>
          <a:prstGeom prst="rect">
            <a:avLst/>
          </a:prstGeom>
          <a:noFill/>
        </p:spPr>
        <p:txBody>
          <a:bodyPr wrap="square" lIns="0" rIns="0" tIns="0" bIns="0" anchor="t">
            <a:spAutoFit/>
          </a:bodyPr>
          <a:lstStyle/>
          <a:p>
            <a:pPr algn="ctr"/>
            <a:r>
              <a:rPr b="0" sz="1050" i="0" u="none">
                <a:solidFill>
                  <a:srgbClr val="64748B"/>
                </a:solidFill>
                <a:latin typeface="Plus Jakarta Sans"/>
              </a:rPr>
              <a:t>Straight line equation learned by the computer</a:t>
            </a:r>
          </a:p>
        </p:txBody>
      </p:sp>
      <p:pic>
        <p:nvPicPr>
          <p:cNvPr id="14" name="Picture 13" descr="image.png"/>
          <p:cNvPicPr>
            <a:picLocks noChangeAspect="1"/>
          </p:cNvPicPr>
          <p:nvPr/>
        </p:nvPicPr>
        <p:blipFill>
          <a:blip r:embed="rId5"/>
          <a:stretch>
            <a:fillRect/>
          </a:stretch>
        </p:blipFill>
        <p:spPr>
          <a:xfrm>
            <a:off x="5416301" y="1931640"/>
            <a:ext cx="1359247" cy="285750"/>
          </a:xfrm>
          <a:prstGeom prst="rect">
            <a:avLst/>
          </a:prstGeom>
        </p:spPr>
      </p:pic>
      <p:sp>
        <p:nvSpPr>
          <p:cNvPr id="15" name="TextBox 14"/>
          <p:cNvSpPr txBox="1"/>
          <p:nvPr/>
        </p:nvSpPr>
        <p:spPr>
          <a:xfrm>
            <a:off x="1866900" y="3425130"/>
            <a:ext cx="114300" cy="238125"/>
          </a:xfrm>
          <a:prstGeom prst="rect">
            <a:avLst/>
          </a:prstGeom>
          <a:noFill/>
        </p:spPr>
        <p:txBody>
          <a:bodyPr wrap="square" lIns="0" rIns="0" tIns="0" bIns="0" anchor="t">
            <a:spAutoFit/>
          </a:bodyPr>
          <a:lstStyle/>
          <a:p>
            <a:pPr algn="ctr"/>
            <a:r>
              <a:rPr b="0" sz="1500" i="0" u="none">
                <a:solidFill>
                  <a:srgbClr val="2563EB"/>
                </a:solidFill>
                <a:latin typeface="Plus Jakarta Sans ExtraBold"/>
              </a:rPr>
              <a:t>x</a:t>
            </a:r>
          </a:p>
        </p:txBody>
      </p:sp>
      <p:sp>
        <p:nvSpPr>
          <p:cNvPr id="16" name="TextBox 15"/>
          <p:cNvSpPr txBox="1"/>
          <p:nvPr/>
        </p:nvSpPr>
        <p:spPr>
          <a:xfrm>
            <a:off x="693896" y="3701355"/>
            <a:ext cx="2460307" cy="180975"/>
          </a:xfrm>
          <a:prstGeom prst="rect">
            <a:avLst/>
          </a:prstGeom>
          <a:noFill/>
        </p:spPr>
        <p:txBody>
          <a:bodyPr wrap="square" lIns="0" rIns="0" tIns="0" bIns="0" anchor="t">
            <a:spAutoFit/>
          </a:bodyPr>
          <a:lstStyle/>
          <a:p>
            <a:pPr algn="ctr"/>
            <a:r>
              <a:rPr b="1" sz="1125" i="0" u="none">
                <a:solidFill>
                  <a:srgbClr val="0F172A"/>
                </a:solidFill>
                <a:latin typeface="Plus Jakarta Sans"/>
              </a:rPr>
              <a:t>Input Feature</a:t>
            </a:r>
          </a:p>
        </p:txBody>
      </p:sp>
      <p:sp>
        <p:nvSpPr>
          <p:cNvPr id="17" name="TextBox 16"/>
          <p:cNvSpPr txBox="1"/>
          <p:nvPr/>
        </p:nvSpPr>
        <p:spPr>
          <a:xfrm>
            <a:off x="752475" y="3901380"/>
            <a:ext cx="2343150" cy="152400"/>
          </a:xfrm>
          <a:prstGeom prst="rect">
            <a:avLst/>
          </a:prstGeom>
          <a:noFill/>
        </p:spPr>
        <p:txBody>
          <a:bodyPr wrap="square" lIns="0" rIns="0" tIns="0" bIns="0" anchor="t">
            <a:spAutoFit/>
          </a:bodyPr>
          <a:lstStyle/>
          <a:p>
            <a:pPr algn="ctr"/>
            <a:r>
              <a:rPr b="0" sz="975" i="0" u="none">
                <a:solidFill>
                  <a:srgbClr val="64748B"/>
                </a:solidFill>
                <a:latin typeface="Plus Jakarta Sans"/>
              </a:rPr>
              <a:t>House size (sq ft)</a:t>
            </a:r>
          </a:p>
        </p:txBody>
      </p:sp>
      <p:sp>
        <p:nvSpPr>
          <p:cNvPr id="18" name="TextBox 17"/>
          <p:cNvSpPr txBox="1"/>
          <p:nvPr/>
        </p:nvSpPr>
        <p:spPr>
          <a:xfrm>
            <a:off x="4619625" y="3425130"/>
            <a:ext cx="171450" cy="238125"/>
          </a:xfrm>
          <a:prstGeom prst="rect">
            <a:avLst/>
          </a:prstGeom>
          <a:noFill/>
        </p:spPr>
        <p:txBody>
          <a:bodyPr wrap="square" lIns="0" rIns="0" tIns="0" bIns="0" anchor="t">
            <a:spAutoFit/>
          </a:bodyPr>
          <a:lstStyle/>
          <a:p>
            <a:pPr algn="ctr"/>
            <a:r>
              <a:rPr b="0" sz="1500" i="0" u="none">
                <a:solidFill>
                  <a:srgbClr val="9333EA"/>
                </a:solidFill>
                <a:latin typeface="Plus Jakarta Sans ExtraBold"/>
              </a:rPr>
              <a:t>w</a:t>
            </a:r>
          </a:p>
        </p:txBody>
      </p:sp>
      <p:sp>
        <p:nvSpPr>
          <p:cNvPr id="19" name="TextBox 18"/>
          <p:cNvSpPr txBox="1"/>
          <p:nvPr/>
        </p:nvSpPr>
        <p:spPr>
          <a:xfrm>
            <a:off x="3475196" y="3701355"/>
            <a:ext cx="2460307" cy="180975"/>
          </a:xfrm>
          <a:prstGeom prst="rect">
            <a:avLst/>
          </a:prstGeom>
          <a:noFill/>
        </p:spPr>
        <p:txBody>
          <a:bodyPr wrap="square" lIns="0" rIns="0" tIns="0" bIns="0" anchor="t">
            <a:spAutoFit/>
          </a:bodyPr>
          <a:lstStyle/>
          <a:p>
            <a:pPr algn="ctr"/>
            <a:r>
              <a:rPr b="1" sz="1125" i="0" u="none">
                <a:solidFill>
                  <a:srgbClr val="0F172A"/>
                </a:solidFill>
                <a:latin typeface="Plus Jakarta Sans"/>
              </a:rPr>
              <a:t>Weight / Slope</a:t>
            </a:r>
          </a:p>
        </p:txBody>
      </p:sp>
      <p:sp>
        <p:nvSpPr>
          <p:cNvPr id="20" name="TextBox 19"/>
          <p:cNvSpPr txBox="1"/>
          <p:nvPr/>
        </p:nvSpPr>
        <p:spPr>
          <a:xfrm>
            <a:off x="3533775" y="3901380"/>
            <a:ext cx="2343150" cy="152400"/>
          </a:xfrm>
          <a:prstGeom prst="rect">
            <a:avLst/>
          </a:prstGeom>
          <a:noFill/>
        </p:spPr>
        <p:txBody>
          <a:bodyPr wrap="square" lIns="0" rIns="0" tIns="0" bIns="0" anchor="t">
            <a:spAutoFit/>
          </a:bodyPr>
          <a:lstStyle/>
          <a:p>
            <a:pPr algn="ctr"/>
            <a:r>
              <a:rPr b="0" sz="975" i="0" u="none">
                <a:solidFill>
                  <a:srgbClr val="64748B"/>
                </a:solidFill>
                <a:latin typeface="Plus Jakarta Sans"/>
              </a:rPr>
              <a:t>Price increase per sq ft</a:t>
            </a:r>
          </a:p>
        </p:txBody>
      </p:sp>
      <p:sp>
        <p:nvSpPr>
          <p:cNvPr id="21" name="TextBox 20"/>
          <p:cNvSpPr txBox="1"/>
          <p:nvPr/>
        </p:nvSpPr>
        <p:spPr>
          <a:xfrm>
            <a:off x="7424737" y="3425130"/>
            <a:ext cx="123825" cy="238125"/>
          </a:xfrm>
          <a:prstGeom prst="rect">
            <a:avLst/>
          </a:prstGeom>
          <a:noFill/>
        </p:spPr>
        <p:txBody>
          <a:bodyPr wrap="square" lIns="0" rIns="0" tIns="0" bIns="0" anchor="t">
            <a:spAutoFit/>
          </a:bodyPr>
          <a:lstStyle/>
          <a:p>
            <a:pPr algn="ctr"/>
            <a:r>
              <a:rPr b="0" sz="1500" i="0" u="none">
                <a:solidFill>
                  <a:srgbClr val="D97706"/>
                </a:solidFill>
                <a:latin typeface="Plus Jakarta Sans ExtraBold"/>
              </a:rPr>
              <a:t>b</a:t>
            </a:r>
          </a:p>
        </p:txBody>
      </p:sp>
      <p:sp>
        <p:nvSpPr>
          <p:cNvPr id="22" name="TextBox 21"/>
          <p:cNvSpPr txBox="1"/>
          <p:nvPr/>
        </p:nvSpPr>
        <p:spPr>
          <a:xfrm>
            <a:off x="6256496" y="3701355"/>
            <a:ext cx="2460307" cy="180975"/>
          </a:xfrm>
          <a:prstGeom prst="rect">
            <a:avLst/>
          </a:prstGeom>
          <a:noFill/>
        </p:spPr>
        <p:txBody>
          <a:bodyPr wrap="square" lIns="0" rIns="0" tIns="0" bIns="0" anchor="t">
            <a:spAutoFit/>
          </a:bodyPr>
          <a:lstStyle/>
          <a:p>
            <a:pPr algn="ctr"/>
            <a:r>
              <a:rPr b="1" sz="1125" i="0" u="none">
                <a:solidFill>
                  <a:srgbClr val="0F172A"/>
                </a:solidFill>
                <a:latin typeface="Plus Jakarta Sans"/>
              </a:rPr>
              <a:t>Bias / Intercept</a:t>
            </a:r>
          </a:p>
        </p:txBody>
      </p:sp>
      <p:sp>
        <p:nvSpPr>
          <p:cNvPr id="23" name="TextBox 22"/>
          <p:cNvSpPr txBox="1"/>
          <p:nvPr/>
        </p:nvSpPr>
        <p:spPr>
          <a:xfrm>
            <a:off x="6315075" y="3901380"/>
            <a:ext cx="2343150" cy="152400"/>
          </a:xfrm>
          <a:prstGeom prst="rect">
            <a:avLst/>
          </a:prstGeom>
          <a:noFill/>
        </p:spPr>
        <p:txBody>
          <a:bodyPr wrap="square" lIns="0" rIns="0" tIns="0" bIns="0" anchor="t">
            <a:spAutoFit/>
          </a:bodyPr>
          <a:lstStyle/>
          <a:p>
            <a:pPr algn="ctr"/>
            <a:r>
              <a:rPr b="0" sz="975" i="0" u="none">
                <a:solidFill>
                  <a:srgbClr val="64748B"/>
                </a:solidFill>
                <a:latin typeface="Plus Jakarta Sans"/>
              </a:rPr>
              <a:t>Base minimum price</a:t>
            </a:r>
          </a:p>
        </p:txBody>
      </p:sp>
      <p:sp>
        <p:nvSpPr>
          <p:cNvPr id="24" name="TextBox 23"/>
          <p:cNvSpPr txBox="1"/>
          <p:nvPr/>
        </p:nvSpPr>
        <p:spPr>
          <a:xfrm>
            <a:off x="10210800" y="3425130"/>
            <a:ext cx="114300" cy="238125"/>
          </a:xfrm>
          <a:prstGeom prst="rect">
            <a:avLst/>
          </a:prstGeom>
          <a:noFill/>
        </p:spPr>
        <p:txBody>
          <a:bodyPr wrap="square" lIns="0" rIns="0" tIns="0" bIns="0" anchor="t">
            <a:spAutoFit/>
          </a:bodyPr>
          <a:lstStyle/>
          <a:p>
            <a:pPr algn="ctr"/>
            <a:r>
              <a:rPr b="0" sz="1500" i="0" u="none">
                <a:solidFill>
                  <a:srgbClr val="16A34A"/>
                </a:solidFill>
                <a:latin typeface="Plus Jakarta Sans ExtraBold"/>
              </a:rPr>
              <a:t>y</a:t>
            </a:r>
          </a:p>
        </p:txBody>
      </p:sp>
      <p:sp>
        <p:nvSpPr>
          <p:cNvPr id="25" name="TextBox 24"/>
          <p:cNvSpPr txBox="1"/>
          <p:nvPr/>
        </p:nvSpPr>
        <p:spPr>
          <a:xfrm>
            <a:off x="9037796" y="3701355"/>
            <a:ext cx="2460307" cy="180975"/>
          </a:xfrm>
          <a:prstGeom prst="rect">
            <a:avLst/>
          </a:prstGeom>
          <a:noFill/>
        </p:spPr>
        <p:txBody>
          <a:bodyPr wrap="square" lIns="0" rIns="0" tIns="0" bIns="0" anchor="t">
            <a:spAutoFit/>
          </a:bodyPr>
          <a:lstStyle/>
          <a:p>
            <a:pPr algn="ctr"/>
            <a:r>
              <a:rPr b="1" sz="1125" i="0" u="none">
                <a:solidFill>
                  <a:srgbClr val="0F172A"/>
                </a:solidFill>
                <a:latin typeface="Plus Jakarta Sans"/>
              </a:rPr>
              <a:t>Prediction</a:t>
            </a:r>
          </a:p>
        </p:txBody>
      </p:sp>
      <p:sp>
        <p:nvSpPr>
          <p:cNvPr id="26" name="TextBox 25"/>
          <p:cNvSpPr txBox="1"/>
          <p:nvPr/>
        </p:nvSpPr>
        <p:spPr>
          <a:xfrm>
            <a:off x="9096375" y="3901380"/>
            <a:ext cx="2343150" cy="152400"/>
          </a:xfrm>
          <a:prstGeom prst="rect">
            <a:avLst/>
          </a:prstGeom>
          <a:noFill/>
        </p:spPr>
        <p:txBody>
          <a:bodyPr wrap="square" lIns="0" rIns="0" tIns="0" bIns="0" anchor="t">
            <a:spAutoFit/>
          </a:bodyPr>
          <a:lstStyle/>
          <a:p>
            <a:pPr algn="ctr"/>
            <a:r>
              <a:rPr b="0" sz="975" i="0" u="none">
                <a:solidFill>
                  <a:srgbClr val="64748B"/>
                </a:solidFill>
                <a:latin typeface="Plus Jakarta Sans"/>
              </a:rPr>
              <a:t>Estimated total price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510879"/>
            <a:ext cx="5391150" cy="1866900"/>
          </a:xfrm>
          <a:prstGeom prst="rect">
            <a:avLst/>
          </a:prstGeom>
        </p:spPr>
      </p:pic>
      <p:pic>
        <p:nvPicPr>
          <p:cNvPr id="3" name="Picture 2" descr="image.png"/>
          <p:cNvPicPr>
            <a:picLocks noChangeAspect="1"/>
          </p:cNvPicPr>
          <p:nvPr/>
        </p:nvPicPr>
        <p:blipFill>
          <a:blip r:embed="rId3"/>
          <a:stretch>
            <a:fillRect/>
          </a:stretch>
        </p:blipFill>
        <p:spPr>
          <a:xfrm>
            <a:off x="6191250" y="2510879"/>
            <a:ext cx="5391150" cy="1866900"/>
          </a:xfrm>
          <a:prstGeom prst="rect">
            <a:avLst/>
          </a:prstGeom>
        </p:spPr>
      </p:pic>
      <p:pic>
        <p:nvPicPr>
          <p:cNvPr id="4" name="Picture 3" descr="image.png"/>
          <p:cNvPicPr>
            <a:picLocks noChangeAspect="1"/>
          </p:cNvPicPr>
          <p:nvPr/>
        </p:nvPicPr>
        <p:blipFill>
          <a:blip r:embed="rId4"/>
          <a:stretch>
            <a:fillRect/>
          </a:stretch>
        </p:blipFill>
        <p:spPr>
          <a:xfrm>
            <a:off x="828675" y="3815804"/>
            <a:ext cx="4953000" cy="342900"/>
          </a:xfrm>
          <a:prstGeom prst="rect">
            <a:avLst/>
          </a:prstGeom>
        </p:spPr>
      </p:pic>
      <p:pic>
        <p:nvPicPr>
          <p:cNvPr id="5" name="Picture 4" descr="image.png"/>
          <p:cNvPicPr>
            <a:picLocks noChangeAspect="1"/>
          </p:cNvPicPr>
          <p:nvPr/>
        </p:nvPicPr>
        <p:blipFill>
          <a:blip r:embed="rId5"/>
          <a:stretch>
            <a:fillRect/>
          </a:stretch>
        </p:blipFill>
        <p:spPr>
          <a:xfrm>
            <a:off x="6410325" y="3815804"/>
            <a:ext cx="4953000" cy="342900"/>
          </a:xfrm>
          <a:prstGeom prst="rect">
            <a:avLst/>
          </a:prstGeom>
        </p:spPr>
      </p:pic>
      <p:sp>
        <p:nvSpPr>
          <p:cNvPr id="6" name="Rectangle 5"/>
          <p:cNvSpPr/>
          <p:nvPr/>
        </p:nvSpPr>
        <p:spPr>
          <a:xfrm>
            <a:off x="609600" y="594568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604093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"Ask students: 'If a student scores 100% on textbook homework by copying solutions, will they score 100% on a surprise final exam?' No! That ability to solve new surprise questions is Generalization. Model selection is choosing the best student strategy."</a:t>
            </a:r>
          </a:p>
        </p:txBody>
      </p:sp>
      <p:sp>
        <p:nvSpPr>
          <p:cNvPr id="8" name="Rectangle 7"/>
          <p:cNvSpPr/>
          <p:nvPr/>
        </p:nvSpPr>
        <p:spPr>
          <a:xfrm>
            <a:off x="609600" y="594568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D97706"/>
                </a:solidFill>
                <a:latin typeface="Plus Jakarta Sans"/>
              </a:rPr>
              <a:t>SECTION 5 • MODEL SELECTION &amp; GENERALIZATION</a:t>
            </a:r>
          </a:p>
        </p:txBody>
      </p:sp>
      <p:sp>
        <p:nvSpPr>
          <p:cNvPr id="10" name="TextBox 9"/>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Model Selection and Generalization</a:t>
            </a:r>
          </a:p>
        </p:txBody>
      </p:sp>
      <p:sp>
        <p:nvSpPr>
          <p:cNvPr id="11" name="TextBox 10"/>
          <p:cNvSpPr txBox="1"/>
          <p:nvPr/>
        </p:nvSpPr>
        <p:spPr>
          <a:xfrm>
            <a:off x="828675" y="2768054"/>
            <a:ext cx="676275" cy="152400"/>
          </a:xfrm>
          <a:prstGeom prst="rect">
            <a:avLst/>
          </a:prstGeom>
          <a:noFill/>
        </p:spPr>
        <p:txBody>
          <a:bodyPr wrap="square" lIns="0" rIns="0" tIns="0" bIns="0" anchor="t">
            <a:spAutoFit/>
          </a:bodyPr>
          <a:lstStyle/>
          <a:p>
            <a:pPr algn="l"/>
            <a:r>
              <a:rPr b="1" sz="975" i="0" u="none">
                <a:solidFill>
                  <a:srgbClr val="D97706"/>
                </a:solidFill>
                <a:latin typeface="Plus Jakarta Sans"/>
              </a:rPr>
              <a:t>CONCEPT 1</a:t>
            </a:r>
          </a:p>
        </p:txBody>
      </p:sp>
      <p:sp>
        <p:nvSpPr>
          <p:cNvPr id="12" name="TextBox 11"/>
          <p:cNvSpPr txBox="1"/>
          <p:nvPr/>
        </p:nvSpPr>
        <p:spPr>
          <a:xfrm>
            <a:off x="828675" y="2968079"/>
            <a:ext cx="5200650" cy="238125"/>
          </a:xfrm>
          <a:prstGeom prst="rect">
            <a:avLst/>
          </a:prstGeom>
          <a:noFill/>
        </p:spPr>
        <p:txBody>
          <a:bodyPr wrap="square" lIns="0" rIns="0" tIns="0" bIns="0" anchor="t">
            <a:spAutoFit/>
          </a:bodyPr>
          <a:lstStyle/>
          <a:p>
            <a:pPr algn="l"/>
            <a:r>
              <a:rPr b="1" sz="1500" i="0" u="none">
                <a:solidFill>
                  <a:srgbClr val="0F172A"/>
                </a:solidFill>
                <a:latin typeface="Plus Jakarta Sans"/>
              </a:rPr>
              <a:t>Model Selection</a:t>
            </a:r>
          </a:p>
        </p:txBody>
      </p:sp>
      <p:sp>
        <p:nvSpPr>
          <p:cNvPr id="13" name="TextBox 12"/>
          <p:cNvSpPr txBox="1"/>
          <p:nvPr/>
        </p:nvSpPr>
        <p:spPr>
          <a:xfrm>
            <a:off x="828675" y="3282404"/>
            <a:ext cx="4953000" cy="400050"/>
          </a:xfrm>
          <a:prstGeom prst="rect">
            <a:avLst/>
          </a:prstGeom>
          <a:noFill/>
        </p:spPr>
        <p:txBody>
          <a:bodyPr wrap="square" lIns="0" rIns="0" tIns="0" bIns="0" anchor="t">
            <a:spAutoFit/>
          </a:bodyPr>
          <a:lstStyle/>
          <a:p>
            <a:pPr algn="l">
              <a:lnSpc>
                <a:spcPts val="1575"/>
              </a:lnSpc>
            </a:pPr>
            <a:r>
              <a:rPr b="0" sz="1125" i="0" u="none">
                <a:solidFill>
                  <a:srgbClr val="475569"/>
                </a:solidFill>
                <a:latin typeface="Plus Jakarta Sans"/>
              </a:rPr>
              <a:t>"Choosing the best algorithm and settings (hyperparameters) for a given problem."</a:t>
            </a:r>
          </a:p>
        </p:txBody>
      </p:sp>
      <p:sp>
        <p:nvSpPr>
          <p:cNvPr id="14" name="TextBox 13"/>
          <p:cNvSpPr txBox="1"/>
          <p:nvPr/>
        </p:nvSpPr>
        <p:spPr>
          <a:xfrm>
            <a:off x="6410325" y="2768054"/>
            <a:ext cx="704850" cy="152400"/>
          </a:xfrm>
          <a:prstGeom prst="rect">
            <a:avLst/>
          </a:prstGeom>
          <a:noFill/>
        </p:spPr>
        <p:txBody>
          <a:bodyPr wrap="square" lIns="0" rIns="0" tIns="0" bIns="0" anchor="t">
            <a:spAutoFit/>
          </a:bodyPr>
          <a:lstStyle/>
          <a:p>
            <a:pPr algn="l"/>
            <a:r>
              <a:rPr b="1" sz="975" i="0" u="none">
                <a:solidFill>
                  <a:srgbClr val="2563EB"/>
                </a:solidFill>
                <a:latin typeface="Plus Jakarta Sans"/>
              </a:rPr>
              <a:t>CONCEPT 2</a:t>
            </a:r>
          </a:p>
        </p:txBody>
      </p:sp>
      <p:sp>
        <p:nvSpPr>
          <p:cNvPr id="15" name="TextBox 14"/>
          <p:cNvSpPr txBox="1"/>
          <p:nvPr/>
        </p:nvSpPr>
        <p:spPr>
          <a:xfrm>
            <a:off x="6410325" y="2968079"/>
            <a:ext cx="5200650" cy="238125"/>
          </a:xfrm>
          <a:prstGeom prst="rect">
            <a:avLst/>
          </a:prstGeom>
          <a:noFill/>
        </p:spPr>
        <p:txBody>
          <a:bodyPr wrap="square" lIns="0" rIns="0" tIns="0" bIns="0" anchor="t">
            <a:spAutoFit/>
          </a:bodyPr>
          <a:lstStyle/>
          <a:p>
            <a:pPr algn="l"/>
            <a:r>
              <a:rPr b="1" sz="1500" i="0" u="none">
                <a:solidFill>
                  <a:srgbClr val="0F172A"/>
                </a:solidFill>
                <a:latin typeface="Plus Jakarta Sans"/>
              </a:rPr>
              <a:t>Generalization</a:t>
            </a:r>
          </a:p>
        </p:txBody>
      </p:sp>
      <p:sp>
        <p:nvSpPr>
          <p:cNvPr id="16" name="TextBox 15"/>
          <p:cNvSpPr txBox="1"/>
          <p:nvPr/>
        </p:nvSpPr>
        <p:spPr>
          <a:xfrm>
            <a:off x="6410325" y="3282404"/>
            <a:ext cx="4953000" cy="400050"/>
          </a:xfrm>
          <a:prstGeom prst="rect">
            <a:avLst/>
          </a:prstGeom>
          <a:noFill/>
        </p:spPr>
        <p:txBody>
          <a:bodyPr wrap="square" lIns="0" rIns="0" tIns="0" bIns="0" anchor="t">
            <a:spAutoFit/>
          </a:bodyPr>
          <a:lstStyle/>
          <a:p>
            <a:pPr algn="l">
              <a:lnSpc>
                <a:spcPts val="1575"/>
              </a:lnSpc>
            </a:pPr>
            <a:r>
              <a:rPr b="0" sz="1125" i="0" u="none">
                <a:solidFill>
                  <a:srgbClr val="475569"/>
                </a:solidFill>
                <a:latin typeface="Plus Jakarta Sans"/>
              </a:rPr>
              <a:t>"The ability of a model to perform accurately on completely new, unseen future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2482304"/>
            <a:ext cx="3549699" cy="1924050"/>
          </a:xfrm>
          <a:prstGeom prst="rect">
            <a:avLst/>
          </a:prstGeom>
        </p:spPr>
      </p:pic>
      <p:pic>
        <p:nvPicPr>
          <p:cNvPr id="3" name="Picture 2" descr="image.png"/>
          <p:cNvPicPr>
            <a:picLocks noChangeAspect="1"/>
          </p:cNvPicPr>
          <p:nvPr/>
        </p:nvPicPr>
        <p:blipFill>
          <a:blip r:embed="rId3"/>
          <a:stretch>
            <a:fillRect/>
          </a:stretch>
        </p:blipFill>
        <p:spPr>
          <a:xfrm>
            <a:off x="4311699" y="2482304"/>
            <a:ext cx="3568749" cy="1924050"/>
          </a:xfrm>
          <a:prstGeom prst="rect">
            <a:avLst/>
          </a:prstGeom>
        </p:spPr>
      </p:pic>
      <p:pic>
        <p:nvPicPr>
          <p:cNvPr id="4" name="Picture 3" descr="image.png"/>
          <p:cNvPicPr>
            <a:picLocks noChangeAspect="1"/>
          </p:cNvPicPr>
          <p:nvPr/>
        </p:nvPicPr>
        <p:blipFill>
          <a:blip r:embed="rId4"/>
          <a:stretch>
            <a:fillRect/>
          </a:stretch>
        </p:blipFill>
        <p:spPr>
          <a:xfrm>
            <a:off x="8032849" y="2482304"/>
            <a:ext cx="3549699" cy="1924050"/>
          </a:xfrm>
          <a:prstGeom prst="rect">
            <a:avLst/>
          </a:prstGeom>
        </p:spPr>
      </p:pic>
      <p:sp>
        <p:nvSpPr>
          <p:cNvPr id="5" name="Rectangle 4"/>
          <p:cNvSpPr/>
          <p:nvPr/>
        </p:nvSpPr>
        <p:spPr>
          <a:xfrm>
            <a:off x="609600" y="596473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2950" y="605998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"Show the three graphs: Underfitting is when the model is too dumb/simple (like a flat line for a curve). Overfitting is when the model is overly complex and squiggles through every noise point. Good fit balances both."</a:t>
            </a:r>
          </a:p>
        </p:txBody>
      </p:sp>
      <p:sp>
        <p:nvSpPr>
          <p:cNvPr id="7" name="Rectangle 6"/>
          <p:cNvSpPr/>
          <p:nvPr/>
        </p:nvSpPr>
        <p:spPr>
          <a:xfrm>
            <a:off x="609600" y="596473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342900"/>
            <a:ext cx="10972800" cy="171450"/>
          </a:xfrm>
          <a:prstGeom prst="rect">
            <a:avLst/>
          </a:prstGeom>
          <a:noFill/>
        </p:spPr>
        <p:txBody>
          <a:bodyPr wrap="square" lIns="0" rIns="0" tIns="0" bIns="0" anchor="t">
            <a:spAutoFit/>
          </a:bodyPr>
          <a:lstStyle/>
          <a:p>
            <a:pPr algn="l"/>
            <a:r>
              <a:rPr b="1" sz="1050" i="0" u="none">
                <a:solidFill>
                  <a:srgbClr val="D97706"/>
                </a:solidFill>
                <a:latin typeface="Plus Jakarta Sans"/>
              </a:rPr>
              <a:t>SECTION 5 • MODEL SELECTION &amp; GENERALIZATION</a:t>
            </a:r>
          </a:p>
        </p:txBody>
      </p:sp>
      <p:sp>
        <p:nvSpPr>
          <p:cNvPr id="9" name="TextBox 8"/>
          <p:cNvSpPr txBox="1"/>
          <p:nvPr/>
        </p:nvSpPr>
        <p:spPr>
          <a:xfrm>
            <a:off x="609600" y="55245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The 3 Fitting States</a:t>
            </a:r>
          </a:p>
        </p:txBody>
      </p:sp>
      <p:pic>
        <p:nvPicPr>
          <p:cNvPr id="10" name="Picture 9" descr="image.png"/>
          <p:cNvPicPr>
            <a:picLocks noChangeAspect="1"/>
          </p:cNvPicPr>
          <p:nvPr/>
        </p:nvPicPr>
        <p:blipFill>
          <a:blip r:embed="rId5"/>
          <a:stretch>
            <a:fillRect/>
          </a:stretch>
        </p:blipFill>
        <p:spPr>
          <a:xfrm>
            <a:off x="1984325" y="2672804"/>
            <a:ext cx="800100" cy="219075"/>
          </a:xfrm>
          <a:prstGeom prst="rect">
            <a:avLst/>
          </a:prstGeom>
        </p:spPr>
      </p:pic>
      <p:sp>
        <p:nvSpPr>
          <p:cNvPr id="11" name="TextBox 10"/>
          <p:cNvSpPr txBox="1"/>
          <p:nvPr/>
        </p:nvSpPr>
        <p:spPr>
          <a:xfrm>
            <a:off x="710881" y="2939504"/>
            <a:ext cx="3347137" cy="219075"/>
          </a:xfrm>
          <a:prstGeom prst="rect">
            <a:avLst/>
          </a:prstGeom>
          <a:noFill/>
        </p:spPr>
        <p:txBody>
          <a:bodyPr wrap="square" lIns="0" rIns="0" tIns="0" bIns="0" anchor="t">
            <a:spAutoFit/>
          </a:bodyPr>
          <a:lstStyle/>
          <a:p>
            <a:pPr algn="ctr"/>
            <a:r>
              <a:rPr b="1" sz="1350" i="0" u="none">
                <a:solidFill>
                  <a:srgbClr val="0F172A"/>
                </a:solidFill>
                <a:latin typeface="Plus Jakarta Sans"/>
              </a:rPr>
              <a:t>Underfitting</a:t>
            </a:r>
          </a:p>
        </p:txBody>
      </p:sp>
      <p:sp>
        <p:nvSpPr>
          <p:cNvPr id="12" name="TextBox 11"/>
          <p:cNvSpPr txBox="1"/>
          <p:nvPr/>
        </p:nvSpPr>
        <p:spPr>
          <a:xfrm>
            <a:off x="790575" y="4053929"/>
            <a:ext cx="3187749" cy="152400"/>
          </a:xfrm>
          <a:prstGeom prst="rect">
            <a:avLst/>
          </a:prstGeom>
          <a:noFill/>
        </p:spPr>
        <p:txBody>
          <a:bodyPr wrap="square" lIns="0" rIns="0" tIns="0" bIns="0" anchor="t">
            <a:spAutoFit/>
          </a:bodyPr>
          <a:lstStyle/>
          <a:p>
            <a:pPr algn="ctr"/>
            <a:r>
              <a:rPr b="0" sz="975" i="0" u="none">
                <a:solidFill>
                  <a:srgbClr val="64748B"/>
                </a:solidFill>
                <a:latin typeface="Plus Jakarta Sans"/>
              </a:rPr>
              <a:t>Misses the core trend. High training error.</a:t>
            </a:r>
          </a:p>
        </p:txBody>
      </p:sp>
      <p:pic>
        <p:nvPicPr>
          <p:cNvPr id="13" name="Picture 12" descr="image.png"/>
          <p:cNvPicPr>
            <a:picLocks noChangeAspect="1"/>
          </p:cNvPicPr>
          <p:nvPr/>
        </p:nvPicPr>
        <p:blipFill>
          <a:blip r:embed="rId6"/>
          <a:stretch>
            <a:fillRect/>
          </a:stretch>
        </p:blipFill>
        <p:spPr>
          <a:xfrm>
            <a:off x="5734050" y="2682329"/>
            <a:ext cx="723900" cy="219075"/>
          </a:xfrm>
          <a:prstGeom prst="rect">
            <a:avLst/>
          </a:prstGeom>
        </p:spPr>
      </p:pic>
      <p:sp>
        <p:nvSpPr>
          <p:cNvPr id="14" name="TextBox 13"/>
          <p:cNvSpPr txBox="1"/>
          <p:nvPr/>
        </p:nvSpPr>
        <p:spPr>
          <a:xfrm>
            <a:off x="4422505" y="2949029"/>
            <a:ext cx="3347137" cy="219075"/>
          </a:xfrm>
          <a:prstGeom prst="rect">
            <a:avLst/>
          </a:prstGeom>
          <a:noFill/>
        </p:spPr>
        <p:txBody>
          <a:bodyPr wrap="square" lIns="0" rIns="0" tIns="0" bIns="0" anchor="t">
            <a:spAutoFit/>
          </a:bodyPr>
          <a:lstStyle/>
          <a:p>
            <a:pPr algn="ctr"/>
            <a:r>
              <a:rPr b="1" sz="1350" i="0" u="none">
                <a:solidFill>
                  <a:srgbClr val="0F172A"/>
                </a:solidFill>
                <a:latin typeface="Plus Jakarta Sans"/>
              </a:rPr>
              <a:t>Good Fit</a:t>
            </a:r>
          </a:p>
        </p:txBody>
      </p:sp>
      <p:sp>
        <p:nvSpPr>
          <p:cNvPr id="15" name="TextBox 14"/>
          <p:cNvSpPr txBox="1"/>
          <p:nvPr/>
        </p:nvSpPr>
        <p:spPr>
          <a:xfrm>
            <a:off x="4502199" y="4063454"/>
            <a:ext cx="3187749" cy="152400"/>
          </a:xfrm>
          <a:prstGeom prst="rect">
            <a:avLst/>
          </a:prstGeom>
          <a:noFill/>
        </p:spPr>
        <p:txBody>
          <a:bodyPr wrap="square" lIns="0" rIns="0" tIns="0" bIns="0" anchor="t">
            <a:spAutoFit/>
          </a:bodyPr>
          <a:lstStyle/>
          <a:p>
            <a:pPr algn="ctr"/>
            <a:r>
              <a:rPr b="0" sz="975" i="0" u="none">
                <a:solidFill>
                  <a:srgbClr val="166534"/>
                </a:solidFill>
                <a:latin typeface="Plus Jakarta Sans SemiBold"/>
              </a:rPr>
              <a:t>Captures true pattern smoothly.</a:t>
            </a:r>
          </a:p>
        </p:txBody>
      </p:sp>
      <p:pic>
        <p:nvPicPr>
          <p:cNvPr id="16" name="Picture 15" descr="image.png"/>
          <p:cNvPicPr>
            <a:picLocks noChangeAspect="1"/>
          </p:cNvPicPr>
          <p:nvPr/>
        </p:nvPicPr>
        <p:blipFill>
          <a:blip r:embed="rId7"/>
          <a:stretch>
            <a:fillRect/>
          </a:stretch>
        </p:blipFill>
        <p:spPr>
          <a:xfrm>
            <a:off x="9345662" y="2672804"/>
            <a:ext cx="923925" cy="219075"/>
          </a:xfrm>
          <a:prstGeom prst="rect">
            <a:avLst/>
          </a:prstGeom>
        </p:spPr>
      </p:pic>
      <p:sp>
        <p:nvSpPr>
          <p:cNvPr id="17" name="TextBox 16"/>
          <p:cNvSpPr txBox="1"/>
          <p:nvPr/>
        </p:nvSpPr>
        <p:spPr>
          <a:xfrm>
            <a:off x="8134130" y="2939504"/>
            <a:ext cx="3347137" cy="219075"/>
          </a:xfrm>
          <a:prstGeom prst="rect">
            <a:avLst/>
          </a:prstGeom>
          <a:noFill/>
        </p:spPr>
        <p:txBody>
          <a:bodyPr wrap="square" lIns="0" rIns="0" tIns="0" bIns="0" anchor="t">
            <a:spAutoFit/>
          </a:bodyPr>
          <a:lstStyle/>
          <a:p>
            <a:pPr algn="ctr"/>
            <a:r>
              <a:rPr b="1" sz="1350" i="0" u="none">
                <a:solidFill>
                  <a:srgbClr val="0F172A"/>
                </a:solidFill>
                <a:latin typeface="Plus Jakarta Sans"/>
              </a:rPr>
              <a:t>Overfitting</a:t>
            </a:r>
          </a:p>
        </p:txBody>
      </p:sp>
      <p:sp>
        <p:nvSpPr>
          <p:cNvPr id="18" name="TextBox 17"/>
          <p:cNvSpPr txBox="1"/>
          <p:nvPr/>
        </p:nvSpPr>
        <p:spPr>
          <a:xfrm>
            <a:off x="8213824" y="4053929"/>
            <a:ext cx="3187749" cy="152400"/>
          </a:xfrm>
          <a:prstGeom prst="rect">
            <a:avLst/>
          </a:prstGeom>
          <a:noFill/>
        </p:spPr>
        <p:txBody>
          <a:bodyPr wrap="square" lIns="0" rIns="0" tIns="0" bIns="0" anchor="t">
            <a:spAutoFit/>
          </a:bodyPr>
          <a:lstStyle/>
          <a:p>
            <a:pPr algn="ctr"/>
            <a:r>
              <a:rPr b="0" sz="975" i="0" u="none">
                <a:solidFill>
                  <a:srgbClr val="64748B"/>
                </a:solidFill>
                <a:latin typeface="Plus Jakarta Sans"/>
              </a:rPr>
              <a:t>Memorizes noise. Fails on new data.</a:t>
            </a:r>
          </a:p>
        </p:txBody>
      </p:sp>
      <p:pic>
        <p:nvPicPr>
          <p:cNvPr id="19" name="Picture 18" descr="image.png"/>
          <p:cNvPicPr>
            <a:picLocks noChangeAspect="1"/>
          </p:cNvPicPr>
          <p:nvPr/>
        </p:nvPicPr>
        <p:blipFill>
          <a:blip r:embed="rId8"/>
          <a:stretch>
            <a:fillRect/>
          </a:stretch>
        </p:blipFill>
        <p:spPr>
          <a:xfrm>
            <a:off x="790575" y="3215729"/>
            <a:ext cx="3187749" cy="762000"/>
          </a:xfrm>
          <a:prstGeom prst="rect">
            <a:avLst/>
          </a:prstGeom>
        </p:spPr>
      </p:pic>
      <p:pic>
        <p:nvPicPr>
          <p:cNvPr id="20" name="Picture 19" descr="image.png"/>
          <p:cNvPicPr>
            <a:picLocks noChangeAspect="1"/>
          </p:cNvPicPr>
          <p:nvPr/>
        </p:nvPicPr>
        <p:blipFill>
          <a:blip r:embed="rId9"/>
          <a:stretch>
            <a:fillRect/>
          </a:stretch>
        </p:blipFill>
        <p:spPr>
          <a:xfrm>
            <a:off x="4502199" y="3225254"/>
            <a:ext cx="3187749" cy="762000"/>
          </a:xfrm>
          <a:prstGeom prst="rect">
            <a:avLst/>
          </a:prstGeom>
        </p:spPr>
      </p:pic>
      <p:pic>
        <p:nvPicPr>
          <p:cNvPr id="21" name="Picture 20" descr="image.png"/>
          <p:cNvPicPr>
            <a:picLocks noChangeAspect="1"/>
          </p:cNvPicPr>
          <p:nvPr/>
        </p:nvPicPr>
        <p:blipFill>
          <a:blip r:embed="rId10"/>
          <a:stretch>
            <a:fillRect/>
          </a:stretch>
        </p:blipFill>
        <p:spPr>
          <a:xfrm>
            <a:off x="8213824" y="3215729"/>
            <a:ext cx="3187749" cy="76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4436864"/>
            <a:ext cx="10972800" cy="485775"/>
          </a:xfrm>
          <a:prstGeom prst="rect">
            <a:avLst/>
          </a:prstGeom>
        </p:spPr>
      </p:pic>
      <p:pic>
        <p:nvPicPr>
          <p:cNvPr id="3" name="Picture 2" descr="image.png"/>
          <p:cNvPicPr>
            <a:picLocks noChangeAspect="1"/>
          </p:cNvPicPr>
          <p:nvPr/>
        </p:nvPicPr>
        <p:blipFill>
          <a:blip r:embed="rId3"/>
          <a:stretch>
            <a:fillRect/>
          </a:stretch>
        </p:blipFill>
        <p:spPr>
          <a:xfrm>
            <a:off x="609600" y="1966019"/>
            <a:ext cx="5391150" cy="1447800"/>
          </a:xfrm>
          <a:prstGeom prst="rect">
            <a:avLst/>
          </a:prstGeom>
        </p:spPr>
      </p:pic>
      <p:pic>
        <p:nvPicPr>
          <p:cNvPr id="4" name="Picture 3" descr="image.png"/>
          <p:cNvPicPr>
            <a:picLocks noChangeAspect="1"/>
          </p:cNvPicPr>
          <p:nvPr/>
        </p:nvPicPr>
        <p:blipFill>
          <a:blip r:embed="rId4"/>
          <a:stretch>
            <a:fillRect/>
          </a:stretch>
        </p:blipFill>
        <p:spPr>
          <a:xfrm>
            <a:off x="6191250" y="1966019"/>
            <a:ext cx="5391150" cy="1447800"/>
          </a:xfrm>
          <a:prstGeom prst="rect">
            <a:avLst/>
          </a:prstGeom>
        </p:spPr>
      </p:pic>
      <p:pic>
        <p:nvPicPr>
          <p:cNvPr id="5" name="Picture 4" descr="image.png"/>
          <p:cNvPicPr>
            <a:picLocks noChangeAspect="1"/>
          </p:cNvPicPr>
          <p:nvPr/>
        </p:nvPicPr>
        <p:blipFill>
          <a:blip r:embed="rId5"/>
          <a:stretch>
            <a:fillRect/>
          </a:stretch>
        </p:blipFill>
        <p:spPr>
          <a:xfrm>
            <a:off x="828675" y="2851844"/>
            <a:ext cx="4953000" cy="342900"/>
          </a:xfrm>
          <a:prstGeom prst="rect">
            <a:avLst/>
          </a:prstGeom>
        </p:spPr>
      </p:pic>
      <p:pic>
        <p:nvPicPr>
          <p:cNvPr id="6" name="Picture 5" descr="image.png"/>
          <p:cNvPicPr>
            <a:picLocks noChangeAspect="1"/>
          </p:cNvPicPr>
          <p:nvPr/>
        </p:nvPicPr>
        <p:blipFill>
          <a:blip r:embed="rId6"/>
          <a:stretch>
            <a:fillRect/>
          </a:stretch>
        </p:blipFill>
        <p:spPr>
          <a:xfrm>
            <a:off x="6410325" y="2851844"/>
            <a:ext cx="4953000" cy="342900"/>
          </a:xfrm>
          <a:prstGeom prst="rect">
            <a:avLst/>
          </a:prstGeom>
        </p:spPr>
      </p:pic>
      <p:pic>
        <p:nvPicPr>
          <p:cNvPr id="7" name="Picture 6" descr="image.png"/>
          <p:cNvPicPr>
            <a:picLocks noChangeAspect="1"/>
          </p:cNvPicPr>
          <p:nvPr/>
        </p:nvPicPr>
        <p:blipFill>
          <a:blip r:embed="rId7"/>
          <a:stretch>
            <a:fillRect/>
          </a:stretch>
        </p:blipFill>
        <p:spPr>
          <a:xfrm>
            <a:off x="828675" y="2185094"/>
            <a:ext cx="304800" cy="304800"/>
          </a:xfrm>
          <a:prstGeom prst="rect">
            <a:avLst/>
          </a:prstGeom>
        </p:spPr>
      </p:pic>
      <p:pic>
        <p:nvPicPr>
          <p:cNvPr id="8" name="Picture 7" descr="image.png"/>
          <p:cNvPicPr>
            <a:picLocks noChangeAspect="1"/>
          </p:cNvPicPr>
          <p:nvPr/>
        </p:nvPicPr>
        <p:blipFill>
          <a:blip r:embed="rId8"/>
          <a:stretch>
            <a:fillRect/>
          </a:stretch>
        </p:blipFill>
        <p:spPr>
          <a:xfrm>
            <a:off x="6410325" y="2185094"/>
            <a:ext cx="304800" cy="304800"/>
          </a:xfrm>
          <a:prstGeom prst="rect">
            <a:avLst/>
          </a:prstGeom>
        </p:spPr>
      </p:pic>
      <p:sp>
        <p:nvSpPr>
          <p:cNvPr id="9" name="Rectangle 8"/>
          <p:cNvSpPr/>
          <p:nvPr/>
        </p:nvSpPr>
        <p:spPr>
          <a:xfrm>
            <a:off x="609600" y="5945683"/>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6040933"/>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"Simple memory trick for students: High Bias = Underfitting (Stubborn model). High Variance = Overfitting (Over-sensitive model). Our objective in machine learning is finding the balance between the two."</a:t>
            </a:r>
          </a:p>
        </p:txBody>
      </p:sp>
      <p:sp>
        <p:nvSpPr>
          <p:cNvPr id="11" name="Rectangle 10"/>
          <p:cNvSpPr/>
          <p:nvPr/>
        </p:nvSpPr>
        <p:spPr>
          <a:xfrm>
            <a:off x="609600" y="5945683"/>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D97706"/>
                </a:solidFill>
                <a:latin typeface="Plus Jakarta Sans"/>
              </a:rPr>
              <a:t>SECTION 5 • MODEL SELECTION &amp; GENERALIZATION</a:t>
            </a:r>
          </a:p>
        </p:txBody>
      </p:sp>
      <p:sp>
        <p:nvSpPr>
          <p:cNvPr id="13" name="TextBox 12"/>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The Bias-Variance Tradeoff</a:t>
            </a:r>
          </a:p>
        </p:txBody>
      </p:sp>
      <p:sp>
        <p:nvSpPr>
          <p:cNvPr id="14" name="TextBox 13"/>
          <p:cNvSpPr txBox="1"/>
          <p:nvPr/>
        </p:nvSpPr>
        <p:spPr>
          <a:xfrm>
            <a:off x="809625" y="4579739"/>
            <a:ext cx="10572750" cy="200025"/>
          </a:xfrm>
          <a:prstGeom prst="rect">
            <a:avLst/>
          </a:prstGeom>
          <a:noFill/>
        </p:spPr>
        <p:txBody>
          <a:bodyPr wrap="square" lIns="0" rIns="0" tIns="0" bIns="0" anchor="t">
            <a:spAutoFit/>
          </a:bodyPr>
          <a:lstStyle/>
          <a:p>
            <a:pPr algn="ctr"/>
            <a:r>
              <a:rPr b="0" sz="1200" i="0" u="none">
                <a:solidFill>
                  <a:srgbClr val="0F172A"/>
                </a:solidFill>
                <a:latin typeface="Plus Jakarta Sans Black"/>
              </a:rPr>
              <a:t>Goal:</a:t>
            </a:r>
            <a:r>
              <a:rPr b="1" sz="1200" i="0" u="none">
                <a:solidFill>
                  <a:srgbClr val="0F172A"/>
                </a:solidFill>
                <a:latin typeface="Plus Jakarta Sans"/>
              </a:rPr>
              <a:t> Find the sweet spot with </a:t>
            </a:r>
            <a:r>
              <a:rPr b="1" sz="1200" i="0" u="none">
                <a:solidFill>
                  <a:srgbClr val="16A34A"/>
                </a:solidFill>
                <a:latin typeface="Plus Jakarta Sans"/>
              </a:rPr>
              <a:t>Low Bias + Low Variance</a:t>
            </a:r>
            <a:r>
              <a:rPr b="1" sz="1200" i="0" u="none">
                <a:solidFill>
                  <a:srgbClr val="0F172A"/>
                </a:solidFill>
                <a:latin typeface="Plus Jakarta Sans"/>
              </a:rPr>
              <a:t> for minimal total error.</a:t>
            </a:r>
          </a:p>
        </p:txBody>
      </p:sp>
      <p:sp>
        <p:nvSpPr>
          <p:cNvPr id="15" name="TextBox 14"/>
          <p:cNvSpPr txBox="1"/>
          <p:nvPr/>
        </p:nvSpPr>
        <p:spPr>
          <a:xfrm>
            <a:off x="828675" y="2566094"/>
            <a:ext cx="4953000" cy="171450"/>
          </a:xfrm>
          <a:prstGeom prst="rect">
            <a:avLst/>
          </a:prstGeom>
          <a:noFill/>
        </p:spPr>
        <p:txBody>
          <a:bodyPr wrap="square" lIns="0" rIns="0" tIns="0" bIns="0" anchor="t">
            <a:spAutoFit/>
          </a:bodyPr>
          <a:lstStyle/>
          <a:p>
            <a:pPr algn="l"/>
            <a:r>
              <a:rPr b="0" sz="1050" i="0" u="none">
                <a:solidFill>
                  <a:srgbClr val="475569"/>
                </a:solidFill>
                <a:latin typeface="Plus Jakarta Sans"/>
              </a:rPr>
              <a:t>Wrong assumptions made by the model.</a:t>
            </a:r>
          </a:p>
        </p:txBody>
      </p:sp>
      <p:sp>
        <p:nvSpPr>
          <p:cNvPr id="16" name="TextBox 15"/>
          <p:cNvSpPr txBox="1"/>
          <p:nvPr/>
        </p:nvSpPr>
        <p:spPr>
          <a:xfrm>
            <a:off x="6410325" y="2566094"/>
            <a:ext cx="4953000" cy="171450"/>
          </a:xfrm>
          <a:prstGeom prst="rect">
            <a:avLst/>
          </a:prstGeom>
          <a:noFill/>
        </p:spPr>
        <p:txBody>
          <a:bodyPr wrap="square" lIns="0" rIns="0" tIns="0" bIns="0" anchor="t">
            <a:spAutoFit/>
          </a:bodyPr>
          <a:lstStyle/>
          <a:p>
            <a:pPr algn="l"/>
            <a:r>
              <a:rPr b="0" sz="1050" i="0" u="none">
                <a:solidFill>
                  <a:srgbClr val="475569"/>
                </a:solidFill>
                <a:latin typeface="Plus Jakarta Sans"/>
              </a:rPr>
              <a:t>Extreme sensitivity to small data changes.</a:t>
            </a:r>
          </a:p>
        </p:txBody>
      </p:sp>
      <p:sp>
        <p:nvSpPr>
          <p:cNvPr id="17" name="TextBox 16"/>
          <p:cNvSpPr txBox="1"/>
          <p:nvPr/>
        </p:nvSpPr>
        <p:spPr>
          <a:xfrm>
            <a:off x="1228725" y="2227957"/>
            <a:ext cx="2070258" cy="219075"/>
          </a:xfrm>
          <a:prstGeom prst="rect">
            <a:avLst/>
          </a:prstGeom>
          <a:noFill/>
        </p:spPr>
        <p:txBody>
          <a:bodyPr wrap="square" lIns="0" rIns="0" tIns="0" bIns="0" anchor="t">
            <a:spAutoFit/>
          </a:bodyPr>
          <a:lstStyle/>
          <a:p>
            <a:pPr algn="l"/>
            <a:r>
              <a:rPr b="1" sz="1350" i="0" u="none">
                <a:solidFill>
                  <a:srgbClr val="0F172A"/>
                </a:solidFill>
                <a:latin typeface="Plus Jakarta Sans"/>
              </a:rPr>
              <a:t>Bias (Underfitting Error)</a:t>
            </a:r>
          </a:p>
        </p:txBody>
      </p:sp>
      <p:sp>
        <p:nvSpPr>
          <p:cNvPr id="18" name="TextBox 17"/>
          <p:cNvSpPr txBox="1"/>
          <p:nvPr/>
        </p:nvSpPr>
        <p:spPr>
          <a:xfrm>
            <a:off x="6810375" y="2227957"/>
            <a:ext cx="2380297" cy="219075"/>
          </a:xfrm>
          <a:prstGeom prst="rect">
            <a:avLst/>
          </a:prstGeom>
          <a:noFill/>
        </p:spPr>
        <p:txBody>
          <a:bodyPr wrap="square" lIns="0" rIns="0" tIns="0" bIns="0" anchor="t">
            <a:spAutoFit/>
          </a:bodyPr>
          <a:lstStyle/>
          <a:p>
            <a:pPr algn="l"/>
            <a:r>
              <a:rPr b="1" sz="1350" i="0" u="none">
                <a:solidFill>
                  <a:srgbClr val="0F172A"/>
                </a:solidFill>
                <a:latin typeface="Plus Jakarta Sans"/>
              </a:rPr>
              <a:t>Variance (Overfitting Error)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1997719"/>
            <a:ext cx="10972800" cy="1181100"/>
          </a:xfrm>
          <a:prstGeom prst="rect">
            <a:avLst/>
          </a:prstGeom>
        </p:spPr>
      </p:pic>
      <p:pic>
        <p:nvPicPr>
          <p:cNvPr id="3" name="Picture 2" descr="image.png"/>
          <p:cNvPicPr>
            <a:picLocks noChangeAspect="1"/>
          </p:cNvPicPr>
          <p:nvPr/>
        </p:nvPicPr>
        <p:blipFill>
          <a:blip r:embed="rId3"/>
          <a:stretch>
            <a:fillRect/>
          </a:stretch>
        </p:blipFill>
        <p:spPr>
          <a:xfrm>
            <a:off x="609600" y="4233564"/>
            <a:ext cx="3555950" cy="657225"/>
          </a:xfrm>
          <a:prstGeom prst="rect">
            <a:avLst/>
          </a:prstGeom>
        </p:spPr>
      </p:pic>
      <p:pic>
        <p:nvPicPr>
          <p:cNvPr id="4" name="Picture 3" descr="image.png"/>
          <p:cNvPicPr>
            <a:picLocks noChangeAspect="1"/>
          </p:cNvPicPr>
          <p:nvPr/>
        </p:nvPicPr>
        <p:blipFill>
          <a:blip r:embed="rId4"/>
          <a:stretch>
            <a:fillRect/>
          </a:stretch>
        </p:blipFill>
        <p:spPr>
          <a:xfrm>
            <a:off x="4317950" y="4233564"/>
            <a:ext cx="3555950" cy="657225"/>
          </a:xfrm>
          <a:prstGeom prst="rect">
            <a:avLst/>
          </a:prstGeom>
        </p:spPr>
      </p:pic>
      <p:pic>
        <p:nvPicPr>
          <p:cNvPr id="5" name="Picture 4" descr="image.png"/>
          <p:cNvPicPr>
            <a:picLocks noChangeAspect="1"/>
          </p:cNvPicPr>
          <p:nvPr/>
        </p:nvPicPr>
        <p:blipFill>
          <a:blip r:embed="rId5"/>
          <a:stretch>
            <a:fillRect/>
          </a:stretch>
        </p:blipFill>
        <p:spPr>
          <a:xfrm>
            <a:off x="8026300" y="4233564"/>
            <a:ext cx="3555950" cy="657225"/>
          </a:xfrm>
          <a:prstGeom prst="rect">
            <a:avLst/>
          </a:prstGeom>
        </p:spPr>
      </p:pic>
      <p:pic>
        <p:nvPicPr>
          <p:cNvPr id="6" name="Picture 5" descr="image.png"/>
          <p:cNvPicPr>
            <a:picLocks noChangeAspect="1"/>
          </p:cNvPicPr>
          <p:nvPr/>
        </p:nvPicPr>
        <p:blipFill>
          <a:blip r:embed="rId6"/>
          <a:stretch>
            <a:fillRect/>
          </a:stretch>
        </p:blipFill>
        <p:spPr>
          <a:xfrm>
            <a:off x="809625" y="2464444"/>
            <a:ext cx="6343650" cy="514350"/>
          </a:xfrm>
          <a:prstGeom prst="rect">
            <a:avLst/>
          </a:prstGeom>
        </p:spPr>
      </p:pic>
      <p:pic>
        <p:nvPicPr>
          <p:cNvPr id="7" name="Picture 6" descr="image.png"/>
          <p:cNvPicPr>
            <a:picLocks noChangeAspect="1"/>
          </p:cNvPicPr>
          <p:nvPr/>
        </p:nvPicPr>
        <p:blipFill>
          <a:blip r:embed="rId7"/>
          <a:stretch>
            <a:fillRect/>
          </a:stretch>
        </p:blipFill>
        <p:spPr>
          <a:xfrm>
            <a:off x="7153275" y="2464444"/>
            <a:ext cx="2114550" cy="514350"/>
          </a:xfrm>
          <a:prstGeom prst="rect">
            <a:avLst/>
          </a:prstGeom>
        </p:spPr>
      </p:pic>
      <p:pic>
        <p:nvPicPr>
          <p:cNvPr id="8" name="Picture 7" descr="image.png"/>
          <p:cNvPicPr>
            <a:picLocks noChangeAspect="1"/>
          </p:cNvPicPr>
          <p:nvPr/>
        </p:nvPicPr>
        <p:blipFill>
          <a:blip r:embed="rId8"/>
          <a:stretch>
            <a:fillRect/>
          </a:stretch>
        </p:blipFill>
        <p:spPr>
          <a:xfrm>
            <a:off x="9267825" y="2464444"/>
            <a:ext cx="2114550" cy="514350"/>
          </a:xfrm>
          <a:prstGeom prst="rect">
            <a:avLst/>
          </a:prstGeom>
        </p:spPr>
      </p:pic>
      <p:sp>
        <p:nvSpPr>
          <p:cNvPr id="9" name="Rectangle 8"/>
          <p:cNvSpPr/>
          <p:nvPr/>
        </p:nvSpPr>
        <p:spPr>
          <a:xfrm>
            <a:off x="609600" y="5945534"/>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6040784"/>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"Use the school analogy: Training set = Class textbook problems. Validation set = Pre-board mock test to adjust preparation. Test set = Final university exam that students have never seen before. Never touch test data during model training!"</a:t>
            </a:r>
          </a:p>
        </p:txBody>
      </p:sp>
      <p:sp>
        <p:nvSpPr>
          <p:cNvPr id="11" name="Rectangle 10"/>
          <p:cNvSpPr/>
          <p:nvPr/>
        </p:nvSpPr>
        <p:spPr>
          <a:xfrm>
            <a:off x="609600" y="5945534"/>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D97706"/>
                </a:solidFill>
                <a:latin typeface="Plus Jakarta Sans"/>
              </a:rPr>
              <a:t>SECTION 5 • MODEL SELECTION &amp; GENERALIZATION</a:t>
            </a:r>
          </a:p>
        </p:txBody>
      </p:sp>
      <p:sp>
        <p:nvSpPr>
          <p:cNvPr id="13" name="TextBox 12"/>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Data Splitting: Train, Validate, Test</a:t>
            </a:r>
          </a:p>
        </p:txBody>
      </p:sp>
      <p:sp>
        <p:nvSpPr>
          <p:cNvPr id="14" name="TextBox 13"/>
          <p:cNvSpPr txBox="1"/>
          <p:nvPr/>
        </p:nvSpPr>
        <p:spPr>
          <a:xfrm>
            <a:off x="809625" y="2197744"/>
            <a:ext cx="10572750" cy="171450"/>
          </a:xfrm>
          <a:prstGeom prst="rect">
            <a:avLst/>
          </a:prstGeom>
          <a:noFill/>
        </p:spPr>
        <p:txBody>
          <a:bodyPr wrap="square" lIns="0" rIns="0" tIns="0" bIns="0" anchor="t">
            <a:spAutoFit/>
          </a:bodyPr>
          <a:lstStyle/>
          <a:p>
            <a:pPr algn="l"/>
            <a:r>
              <a:rPr b="1" sz="1050" i="0" u="none">
                <a:solidFill>
                  <a:srgbClr val="64748B"/>
                </a:solidFill>
                <a:latin typeface="Plus Jakarta Sans"/>
              </a:rPr>
              <a:t>COMPLETE DATASET (100%)</a:t>
            </a:r>
          </a:p>
        </p:txBody>
      </p:sp>
      <p:sp>
        <p:nvSpPr>
          <p:cNvPr id="15" name="TextBox 14"/>
          <p:cNvSpPr txBox="1"/>
          <p:nvPr/>
        </p:nvSpPr>
        <p:spPr>
          <a:xfrm>
            <a:off x="752475" y="4376439"/>
            <a:ext cx="3433710" cy="180975"/>
          </a:xfrm>
          <a:prstGeom prst="rect">
            <a:avLst/>
          </a:prstGeom>
          <a:noFill/>
        </p:spPr>
        <p:txBody>
          <a:bodyPr wrap="square" lIns="0" rIns="0" tIns="0" bIns="0" anchor="t">
            <a:spAutoFit/>
          </a:bodyPr>
          <a:lstStyle/>
          <a:p>
            <a:pPr algn="l"/>
            <a:r>
              <a:rPr b="1" sz="1125" i="0" u="none">
                <a:solidFill>
                  <a:srgbClr val="2563EB"/>
                </a:solidFill>
                <a:latin typeface="Plus Jakarta Sans"/>
              </a:rPr>
              <a:t>1. Training Set</a:t>
            </a:r>
          </a:p>
        </p:txBody>
      </p:sp>
      <p:sp>
        <p:nvSpPr>
          <p:cNvPr id="16" name="TextBox 15"/>
          <p:cNvSpPr txBox="1"/>
          <p:nvPr/>
        </p:nvSpPr>
        <p:spPr>
          <a:xfrm>
            <a:off x="752475" y="4595514"/>
            <a:ext cx="3270200" cy="152400"/>
          </a:xfrm>
          <a:prstGeom prst="rect">
            <a:avLst/>
          </a:prstGeom>
          <a:noFill/>
        </p:spPr>
        <p:txBody>
          <a:bodyPr wrap="square" lIns="0" rIns="0" tIns="0" bIns="0" anchor="t">
            <a:spAutoFit/>
          </a:bodyPr>
          <a:lstStyle/>
          <a:p>
            <a:pPr algn="l"/>
            <a:r>
              <a:rPr b="0" sz="975" i="0" u="none">
                <a:solidFill>
                  <a:srgbClr val="64748B"/>
                </a:solidFill>
                <a:latin typeface="Plus Jakarta Sans"/>
              </a:rPr>
              <a:t>Textbook practice problems for learning rules.</a:t>
            </a:r>
          </a:p>
        </p:txBody>
      </p:sp>
      <p:sp>
        <p:nvSpPr>
          <p:cNvPr id="17" name="TextBox 16"/>
          <p:cNvSpPr txBox="1"/>
          <p:nvPr/>
        </p:nvSpPr>
        <p:spPr>
          <a:xfrm>
            <a:off x="4460825" y="4376439"/>
            <a:ext cx="3433710" cy="180975"/>
          </a:xfrm>
          <a:prstGeom prst="rect">
            <a:avLst/>
          </a:prstGeom>
          <a:noFill/>
        </p:spPr>
        <p:txBody>
          <a:bodyPr wrap="square" lIns="0" rIns="0" tIns="0" bIns="0" anchor="t">
            <a:spAutoFit/>
          </a:bodyPr>
          <a:lstStyle/>
          <a:p>
            <a:pPr algn="l"/>
            <a:r>
              <a:rPr b="1" sz="1125" i="0" u="none">
                <a:solidFill>
                  <a:srgbClr val="D97706"/>
                </a:solidFill>
                <a:latin typeface="Plus Jakarta Sans"/>
              </a:rPr>
              <a:t>2. Validation Set</a:t>
            </a:r>
          </a:p>
        </p:txBody>
      </p:sp>
      <p:sp>
        <p:nvSpPr>
          <p:cNvPr id="18" name="TextBox 17"/>
          <p:cNvSpPr txBox="1"/>
          <p:nvPr/>
        </p:nvSpPr>
        <p:spPr>
          <a:xfrm>
            <a:off x="4460825" y="4595514"/>
            <a:ext cx="3270200" cy="152400"/>
          </a:xfrm>
          <a:prstGeom prst="rect">
            <a:avLst/>
          </a:prstGeom>
          <a:noFill/>
        </p:spPr>
        <p:txBody>
          <a:bodyPr wrap="square" lIns="0" rIns="0" tIns="0" bIns="0" anchor="t">
            <a:spAutoFit/>
          </a:bodyPr>
          <a:lstStyle/>
          <a:p>
            <a:pPr algn="l"/>
            <a:r>
              <a:rPr b="0" sz="975" i="0" u="none">
                <a:solidFill>
                  <a:srgbClr val="64748B"/>
                </a:solidFill>
                <a:latin typeface="Plus Jakarta Sans"/>
              </a:rPr>
              <a:t>Mock exams to choose the best model settings.</a:t>
            </a:r>
          </a:p>
        </p:txBody>
      </p:sp>
      <p:sp>
        <p:nvSpPr>
          <p:cNvPr id="19" name="TextBox 18"/>
          <p:cNvSpPr txBox="1"/>
          <p:nvPr/>
        </p:nvSpPr>
        <p:spPr>
          <a:xfrm>
            <a:off x="8169175" y="4376439"/>
            <a:ext cx="3433710" cy="180975"/>
          </a:xfrm>
          <a:prstGeom prst="rect">
            <a:avLst/>
          </a:prstGeom>
          <a:noFill/>
        </p:spPr>
        <p:txBody>
          <a:bodyPr wrap="square" lIns="0" rIns="0" tIns="0" bIns="0" anchor="t">
            <a:spAutoFit/>
          </a:bodyPr>
          <a:lstStyle/>
          <a:p>
            <a:pPr algn="l"/>
            <a:r>
              <a:rPr b="1" sz="1125" i="0" u="none">
                <a:solidFill>
                  <a:srgbClr val="16A34A"/>
                </a:solidFill>
                <a:latin typeface="Plus Jakarta Sans"/>
              </a:rPr>
              <a:t>3. Test Set</a:t>
            </a:r>
          </a:p>
        </p:txBody>
      </p:sp>
      <p:sp>
        <p:nvSpPr>
          <p:cNvPr id="20" name="TextBox 19"/>
          <p:cNvSpPr txBox="1"/>
          <p:nvPr/>
        </p:nvSpPr>
        <p:spPr>
          <a:xfrm>
            <a:off x="8169175" y="4595514"/>
            <a:ext cx="3270200" cy="152400"/>
          </a:xfrm>
          <a:prstGeom prst="rect">
            <a:avLst/>
          </a:prstGeom>
          <a:noFill/>
        </p:spPr>
        <p:txBody>
          <a:bodyPr wrap="square" lIns="0" rIns="0" tIns="0" bIns="0" anchor="t">
            <a:spAutoFit/>
          </a:bodyPr>
          <a:lstStyle/>
          <a:p>
            <a:pPr algn="l"/>
            <a:r>
              <a:rPr b="0" sz="975" i="0" u="none">
                <a:solidFill>
                  <a:srgbClr val="64748B"/>
                </a:solidFill>
                <a:latin typeface="Plus Jakarta Sans"/>
              </a:rPr>
              <a:t>Final board exam strictly kept hidden until the end.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09600" y="1892944"/>
            <a:ext cx="10972800" cy="1771650"/>
          </a:xfrm>
          <a:prstGeom prst="rect">
            <a:avLst/>
          </a:prstGeom>
        </p:spPr>
      </p:pic>
      <p:pic>
        <p:nvPicPr>
          <p:cNvPr id="3" name="Picture 2" descr="image.png"/>
          <p:cNvPicPr>
            <a:picLocks noChangeAspect="1"/>
          </p:cNvPicPr>
          <p:nvPr/>
        </p:nvPicPr>
        <p:blipFill>
          <a:blip r:embed="rId3"/>
          <a:stretch>
            <a:fillRect/>
          </a:stretch>
        </p:blipFill>
        <p:spPr>
          <a:xfrm>
            <a:off x="609600" y="4614564"/>
            <a:ext cx="10972800" cy="381000"/>
          </a:xfrm>
          <a:prstGeom prst="rect">
            <a:avLst/>
          </a:prstGeom>
        </p:spPr>
      </p:pic>
      <p:pic>
        <p:nvPicPr>
          <p:cNvPr id="4" name="Picture 3" descr="image.png"/>
          <p:cNvPicPr>
            <a:picLocks noChangeAspect="1"/>
          </p:cNvPicPr>
          <p:nvPr/>
        </p:nvPicPr>
        <p:blipFill>
          <a:blip r:embed="rId4"/>
          <a:stretch>
            <a:fillRect/>
          </a:stretch>
        </p:blipFill>
        <p:spPr>
          <a:xfrm>
            <a:off x="1438275" y="2054869"/>
            <a:ext cx="1977330" cy="228600"/>
          </a:xfrm>
          <a:prstGeom prst="rect">
            <a:avLst/>
          </a:prstGeom>
        </p:spPr>
      </p:pic>
      <p:pic>
        <p:nvPicPr>
          <p:cNvPr id="5" name="Picture 4" descr="image.png"/>
          <p:cNvPicPr>
            <a:picLocks noChangeAspect="1"/>
          </p:cNvPicPr>
          <p:nvPr/>
        </p:nvPicPr>
        <p:blipFill>
          <a:blip r:embed="rId5"/>
          <a:stretch>
            <a:fillRect/>
          </a:stretch>
        </p:blipFill>
        <p:spPr>
          <a:xfrm>
            <a:off x="3510855" y="2054869"/>
            <a:ext cx="7909619" cy="228600"/>
          </a:xfrm>
          <a:prstGeom prst="rect">
            <a:avLst/>
          </a:prstGeom>
        </p:spPr>
      </p:pic>
      <p:pic>
        <p:nvPicPr>
          <p:cNvPr id="6" name="Picture 5" descr="image.png"/>
          <p:cNvPicPr>
            <a:picLocks noChangeAspect="1"/>
          </p:cNvPicPr>
          <p:nvPr/>
        </p:nvPicPr>
        <p:blipFill>
          <a:blip r:embed="rId6"/>
          <a:stretch>
            <a:fillRect/>
          </a:stretch>
        </p:blipFill>
        <p:spPr>
          <a:xfrm>
            <a:off x="3491805" y="2359669"/>
            <a:ext cx="1958280" cy="228600"/>
          </a:xfrm>
          <a:prstGeom prst="rect">
            <a:avLst/>
          </a:prstGeom>
        </p:spPr>
      </p:pic>
      <p:pic>
        <p:nvPicPr>
          <p:cNvPr id="7" name="Picture 6" descr="image.png"/>
          <p:cNvPicPr>
            <a:picLocks noChangeAspect="1"/>
          </p:cNvPicPr>
          <p:nvPr/>
        </p:nvPicPr>
        <p:blipFill>
          <a:blip r:embed="rId6"/>
          <a:stretch>
            <a:fillRect/>
          </a:stretch>
        </p:blipFill>
        <p:spPr>
          <a:xfrm>
            <a:off x="5450234" y="2664469"/>
            <a:ext cx="1958280" cy="228600"/>
          </a:xfrm>
          <a:prstGeom prst="rect">
            <a:avLst/>
          </a:prstGeom>
        </p:spPr>
      </p:pic>
      <p:pic>
        <p:nvPicPr>
          <p:cNvPr id="8" name="Picture 7" descr="image.png"/>
          <p:cNvPicPr>
            <a:picLocks noChangeAspect="1"/>
          </p:cNvPicPr>
          <p:nvPr/>
        </p:nvPicPr>
        <p:blipFill>
          <a:blip r:embed="rId6"/>
          <a:stretch>
            <a:fillRect/>
          </a:stretch>
        </p:blipFill>
        <p:spPr>
          <a:xfrm>
            <a:off x="7408515" y="2969269"/>
            <a:ext cx="1958280" cy="228600"/>
          </a:xfrm>
          <a:prstGeom prst="rect">
            <a:avLst/>
          </a:prstGeom>
        </p:spPr>
      </p:pic>
      <p:pic>
        <p:nvPicPr>
          <p:cNvPr id="9" name="Picture 8" descr="image.png"/>
          <p:cNvPicPr>
            <a:picLocks noChangeAspect="1"/>
          </p:cNvPicPr>
          <p:nvPr/>
        </p:nvPicPr>
        <p:blipFill>
          <a:blip r:embed="rId5"/>
          <a:stretch>
            <a:fillRect/>
          </a:stretch>
        </p:blipFill>
        <p:spPr>
          <a:xfrm>
            <a:off x="1438275" y="3274069"/>
            <a:ext cx="7909619" cy="228600"/>
          </a:xfrm>
          <a:prstGeom prst="rect">
            <a:avLst/>
          </a:prstGeom>
        </p:spPr>
      </p:pic>
      <p:pic>
        <p:nvPicPr>
          <p:cNvPr id="10" name="Picture 9" descr="image.png"/>
          <p:cNvPicPr>
            <a:picLocks noChangeAspect="1"/>
          </p:cNvPicPr>
          <p:nvPr/>
        </p:nvPicPr>
        <p:blipFill>
          <a:blip r:embed="rId4"/>
          <a:stretch>
            <a:fillRect/>
          </a:stretch>
        </p:blipFill>
        <p:spPr>
          <a:xfrm>
            <a:off x="9443144" y="3274069"/>
            <a:ext cx="1977330" cy="228600"/>
          </a:xfrm>
          <a:prstGeom prst="rect">
            <a:avLst/>
          </a:prstGeom>
        </p:spPr>
      </p:pic>
      <p:sp>
        <p:nvSpPr>
          <p:cNvPr id="11" name="Rectangle 10"/>
          <p:cNvSpPr/>
          <p:nvPr/>
        </p:nvSpPr>
        <p:spPr>
          <a:xfrm>
            <a:off x="609600" y="5945534"/>
            <a:ext cx="10972800" cy="55036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950" y="6040784"/>
            <a:ext cx="10706100" cy="359866"/>
          </a:xfrm>
          <a:prstGeom prst="rect">
            <a:avLst/>
          </a:prstGeom>
          <a:noFill/>
        </p:spPr>
        <p:txBody>
          <a:bodyPr wrap="square" lIns="0" rIns="0" tIns="0" bIns="0" anchor="t">
            <a:spAutoFit/>
          </a:bodyPr>
          <a:lstStyle/>
          <a:p>
            <a:pPr algn="l">
              <a:lnSpc>
                <a:spcPts val="1417"/>
              </a:lnSpc>
            </a:pPr>
            <a:r>
              <a:rPr b="1" sz="1050" i="0" u="none">
                <a:solidFill>
                  <a:srgbClr val="334155"/>
                </a:solidFill>
                <a:latin typeface="Plus Jakarta Sans"/>
              </a:rPr>
              <a:t>Speaker Notes for Teacher:</a:t>
            </a:r>
            <a:r>
              <a:rPr b="0" sz="1050" i="0" u="none">
                <a:solidFill>
                  <a:srgbClr val="334155"/>
                </a:solidFill>
                <a:latin typeface="Plus Jakarta Sans"/>
              </a:rPr>
              <a:t> "When dataset size is small, a single split might be biased. So we rotate! In 5-fold cross-validation, data is split into 5 equal parts. In each round, 4 parts train the model and 1 part tests it. We average the 5 scores for a reliable metric."</a:t>
            </a:r>
          </a:p>
        </p:txBody>
      </p:sp>
      <p:sp>
        <p:nvSpPr>
          <p:cNvPr id="13" name="Rectangle 12"/>
          <p:cNvSpPr/>
          <p:nvPr/>
        </p:nvSpPr>
        <p:spPr>
          <a:xfrm>
            <a:off x="609600" y="5945534"/>
            <a:ext cx="38100" cy="55036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600" y="361950"/>
            <a:ext cx="10972800" cy="171450"/>
          </a:xfrm>
          <a:prstGeom prst="rect">
            <a:avLst/>
          </a:prstGeom>
          <a:noFill/>
        </p:spPr>
        <p:txBody>
          <a:bodyPr wrap="square" lIns="0" rIns="0" tIns="0" bIns="0" anchor="t">
            <a:spAutoFit/>
          </a:bodyPr>
          <a:lstStyle/>
          <a:p>
            <a:pPr algn="l"/>
            <a:r>
              <a:rPr b="1" sz="1050" i="0" u="none">
                <a:solidFill>
                  <a:srgbClr val="D97706"/>
                </a:solidFill>
                <a:latin typeface="Plus Jakarta Sans"/>
              </a:rPr>
              <a:t>SECTION 5 • MODEL SELECTION &amp; GENERALIZATION</a:t>
            </a:r>
          </a:p>
        </p:txBody>
      </p:sp>
      <p:sp>
        <p:nvSpPr>
          <p:cNvPr id="15" name="TextBox 14"/>
          <p:cNvSpPr txBox="1"/>
          <p:nvPr/>
        </p:nvSpPr>
        <p:spPr>
          <a:xfrm>
            <a:off x="609600" y="571500"/>
            <a:ext cx="11521440" cy="371475"/>
          </a:xfrm>
          <a:prstGeom prst="rect">
            <a:avLst/>
          </a:prstGeom>
          <a:noFill/>
        </p:spPr>
        <p:txBody>
          <a:bodyPr wrap="square" lIns="0" rIns="0" tIns="0" bIns="0" anchor="t">
            <a:spAutoFit/>
          </a:bodyPr>
          <a:lstStyle/>
          <a:p>
            <a:pPr algn="l"/>
            <a:r>
              <a:rPr b="1" sz="2250" i="0" u="none">
                <a:solidFill>
                  <a:srgbClr val="0F172A"/>
                </a:solidFill>
                <a:latin typeface="Space Grotesk"/>
              </a:rPr>
              <a:t>K-Fold Cross-Validation (5-Fold Example)</a:t>
            </a:r>
          </a:p>
        </p:txBody>
      </p:sp>
      <p:sp>
        <p:nvSpPr>
          <p:cNvPr id="16" name="TextBox 15"/>
          <p:cNvSpPr txBox="1"/>
          <p:nvPr/>
        </p:nvSpPr>
        <p:spPr>
          <a:xfrm>
            <a:off x="771525" y="4719339"/>
            <a:ext cx="762000" cy="171450"/>
          </a:xfrm>
          <a:prstGeom prst="rect">
            <a:avLst/>
          </a:prstGeom>
          <a:noFill/>
        </p:spPr>
        <p:txBody>
          <a:bodyPr wrap="square" lIns="0" rIns="0" tIns="0" bIns="0" anchor="t">
            <a:spAutoFit/>
          </a:bodyPr>
          <a:lstStyle/>
          <a:p>
            <a:pPr algn="l"/>
            <a:r>
              <a:rPr b="1" sz="1050" i="0" u="none">
                <a:solidFill>
                  <a:srgbClr val="334155"/>
                </a:solidFill>
                <a:latin typeface="Plus Jakarta Sans"/>
              </a:rPr>
              <a:t>Final Score:</a:t>
            </a:r>
          </a:p>
        </p:txBody>
      </p:sp>
      <p:sp>
        <p:nvSpPr>
          <p:cNvPr id="17" name="TextBox 16"/>
          <p:cNvSpPr txBox="1"/>
          <p:nvPr/>
        </p:nvSpPr>
        <p:spPr>
          <a:xfrm>
            <a:off x="771525" y="2092969"/>
            <a:ext cx="571500" cy="152400"/>
          </a:xfrm>
          <a:prstGeom prst="rect">
            <a:avLst/>
          </a:prstGeom>
          <a:noFill/>
        </p:spPr>
        <p:txBody>
          <a:bodyPr wrap="square" lIns="0" rIns="0" tIns="0" bIns="0" anchor="t">
            <a:spAutoFit/>
          </a:bodyPr>
          <a:lstStyle/>
          <a:p>
            <a:pPr algn="l"/>
            <a:r>
              <a:rPr b="1" sz="975" i="0" u="none">
                <a:solidFill>
                  <a:srgbClr val="475569"/>
                </a:solidFill>
                <a:latin typeface="Plus Jakarta Sans"/>
              </a:rPr>
              <a:t>Fold 1:</a:t>
            </a:r>
          </a:p>
        </p:txBody>
      </p:sp>
      <p:sp>
        <p:nvSpPr>
          <p:cNvPr id="18" name="TextBox 17"/>
          <p:cNvSpPr txBox="1"/>
          <p:nvPr/>
        </p:nvSpPr>
        <p:spPr>
          <a:xfrm>
            <a:off x="771525" y="2397769"/>
            <a:ext cx="571500" cy="152400"/>
          </a:xfrm>
          <a:prstGeom prst="rect">
            <a:avLst/>
          </a:prstGeom>
          <a:noFill/>
        </p:spPr>
        <p:txBody>
          <a:bodyPr wrap="square" lIns="0" rIns="0" tIns="0" bIns="0" anchor="t">
            <a:spAutoFit/>
          </a:bodyPr>
          <a:lstStyle/>
          <a:p>
            <a:pPr algn="l"/>
            <a:r>
              <a:rPr b="1" sz="975" i="0" u="none">
                <a:solidFill>
                  <a:srgbClr val="475569"/>
                </a:solidFill>
                <a:latin typeface="Plus Jakarta Sans"/>
              </a:rPr>
              <a:t>Fold 2:</a:t>
            </a:r>
          </a:p>
        </p:txBody>
      </p:sp>
      <p:sp>
        <p:nvSpPr>
          <p:cNvPr id="19" name="Rounded Rectangle 18"/>
          <p:cNvSpPr/>
          <p:nvPr/>
        </p:nvSpPr>
        <p:spPr>
          <a:xfrm>
            <a:off x="1438275" y="2359669"/>
            <a:ext cx="1958280" cy="228600"/>
          </a:xfrm>
          <a:prstGeom prst="roundRect">
            <a:avLst>
              <a:gd name="adj" fmla="val 16666"/>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545335" y="2359669"/>
            <a:ext cx="5874990" cy="228600"/>
          </a:xfrm>
          <a:prstGeom prst="roundRect">
            <a:avLst>
              <a:gd name="adj" fmla="val 16666"/>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1525" y="2702569"/>
            <a:ext cx="571500" cy="152400"/>
          </a:xfrm>
          <a:prstGeom prst="rect">
            <a:avLst/>
          </a:prstGeom>
          <a:noFill/>
        </p:spPr>
        <p:txBody>
          <a:bodyPr wrap="square" lIns="0" rIns="0" tIns="0" bIns="0" anchor="t">
            <a:spAutoFit/>
          </a:bodyPr>
          <a:lstStyle/>
          <a:p>
            <a:pPr algn="l"/>
            <a:r>
              <a:rPr b="1" sz="975" i="0" u="none">
                <a:solidFill>
                  <a:srgbClr val="475569"/>
                </a:solidFill>
                <a:latin typeface="Plus Jakarta Sans"/>
              </a:rPr>
              <a:t>Fold 3:</a:t>
            </a:r>
          </a:p>
        </p:txBody>
      </p:sp>
      <p:sp>
        <p:nvSpPr>
          <p:cNvPr id="22" name="Rounded Rectangle 21"/>
          <p:cNvSpPr/>
          <p:nvPr/>
        </p:nvSpPr>
        <p:spPr>
          <a:xfrm>
            <a:off x="1438275" y="2664469"/>
            <a:ext cx="3916709" cy="228600"/>
          </a:xfrm>
          <a:prstGeom prst="roundRect">
            <a:avLst>
              <a:gd name="adj" fmla="val 16666"/>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503765" y="2664469"/>
            <a:ext cx="3916709" cy="228600"/>
          </a:xfrm>
          <a:prstGeom prst="roundRect">
            <a:avLst>
              <a:gd name="adj" fmla="val 16666"/>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525" y="3007369"/>
            <a:ext cx="571500" cy="152400"/>
          </a:xfrm>
          <a:prstGeom prst="rect">
            <a:avLst/>
          </a:prstGeom>
          <a:noFill/>
        </p:spPr>
        <p:txBody>
          <a:bodyPr wrap="square" lIns="0" rIns="0" tIns="0" bIns="0" anchor="t">
            <a:spAutoFit/>
          </a:bodyPr>
          <a:lstStyle/>
          <a:p>
            <a:pPr algn="l"/>
            <a:r>
              <a:rPr b="1" sz="975" i="0" u="none">
                <a:solidFill>
                  <a:srgbClr val="475569"/>
                </a:solidFill>
                <a:latin typeface="Plus Jakarta Sans"/>
              </a:rPr>
              <a:t>Fold 4:</a:t>
            </a:r>
          </a:p>
        </p:txBody>
      </p:sp>
      <p:sp>
        <p:nvSpPr>
          <p:cNvPr id="25" name="Rounded Rectangle 24"/>
          <p:cNvSpPr/>
          <p:nvPr/>
        </p:nvSpPr>
        <p:spPr>
          <a:xfrm>
            <a:off x="1438275" y="2969269"/>
            <a:ext cx="5874990" cy="228600"/>
          </a:xfrm>
          <a:prstGeom prst="roundRect">
            <a:avLst>
              <a:gd name="adj" fmla="val 16666"/>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462045" y="2969269"/>
            <a:ext cx="1958280" cy="228600"/>
          </a:xfrm>
          <a:prstGeom prst="roundRect">
            <a:avLst>
              <a:gd name="adj" fmla="val 16666"/>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1525" y="3312169"/>
            <a:ext cx="571500" cy="152400"/>
          </a:xfrm>
          <a:prstGeom prst="rect">
            <a:avLst/>
          </a:prstGeom>
          <a:noFill/>
        </p:spPr>
        <p:txBody>
          <a:bodyPr wrap="square" lIns="0" rIns="0" tIns="0" bIns="0" anchor="t">
            <a:spAutoFit/>
          </a:bodyPr>
          <a:lstStyle/>
          <a:p>
            <a:pPr algn="l"/>
            <a:r>
              <a:rPr b="1" sz="975" i="0" u="none">
                <a:solidFill>
                  <a:srgbClr val="475569"/>
                </a:solidFill>
                <a:latin typeface="Plus Jakarta Sans"/>
              </a:rPr>
              <a:t>Fold 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85800" y="6105525"/>
            <a:ext cx="10820400" cy="333375"/>
          </a:xfrm>
          <a:prstGeom prst="rect">
            <a:avLst/>
          </a:prstGeom>
        </p:spPr>
      </p:pic>
      <p:pic>
        <p:nvPicPr>
          <p:cNvPr id="3" name="Picture 2" descr="image.png"/>
          <p:cNvPicPr>
            <a:picLocks noChangeAspect="1"/>
          </p:cNvPicPr>
          <p:nvPr/>
        </p:nvPicPr>
        <p:blipFill>
          <a:blip r:embed="rId3"/>
          <a:stretch>
            <a:fillRect/>
          </a:stretch>
        </p:blipFill>
        <p:spPr>
          <a:xfrm>
            <a:off x="685800" y="2481262"/>
            <a:ext cx="10820400" cy="371475"/>
          </a:xfrm>
          <a:prstGeom prst="rect">
            <a:avLst/>
          </a:prstGeom>
        </p:spPr>
      </p:pic>
      <p:pic>
        <p:nvPicPr>
          <p:cNvPr id="4" name="Picture 3" descr="image.png"/>
          <p:cNvPicPr>
            <a:picLocks noChangeAspect="1"/>
          </p:cNvPicPr>
          <p:nvPr/>
        </p:nvPicPr>
        <p:blipFill>
          <a:blip r:embed="rId4"/>
          <a:stretch>
            <a:fillRect/>
          </a:stretch>
        </p:blipFill>
        <p:spPr>
          <a:xfrm>
            <a:off x="685800" y="2947987"/>
            <a:ext cx="10820400" cy="371475"/>
          </a:xfrm>
          <a:prstGeom prst="rect">
            <a:avLst/>
          </a:prstGeom>
        </p:spPr>
      </p:pic>
      <p:pic>
        <p:nvPicPr>
          <p:cNvPr id="5" name="Picture 4" descr="image.png"/>
          <p:cNvPicPr>
            <a:picLocks noChangeAspect="1"/>
          </p:cNvPicPr>
          <p:nvPr/>
        </p:nvPicPr>
        <p:blipFill>
          <a:blip r:embed="rId5"/>
          <a:stretch>
            <a:fillRect/>
          </a:stretch>
        </p:blipFill>
        <p:spPr>
          <a:xfrm>
            <a:off x="685800" y="3414712"/>
            <a:ext cx="10820400" cy="371475"/>
          </a:xfrm>
          <a:prstGeom prst="rect">
            <a:avLst/>
          </a:prstGeom>
        </p:spPr>
      </p:pic>
      <p:pic>
        <p:nvPicPr>
          <p:cNvPr id="6" name="Picture 5" descr="image.png"/>
          <p:cNvPicPr>
            <a:picLocks noChangeAspect="1"/>
          </p:cNvPicPr>
          <p:nvPr/>
        </p:nvPicPr>
        <p:blipFill>
          <a:blip r:embed="rId6"/>
          <a:stretch>
            <a:fillRect/>
          </a:stretch>
        </p:blipFill>
        <p:spPr>
          <a:xfrm>
            <a:off x="685800" y="3881437"/>
            <a:ext cx="10820400" cy="371475"/>
          </a:xfrm>
          <a:prstGeom prst="rect">
            <a:avLst/>
          </a:prstGeom>
        </p:spPr>
      </p:pic>
      <p:pic>
        <p:nvPicPr>
          <p:cNvPr id="7" name="Picture 6" descr="image.png"/>
          <p:cNvPicPr>
            <a:picLocks noChangeAspect="1"/>
          </p:cNvPicPr>
          <p:nvPr/>
        </p:nvPicPr>
        <p:blipFill>
          <a:blip r:embed="rId7"/>
          <a:stretch>
            <a:fillRect/>
          </a:stretch>
        </p:blipFill>
        <p:spPr>
          <a:xfrm>
            <a:off x="685800" y="4348162"/>
            <a:ext cx="10820400" cy="371475"/>
          </a:xfrm>
          <a:prstGeom prst="rect">
            <a:avLst/>
          </a:prstGeom>
        </p:spPr>
      </p:pic>
      <p:sp>
        <p:nvSpPr>
          <p:cNvPr id="8" name="TextBox 7"/>
          <p:cNvSpPr txBox="1"/>
          <p:nvPr/>
        </p:nvSpPr>
        <p:spPr>
          <a:xfrm>
            <a:off x="685800" y="419100"/>
            <a:ext cx="10820400" cy="676275"/>
          </a:xfrm>
          <a:prstGeom prst="rect">
            <a:avLst/>
          </a:prstGeom>
          <a:noFill/>
        </p:spPr>
        <p:txBody>
          <a:bodyPr wrap="square" lIns="0" rIns="0" tIns="0" bIns="0" anchor="t">
            <a:spAutoFit/>
          </a:bodyPr>
          <a:lstStyle/>
          <a:p>
            <a:pPr algn="l"/>
            <a:r>
              <a:rPr b="1" sz="1200" i="0" u="none">
                <a:solidFill>
                  <a:srgbClr val="38BDF8"/>
                </a:solidFill>
                <a:latin typeface="Plus Jakarta Sans"/>
              </a:rPr>
              <a:t>Unit-I Quick Recap</a:t>
            </a:r>
          </a:p>
        </p:txBody>
      </p:sp>
      <p:sp>
        <p:nvSpPr>
          <p:cNvPr id="9" name="TextBox 8"/>
          <p:cNvSpPr txBox="1"/>
          <p:nvPr/>
        </p:nvSpPr>
        <p:spPr>
          <a:xfrm>
            <a:off x="685800" y="657225"/>
            <a:ext cx="11361420" cy="438150"/>
          </a:xfrm>
          <a:prstGeom prst="rect">
            <a:avLst/>
          </a:prstGeom>
          <a:noFill/>
        </p:spPr>
        <p:txBody>
          <a:bodyPr wrap="square" lIns="0" rIns="0" tIns="0" bIns="0" anchor="t">
            <a:spAutoFit/>
          </a:bodyPr>
          <a:lstStyle/>
          <a:p>
            <a:pPr algn="l"/>
            <a:r>
              <a:rPr b="1" sz="2700" i="0" u="none">
                <a:solidFill>
                  <a:srgbClr val="FFFFFF"/>
                </a:solidFill>
                <a:latin typeface="Space Grotesk"/>
              </a:rPr>
              <a:t>Key Takeaways for BCA Students</a:t>
            </a:r>
          </a:p>
        </p:txBody>
      </p:sp>
      <p:sp>
        <p:nvSpPr>
          <p:cNvPr id="10" name="TextBox 9"/>
          <p:cNvSpPr txBox="1"/>
          <p:nvPr/>
        </p:nvSpPr>
        <p:spPr>
          <a:xfrm>
            <a:off x="685800" y="6267450"/>
            <a:ext cx="3609975" cy="171450"/>
          </a:xfrm>
          <a:prstGeom prst="rect">
            <a:avLst/>
          </a:prstGeom>
          <a:noFill/>
        </p:spPr>
        <p:txBody>
          <a:bodyPr wrap="square" lIns="0" rIns="0" tIns="0" bIns="0" anchor="t">
            <a:spAutoFit/>
          </a:bodyPr>
          <a:lstStyle/>
          <a:p>
            <a:pPr algn="l"/>
            <a:r>
              <a:rPr b="0" sz="1050" i="0" u="none">
                <a:solidFill>
                  <a:srgbClr val="94A3B8"/>
                </a:solidFill>
                <a:latin typeface="Plus Jakarta Sans"/>
              </a:rPr>
              <a:t>Classroom Presentation Complete • Questions &amp; Answers</a:t>
            </a:r>
          </a:p>
        </p:txBody>
      </p:sp>
      <p:sp>
        <p:nvSpPr>
          <p:cNvPr id="11" name="TextBox 10"/>
          <p:cNvSpPr txBox="1"/>
          <p:nvPr/>
        </p:nvSpPr>
        <p:spPr>
          <a:xfrm>
            <a:off x="10029825" y="6267450"/>
            <a:ext cx="1476375" cy="171450"/>
          </a:xfrm>
          <a:prstGeom prst="rect">
            <a:avLst/>
          </a:prstGeom>
          <a:noFill/>
        </p:spPr>
        <p:txBody>
          <a:bodyPr wrap="square" lIns="0" rIns="0" tIns="0" bIns="0" anchor="t">
            <a:spAutoFit/>
          </a:bodyPr>
          <a:lstStyle/>
          <a:p>
            <a:pPr algn="l"/>
            <a:r>
              <a:rPr b="0" sz="1050" i="0" u="none">
                <a:solidFill>
                  <a:srgbClr val="38BDF8"/>
                </a:solidFill>
                <a:latin typeface="Plus Jakarta Sans SemiBold"/>
              </a:rPr>
              <a:t>Best of luck with Unit-I!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