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</ns0:sldIdLst>
  <ns0:sldSz cx="12192000" cy="6858000" type="screen4x3"/>
  <ns0:notesSz cx="6858000" cy="9144000"/>
  <ns0:embeddedFontLst>
    <ns0:embeddedFont>
      <ns0:font typeface="Plus Jakarta Sans"/>
      <ns0:italic ns1:id="rIdFont25"/>
      <ns0:bold ns1:id="rIdFont26"/>
      <ns0:regular ns1:id="rIdFont27"/>
    </ns0:embeddedFont>
    <ns0:embeddedFont>
      <ns0:font typeface="JetBrains Mono"/>
      <ns0:bold ns1:id="rIdFont28"/>
      <ns0:regular ns1:id="rIdFont2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24" Type="http://schemas.openxmlformats.org/officeDocument/2006/relationships/slide" Target="slides/slide18.xml" /><ns0:Relationship Id="rIdFont25" Type="http://schemas.openxmlformats.org/officeDocument/2006/relationships/font" Target="fonts/de06bdad-a00e-4561-a578-4393aeec0393.fntdata" /><ns0:Relationship Id="rIdFont26" Type="http://schemas.openxmlformats.org/officeDocument/2006/relationships/font" Target="fonts/0da7f17e-1f5f-4b7e-ac75-b7ff70b43257.fntdata" /><ns0:Relationship Id="rIdFont27" Type="http://schemas.openxmlformats.org/officeDocument/2006/relationships/font" Target="fonts/3f1f5b43-4719-4d20-b0d3-50d01e1ad43b.fntdata" /><ns0:Relationship Id="rIdFont28" Type="http://schemas.openxmlformats.org/officeDocument/2006/relationships/font" Target="fonts/3a9b39db-64c0-4018-a861-27662354cb3f.fntdata" /><ns0:Relationship Id="rIdFont29" Type="http://schemas.openxmlformats.org/officeDocument/2006/relationships/font" Target="fonts/8bf29b4d-da4f-4e1a-8926-b98ba34c077e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602360"/>
            <a:ext cx="108204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2000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988939"/>
            <a:ext cx="1647825" cy="304800"/>
          </a:xfrm>
          <a:prstGeom prst="roundRect">
            <a:avLst>
              <a:gd name="adj" fmla="val 1875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4602360"/>
            <a:ext cx="108204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567487"/>
            <a:ext cx="171450" cy="133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807148"/>
            <a:ext cx="190500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2484239"/>
            <a:ext cx="9701212" cy="1051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b="1" sz="3450" i="0" u="none">
                <a:solidFill>
                  <a:srgbClr val="F8FAFC"/>
                </a:solidFill>
                <a:latin typeface="Plus Jakarta Sans"/>
              </a:rPr>
              <a:t>Introduction to Parametric Methods &amp; Maximum Likelihood Estimation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26060"/>
            <a:ext cx="7334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Understanding model structures, parameters, and estimating truth from observed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4350" y="6548437"/>
            <a:ext cx="116776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Plus Jakarta Sans"/>
              </a:rPr>
              <a:t>Teacher Note: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 Welcome students to Unit III. Today we transition from general ML basics to learning mathematical model parameters directly from training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2046089"/>
            <a:ext cx="14763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UNIT III • CLASS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7925" y="2050851"/>
            <a:ext cx="445293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Plus Jakarta Sans"/>
              </a:rPr>
              <a:t>BCA Semester V • Introduction to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4802385"/>
            <a:ext cx="71675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CBD5E1"/>
                </a:solidFill>
                <a:latin typeface="Plus Jakarta Sans"/>
              </a:rPr>
              <a:t>Prescribed Textbook:</a:t>
            </a:r>
            <a:r>
              <a:rPr b="0" sz="1125" i="0" u="none">
                <a:solidFill>
                  <a:srgbClr val="CBD5E1"/>
                </a:solidFill>
                <a:latin typeface="Plus Jakarta Sans"/>
              </a:rPr>
              <a:t> Ethem Alpaydin, </a:t>
            </a:r>
            <a:r>
              <a:rPr b="0" sz="1125" i="1" u="none">
                <a:solidFill>
                  <a:srgbClr val="CBD5E1"/>
                </a:solidFill>
                <a:latin typeface="Plus Jakarta Sans"/>
              </a:rPr>
              <a:t>Introduction to Machine Learning</a:t>
            </a:r>
            <a:r>
              <a:rPr b="0" sz="1125" i="0" u="none">
                <a:solidFill>
                  <a:srgbClr val="CBD5E1"/>
                </a:solidFill>
                <a:latin typeface="Plus Jakarta Sans"/>
              </a:rPr>
              <a:t> (2004, PHI)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586037"/>
            <a:ext cx="5410200" cy="790575"/>
          </a:xfrm>
          <a:prstGeom prst="roundRect">
            <a:avLst>
              <a:gd name="adj" fmla="val 14457"/>
            </a:avLst>
          </a:prstGeom>
          <a:solidFill>
            <a:srgbClr val="E0F2FE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72200" y="2586037"/>
            <a:ext cx="5410200" cy="790575"/>
          </a:xfrm>
          <a:prstGeom prst="roundRect">
            <a:avLst>
              <a:gd name="adj" fmla="val 14457"/>
            </a:avLst>
          </a:prstGeom>
          <a:solidFill>
            <a:srgbClr val="E0F2FE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3529012"/>
            <a:ext cx="5410200" cy="704850"/>
          </a:xfrm>
          <a:prstGeom prst="roundRect">
            <a:avLst>
              <a:gd name="adj" fmla="val 16216"/>
            </a:avLst>
          </a:prstGeom>
          <a:solidFill>
            <a:srgbClr val="FBFCFD"/>
          </a:solidFill>
          <a:ln w="9525">
            <a:solidFill>
              <a:srgbClr val="EAE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3529012"/>
            <a:ext cx="5410200" cy="704850"/>
          </a:xfrm>
          <a:prstGeom prst="roundRect">
            <a:avLst>
              <a:gd name="adj" fmla="val 16216"/>
            </a:avLst>
          </a:prstGeom>
          <a:solidFill>
            <a:srgbClr val="FBFCFD"/>
          </a:solidFill>
          <a:ln w="9525">
            <a:solidFill>
              <a:srgbClr val="EAE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4386262"/>
            <a:ext cx="5410200" cy="704850"/>
          </a:xfrm>
          <a:prstGeom prst="roundRect">
            <a:avLst>
              <a:gd name="adj" fmla="val 16216"/>
            </a:avLst>
          </a:prstGeom>
          <a:solidFill>
            <a:srgbClr val="FBFCFD"/>
          </a:solidFill>
          <a:ln w="9525">
            <a:solidFill>
              <a:srgbClr val="EAE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4386262"/>
            <a:ext cx="5410200" cy="704850"/>
          </a:xfrm>
          <a:prstGeom prst="roundRect">
            <a:avLst>
              <a:gd name="adj" fmla="val 16216"/>
            </a:avLst>
          </a:prstGeom>
          <a:solidFill>
            <a:srgbClr val="FBFCFD"/>
          </a:solidFill>
          <a:ln w="9525">
            <a:solidFill>
              <a:srgbClr val="EAE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7250" y="280987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19850" y="280987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7725" y="3709987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10325" y="3709987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7725" y="4567237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10325" y="4567237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567487"/>
            <a:ext cx="171450" cy="1333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COURSE OVERVIEW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286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Unit III Syllabus Roadmap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350" y="6548437"/>
            <a:ext cx="109180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Teacher Note: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Emphasize to students that Unit III is extensive, but today we strictly master the foundational pair: Parametric Methods and MLE.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4375" y="2809875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6975" y="2809875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850" y="3709987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8FAFC"/>
                </a:solidFill>
                <a:latin typeface="Plus Jakarta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3025" y="3776662"/>
            <a:ext cx="1787723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334155"/>
                </a:solidFill>
                <a:latin typeface="Plus Jakarta Sans"/>
              </a:rPr>
              <a:t>Bias and Variance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7450" y="3709987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8FAFC"/>
                </a:solidFill>
                <a:latin typeface="Plus Jakarta San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5625" y="3776662"/>
            <a:ext cx="1737717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334155"/>
                </a:solidFill>
                <a:latin typeface="Plus Jakarta Sans"/>
              </a:rPr>
              <a:t>Bayes' Estimator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850" y="4567237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8FAFC"/>
                </a:solidFill>
                <a:latin typeface="Plus Jakarta San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3025" y="4633912"/>
            <a:ext cx="2537817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334155"/>
                </a:solidFill>
                <a:latin typeface="Plus Jakarta Sans"/>
              </a:rPr>
              <a:t>Parametric Classification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7450" y="4567237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8FAFC"/>
                </a:solidFill>
                <a:latin typeface="Plus Jakarta San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5625" y="4633912"/>
            <a:ext cx="2275284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334155"/>
                </a:solidFill>
                <a:latin typeface="Plus Jakarta Sans"/>
              </a:rPr>
              <a:t>Parametric Regression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2550" y="2776537"/>
            <a:ext cx="277534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369A1"/>
                </a:solidFill>
                <a:latin typeface="Plus Jakarta Sans"/>
              </a:rPr>
              <a:t>Parametric Methods Intro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52550" y="3014662"/>
            <a:ext cx="2643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• TODAY'S FOCUS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5150" y="2776537"/>
            <a:ext cx="348793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369A1"/>
                </a:solidFill>
                <a:latin typeface="Plus Jakarta Sans"/>
              </a:rPr>
              <a:t>Maximum Likelihood Estimation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5150" y="3014662"/>
            <a:ext cx="33218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• TODAY'S FOCUS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886075"/>
            <a:ext cx="5648325" cy="1866900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62725" y="2511028"/>
            <a:ext cx="5019675" cy="1232296"/>
          </a:xfrm>
          <a:prstGeom prst="roundRect">
            <a:avLst>
              <a:gd name="adj" fmla="val 123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62725" y="3895725"/>
            <a:ext cx="5019675" cy="1232296"/>
          </a:xfrm>
          <a:prstGeom prst="roundRect">
            <a:avLst>
              <a:gd name="adj" fmla="val 123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3925" y="3810000"/>
            <a:ext cx="323850" cy="257175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23925" y="4181475"/>
            <a:ext cx="276225" cy="257175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567487"/>
            <a:ext cx="171450" cy="133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FOUNDATIONAL 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286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What is a Parameter?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350" y="6548437"/>
            <a:ext cx="114061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Teacher Note: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Connect this to school algebra. In y = mx + c, x is the input and y is the output. The letters m and c are the parameters that shape the 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200400"/>
            <a:ext cx="6274593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284C7"/>
                </a:solidFill>
                <a:latin typeface="JetBrains Mono"/>
              </a:rPr>
              <a:t>y = m·x + 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00850" y="2749153"/>
            <a:ext cx="53911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Definition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0850" y="3025378"/>
            <a:ext cx="463867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A parameter is an internal variable whose value controls model behavior.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0850" y="4133850"/>
            <a:ext cx="53911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Real-World Analogy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0850" y="4410075"/>
            <a:ext cx="463867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Knobs on an audio amplifier: adjusting bass and treble alters sound without changing amplifier design.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9175" y="3848100"/>
            <a:ext cx="2286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369A1"/>
                </a:solidFill>
                <a:latin typeface="Plus Jakarta Sans"/>
              </a:rPr>
              <a:t>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62075" y="3829050"/>
            <a:ext cx="29408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Slope parameter: controls tilt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175" y="4219575"/>
            <a:ext cx="1809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369A1"/>
                </a:solidFill>
                <a:latin typeface="Plus Jakarta Sans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4450" y="4200525"/>
            <a:ext cx="36671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Intercept parameter: controls height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644080"/>
            <a:ext cx="10972800" cy="769590"/>
          </a:xfrm>
          <a:prstGeom prst="roundRect">
            <a:avLst>
              <a:gd name="adj" fmla="val 1980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642270"/>
            <a:ext cx="10972800" cy="1352550"/>
          </a:xfrm>
          <a:prstGeom prst="roundRect">
            <a:avLst>
              <a:gd name="adj" fmla="val 112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43450" y="3918495"/>
            <a:ext cx="2609850" cy="800100"/>
          </a:xfrm>
          <a:prstGeom prst="roundRect">
            <a:avLst>
              <a:gd name="adj" fmla="val 14285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567487"/>
            <a:ext cx="171450" cy="133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450" y="4204245"/>
            <a:ext cx="20002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6275" y="4204245"/>
            <a:ext cx="200025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CORE DEFINITIONS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286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What is a Model?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350" y="6548437"/>
            <a:ext cx="116776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Teacher Note: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Remind students: models do not exist magically. We write a function mapping known inputs to predictions, governed by adjustable parameters.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2882205"/>
            <a:ext cx="11268075" cy="293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1" sz="1650" i="0" u="none">
                <a:solidFill>
                  <a:srgbClr val="1E293B"/>
                </a:solidFill>
                <a:latin typeface="Plus Jakarta Sans"/>
              </a:rPr>
              <a:t>“A model is a mathematical representation of a real-world relationship between variables in data.”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956" y="4085183"/>
            <a:ext cx="2071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4748B"/>
                </a:solidFill>
                <a:latin typeface="Plus Jakarta Sans"/>
              </a:rPr>
              <a:t>INPUT (X)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956" y="4313783"/>
            <a:ext cx="207168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House Size (sq.ft)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2500" y="4080420"/>
            <a:ext cx="2571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66534"/>
                </a:solidFill>
                <a:latin typeface="Plus Jakarta Sans"/>
              </a:rPr>
              <a:t>MODEL (FUNCTION)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2500" y="4309020"/>
            <a:ext cx="257175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5803D"/>
                </a:solidFill>
                <a:latin typeface="JetBrains Mono"/>
              </a:rPr>
              <a:t>Price = m·Size +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0200" y="4085183"/>
            <a:ext cx="2190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64748B"/>
                </a:solidFill>
                <a:latin typeface="Plus Jakarta Sans"/>
              </a:rPr>
              <a:t>PREDICTION (Y)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0200" y="4313783"/>
            <a:ext cx="21907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Plus Jakarta Sans"/>
              </a:rPr>
              <a:t>Estimated Price ($)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1200150"/>
            <a:ext cx="10972800" cy="542925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1200150"/>
            <a:ext cx="47625" cy="5429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981200" y="3638550"/>
            <a:ext cx="1714500" cy="1133475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52900" y="3638550"/>
            <a:ext cx="1714500" cy="1133475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24600" y="3638550"/>
            <a:ext cx="1714500" cy="1133475"/>
          </a:xfrm>
          <a:prstGeom prst="roundRect">
            <a:avLst>
              <a:gd name="adj" fmla="val 1008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96300" y="3638550"/>
            <a:ext cx="1714500" cy="1133475"/>
          </a:xfrm>
          <a:prstGeom prst="roundRect">
            <a:avLst>
              <a:gd name="adj" fmla="val 10084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567487"/>
            <a:ext cx="171450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8100" y="4119562"/>
            <a:ext cx="15240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4119562"/>
            <a:ext cx="15240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4119562"/>
            <a:ext cx="152400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8437" y="3838575"/>
            <a:ext cx="200025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5850" y="3838575"/>
            <a:ext cx="22860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7550" y="3838575"/>
            <a:ext cx="22860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9250" y="3838575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ALPAYDIN FORMULATION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286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What is a Parametric Method?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350" y="6548437"/>
            <a:ext cx="116776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Teacher Note: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Highlight the key word: "ASSUMES". In parametric methods, we decide the functional form up front, then let data calculate the fixed parameters.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25" y="1352550"/>
            <a:ext cx="113061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369A1"/>
                </a:solidFill>
                <a:latin typeface="Plus Jakarta Sans"/>
              </a:rPr>
              <a:t>“A parametric method assumes a particular model form and represents it using a fixed set of parameters.”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5835" y="4162425"/>
            <a:ext cx="182522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Training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9293" y="4400550"/>
            <a:ext cx="1738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Observed points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7535" y="4162425"/>
            <a:ext cx="182522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Assumed 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40993" y="4400550"/>
            <a:ext cx="1738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Line or curve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9235" y="4162425"/>
            <a:ext cx="182522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Plus Jakarta Sans"/>
              </a:rPr>
              <a:t>Learn Parameters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2693" y="4400550"/>
            <a:ext cx="1738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Find best values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0935" y="4162425"/>
            <a:ext cx="182522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Trained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84393" y="4400550"/>
            <a:ext cx="1738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94A3B8"/>
                </a:solidFill>
                <a:latin typeface="Plus Jakarta Sans"/>
              </a:rPr>
              <a:t>Ready for prediction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647950"/>
            <a:ext cx="5686425" cy="2343150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24625" y="2465337"/>
            <a:ext cx="5057775" cy="1491257"/>
          </a:xfrm>
          <a:prstGeom prst="roundRect">
            <a:avLst>
              <a:gd name="adj" fmla="val 1021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24625" y="4108995"/>
            <a:ext cx="5057775" cy="1064716"/>
          </a:xfrm>
          <a:prstGeom prst="roundRect">
            <a:avLst>
              <a:gd name="adj" fmla="val 14313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3925" y="3686175"/>
            <a:ext cx="2471737" cy="438150"/>
          </a:xfrm>
          <a:prstGeom prst="roundRect">
            <a:avLst>
              <a:gd name="adj" fmla="val 1739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09962" y="3686175"/>
            <a:ext cx="2471737" cy="438150"/>
          </a:xfrm>
          <a:prstGeom prst="roundRect">
            <a:avLst>
              <a:gd name="adj" fmla="val 1739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23925" y="4238625"/>
            <a:ext cx="2471737" cy="438150"/>
          </a:xfrm>
          <a:prstGeom prst="roundRect">
            <a:avLst>
              <a:gd name="adj" fmla="val 1739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09962" y="4238625"/>
            <a:ext cx="2471737" cy="438150"/>
          </a:xfrm>
          <a:prstGeom prst="roundRect">
            <a:avLst>
              <a:gd name="adj" fmla="val 1739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567487"/>
            <a:ext cx="171450" cy="1333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CANONICAL NOTATION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286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Machine Learning Form: y = wx +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350" y="6548437"/>
            <a:ext cx="110132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Teacher Note: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Clarify that in ML textbooks like Alpaydin, we write 'w' for weight instead of 'm', and 'b' for bias instead of 'c'. Both are parameters!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703" y="2962275"/>
            <a:ext cx="6322218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150" i="0" u="none">
                <a:solidFill>
                  <a:srgbClr val="0F172A"/>
                </a:solidFill>
                <a:latin typeface="JetBrains Mono"/>
              </a:rPr>
              <a:t>y = w·x +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8225" y="3800475"/>
            <a:ext cx="2338387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Plus Jakarta Sans"/>
              </a:rPr>
              <a:t>x :</a:t>
            </a:r>
            <a:r>
              <a:rPr b="1" sz="1200" i="0" u="none">
                <a:solidFill>
                  <a:srgbClr val="0284C7"/>
                </a:solidFill>
                <a:latin typeface="Plus Jakarta Sans"/>
              </a:rPr>
              <a:t> </a:t>
            </a:r>
            <a:r>
              <a:rPr b="1" sz="1200" i="0" u="none">
                <a:solidFill>
                  <a:srgbClr val="0284C7"/>
                </a:solidFill>
                <a:latin typeface="Plus Jakarta Sans"/>
              </a:rPr>
              <a:t>Input feature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4262" y="3800475"/>
            <a:ext cx="2338387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Plus Jakarta Sans"/>
              </a:rPr>
              <a:t>y :</a:t>
            </a:r>
            <a:r>
              <a:rPr b="1" sz="1200" i="0" u="none">
                <a:solidFill>
                  <a:srgbClr val="0284C7"/>
                </a:solidFill>
                <a:latin typeface="Plus Jakarta Sans"/>
              </a:rPr>
              <a:t> </a:t>
            </a:r>
            <a:r>
              <a:rPr b="1" sz="1200" i="0" u="none">
                <a:solidFill>
                  <a:srgbClr val="0284C7"/>
                </a:solidFill>
                <a:latin typeface="Plus Jakarta Sans"/>
              </a:rPr>
              <a:t>Target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225" y="4352925"/>
            <a:ext cx="2338387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B45309"/>
                </a:solidFill>
                <a:latin typeface="Plus Jakarta Sans"/>
              </a:rPr>
              <a:t>w :</a:t>
            </a:r>
            <a:r>
              <a:rPr b="1" sz="1200" i="0" u="none">
                <a:solidFill>
                  <a:srgbClr val="B45309"/>
                </a:solidFill>
                <a:latin typeface="Plus Jakarta Sans"/>
              </a:rPr>
              <a:t> </a:t>
            </a:r>
            <a:r>
              <a:rPr b="1" sz="1200" i="0" u="none">
                <a:solidFill>
                  <a:srgbClr val="B45309"/>
                </a:solidFill>
                <a:latin typeface="Plus Jakarta Sans"/>
              </a:rPr>
              <a:t>Weight parameter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4262" y="4352925"/>
            <a:ext cx="2338387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B45309"/>
                </a:solidFill>
                <a:latin typeface="Plus Jakarta Sans"/>
              </a:rPr>
              <a:t>b :</a:t>
            </a:r>
            <a:r>
              <a:rPr b="1" sz="1200" i="0" u="none">
                <a:solidFill>
                  <a:srgbClr val="B45309"/>
                </a:solidFill>
                <a:latin typeface="Plus Jakarta Sans"/>
              </a:rPr>
              <a:t> </a:t>
            </a:r>
            <a:r>
              <a:rPr b="1" sz="1200" i="0" u="none">
                <a:solidFill>
                  <a:srgbClr val="B45309"/>
                </a:solidFill>
                <a:latin typeface="Plus Jakarta Sans"/>
              </a:rPr>
              <a:t>Bias parameter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2750" y="2703462"/>
            <a:ext cx="5429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House Price Prediction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2750" y="2998737"/>
            <a:ext cx="4676775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475569"/>
                </a:solidFill>
                <a:latin typeface="Plus Jakarta Sans"/>
              </a:rPr>
              <a:t>Price = w · (Size) + b</a:t>
            </a:r>
            <a:r>
              <a:t>
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Once w and b are fixed, any house size immediately gives an estimated price.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4650" y="4309020"/>
            <a:ext cx="54673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65F46"/>
                </a:solidFill>
                <a:latin typeface="Plus Jakarta Sans"/>
              </a:rPr>
              <a:t>What Training Means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4650" y="4547145"/>
            <a:ext cx="4752975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047857"/>
                </a:solidFill>
                <a:latin typeface="Plus Jakarta Sans"/>
              </a:rPr>
              <a:t>Training the model means finding optimal numerical values for w and 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5895975"/>
            <a:ext cx="10972800" cy="504825"/>
          </a:xfrm>
          <a:prstGeom prst="roundRect">
            <a:avLst>
              <a:gd name="adj" fmla="val 2264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457450"/>
            <a:ext cx="5372100" cy="2028825"/>
          </a:xfrm>
          <a:prstGeom prst="roundRect">
            <a:avLst>
              <a:gd name="adj" fmla="val 75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0300" y="2462212"/>
            <a:ext cx="5372100" cy="201930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5825" y="3762375"/>
            <a:ext cx="4819650" cy="447675"/>
          </a:xfrm>
          <a:prstGeom prst="roundRect">
            <a:avLst>
              <a:gd name="adj" fmla="val 17021"/>
            </a:avLst>
          </a:prstGeom>
          <a:solidFill>
            <a:srgbClr val="FFF1F2"/>
          </a:solidFill>
          <a:ln w="9525">
            <a:solidFill>
              <a:srgbClr val="FE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86525" y="3757612"/>
            <a:ext cx="4819650" cy="447675"/>
          </a:xfrm>
          <a:prstGeom prst="roundRect">
            <a:avLst>
              <a:gd name="adj" fmla="val 1702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567487"/>
            <a:ext cx="171450" cy="133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6053137"/>
            <a:ext cx="19050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THE CORE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286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Why Parameter Estimation?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350" y="6548437"/>
            <a:ext cx="116776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Teacher Note: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Pose this to the class: If we have 1,000 house sales records, how do we systematically pick w and b? Introduce MLE as our systematic principle.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1100" y="6048375"/>
            <a:ext cx="110109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Key Method:</a:t>
            </a:r>
            <a:r>
              <a:rPr b="0" sz="1200" i="0" u="none">
                <a:solidFill>
                  <a:srgbClr val="F8FAFC"/>
                </a:solidFill>
                <a:latin typeface="Plus Jakarta Sans"/>
              </a:rPr>
              <a:t> Maximum Likelihood Estimation (MLE) is the principal method used across machine learning to estimate parameters.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2733675"/>
            <a:ext cx="632579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E11D48"/>
                </a:solidFill>
                <a:latin typeface="Plus Jakarta Sans"/>
              </a:rPr>
              <a:t>The Problem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3086100"/>
            <a:ext cx="4914900" cy="523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Plus Jakarta Sans"/>
              </a:rPr>
              <a:t>We write down 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y = wx + b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, but nobody tells us the values of </a:t>
            </a:r>
            <a:r>
              <a:rPr b="1" sz="1350" i="0" u="none">
                <a:solidFill>
                  <a:srgbClr val="334155"/>
                </a:solidFill>
                <a:latin typeface="Plus Jakarta Sans"/>
              </a:rPr>
              <a:t>w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and </a:t>
            </a:r>
            <a:r>
              <a:rPr b="1" sz="1350" i="0" u="none">
                <a:solidFill>
                  <a:srgbClr val="334155"/>
                </a:solidFill>
                <a:latin typeface="Plus Jakarta Sans"/>
              </a:rPr>
              <a:t>b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225" y="3876675"/>
            <a:ext cx="46101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BE123C"/>
                </a:solidFill>
                <a:latin typeface="JetBrains Mono"/>
              </a:rPr>
              <a:t>w = ?     b = 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6525" y="2738437"/>
            <a:ext cx="57054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The Solution: Estimation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525" y="3090862"/>
            <a:ext cx="49149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Plus Jakarta Sans"/>
              </a:rPr>
              <a:t>Use historical training samples to estimate the most sensible parameters.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8925" y="3871912"/>
            <a:ext cx="46101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6534"/>
                </a:solidFill>
                <a:latin typeface="Plus Jakarta Sans"/>
              </a:rPr>
              <a:t>Training Data → Parameter Estimation →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238250"/>
            <a:ext cx="10972800" cy="1062930"/>
          </a:xfrm>
          <a:prstGeom prst="roundRect">
            <a:avLst>
              <a:gd name="adj" fmla="val 1433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703290"/>
            <a:ext cx="5372100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0300" y="3651944"/>
            <a:ext cx="5372100" cy="1626691"/>
          </a:xfrm>
          <a:prstGeom prst="roundRect">
            <a:avLst>
              <a:gd name="adj" fmla="val 9368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5825" y="4227165"/>
            <a:ext cx="390525" cy="371475"/>
          </a:xfrm>
          <a:prstGeom prst="roundRect">
            <a:avLst>
              <a:gd name="adj" fmla="val 2051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52550" y="4227165"/>
            <a:ext cx="390525" cy="371475"/>
          </a:xfrm>
          <a:prstGeom prst="roundRect">
            <a:avLst>
              <a:gd name="adj" fmla="val 2051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819275" y="4227165"/>
            <a:ext cx="361950" cy="371475"/>
          </a:xfrm>
          <a:prstGeom prst="roundRect">
            <a:avLst>
              <a:gd name="adj" fmla="val 21052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57425" y="4227165"/>
            <a:ext cx="390525" cy="371475"/>
          </a:xfrm>
          <a:prstGeom prst="roundRect">
            <a:avLst>
              <a:gd name="adj" fmla="val 2051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24150" y="4227165"/>
            <a:ext cx="390525" cy="371475"/>
          </a:xfrm>
          <a:prstGeom prst="roundRect">
            <a:avLst>
              <a:gd name="adj" fmla="val 2051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90875" y="4227165"/>
            <a:ext cx="361950" cy="371475"/>
          </a:xfrm>
          <a:prstGeom prst="roundRect">
            <a:avLst>
              <a:gd name="adj" fmla="val 21052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29025" y="4227165"/>
            <a:ext cx="390525" cy="371475"/>
          </a:xfrm>
          <a:prstGeom prst="roundRect">
            <a:avLst>
              <a:gd name="adj" fmla="val 2051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095750" y="4227165"/>
            <a:ext cx="390525" cy="371475"/>
          </a:xfrm>
          <a:prstGeom prst="roundRect">
            <a:avLst>
              <a:gd name="adj" fmla="val 2051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567487"/>
            <a:ext cx="171450" cy="1333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STATISTICAL FOUNDATION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286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What is Estimation?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350" y="6548437"/>
            <a:ext cx="116776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Teacher Note: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Ask students: What would you guess P(Head) is based on 6 Heads out of 8? Most will intuitively say 6/8 = 0.75. Explain that this intuition is formal MLE.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" y="1476375"/>
            <a:ext cx="1043940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1" sz="1650" i="0" u="none">
                <a:solidFill>
                  <a:srgbClr val="1E293B"/>
                </a:solidFill>
                <a:latin typeface="Plus Jakarta Sans"/>
              </a:rPr>
              <a:t>“Estimation is the process of guessing an unknown population parameter using information observed in sample data.”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3979515"/>
            <a:ext cx="60245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OBSERVED SAMPLE (DATA)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25" y="4751040"/>
            <a:ext cx="6024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8 tosses: 6 Heads, 2 Tails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6525" y="3928169"/>
            <a:ext cx="57054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6534"/>
                </a:solidFill>
                <a:latin typeface="Plus Jakarta Sans"/>
              </a:rPr>
              <a:t>TARGET PARAMETER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6525" y="4175819"/>
            <a:ext cx="5705475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15803D"/>
                </a:solidFill>
                <a:latin typeface="Plus Jakarta Sans"/>
              </a:rPr>
              <a:t>P(Head) = θ = 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6525" y="4575869"/>
            <a:ext cx="491490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166534"/>
                </a:solidFill>
                <a:latin typeface="Plus Jakarta Sans"/>
              </a:rPr>
              <a:t>We cannot examine infinite tosses, so we use the 8 observed tosses to estimate the true probability.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175" y="4303365"/>
            <a:ext cx="21907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369A1"/>
                </a:solidFill>
                <a:latin typeface="Plus Jakarta Sans"/>
              </a:rPr>
              <a:t>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5900" y="4303365"/>
            <a:ext cx="21907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369A1"/>
                </a:solidFill>
                <a:latin typeface="Plus Jakarta Sans"/>
              </a:rPr>
              <a:t>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2625" y="4303365"/>
            <a:ext cx="1905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91B1B"/>
                </a:solidFill>
                <a:latin typeface="Plus Jakarta Sans"/>
              </a:rPr>
              <a:t>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90775" y="4303365"/>
            <a:ext cx="21907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369A1"/>
                </a:solidFill>
                <a:latin typeface="Plus Jakarta Sans"/>
              </a:rPr>
              <a:t>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57500" y="4303365"/>
            <a:ext cx="21907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369A1"/>
                </a:solidFill>
                <a:latin typeface="Plus Jakarta Sans"/>
              </a:rPr>
              <a:t>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24225" y="4303365"/>
            <a:ext cx="19050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91B1B"/>
                </a:solidFill>
                <a:latin typeface="Plus Jakarta Sans"/>
              </a:rPr>
              <a:t>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62375" y="4303365"/>
            <a:ext cx="21907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369A1"/>
                </a:solidFill>
                <a:latin typeface="Plus Jakarta Sans"/>
              </a:rPr>
              <a:t>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29100" y="4303365"/>
            <a:ext cx="21907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369A1"/>
                </a:solidFill>
                <a:latin typeface="Plus Jakarta Sans"/>
              </a:rPr>
              <a:t>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567487"/>
            <a:ext cx="171450" cy="1333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09600" y="2695575"/>
            <a:ext cx="10972800" cy="22479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600" y="2695575"/>
          <a:ext cx="10963273" cy="22479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292994"/>
                <a:gridCol w="4937075"/>
                <a:gridCol w="3733204"/>
              </a:tblGrid>
              <a:tr h="56197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Term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What It Means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Coin Toss Example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Parameter (θ)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The unknown true property of the world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True bias P(Head) of the coin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Estimator (g(D))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The mathematical formula / function used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JetBrains Mono"/>
                        </a:rPr>
                        <a:t>Total Heads ÷ Total Tosses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Estimate (θ̂)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The actual numerical value computed from data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5803D"/>
                          </a:solidFill>
                          <a:latin typeface="JetBrains Mono"/>
                        </a:rPr>
                        <a:t>0.75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TERMINOLOGY DISTINCTION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286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Parameter vs. Estimator vs. Estimate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350" y="6548437"/>
            <a:ext cx="116776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Teacher Note: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University exam alert! Students often mix up 'Estimator' and 'Estimate'. Drill this: Estimator is the formula (recipe); Estimate is the number (dish).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200150"/>
            <a:ext cx="10972800" cy="104775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819525"/>
            <a:ext cx="3524250" cy="120015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24350" y="3819525"/>
            <a:ext cx="3524250" cy="1200150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39100" y="3810000"/>
            <a:ext cx="3543300" cy="1219200"/>
          </a:xfrm>
          <a:prstGeom prst="roundRect">
            <a:avLst>
              <a:gd name="adj" fmla="val 9375"/>
            </a:avLst>
          </a:prstGeom>
          <a:solidFill>
            <a:srgbClr val="F0FDF4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5825" y="1695450"/>
            <a:ext cx="447675" cy="352425"/>
          </a:xfrm>
          <a:prstGeom prst="roundRect">
            <a:avLst>
              <a:gd name="adj" fmla="val 2162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28750" y="1695450"/>
            <a:ext cx="447675" cy="352425"/>
          </a:xfrm>
          <a:prstGeom prst="roundRect">
            <a:avLst>
              <a:gd name="adj" fmla="val 2162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971675" y="1695450"/>
            <a:ext cx="447675" cy="352425"/>
          </a:xfrm>
          <a:prstGeom prst="roundRect">
            <a:avLst>
              <a:gd name="adj" fmla="val 2162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14600" y="1695450"/>
            <a:ext cx="409575" cy="352425"/>
          </a:xfrm>
          <a:prstGeom prst="roundRect">
            <a:avLst>
              <a:gd name="adj" fmla="val 21621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19425" y="1695450"/>
            <a:ext cx="447675" cy="352425"/>
          </a:xfrm>
          <a:prstGeom prst="roundRect">
            <a:avLst>
              <a:gd name="adj" fmla="val 2162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567487"/>
            <a:ext cx="171450" cy="1333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THE BIG IDEA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286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What is Likelihood?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350" y="6548437"/>
            <a:ext cx="116776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Teacher Note: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Likelihood scores how well a candidate parameter explains the data we actually collected. 0.8 explains 4 Heads in 5 tosses better than 0.3.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1400175"/>
            <a:ext cx="113061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We observed 5 tosses of a coin: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225" y="1752600"/>
            <a:ext cx="2381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369A1"/>
                </a:solidFill>
                <a:latin typeface="Plus Jakarta Sans"/>
              </a:rPr>
              <a:t>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81150" y="1752600"/>
            <a:ext cx="2381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369A1"/>
                </a:solidFill>
                <a:latin typeface="Plus Jakarta Sans"/>
              </a:rPr>
              <a:t>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24075" y="1752600"/>
            <a:ext cx="2381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369A1"/>
                </a:solidFill>
                <a:latin typeface="Plus Jakarta Sans"/>
              </a:rPr>
              <a:t>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67000" y="1752600"/>
            <a:ext cx="2000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91B1B"/>
                </a:solidFill>
                <a:latin typeface="Plus Jakarta Sans"/>
              </a:rPr>
              <a:t>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71825" y="1752600"/>
            <a:ext cx="23812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369A1"/>
                </a:solidFill>
                <a:latin typeface="Plus Jakarta Sans"/>
              </a:rPr>
              <a:t>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76650" y="1762125"/>
            <a:ext cx="1524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(4 Heads, 1 Tail)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1468" y="4019550"/>
            <a:ext cx="41005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64748B"/>
                </a:solidFill>
                <a:latin typeface="Plus Jakarta Sans"/>
              </a:rPr>
              <a:t>Hypothesis 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100" y="4295775"/>
            <a:ext cx="39052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JetBrains Mono"/>
              </a:rPr>
              <a:t>P(H) = 0.3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9100" y="4648200"/>
            <a:ext cx="3905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EF4444"/>
                </a:solidFill>
                <a:latin typeface="Plus Jakarta Sans"/>
              </a:rPr>
              <a:t>Very unlikely to yield 4 Heads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36218" y="4019550"/>
            <a:ext cx="41005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64748B"/>
                </a:solidFill>
                <a:latin typeface="Plus Jakarta Sans"/>
              </a:rPr>
              <a:t>Hypothesis 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3850" y="4295775"/>
            <a:ext cx="39052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JetBrains Mono"/>
              </a:rPr>
              <a:t>P(H) = 0.5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33850" y="4648200"/>
            <a:ext cx="3905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0F172A"/>
                </a:solidFill>
                <a:latin typeface="Plus Jakarta Sans"/>
              </a:rPr>
              <a:t>Moderate likelihood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60493" y="4019550"/>
            <a:ext cx="41005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66534"/>
                </a:solidFill>
                <a:latin typeface="Plus Jakarta Sans"/>
              </a:rPr>
              <a:t>Hypothesis 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58125" y="4295775"/>
            <a:ext cx="39052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15803D"/>
                </a:solidFill>
                <a:latin typeface="JetBrains Mono"/>
              </a:rPr>
              <a:t>P(H) = 0.8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58125" y="4648200"/>
            <a:ext cx="3905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5803D"/>
                </a:solidFill>
                <a:latin typeface="Plus Jakarta Sans"/>
              </a:rPr>
              <a:t>Highest likelihood!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1238250"/>
            <a:ext cx="5372100" cy="5048250"/>
          </a:xfrm>
          <a:prstGeom prst="roundRect">
            <a:avLst>
              <a:gd name="adj" fmla="val 301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1238250"/>
            <a:ext cx="5372100" cy="5048250"/>
          </a:xfrm>
          <a:prstGeom prst="roundRect">
            <a:avLst>
              <a:gd name="adj" fmla="val 301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5825" y="5600700"/>
            <a:ext cx="4819650" cy="409575"/>
          </a:xfrm>
          <a:prstGeom prst="roundRect">
            <a:avLst>
              <a:gd name="adj" fmla="val 1860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86525" y="5600700"/>
            <a:ext cx="4819650" cy="409575"/>
          </a:xfrm>
          <a:prstGeom prst="roundRect">
            <a:avLst>
              <a:gd name="adj" fmla="val 18604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567487"/>
            <a:ext cx="171450" cy="133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1543050"/>
            <a:ext cx="26670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525" y="1543050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CRITICAL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286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Probability vs. Likelihood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350" y="6548437"/>
            <a:ext cx="116776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Teacher Note: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This is a classic exam question. Probability calculates data chances given known parameters. Likelihood evaluates candidate parameters given known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5715000"/>
            <a:ext cx="46863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Evaluates: </a:t>
            </a:r>
            <a:r>
              <a:rPr b="1" sz="1125" i="0" u="none">
                <a:solidFill>
                  <a:srgbClr val="475569"/>
                </a:solidFill>
                <a:latin typeface="Plus Jakarta Sans"/>
              </a:rPr>
              <a:t>Possible Future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0825" y="5715000"/>
            <a:ext cx="46863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065F46"/>
                </a:solidFill>
                <a:latin typeface="Plus Jakarta Sans"/>
              </a:rPr>
              <a:t>Evaluates: </a:t>
            </a:r>
            <a:r>
              <a:rPr b="1" sz="1125" i="0" u="none">
                <a:solidFill>
                  <a:srgbClr val="065F46"/>
                </a:solidFill>
                <a:latin typeface="Plus Jakarta Sans"/>
              </a:rPr>
              <a:t>Candidate Parameters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1895475"/>
            <a:ext cx="60245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64748B"/>
                </a:solidFill>
                <a:latin typeface="Plus Jakarta Sans"/>
              </a:rPr>
              <a:t>Parameter is FIXED &amp; Known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2228850"/>
            <a:ext cx="49149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Plus Jakarta Sans"/>
              </a:rPr>
              <a:t>“Knowing the coin has P(H) = 0.5, what is the chance of getting 4 Heads in a row?”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6525" y="1895475"/>
            <a:ext cx="57054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64748B"/>
                </a:solidFill>
                <a:latin typeface="Plus Jakarta Sans"/>
              </a:rPr>
              <a:t>Data is FIXED &amp; Observed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525" y="2228850"/>
            <a:ext cx="49149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334155"/>
                </a:solidFill>
                <a:latin typeface="Plus Jakarta Sans"/>
              </a:rPr>
              <a:t>“Having observed 4 Heads in a row, which value of P(H) best explains this outcome?”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7775" y="1514475"/>
            <a:ext cx="149018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Probability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91325" y="1514475"/>
            <a:ext cx="142017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Likelihood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200150"/>
            <a:ext cx="10972800" cy="1043880"/>
          </a:xfrm>
          <a:prstGeom prst="roundRect">
            <a:avLst>
              <a:gd name="adj" fmla="val 1459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912840"/>
            <a:ext cx="3530649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30749" y="3912840"/>
            <a:ext cx="3530649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51899" y="3912840"/>
            <a:ext cx="3530649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567487"/>
            <a:ext cx="171450" cy="1333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PRINCIPAL 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286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Maximum Likelihood Estimation (MLE)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4350" y="6548437"/>
            <a:ext cx="112990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Teacher Note: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Break the phrase into three words on the board. Maximum = highest, Likelihood = probability of data, Estimation = finding parameter.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428750"/>
            <a:ext cx="104584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1" sz="1650" i="0" u="none">
                <a:solidFill>
                  <a:srgbClr val="F8FAFC"/>
                </a:solidFill>
                <a:latin typeface="Plus Jakarta Sans"/>
              </a:rPr>
              <a:t>“Maximum Likelihood Estimation chooses the parameter value that makes the observed training data most likely to have occurred.”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4112865"/>
            <a:ext cx="391324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MAXIMUM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4341465"/>
            <a:ext cx="3225849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Plus Jakarta Sans"/>
              </a:rPr>
              <a:t>Find the peak or highest value among all possibilities.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0774" y="4112865"/>
            <a:ext cx="391324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LIKELIHOOD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0774" y="4341465"/>
            <a:ext cx="3225849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Plus Jakarta Sans"/>
              </a:rPr>
              <a:t>How well the parameter explains observed samples.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1924" y="4112865"/>
            <a:ext cx="391324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ESTIMATION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1924" y="4341465"/>
            <a:ext cx="3225849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4155"/>
                </a:solidFill>
                <a:latin typeface="Plus Jakarta Sans"/>
              </a:rPr>
              <a:t>Determining the unknown internal parameter value.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257425"/>
            <a:ext cx="1097280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905125"/>
            <a:ext cx="1097280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3552825"/>
            <a:ext cx="1097280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4200525"/>
            <a:ext cx="10972800" cy="533400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4848225"/>
            <a:ext cx="10972800" cy="533400"/>
          </a:xfrm>
          <a:prstGeom prst="roundRect">
            <a:avLst>
              <a:gd name="adj" fmla="val 17857"/>
            </a:avLst>
          </a:prstGeom>
          <a:solidFill>
            <a:srgbClr val="ECFDF5"/>
          </a:solidFill>
          <a:ln w="9525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9625" y="23812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9625" y="30289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9625" y="36766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9625" y="43243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9625" y="49720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567487"/>
            <a:ext cx="171450" cy="1333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ALGORITHM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286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The 5-Step Process of MLE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350" y="6548437"/>
            <a:ext cx="116776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Teacher Note: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State clearly: mathematically, finding the maximum can be done by taking the derivative and setting it to zero, but the intuition is purely finding the peak.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23812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7775" y="2419350"/>
            <a:ext cx="1094422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Collect Observed Data (D):</a:t>
            </a:r>
            <a:r>
              <a:rPr b="1" sz="1275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b="1" sz="1200" i="0" u="none">
                <a:solidFill>
                  <a:srgbClr val="475569"/>
                </a:solidFill>
                <a:latin typeface="Plus Jakarta Sans"/>
              </a:rPr>
              <a:t> Gather sample points (e.g., coin tosses, sales).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" y="30289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7775" y="3062287"/>
            <a:ext cx="109442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Define Likelihood Function L(θ | D):</a:t>
            </a:r>
            <a:r>
              <a:rPr b="1" sz="1275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b="1" sz="1200" i="0" u="none">
                <a:solidFill>
                  <a:srgbClr val="475569"/>
                </a:solidFill>
                <a:latin typeface="Plus Jakarta Sans"/>
              </a:rPr>
              <a:t> Express data probability as a function of parameter θ.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50" y="36766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7775" y="3714750"/>
            <a:ext cx="1094422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Evaluate Candidate Parameters:</a:t>
            </a:r>
            <a:r>
              <a:rPr b="1" sz="1275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b="1" sz="1200" i="0" u="none">
                <a:solidFill>
                  <a:srgbClr val="475569"/>
                </a:solidFill>
                <a:latin typeface="Plus Jakarta Sans"/>
              </a:rPr>
              <a:t> See which θ values generate high or low likelihood.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750" y="43243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FFFFF"/>
                </a:solidFill>
                <a:latin typeface="Plus Jakarta San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47775" y="4362450"/>
            <a:ext cx="1094422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Plus Jakarta Sans"/>
              </a:rPr>
              <a:t>Maximize the Function:</a:t>
            </a:r>
            <a:r>
              <a:rPr b="1" sz="1275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b="1" sz="1200" i="0" u="none">
                <a:solidFill>
                  <a:srgbClr val="475569"/>
                </a:solidFill>
                <a:latin typeface="Plus Jakarta Sans"/>
              </a:rPr>
              <a:t> Find the specific θ that gives the maximum value.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750" y="4972050"/>
            <a:ext cx="5715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F8FAFC"/>
                </a:solidFill>
                <a:latin typeface="Plus Jakarta San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47775" y="5005387"/>
            <a:ext cx="109442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65F46"/>
                </a:solidFill>
                <a:latin typeface="Plus Jakarta Sans"/>
              </a:rPr>
              <a:t>Output Estimated Parameter (θ̂):</a:t>
            </a:r>
            <a:r>
              <a:rPr b="1" sz="1275" i="0" u="none">
                <a:solidFill>
                  <a:srgbClr val="065F46"/>
                </a:solidFill>
                <a:latin typeface="Plus Jakarta Sans"/>
              </a:rPr>
              <a:t> </a:t>
            </a:r>
            <a:r>
              <a:rPr b="1" sz="1200" i="0" u="none">
                <a:solidFill>
                  <a:srgbClr val="047857"/>
                </a:solidFill>
                <a:latin typeface="Plus Jakarta Sans"/>
              </a:rPr>
              <a:t> Adopt θ̂ as the trained model parameter.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647950"/>
            <a:ext cx="5353050" cy="2305050"/>
          </a:xfrm>
          <a:prstGeom prst="roundRect">
            <a:avLst>
              <a:gd name="adj" fmla="val 66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29350" y="2601366"/>
            <a:ext cx="5353050" cy="2398216"/>
          </a:xfrm>
          <a:prstGeom prst="roundRect">
            <a:avLst>
              <a:gd name="adj" fmla="val 6354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5825" y="3562350"/>
            <a:ext cx="828675" cy="762000"/>
          </a:xfrm>
          <a:prstGeom prst="roundRect">
            <a:avLst>
              <a:gd name="adj" fmla="val 125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66900" y="3562350"/>
            <a:ext cx="742950" cy="762000"/>
          </a:xfrm>
          <a:prstGeom prst="roundRect">
            <a:avLst>
              <a:gd name="adj" fmla="val 1282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567487"/>
            <a:ext cx="171450" cy="1333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PRACTICAL NUMERICAL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286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Coin-Toss MLE Calculation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4350" y="6548437"/>
            <a:ext cx="116776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Teacher Note: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Emphasize simplicity: MLE matches common sense here. If you saw 7 Heads in 10 tosses, 0.7 is the single parameter that maximizes the chance of that sample.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2924175"/>
            <a:ext cx="6000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OBSERVED EXPERIMENT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171825"/>
            <a:ext cx="60007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1E293B"/>
                </a:solidFill>
                <a:latin typeface="Plus Jakarta Sans"/>
              </a:rPr>
              <a:t>Tossed a coin </a:t>
            </a:r>
            <a:r>
              <a:rPr b="1" sz="1500" i="0" u="none">
                <a:solidFill>
                  <a:srgbClr val="1E293B"/>
                </a:solidFill>
                <a:latin typeface="Plus Jakarta Sans"/>
              </a:rPr>
              <a:t>N = 10</a:t>
            </a:r>
            <a:r>
              <a:rPr b="0" sz="1500" i="0" u="none">
                <a:solidFill>
                  <a:srgbClr val="1E293B"/>
                </a:solidFill>
                <a:latin typeface="Plus Jakarta Sans"/>
              </a:rPr>
              <a:t> times: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4476750"/>
            <a:ext cx="6000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We want to estimate unknown parameter </a:t>
            </a:r>
            <a:r>
              <a:rPr b="1" sz="1200" i="0" u="none">
                <a:solidFill>
                  <a:srgbClr val="64748B"/>
                </a:solidFill>
                <a:latin typeface="Plus Jakarta Sans"/>
              </a:rPr>
              <a:t>p = P(Head)</a:t>
            </a:r>
            <a:r>
              <a:rPr b="0" sz="1200" i="0" u="none">
                <a:solidFill>
                  <a:srgbClr val="64748B"/>
                </a:solidFill>
                <a:latin typeface="Plus Jakarta Sans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575" y="2877591"/>
            <a:ext cx="56864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6534"/>
                </a:solidFill>
                <a:latin typeface="Plus Jakarta Sans"/>
              </a:rPr>
              <a:t>MLE FORMULA 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5575" y="3125241"/>
            <a:ext cx="489585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5803D"/>
                </a:solidFill>
                <a:latin typeface="JetBrains Mono"/>
              </a:rPr>
              <a:t>p̂ = (Number of Heads) ÷ (Total Tosses)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5575" y="3830091"/>
            <a:ext cx="5686425" cy="352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5803D"/>
                </a:solidFill>
                <a:latin typeface="JetBrains Mono"/>
              </a:rPr>
              <a:t>p̂ = 7 ÷ 10 = 0.7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5575" y="4296816"/>
            <a:ext cx="489585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1" sz="1200" i="0" u="none">
                <a:solidFill>
                  <a:srgbClr val="166534"/>
                </a:solidFill>
                <a:latin typeface="Plus Jakarta Sans"/>
              </a:rPr>
              <a:t>Conclusion:</a:t>
            </a:r>
            <a:r>
              <a:rPr b="0" sz="1200" i="0" u="none">
                <a:solidFill>
                  <a:srgbClr val="166534"/>
                </a:solidFill>
                <a:latin typeface="Plus Jakarta Sans"/>
              </a:rPr>
              <a:t> The MLE estimate for P(Head) is </a:t>
            </a:r>
            <a:r>
              <a:rPr b="1" sz="1200" i="0" u="none">
                <a:solidFill>
                  <a:srgbClr val="166534"/>
                </a:solidFill>
                <a:latin typeface="Plus Jakarta Sans"/>
              </a:rPr>
              <a:t>0.7</a:t>
            </a:r>
            <a:r>
              <a:rPr b="0" sz="1200" i="0" u="none">
                <a:solidFill>
                  <a:srgbClr val="166534"/>
                </a:solidFill>
                <a:latin typeface="Plus Jakarta Sans"/>
              </a:rPr>
              <a:t>. It represents the exact parameter under which 7 Heads and 3 Tails is most probable.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6325" y="3676650"/>
            <a:ext cx="542925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Plus Jakarta Sans"/>
              </a:rPr>
              <a:t>HEADS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3676650"/>
            <a:ext cx="4572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91B1B"/>
                </a:solidFill>
                <a:latin typeface="Plus Jakarta Sans"/>
              </a:rPr>
              <a:t>TAILS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6325" y="3876675"/>
            <a:ext cx="73342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284C7"/>
                </a:solidFill>
                <a:latin typeface="Plus Jakarta Sans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3876675"/>
            <a:ext cx="6477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DC2626"/>
                </a:solidFill>
                <a:latin typeface="Plus Jakarta Sans"/>
              </a:rPr>
              <a:t>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200150"/>
            <a:ext cx="10972800" cy="1060995"/>
          </a:xfrm>
          <a:prstGeom prst="roundRect">
            <a:avLst>
              <a:gd name="adj" fmla="val 1436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451645"/>
            <a:ext cx="5429250" cy="1917352"/>
          </a:xfrm>
          <a:prstGeom prst="roundRect">
            <a:avLst>
              <a:gd name="adj" fmla="val 49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53150" y="2451645"/>
            <a:ext cx="5429250" cy="1917352"/>
          </a:xfrm>
          <a:prstGeom prst="roundRect">
            <a:avLst>
              <a:gd name="adj" fmla="val 49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4483298"/>
            <a:ext cx="5429250" cy="1917501"/>
          </a:xfrm>
          <a:prstGeom prst="roundRect">
            <a:avLst>
              <a:gd name="adj" fmla="val 49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53150" y="4483298"/>
            <a:ext cx="5429250" cy="1917501"/>
          </a:xfrm>
          <a:prstGeom prst="roundRect">
            <a:avLst>
              <a:gd name="adj" fmla="val 496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567487"/>
            <a:ext cx="171450" cy="133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FORMAL MATHEMATICAL NOTATION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286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The Basic MLE Formula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350" y="6548437"/>
            <a:ext cx="11525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Teacher Note: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Clarify "arg max": max gives the highest height; "arg max" gives the location (the theta) on the x-axis where that highest height happens.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238125" y="1428750"/>
            <a:ext cx="12668250" cy="6037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150" i="0" u="none">
                <a:solidFill>
                  <a:srgbClr val="38BDF8"/>
                </a:solidFill>
                <a:latin typeface="JetBrains Mono"/>
              </a:rPr>
              <a:t>θ̂ = arg max</a:t>
            </a:r>
            <a:r>
              <a:rPr b="1" sz="2625" i="0" u="none">
                <a:solidFill>
                  <a:srgbClr val="38BDF8"/>
                </a:solidFill>
                <a:latin typeface="JetBrains Mono"/>
              </a:rPr>
              <a:t>θ</a:t>
            </a:r>
            <a:r>
              <a:rPr b="1" sz="3150" i="0" u="none">
                <a:solidFill>
                  <a:srgbClr val="38BDF8"/>
                </a:solidFill>
                <a:latin typeface="JetBrains Mono"/>
              </a:rPr>
              <a:t> L(θ | 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575" y="3286422"/>
            <a:ext cx="385316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JetBrains Mono"/>
              </a:rPr>
              <a:t>θ̂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4441" y="3310235"/>
            <a:ext cx="34766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Estimated parameter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(the final winner)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4125" y="3286422"/>
            <a:ext cx="108585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JetBrains Mono"/>
              </a:rPr>
              <a:t>arg max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8525" y="3310235"/>
            <a:ext cx="42505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Argument of maximum: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parameter giving peak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575" y="5318224"/>
            <a:ext cx="120015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JetBrains Mono"/>
              </a:rPr>
              <a:t>L(θ | 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9275" y="5342036"/>
            <a:ext cx="359457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Likelihood: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probability of data D given 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4125" y="5318224"/>
            <a:ext cx="40005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JetBrains Mono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2725" y="5342036"/>
            <a:ext cx="28455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Observed training data</a:t>
            </a:r>
            <a:r>
              <a:rPr b="0" sz="1200" i="0" u="none">
                <a:solidFill>
                  <a:srgbClr val="334155"/>
                </a:solidFill>
                <a:latin typeface="Plus Jakarta Sans"/>
              </a:rPr>
              <a:t> sample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0" y="2849165"/>
            <a:ext cx="5638800" cy="1940718"/>
          </a:xfrm>
          <a:prstGeom prst="roundRect">
            <a:avLst>
              <a:gd name="adj" fmla="val 785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2886075"/>
            <a:ext cx="5105400" cy="53340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3552825"/>
            <a:ext cx="5105400" cy="53340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4219575"/>
            <a:ext cx="5105400" cy="53340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567487"/>
            <a:ext cx="171450" cy="133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3057525"/>
            <a:ext cx="1428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3724275"/>
            <a:ext cx="1905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4391025"/>
            <a:ext cx="19050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BIG PICTURE CONNECTION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286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Why MLE is Fundamental in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350" y="6548437"/>
            <a:ext cx="10656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Teacher Note: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Explain that throughout Unit III (Gaussian classifiers, linear regression), the core engine under the hood is almost always MLE.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0300" y="3115865"/>
            <a:ext cx="59817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Plus Jakarta Sans"/>
              </a:rPr>
              <a:t>The Parametric Learning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0300" y="3487340"/>
            <a:ext cx="5200650" cy="1035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00" i="0" u="none">
                <a:solidFill>
                  <a:srgbClr val="CBD5E1"/>
                </a:solidFill>
                <a:latin typeface="Plus Jakarta Sans"/>
              </a:rPr>
              <a:t>1. Assume a parametric distribution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2. Write likelihood given training sample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3. Apply MLE to solve for unknown θ</a:t>
            </a:r>
            <a:r>
              <a:t>
</a:t>
            </a:r>
            <a:r>
              <a:rPr b="0" sz="1200" i="0" u="none">
                <a:solidFill>
                  <a:srgbClr val="CBD5E1"/>
                </a:solidFill>
                <a:latin typeface="Plus Jakarta Sans"/>
              </a:rPr>
              <a:t> 4. Plug θ̂ back into model to classify or predict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5850" y="3048000"/>
            <a:ext cx="41910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1E293B"/>
                </a:solidFill>
                <a:latin typeface="Plus Jakarta Sans"/>
              </a:rPr>
              <a:t>Estimates distribution means and variances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475" y="3714750"/>
            <a:ext cx="3309937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1E293B"/>
                </a:solidFill>
                <a:latin typeface="Plus Jakarta Sans"/>
              </a:rPr>
              <a:t>Calculates class prior probabilities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475" y="4381500"/>
            <a:ext cx="4738687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1E293B"/>
                </a:solidFill>
                <a:latin typeface="Plus Jakarta Sans"/>
              </a:rPr>
              <a:t>Provides mathematical foundation for regression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490787"/>
            <a:ext cx="10972800" cy="447675"/>
          </a:xfrm>
          <a:prstGeom prst="roundRect">
            <a:avLst>
              <a:gd name="adj" fmla="val 212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033712"/>
            <a:ext cx="10972800" cy="447675"/>
          </a:xfrm>
          <a:prstGeom prst="roundRect">
            <a:avLst>
              <a:gd name="adj" fmla="val 212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3576637"/>
            <a:ext cx="10972800" cy="447675"/>
          </a:xfrm>
          <a:prstGeom prst="roundRect">
            <a:avLst>
              <a:gd name="adj" fmla="val 212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4119562"/>
            <a:ext cx="10972800" cy="447675"/>
          </a:xfrm>
          <a:prstGeom prst="roundRect">
            <a:avLst>
              <a:gd name="adj" fmla="val 212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4662487"/>
            <a:ext cx="10972800" cy="447675"/>
          </a:xfrm>
          <a:prstGeom prst="roundRect">
            <a:avLst>
              <a:gd name="adj" fmla="val 21276"/>
            </a:avLst>
          </a:prstGeom>
          <a:solidFill>
            <a:srgbClr val="F0FDF4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567487"/>
            <a:ext cx="171450" cy="133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SUMMARY CHEAT-SHEET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286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Quick Revision: 5 Key Concepts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350" y="6548437"/>
            <a:ext cx="95964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Teacher Note:</a:t>
            </a:r>
            <a:r>
              <a:rPr b="0" sz="1050" i="0" u="none">
                <a:solidFill>
                  <a:srgbClr val="334155"/>
                </a:solidFill>
                <a:latin typeface="Plus Jakarta Sans"/>
              </a:rPr>
              <a:t> Have the students read this slide out loud or copy these 5 exact one-line definitions into their class notebooks.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2614612"/>
            <a:ext cx="2381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Plus Jakarta Sans"/>
              </a:rPr>
              <a:t>PARAMETRIC 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4625" y="2614612"/>
            <a:ext cx="5262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Assumes a fixed mathematical model form before training.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3157537"/>
            <a:ext cx="2381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Plus Jakarta Sans"/>
              </a:rPr>
              <a:t>PARAMETER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4625" y="3157537"/>
            <a:ext cx="54649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Internal numerical variable defining the specific model curve.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3700462"/>
            <a:ext cx="2381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Plus Jakarta Sans"/>
              </a:rPr>
              <a:t>ESTIMATION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4625" y="3700462"/>
            <a:ext cx="51792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Calculating unknown parameter values from sample data.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25" y="4243387"/>
            <a:ext cx="2381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Plus Jakarta Sans"/>
              </a:rPr>
              <a:t>LIKELIHOOD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14625" y="4243387"/>
            <a:ext cx="54649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How well a candidate parameter explains the observed data.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" y="4786312"/>
            <a:ext cx="2381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5803D"/>
                </a:solidFill>
                <a:latin typeface="Plus Jakarta Sans"/>
              </a:rPr>
              <a:t>MLE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14625" y="4786312"/>
            <a:ext cx="5976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66534"/>
                </a:solidFill>
                <a:latin typeface="Plus Jakarta Sans"/>
              </a:rPr>
              <a:t>Selects the exact parameter value providing maximum likelihood.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2000" cy="9525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1200150"/>
            <a:ext cx="5391150" cy="5200650"/>
          </a:xfrm>
          <a:prstGeom prst="roundRect">
            <a:avLst>
              <a:gd name="adj" fmla="val 256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1200150"/>
            <a:ext cx="5391150" cy="5200650"/>
          </a:xfrm>
          <a:prstGeom prst="roundRect">
            <a:avLst>
              <a:gd name="adj" fmla="val 256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567487"/>
            <a:ext cx="171450" cy="133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EXAMINATION PREPARATION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286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8FAFC"/>
                </a:solidFill>
                <a:latin typeface="Plus Jakarta Sans"/>
              </a:rPr>
              <a:t>Important Exam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350" y="6548437"/>
            <a:ext cx="11549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Plus Jakarta Sans"/>
              </a:rPr>
              <a:t>Teacher Note:</a:t>
            </a:r>
            <a:r>
              <a:rPr b="0" sz="1050" i="0" u="none">
                <a:solidFill>
                  <a:srgbClr val="94A3B8"/>
                </a:solidFill>
                <a:latin typeface="Plus Jakarta Sans"/>
              </a:rPr>
              <a:t> Conclude the lecture by assigning questions 2 and 3 as homework. Preview the next lecture: Bias and Variance in parameter estimation.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675" y="1419225"/>
            <a:ext cx="6500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Short Answer Questions (2–3 Marks)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0325" y="1419225"/>
            <a:ext cx="57816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Plus Jakarta Sans"/>
              </a:rPr>
              <a:t>Long Answer / Numerical (5–8 Marks)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1733550"/>
            <a:ext cx="76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1733550"/>
            <a:ext cx="5976937" cy="22860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CBD5E1"/>
                </a:solidFill>
                <a:latin typeface="Plus Jakarta Sans"/>
              </a:rPr>
              <a:t>Define a parametric method.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1962150"/>
            <a:ext cx="76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125" y="1962150"/>
            <a:ext cx="5976937" cy="22860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CBD5E1"/>
                </a:solidFill>
                <a:latin typeface="Plus Jakarta Sans"/>
              </a:rPr>
              <a:t>Differentiate between an estimator and an estimate.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2190750"/>
            <a:ext cx="76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125" y="2190750"/>
            <a:ext cx="5976937" cy="22860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CBD5E1"/>
                </a:solidFill>
                <a:latin typeface="Plus Jakarta Sans"/>
              </a:rPr>
              <a:t>Distinguish probability and likelihood.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" y="2419350"/>
            <a:ext cx="76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0125" y="2419350"/>
            <a:ext cx="5976937" cy="22860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CBD5E1"/>
                </a:solidFill>
                <a:latin typeface="Plus Jakarta Sans"/>
              </a:rPr>
              <a:t>Define Maximum Likelihood Estimation.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5575" y="1733550"/>
            <a:ext cx="76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1775" y="1733550"/>
            <a:ext cx="5610225" cy="22860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CBD5E1"/>
                </a:solidFill>
                <a:latin typeface="Plus Jakarta Sans"/>
              </a:rPr>
              <a:t>Explain the working steps of MLE with an example.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5575" y="1962150"/>
            <a:ext cx="76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1775" y="1962150"/>
            <a:ext cx="5610225" cy="22860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CBD5E1"/>
                </a:solidFill>
                <a:latin typeface="Plus Jakarta Sans"/>
              </a:rPr>
              <a:t>Explain the basic formula: θ̂ = arg max L(θ|D).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5575" y="2190750"/>
            <a:ext cx="76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1775" y="2190750"/>
            <a:ext cx="5610225" cy="22860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CBD5E1"/>
                </a:solidFill>
                <a:latin typeface="Plus Jakarta Sans"/>
              </a:rPr>
              <a:t>Calculate MLE for a biased coin given 7 Heads in 10 tosses.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5575" y="2419350"/>
            <a:ext cx="76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CBD5E1"/>
                </a:solidFill>
                <a:latin typeface="Plus Jakarta San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1775" y="2419350"/>
            <a:ext cx="5610225" cy="228600"/>
          </a:xfrm>
          <a:prstGeom prst="rect">
            <a:avLst/>
          </a:prstGeom>
          <a:noFill/>
        </p:spPr>
        <p:txBody>
          <a:bodyPr wrap="none" lIns="7620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CBD5E1"/>
                </a:solidFill>
                <a:latin typeface="Plus Jakarta Sans"/>
              </a:rPr>
              <a:t>Why is parameter estimation needed in ML models?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