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 Id="rId12" Type="http://schemas.openxmlformats.org/officeDocument/2006/relationships/image" Target="../media/image18.png"/><Relationship Id="rId13" Type="http://schemas.openxmlformats.org/officeDocument/2006/relationships/image" Target="../media/image19.png"/><Relationship Id="rId14" Type="http://schemas.openxmlformats.org/officeDocument/2006/relationships/image" Target="../media/image20.png"/><Relationship Id="rId15" Type="http://schemas.openxmlformats.org/officeDocument/2006/relationships/image" Target="../media/image21.png"/><Relationship Id="rId16" Type="http://schemas.openxmlformats.org/officeDocument/2006/relationships/image" Target="../media/image22.png"/><Relationship Id="rId17" Type="http://schemas.openxmlformats.org/officeDocument/2006/relationships/image" Target="../media/image23.png"/><Relationship Id="rId18" Type="http://schemas.openxmlformats.org/officeDocument/2006/relationships/image" Target="../media/image24.png"/><Relationship Id="rId19"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 Id="rId9" Type="http://schemas.openxmlformats.org/officeDocument/2006/relationships/image" Target="../media/image32.png"/><Relationship Id="rId10" Type="http://schemas.openxmlformats.org/officeDocument/2006/relationships/image" Target="../media/image33.png"/><Relationship Id="rId11" Type="http://schemas.openxmlformats.org/officeDocument/2006/relationships/image" Target="../media/image34.png"/><Relationship Id="rId12" Type="http://schemas.openxmlformats.org/officeDocument/2006/relationships/image" Target="../media/image16.png"/><Relationship Id="rId13" Type="http://schemas.openxmlformats.org/officeDocument/2006/relationships/image" Target="../media/image35.png"/><Relationship Id="rId14" Type="http://schemas.openxmlformats.org/officeDocument/2006/relationships/image" Target="../media/image36.png"/><Relationship Id="rId15" Type="http://schemas.openxmlformats.org/officeDocument/2006/relationships/image" Target="../media/image3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image" Target="../media/image46.png"/><Relationship Id="rId12" Type="http://schemas.openxmlformats.org/officeDocument/2006/relationships/image" Target="../media/image16.png"/><Relationship Id="rId13" Type="http://schemas.openxmlformats.org/officeDocument/2006/relationships/image" Target="../media/image47.png"/><Relationship Id="rId14" Type="http://schemas.openxmlformats.org/officeDocument/2006/relationships/image" Target="../media/image48.png"/><Relationship Id="rId15" Type="http://schemas.openxmlformats.org/officeDocument/2006/relationships/image" Target="../media/image4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55.png"/><Relationship Id="rId9" Type="http://schemas.openxmlformats.org/officeDocument/2006/relationships/image" Target="../media/image56.png"/><Relationship Id="rId10" Type="http://schemas.openxmlformats.org/officeDocument/2006/relationships/image" Target="../media/image57.png"/><Relationship Id="rId11" Type="http://schemas.openxmlformats.org/officeDocument/2006/relationships/image" Target="../media/image58.png"/><Relationship Id="rId12" Type="http://schemas.openxmlformats.org/officeDocument/2006/relationships/image" Target="../media/image16.png"/><Relationship Id="rId13" Type="http://schemas.openxmlformats.org/officeDocument/2006/relationships/image" Target="../media/image59.png"/><Relationship Id="rId14" Type="http://schemas.openxmlformats.org/officeDocument/2006/relationships/image" Target="../media/image60.png"/><Relationship Id="rId15" Type="http://schemas.openxmlformats.org/officeDocument/2006/relationships/image" Target="../media/image6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67.png"/><Relationship Id="rId9" Type="http://schemas.openxmlformats.org/officeDocument/2006/relationships/image" Target="../media/image68.png"/><Relationship Id="rId10" Type="http://schemas.openxmlformats.org/officeDocument/2006/relationships/image" Target="../media/image16.png"/><Relationship Id="rId11" Type="http://schemas.openxmlformats.org/officeDocument/2006/relationships/image" Target="../media/image69.png"/><Relationship Id="rId12" Type="http://schemas.openxmlformats.org/officeDocument/2006/relationships/image" Target="../media/image70.png"/><Relationship Id="rId13" Type="http://schemas.openxmlformats.org/officeDocument/2006/relationships/image" Target="../media/image71.png"/><Relationship Id="rId14" Type="http://schemas.openxmlformats.org/officeDocument/2006/relationships/image" Target="../media/image72.png"/><Relationship Id="rId15" Type="http://schemas.openxmlformats.org/officeDocument/2006/relationships/image" Target="../media/image73.png"/><Relationship Id="rId16" Type="http://schemas.openxmlformats.org/officeDocument/2006/relationships/image" Target="../media/image7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 Id="rId8" Type="http://schemas.openxmlformats.org/officeDocument/2006/relationships/image" Target="../media/image16.png"/><Relationship Id="rId9" Type="http://schemas.openxmlformats.org/officeDocument/2006/relationships/image" Target="../media/image80.png"/><Relationship Id="rId10" Type="http://schemas.openxmlformats.org/officeDocument/2006/relationships/image" Target="../media/image81.png"/><Relationship Id="rId11" Type="http://schemas.openxmlformats.org/officeDocument/2006/relationships/image" Target="../media/image8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16.png"/><Relationship Id="rId10" Type="http://schemas.openxmlformats.org/officeDocument/2006/relationships/image" Target="../media/image89.png"/><Relationship Id="rId11" Type="http://schemas.openxmlformats.org/officeDocument/2006/relationships/image" Target="../media/image9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85800" y="571500"/>
            <a:ext cx="3857625" cy="323850"/>
          </a:xfrm>
          <a:prstGeom prst="rect">
            <a:avLst/>
          </a:prstGeom>
        </p:spPr>
      </p:pic>
      <p:pic>
        <p:nvPicPr>
          <p:cNvPr id="4" name="Picture 3" descr="image.png"/>
          <p:cNvPicPr>
            <a:picLocks noChangeAspect="1"/>
          </p:cNvPicPr>
          <p:nvPr/>
        </p:nvPicPr>
        <p:blipFill>
          <a:blip r:embed="rId4"/>
          <a:stretch>
            <a:fillRect/>
          </a:stretch>
        </p:blipFill>
        <p:spPr>
          <a:xfrm>
            <a:off x="685800" y="5119687"/>
            <a:ext cx="10820400" cy="323850"/>
          </a:xfrm>
          <a:prstGeom prst="rect">
            <a:avLst/>
          </a:prstGeom>
        </p:spPr>
      </p:pic>
      <p:pic>
        <p:nvPicPr>
          <p:cNvPr id="5" name="Picture 4" descr="image.png"/>
          <p:cNvPicPr>
            <a:picLocks noChangeAspect="1"/>
          </p:cNvPicPr>
          <p:nvPr/>
        </p:nvPicPr>
        <p:blipFill>
          <a:blip r:embed="rId5"/>
          <a:stretch>
            <a:fillRect/>
          </a:stretch>
        </p:blipFill>
        <p:spPr>
          <a:xfrm>
            <a:off x="685800" y="2738735"/>
            <a:ext cx="3492400" cy="1124842"/>
          </a:xfrm>
          <a:prstGeom prst="rect">
            <a:avLst/>
          </a:prstGeom>
        </p:spPr>
      </p:pic>
      <p:pic>
        <p:nvPicPr>
          <p:cNvPr id="6" name="Picture 5" descr="image.png"/>
          <p:cNvPicPr>
            <a:picLocks noChangeAspect="1"/>
          </p:cNvPicPr>
          <p:nvPr/>
        </p:nvPicPr>
        <p:blipFill>
          <a:blip r:embed="rId6"/>
          <a:stretch>
            <a:fillRect/>
          </a:stretch>
        </p:blipFill>
        <p:spPr>
          <a:xfrm>
            <a:off x="4349650" y="2738735"/>
            <a:ext cx="3492549" cy="1124842"/>
          </a:xfrm>
          <a:prstGeom prst="rect">
            <a:avLst/>
          </a:prstGeom>
        </p:spPr>
      </p:pic>
      <p:pic>
        <p:nvPicPr>
          <p:cNvPr id="7" name="Picture 6" descr="image.png"/>
          <p:cNvPicPr>
            <a:picLocks noChangeAspect="1"/>
          </p:cNvPicPr>
          <p:nvPr/>
        </p:nvPicPr>
        <p:blipFill>
          <a:blip r:embed="rId5"/>
          <a:stretch>
            <a:fillRect/>
          </a:stretch>
        </p:blipFill>
        <p:spPr>
          <a:xfrm>
            <a:off x="8013650" y="2738735"/>
            <a:ext cx="3492400" cy="1124842"/>
          </a:xfrm>
          <a:prstGeom prst="rect">
            <a:avLst/>
          </a:prstGeom>
        </p:spPr>
      </p:pic>
      <p:sp>
        <p:nvSpPr>
          <p:cNvPr id="8" name="TextBox 7"/>
          <p:cNvSpPr txBox="1"/>
          <p:nvPr/>
        </p:nvSpPr>
        <p:spPr>
          <a:xfrm>
            <a:off x="685800" y="1047750"/>
            <a:ext cx="9501187" cy="1033760"/>
          </a:xfrm>
          <a:prstGeom prst="rect">
            <a:avLst/>
          </a:prstGeom>
          <a:noFill/>
        </p:spPr>
        <p:txBody>
          <a:bodyPr wrap="square" lIns="0" rIns="0" tIns="0" bIns="0" anchor="t">
            <a:spAutoFit/>
          </a:bodyPr>
          <a:lstStyle/>
          <a:p>
            <a:pPr algn="l">
              <a:lnSpc>
                <a:spcPts val="4071"/>
              </a:lnSpc>
            </a:pPr>
            <a:r>
              <a:rPr b="1" sz="3450" i="0" u="none">
                <a:solidFill>
                  <a:srgbClr val="FFFFFF"/>
                </a:solidFill>
                <a:latin typeface="Merriweather"/>
              </a:rPr>
              <a:t>Dimensions of a Supervised Machine Learning Algorithm</a:t>
            </a:r>
          </a:p>
        </p:txBody>
      </p:sp>
      <p:sp>
        <p:nvSpPr>
          <p:cNvPr id="9" name="TextBox 8"/>
          <p:cNvSpPr txBox="1"/>
          <p:nvPr/>
        </p:nvSpPr>
        <p:spPr>
          <a:xfrm>
            <a:off x="685800" y="2233910"/>
            <a:ext cx="10820400" cy="276225"/>
          </a:xfrm>
          <a:prstGeom prst="rect">
            <a:avLst/>
          </a:prstGeom>
          <a:noFill/>
        </p:spPr>
        <p:txBody>
          <a:bodyPr wrap="square" lIns="0" rIns="0" tIns="0" bIns="0" anchor="t">
            <a:spAutoFit/>
          </a:bodyPr>
          <a:lstStyle/>
          <a:p>
            <a:pPr algn="l"/>
            <a:r>
              <a:rPr b="0" sz="1650" i="0" u="none">
                <a:solidFill>
                  <a:srgbClr val="CBD5E1"/>
                </a:solidFill>
                <a:latin typeface="DM Sans"/>
              </a:rPr>
              <a:t>Understanding the 3 Core Design Pillars: Model, Loss Function &amp; Optimization</a:t>
            </a:r>
          </a:p>
        </p:txBody>
      </p:sp>
      <p:pic>
        <p:nvPicPr>
          <p:cNvPr id="10" name="Picture 9" descr="image.png"/>
          <p:cNvPicPr>
            <a:picLocks noChangeAspect="1"/>
          </p:cNvPicPr>
          <p:nvPr/>
        </p:nvPicPr>
        <p:blipFill>
          <a:blip r:embed="rId7"/>
          <a:stretch>
            <a:fillRect/>
          </a:stretch>
        </p:blipFill>
        <p:spPr>
          <a:xfrm>
            <a:off x="857250" y="666750"/>
            <a:ext cx="180975" cy="133350"/>
          </a:xfrm>
          <a:prstGeom prst="rect">
            <a:avLst/>
          </a:prstGeom>
        </p:spPr>
      </p:pic>
      <p:sp>
        <p:nvSpPr>
          <p:cNvPr id="11" name="TextBox 10"/>
          <p:cNvSpPr txBox="1"/>
          <p:nvPr/>
        </p:nvSpPr>
        <p:spPr>
          <a:xfrm>
            <a:off x="685800" y="5281612"/>
            <a:ext cx="4686300" cy="161925"/>
          </a:xfrm>
          <a:prstGeom prst="rect">
            <a:avLst/>
          </a:prstGeom>
          <a:noFill/>
        </p:spPr>
        <p:txBody>
          <a:bodyPr wrap="square" lIns="0" rIns="0" tIns="0" bIns="0" anchor="t">
            <a:spAutoFit/>
          </a:bodyPr>
          <a:lstStyle/>
          <a:p>
            <a:pPr algn="l"/>
            <a:r>
              <a:rPr b="1" sz="1012" i="0" u="none">
                <a:solidFill>
                  <a:srgbClr val="94A3B8"/>
                </a:solidFill>
                <a:latin typeface="DM Sans"/>
              </a:rPr>
              <a:t>Reference:</a:t>
            </a:r>
            <a:r>
              <a:rPr b="0" sz="1012" i="0" u="none">
                <a:solidFill>
                  <a:srgbClr val="94A3B8"/>
                </a:solidFill>
                <a:latin typeface="DM Sans"/>
              </a:rPr>
              <a:t> Ethem Alpaydin, </a:t>
            </a:r>
            <a:r>
              <a:rPr b="0" sz="1012" i="1" u="none">
                <a:solidFill>
                  <a:srgbClr val="94A3B8"/>
                </a:solidFill>
                <a:latin typeface="DM Sans"/>
              </a:rPr>
              <a:t>Introduction to Machine Learning</a:t>
            </a:r>
            <a:r>
              <a:rPr b="0" sz="1012" i="0" u="none">
                <a:solidFill>
                  <a:srgbClr val="94A3B8"/>
                </a:solidFill>
                <a:latin typeface="DM Sans"/>
              </a:rPr>
              <a:t> • Unit-I Syllabus</a:t>
            </a:r>
          </a:p>
        </p:txBody>
      </p:sp>
      <p:sp>
        <p:nvSpPr>
          <p:cNvPr id="12" name="TextBox 11"/>
          <p:cNvSpPr txBox="1"/>
          <p:nvPr/>
        </p:nvSpPr>
        <p:spPr>
          <a:xfrm>
            <a:off x="7391400" y="5281612"/>
            <a:ext cx="4114800" cy="161925"/>
          </a:xfrm>
          <a:prstGeom prst="rect">
            <a:avLst/>
          </a:prstGeom>
          <a:noFill/>
        </p:spPr>
        <p:txBody>
          <a:bodyPr wrap="square" lIns="0" rIns="0" tIns="0" bIns="0" anchor="t">
            <a:spAutoFit/>
          </a:bodyPr>
          <a:lstStyle/>
          <a:p>
            <a:pPr algn="l"/>
            <a:r>
              <a:rPr b="1" sz="1012" i="0" u="none">
                <a:solidFill>
                  <a:srgbClr val="94A3B8"/>
                </a:solidFill>
                <a:latin typeface="DM Sans"/>
              </a:rPr>
              <a:t>Key Focus:</a:t>
            </a:r>
            <a:r>
              <a:rPr b="0" sz="1012" i="0" u="none">
                <a:solidFill>
                  <a:srgbClr val="94A3B8"/>
                </a:solidFill>
                <a:latin typeface="DM Sans"/>
              </a:rPr>
              <a:t> Algorithm Design Components (Not Feature Dimensions)</a:t>
            </a:r>
          </a:p>
        </p:txBody>
      </p:sp>
      <p:pic>
        <p:nvPicPr>
          <p:cNvPr id="13" name="Picture 12" descr="image.png"/>
          <p:cNvPicPr>
            <a:picLocks noChangeAspect="1"/>
          </p:cNvPicPr>
          <p:nvPr/>
        </p:nvPicPr>
        <p:blipFill>
          <a:blip r:embed="rId8"/>
          <a:stretch>
            <a:fillRect/>
          </a:stretch>
        </p:blipFill>
        <p:spPr>
          <a:xfrm>
            <a:off x="885825" y="5710237"/>
            <a:ext cx="180975" cy="142875"/>
          </a:xfrm>
          <a:prstGeom prst="rect">
            <a:avLst/>
          </a:prstGeom>
        </p:spPr>
      </p:pic>
      <p:sp>
        <p:nvSpPr>
          <p:cNvPr id="14" name="TextBox 13"/>
          <p:cNvSpPr txBox="1"/>
          <p:nvPr/>
        </p:nvSpPr>
        <p:spPr>
          <a:xfrm>
            <a:off x="1181100" y="5681662"/>
            <a:ext cx="10163175" cy="500062"/>
          </a:xfrm>
          <a:prstGeom prst="rect">
            <a:avLst/>
          </a:prstGeom>
          <a:noFill/>
        </p:spPr>
        <p:txBody>
          <a:bodyPr wrap="square" lIns="0" rIns="0" tIns="0" bIns="0" anchor="t">
            <a:spAutoFit/>
          </a:bodyPr>
          <a:lstStyle/>
          <a:p>
            <a:pPr algn="l">
              <a:lnSpc>
                <a:spcPts val="1312"/>
              </a:lnSpc>
            </a:pPr>
            <a:r>
              <a:rPr b="1" sz="937" i="0" u="none">
                <a:solidFill>
                  <a:srgbClr val="6EE7B7"/>
                </a:solidFill>
                <a:latin typeface="DM Sans"/>
              </a:rPr>
              <a:t>Teacher Talk:</a:t>
            </a:r>
            <a:r>
              <a:rPr b="0" sz="937" i="0" u="none">
                <a:solidFill>
                  <a:srgbClr val="E2E8F0"/>
                </a:solidFill>
                <a:latin typeface="DM Sans"/>
              </a:rPr>
              <a:t> “Welcome class! Today we answer what actually happens inside a supervised machine learning algorithm. When we say 'dimensions' here, do not confuse it with the columns or features of a table! We are talking about the three essential engineering choices every supervised algorithm must make: choosing the Model, defining the Loss Function, and running an Optimization procedure.”</a:t>
            </a:r>
          </a:p>
        </p:txBody>
      </p:sp>
      <p:sp>
        <p:nvSpPr>
          <p:cNvPr id="15" name="TextBox 14"/>
          <p:cNvSpPr txBox="1"/>
          <p:nvPr/>
        </p:nvSpPr>
        <p:spPr>
          <a:xfrm>
            <a:off x="847725" y="2900660"/>
            <a:ext cx="3168550" cy="161925"/>
          </a:xfrm>
          <a:prstGeom prst="rect">
            <a:avLst/>
          </a:prstGeom>
          <a:noFill/>
        </p:spPr>
        <p:txBody>
          <a:bodyPr wrap="square" lIns="0" rIns="0" tIns="0" bIns="0" anchor="t">
            <a:spAutoFit/>
          </a:bodyPr>
          <a:lstStyle/>
          <a:p>
            <a:pPr algn="l"/>
            <a:r>
              <a:rPr b="1" sz="975" i="0" u="none">
                <a:solidFill>
                  <a:srgbClr val="11CAA0"/>
                </a:solidFill>
                <a:latin typeface="DM Sans"/>
              </a:rPr>
              <a:t>DIMENSION 1</a:t>
            </a:r>
          </a:p>
        </p:txBody>
      </p:sp>
      <p:sp>
        <p:nvSpPr>
          <p:cNvPr id="16" name="TextBox 15"/>
          <p:cNvSpPr txBox="1"/>
          <p:nvPr/>
        </p:nvSpPr>
        <p:spPr>
          <a:xfrm>
            <a:off x="847725" y="3100685"/>
            <a:ext cx="3168550" cy="209550"/>
          </a:xfrm>
          <a:prstGeom prst="rect">
            <a:avLst/>
          </a:prstGeom>
          <a:noFill/>
        </p:spPr>
        <p:txBody>
          <a:bodyPr wrap="square" lIns="0" rIns="0" tIns="0" bIns="0" anchor="t">
            <a:spAutoFit/>
          </a:bodyPr>
          <a:lstStyle/>
          <a:p>
            <a:pPr algn="l"/>
            <a:r>
              <a:rPr b="1" sz="1275" i="0" u="none">
                <a:solidFill>
                  <a:srgbClr val="FFFFFF"/>
                </a:solidFill>
                <a:latin typeface="DM Sans"/>
              </a:rPr>
              <a:t>The Model</a:t>
            </a:r>
          </a:p>
        </p:txBody>
      </p:sp>
      <p:sp>
        <p:nvSpPr>
          <p:cNvPr id="17" name="TextBox 16"/>
          <p:cNvSpPr txBox="1"/>
          <p:nvPr/>
        </p:nvSpPr>
        <p:spPr>
          <a:xfrm>
            <a:off x="847725" y="3367385"/>
            <a:ext cx="3168550" cy="334267"/>
          </a:xfrm>
          <a:prstGeom prst="rect">
            <a:avLst/>
          </a:prstGeom>
          <a:noFill/>
        </p:spPr>
        <p:txBody>
          <a:bodyPr wrap="square" lIns="0" rIns="0" tIns="0" bIns="0" anchor="t">
            <a:spAutoFit/>
          </a:bodyPr>
          <a:lstStyle/>
          <a:p>
            <a:pPr algn="l">
              <a:lnSpc>
                <a:spcPts val="1316"/>
              </a:lnSpc>
            </a:pPr>
            <a:r>
              <a:rPr b="0" sz="975" i="0" u="none">
                <a:solidFill>
                  <a:srgbClr val="CBD5E1"/>
                </a:solidFill>
                <a:latin typeface="DM Sans"/>
              </a:rPr>
              <a:t>“What kind of mathematical function or representation should we use to map inputs to outputs?”</a:t>
            </a:r>
          </a:p>
        </p:txBody>
      </p:sp>
      <p:sp>
        <p:nvSpPr>
          <p:cNvPr id="18" name="TextBox 17"/>
          <p:cNvSpPr txBox="1"/>
          <p:nvPr/>
        </p:nvSpPr>
        <p:spPr>
          <a:xfrm>
            <a:off x="4511575" y="2900660"/>
            <a:ext cx="3168699" cy="161925"/>
          </a:xfrm>
          <a:prstGeom prst="rect">
            <a:avLst/>
          </a:prstGeom>
          <a:noFill/>
        </p:spPr>
        <p:txBody>
          <a:bodyPr wrap="square" lIns="0" rIns="0" tIns="0" bIns="0" anchor="t">
            <a:spAutoFit/>
          </a:bodyPr>
          <a:lstStyle/>
          <a:p>
            <a:pPr algn="l"/>
            <a:r>
              <a:rPr b="1" sz="975" i="0" u="none">
                <a:solidFill>
                  <a:srgbClr val="11CAA0"/>
                </a:solidFill>
                <a:latin typeface="DM Sans"/>
              </a:rPr>
              <a:t>DIMENSION 2</a:t>
            </a:r>
          </a:p>
        </p:txBody>
      </p:sp>
      <p:sp>
        <p:nvSpPr>
          <p:cNvPr id="19" name="TextBox 18"/>
          <p:cNvSpPr txBox="1"/>
          <p:nvPr/>
        </p:nvSpPr>
        <p:spPr>
          <a:xfrm>
            <a:off x="4511575" y="3100685"/>
            <a:ext cx="3168699" cy="209550"/>
          </a:xfrm>
          <a:prstGeom prst="rect">
            <a:avLst/>
          </a:prstGeom>
          <a:noFill/>
        </p:spPr>
        <p:txBody>
          <a:bodyPr wrap="square" lIns="0" rIns="0" tIns="0" bIns="0" anchor="t">
            <a:spAutoFit/>
          </a:bodyPr>
          <a:lstStyle/>
          <a:p>
            <a:pPr algn="l"/>
            <a:r>
              <a:rPr b="1" sz="1275" i="0" u="none">
                <a:solidFill>
                  <a:srgbClr val="FFFFFF"/>
                </a:solidFill>
                <a:latin typeface="DM Sans"/>
              </a:rPr>
              <a:t>The Loss Function</a:t>
            </a:r>
          </a:p>
        </p:txBody>
      </p:sp>
      <p:sp>
        <p:nvSpPr>
          <p:cNvPr id="20" name="TextBox 19"/>
          <p:cNvSpPr txBox="1"/>
          <p:nvPr/>
        </p:nvSpPr>
        <p:spPr>
          <a:xfrm>
            <a:off x="4511575" y="3367385"/>
            <a:ext cx="3168699" cy="334267"/>
          </a:xfrm>
          <a:prstGeom prst="rect">
            <a:avLst/>
          </a:prstGeom>
          <a:noFill/>
        </p:spPr>
        <p:txBody>
          <a:bodyPr wrap="square" lIns="0" rIns="0" tIns="0" bIns="0" anchor="t">
            <a:spAutoFit/>
          </a:bodyPr>
          <a:lstStyle/>
          <a:p>
            <a:pPr algn="l">
              <a:lnSpc>
                <a:spcPts val="1316"/>
              </a:lnSpc>
            </a:pPr>
            <a:r>
              <a:rPr b="0" sz="975" i="0" u="none">
                <a:solidFill>
                  <a:srgbClr val="CBD5E1"/>
                </a:solidFill>
                <a:latin typeface="DM Sans"/>
              </a:rPr>
              <a:t>“How do we mathematically measure mistakes and calculate prediction error?”</a:t>
            </a:r>
          </a:p>
        </p:txBody>
      </p:sp>
      <p:sp>
        <p:nvSpPr>
          <p:cNvPr id="21" name="TextBox 20"/>
          <p:cNvSpPr txBox="1"/>
          <p:nvPr/>
        </p:nvSpPr>
        <p:spPr>
          <a:xfrm>
            <a:off x="8175575" y="2900660"/>
            <a:ext cx="3168550" cy="161925"/>
          </a:xfrm>
          <a:prstGeom prst="rect">
            <a:avLst/>
          </a:prstGeom>
          <a:noFill/>
        </p:spPr>
        <p:txBody>
          <a:bodyPr wrap="square" lIns="0" rIns="0" tIns="0" bIns="0" anchor="t">
            <a:spAutoFit/>
          </a:bodyPr>
          <a:lstStyle/>
          <a:p>
            <a:pPr algn="l"/>
            <a:r>
              <a:rPr b="1" sz="975" i="0" u="none">
                <a:solidFill>
                  <a:srgbClr val="11CAA0"/>
                </a:solidFill>
                <a:latin typeface="DM Sans"/>
              </a:rPr>
              <a:t>DIMENSION 3</a:t>
            </a:r>
          </a:p>
        </p:txBody>
      </p:sp>
      <p:sp>
        <p:nvSpPr>
          <p:cNvPr id="22" name="TextBox 21"/>
          <p:cNvSpPr txBox="1"/>
          <p:nvPr/>
        </p:nvSpPr>
        <p:spPr>
          <a:xfrm>
            <a:off x="8175575" y="3100685"/>
            <a:ext cx="3168550" cy="209550"/>
          </a:xfrm>
          <a:prstGeom prst="rect">
            <a:avLst/>
          </a:prstGeom>
          <a:noFill/>
        </p:spPr>
        <p:txBody>
          <a:bodyPr wrap="square" lIns="0" rIns="0" tIns="0" bIns="0" anchor="t">
            <a:spAutoFit/>
          </a:bodyPr>
          <a:lstStyle/>
          <a:p>
            <a:pPr algn="l"/>
            <a:r>
              <a:rPr b="1" sz="1275" i="0" u="none">
                <a:solidFill>
                  <a:srgbClr val="FFFFFF"/>
                </a:solidFill>
                <a:latin typeface="DM Sans"/>
              </a:rPr>
              <a:t>Optimization</a:t>
            </a:r>
          </a:p>
        </p:txBody>
      </p:sp>
      <p:sp>
        <p:nvSpPr>
          <p:cNvPr id="23" name="TextBox 22"/>
          <p:cNvSpPr txBox="1"/>
          <p:nvPr/>
        </p:nvSpPr>
        <p:spPr>
          <a:xfrm>
            <a:off x="8175575" y="3367385"/>
            <a:ext cx="3168550" cy="334267"/>
          </a:xfrm>
          <a:prstGeom prst="rect">
            <a:avLst/>
          </a:prstGeom>
          <a:noFill/>
        </p:spPr>
        <p:txBody>
          <a:bodyPr wrap="square" lIns="0" rIns="0" tIns="0" bIns="0" anchor="t">
            <a:spAutoFit/>
          </a:bodyPr>
          <a:lstStyle/>
          <a:p>
            <a:pPr algn="l">
              <a:lnSpc>
                <a:spcPts val="1316"/>
              </a:lnSpc>
            </a:pPr>
            <a:r>
              <a:rPr b="0" sz="975" i="0" u="none">
                <a:solidFill>
                  <a:srgbClr val="CBD5E1"/>
                </a:solidFill>
                <a:latin typeface="DM Sans"/>
              </a:rPr>
              <a:t>“How does the algorithm search and adjust parameters to make mistakes as small as possible?”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09600" y="1705867"/>
            <a:ext cx="5334000" cy="3305175"/>
          </a:xfrm>
          <a:prstGeom prst="rect">
            <a:avLst/>
          </a:prstGeom>
        </p:spPr>
      </p:pic>
      <p:pic>
        <p:nvPicPr>
          <p:cNvPr id="4" name="Picture 3" descr="image.png"/>
          <p:cNvPicPr>
            <a:picLocks noChangeAspect="1"/>
          </p:cNvPicPr>
          <p:nvPr/>
        </p:nvPicPr>
        <p:blipFill>
          <a:blip r:embed="rId4"/>
          <a:stretch>
            <a:fillRect/>
          </a:stretch>
        </p:blipFill>
        <p:spPr>
          <a:xfrm>
            <a:off x="6248400" y="1705867"/>
            <a:ext cx="5334000" cy="3305175"/>
          </a:xfrm>
          <a:prstGeom prst="rect">
            <a:avLst/>
          </a:prstGeom>
        </p:spPr>
      </p:pic>
      <p:pic>
        <p:nvPicPr>
          <p:cNvPr id="5" name="Picture 4" descr="image.png"/>
          <p:cNvPicPr>
            <a:picLocks noChangeAspect="1"/>
          </p:cNvPicPr>
          <p:nvPr/>
        </p:nvPicPr>
        <p:blipFill>
          <a:blip r:embed="rId5"/>
          <a:stretch>
            <a:fillRect/>
          </a:stretch>
        </p:blipFill>
        <p:spPr>
          <a:xfrm>
            <a:off x="847725" y="4020442"/>
            <a:ext cx="4857750" cy="771525"/>
          </a:xfrm>
          <a:prstGeom prst="rect">
            <a:avLst/>
          </a:prstGeom>
        </p:spPr>
      </p:pic>
      <p:pic>
        <p:nvPicPr>
          <p:cNvPr id="6" name="Picture 5" descr="image.png"/>
          <p:cNvPicPr>
            <a:picLocks noChangeAspect="1"/>
          </p:cNvPicPr>
          <p:nvPr/>
        </p:nvPicPr>
        <p:blipFill>
          <a:blip r:embed="rId6"/>
          <a:stretch>
            <a:fillRect/>
          </a:stretch>
        </p:blipFill>
        <p:spPr>
          <a:xfrm>
            <a:off x="6486525" y="2363092"/>
            <a:ext cx="4857750" cy="323850"/>
          </a:xfrm>
          <a:prstGeom prst="rect">
            <a:avLst/>
          </a:prstGeom>
        </p:spPr>
      </p:pic>
      <p:pic>
        <p:nvPicPr>
          <p:cNvPr id="7" name="Picture 6" descr="image.png"/>
          <p:cNvPicPr>
            <a:picLocks noChangeAspect="1"/>
          </p:cNvPicPr>
          <p:nvPr/>
        </p:nvPicPr>
        <p:blipFill>
          <a:blip r:embed="rId7"/>
          <a:stretch>
            <a:fillRect/>
          </a:stretch>
        </p:blipFill>
        <p:spPr>
          <a:xfrm>
            <a:off x="6486525" y="3039367"/>
            <a:ext cx="4857750" cy="323850"/>
          </a:xfrm>
          <a:prstGeom prst="rect">
            <a:avLst/>
          </a:prstGeom>
        </p:spPr>
      </p:pic>
      <p:pic>
        <p:nvPicPr>
          <p:cNvPr id="8" name="Picture 7" descr="image.png"/>
          <p:cNvPicPr>
            <a:picLocks noChangeAspect="1"/>
          </p:cNvPicPr>
          <p:nvPr/>
        </p:nvPicPr>
        <p:blipFill>
          <a:blip r:embed="rId8"/>
          <a:stretch>
            <a:fillRect/>
          </a:stretch>
        </p:blipFill>
        <p:spPr>
          <a:xfrm>
            <a:off x="6486525" y="3715642"/>
            <a:ext cx="4857750" cy="323850"/>
          </a:xfrm>
          <a:prstGeom prst="rect">
            <a:avLst/>
          </a:prstGeom>
        </p:spPr>
      </p:pic>
      <p:pic>
        <p:nvPicPr>
          <p:cNvPr id="9" name="Picture 8" descr="image.png"/>
          <p:cNvPicPr>
            <a:picLocks noChangeAspect="1"/>
          </p:cNvPicPr>
          <p:nvPr/>
        </p:nvPicPr>
        <p:blipFill>
          <a:blip r:embed="rId9"/>
          <a:stretch>
            <a:fillRect/>
          </a:stretch>
        </p:blipFill>
        <p:spPr>
          <a:xfrm>
            <a:off x="6486525" y="4391917"/>
            <a:ext cx="4857750" cy="323850"/>
          </a:xfrm>
          <a:prstGeom prst="rect">
            <a:avLst/>
          </a:prstGeom>
        </p:spPr>
      </p:pic>
      <p:sp>
        <p:nvSpPr>
          <p:cNvPr id="10" name="TextBox 9"/>
          <p:cNvSpPr txBox="1"/>
          <p:nvPr/>
        </p:nvSpPr>
        <p:spPr>
          <a:xfrm>
            <a:off x="609600" y="533400"/>
            <a:ext cx="10972800" cy="161925"/>
          </a:xfrm>
          <a:prstGeom prst="rect">
            <a:avLst/>
          </a:prstGeom>
          <a:noFill/>
        </p:spPr>
        <p:txBody>
          <a:bodyPr wrap="square" lIns="0" rIns="0" tIns="0" bIns="0" anchor="ctr">
            <a:spAutoFit/>
          </a:bodyPr>
          <a:lstStyle/>
          <a:p>
            <a:pPr algn="l"/>
            <a:r>
              <a:rPr b="1" sz="975" i="0" u="none">
                <a:solidFill>
                  <a:srgbClr val="005088"/>
                </a:solidFill>
                <a:latin typeface="DM Sans"/>
              </a:rPr>
              <a:t>BCA SEM-V • FOUNDATIONAL SETUP</a:t>
            </a:r>
            <a:r>
              <a:rPr b="1" sz="975" i="0" u="none">
                <a:solidFill>
                  <a:srgbClr val="005088"/>
                </a:solidFill>
                <a:latin typeface="DM Sans"/>
              </a:rPr>
              <a:t> </a:t>
            </a:r>
            <a:r>
              <a:rPr b="1" sz="975" i="0" u="none">
                <a:solidFill>
                  <a:srgbClr val="005088"/>
                </a:solidFill>
                <a:latin typeface="DM Sans"/>
              </a:rPr>
              <a:t>SLIDE 2 OF 8</a:t>
            </a:r>
          </a:p>
        </p:txBody>
      </p:sp>
      <p:sp>
        <p:nvSpPr>
          <p:cNvPr id="11" name="TextBox 10"/>
          <p:cNvSpPr txBox="1"/>
          <p:nvPr/>
        </p:nvSpPr>
        <p:spPr>
          <a:xfrm>
            <a:off x="609600" y="733425"/>
            <a:ext cx="11521440" cy="372367"/>
          </a:xfrm>
          <a:prstGeom prst="rect">
            <a:avLst/>
          </a:prstGeom>
          <a:noFill/>
        </p:spPr>
        <p:txBody>
          <a:bodyPr wrap="square" lIns="0" rIns="0" tIns="0" bIns="0" anchor="t">
            <a:spAutoFit/>
          </a:bodyPr>
          <a:lstStyle/>
          <a:p>
            <a:pPr algn="l">
              <a:lnSpc>
                <a:spcPts val="2932"/>
              </a:lnSpc>
            </a:pPr>
            <a:r>
              <a:rPr b="1" sz="2550" i="0" u="none">
                <a:solidFill>
                  <a:srgbClr val="002E4F"/>
                </a:solidFill>
                <a:latin typeface="Merriweather"/>
              </a:rPr>
              <a:t>Supervised Learning: Basic Setup</a:t>
            </a:r>
          </a:p>
        </p:txBody>
      </p:sp>
      <p:sp>
        <p:nvSpPr>
          <p:cNvPr id="12" name="TextBox 11"/>
          <p:cNvSpPr txBox="1"/>
          <p:nvPr/>
        </p:nvSpPr>
        <p:spPr>
          <a:xfrm>
            <a:off x="609600" y="1143892"/>
            <a:ext cx="10972800" cy="200025"/>
          </a:xfrm>
          <a:prstGeom prst="rect">
            <a:avLst/>
          </a:prstGeom>
          <a:noFill/>
        </p:spPr>
        <p:txBody>
          <a:bodyPr wrap="square" lIns="0" rIns="0" tIns="0" bIns="0" anchor="t">
            <a:spAutoFit/>
          </a:bodyPr>
          <a:lstStyle/>
          <a:p>
            <a:pPr algn="l"/>
            <a:r>
              <a:rPr b="0" sz="1200" i="0" u="none">
                <a:solidFill>
                  <a:srgbClr val="475569"/>
                </a:solidFill>
                <a:latin typeface="DM Sans"/>
              </a:rPr>
              <a:t>Learning an input-to-output mapping from labeled training examples with known targets</a:t>
            </a:r>
          </a:p>
        </p:txBody>
      </p:sp>
      <p:pic>
        <p:nvPicPr>
          <p:cNvPr id="13" name="Picture 12" descr="image.png"/>
          <p:cNvPicPr>
            <a:picLocks noChangeAspect="1"/>
          </p:cNvPicPr>
          <p:nvPr/>
        </p:nvPicPr>
        <p:blipFill>
          <a:blip r:embed="rId10"/>
          <a:stretch>
            <a:fillRect/>
          </a:stretch>
        </p:blipFill>
        <p:spPr>
          <a:xfrm>
            <a:off x="809625" y="5919787"/>
            <a:ext cx="180975" cy="142875"/>
          </a:xfrm>
          <a:prstGeom prst="rect">
            <a:avLst/>
          </a:prstGeom>
        </p:spPr>
      </p:pic>
      <p:sp>
        <p:nvSpPr>
          <p:cNvPr id="14" name="TextBox 13"/>
          <p:cNvSpPr txBox="1"/>
          <p:nvPr/>
        </p:nvSpPr>
        <p:spPr>
          <a:xfrm>
            <a:off x="1104900" y="5891212"/>
            <a:ext cx="10315575" cy="500062"/>
          </a:xfrm>
          <a:prstGeom prst="rect">
            <a:avLst/>
          </a:prstGeom>
          <a:noFill/>
        </p:spPr>
        <p:txBody>
          <a:bodyPr wrap="square" lIns="0" rIns="0" tIns="0" bIns="0" anchor="t">
            <a:spAutoFit/>
          </a:bodyPr>
          <a:lstStyle/>
          <a:p>
            <a:pPr algn="l">
              <a:lnSpc>
                <a:spcPts val="1312"/>
              </a:lnSpc>
            </a:pPr>
            <a:r>
              <a:rPr b="1" sz="937" i="0" u="none">
                <a:solidFill>
                  <a:srgbClr val="00335A"/>
                </a:solidFill>
                <a:latin typeface="DM Sans"/>
              </a:rPr>
              <a:t>Teacher Talk:</a:t>
            </a:r>
            <a:r>
              <a:rPr b="0" sz="937" i="0" u="none">
                <a:solidFill>
                  <a:srgbClr val="1E3A5F"/>
                </a:solidFill>
                <a:latin typeface="DM Sans"/>
              </a:rPr>
              <a:t> “Think of supervised learning like a student practicing with an answer key provided by a teacher. Here, study hours are input X, and actual exam marks are the target Y. Once the algorithm studies these examples, it creates a learned model so that when a new student studies 4 hours, it can predict 80 marks. Now let us explore Dimension 1: what kind of model we choose!”</a:t>
            </a:r>
          </a:p>
        </p:txBody>
      </p:sp>
      <p:sp>
        <p:nvSpPr>
          <p:cNvPr id="15" name="TextBox 14"/>
          <p:cNvSpPr txBox="1"/>
          <p:nvPr/>
        </p:nvSpPr>
        <p:spPr>
          <a:xfrm>
            <a:off x="6486525" y="2001142"/>
            <a:ext cx="5100637" cy="209550"/>
          </a:xfrm>
          <a:prstGeom prst="rect">
            <a:avLst/>
          </a:prstGeom>
          <a:noFill/>
        </p:spPr>
        <p:txBody>
          <a:bodyPr wrap="square" lIns="180975" rIns="0" tIns="0" bIns="0" anchor="t">
            <a:spAutoFit/>
          </a:bodyPr>
          <a:lstStyle/>
          <a:p>
            <a:pPr algn="l"/>
            <a:r>
              <a:rPr b="1" sz="1275" i="0" u="none">
                <a:solidFill>
                  <a:srgbClr val="005088"/>
                </a:solidFill>
                <a:latin typeface="DM Sans"/>
              </a:rPr>
              <a:t>Execution Pipeline</a:t>
            </a:r>
          </a:p>
        </p:txBody>
      </p:sp>
      <p:sp>
        <p:nvSpPr>
          <p:cNvPr id="16" name="TextBox 15"/>
          <p:cNvSpPr txBox="1"/>
          <p:nvPr/>
        </p:nvSpPr>
        <p:spPr>
          <a:xfrm>
            <a:off x="847725" y="1924942"/>
            <a:ext cx="5100637" cy="209550"/>
          </a:xfrm>
          <a:prstGeom prst="rect">
            <a:avLst/>
          </a:prstGeom>
          <a:noFill/>
        </p:spPr>
        <p:txBody>
          <a:bodyPr wrap="square" lIns="161925" rIns="0" tIns="0" bIns="0" anchor="t">
            <a:spAutoFit/>
          </a:bodyPr>
          <a:lstStyle/>
          <a:p>
            <a:pPr algn="l"/>
            <a:r>
              <a:rPr b="1" sz="1275" i="0" u="none">
                <a:solidFill>
                  <a:srgbClr val="005088"/>
                </a:solidFill>
                <a:latin typeface="DM Sans"/>
              </a:rPr>
              <a:t>Training Dataset (Input → Correct Target)</a:t>
            </a:r>
          </a:p>
        </p:txBody>
      </p:sp>
      <p:sp>
        <p:nvSpPr>
          <p:cNvPr id="17" name="TextBox 16"/>
          <p:cNvSpPr txBox="1"/>
          <p:nvPr/>
        </p:nvSpPr>
        <p:spPr>
          <a:xfrm>
            <a:off x="847725" y="2210692"/>
            <a:ext cx="4857750" cy="161925"/>
          </a:xfrm>
          <a:prstGeom prst="rect">
            <a:avLst/>
          </a:prstGeom>
          <a:noFill/>
        </p:spPr>
        <p:txBody>
          <a:bodyPr wrap="square" lIns="0" rIns="0" tIns="0" bIns="0" anchor="t">
            <a:spAutoFit/>
          </a:bodyPr>
          <a:lstStyle/>
          <a:p>
            <a:pPr algn="l"/>
            <a:r>
              <a:rPr b="0" sz="1012" i="0" u="none">
                <a:solidFill>
                  <a:srgbClr val="475569"/>
                </a:solidFill>
                <a:latin typeface="DM Sans"/>
              </a:rPr>
              <a:t>The algorithm learns the relationship </a:t>
            </a:r>
            <a:r>
              <a:rPr b="0" sz="1012" i="0" u="none">
                <a:solidFill>
                  <a:srgbClr val="005088"/>
                </a:solidFill>
                <a:latin typeface="DM Sans SemiBold"/>
              </a:rPr>
              <a:t>X → Y</a:t>
            </a:r>
            <a:r>
              <a:rPr b="0" sz="1012" i="0" u="none">
                <a:solidFill>
                  <a:srgbClr val="475569"/>
                </a:solidFill>
                <a:latin typeface="DM Sans"/>
              </a:rPr>
              <a:t> from historical pairs:</a:t>
            </a:r>
          </a:p>
        </p:txBody>
      </p:sp>
      <p:graphicFrame>
        <p:nvGraphicFramePr>
          <p:cNvPr id="18" name="Table 17"/>
          <p:cNvGraphicFramePr>
            <a:graphicFrameLocks noGrp="1"/>
          </p:cNvGraphicFramePr>
          <p:nvPr/>
        </p:nvGraphicFramePr>
        <p:xfrm>
          <a:off x="847725" y="2486917"/>
          <a:ext cx="4857749" cy="1419225"/>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2101899"/>
                <a:gridCol w="2755850"/>
              </a:tblGrid>
              <a:tr h="354806">
                <a:tc>
                  <a:txBody>
                    <a:bodyPr/>
                    <a:lstStyle/>
                    <a:p>
                      <a:pPr algn="l"/>
                      <a:r>
                        <a:rPr b="0" sz="1050" i="0" u="none">
                          <a:solidFill>
                            <a:srgbClr val="FFFFFF"/>
                          </a:solidFill>
                          <a:latin typeface="DM Sans SemiBold"/>
                        </a:rPr>
                        <a:t>Study Hours (Input X)</a:t>
                      </a:r>
                    </a:p>
                  </a:txBody>
                  <a:tcPr anchor="ctr" marL="63500" marR="63500" marT="25400" marB="25400">
                    <a:lnL>
                      <a:noFill/>
                    </a:lnL>
                    <a:lnR>
                      <a:noFill/>
                    </a:lnR>
                    <a:lnT>
                      <a:noFill/>
                    </a:lnT>
                    <a:lnB>
                      <a:noFill/>
                    </a:lnB>
                    <a:solidFill>
                      <a:srgbClr val="005088"/>
                    </a:solidFill>
                  </a:tcPr>
                </a:tc>
                <a:tc>
                  <a:txBody>
                    <a:bodyPr/>
                    <a:lstStyle/>
                    <a:p>
                      <a:pPr algn="l"/>
                      <a:r>
                        <a:rPr b="0" sz="1050" i="0" u="none">
                          <a:solidFill>
                            <a:srgbClr val="FFFFFF"/>
                          </a:solidFill>
                          <a:latin typeface="DM Sans SemiBold"/>
                        </a:rPr>
                        <a:t>Exam Marks (Target Output Y)</a:t>
                      </a:r>
                    </a:p>
                  </a:txBody>
                  <a:tcPr anchor="ctr" marL="63500" marR="63500" marT="25400" marB="25400">
                    <a:lnL>
                      <a:noFill/>
                    </a:lnL>
                    <a:lnR>
                      <a:noFill/>
                    </a:lnR>
                    <a:lnT>
                      <a:noFill/>
                    </a:lnT>
                    <a:lnB>
                      <a:noFill/>
                    </a:lnB>
                    <a:solidFill>
                      <a:srgbClr val="005088"/>
                    </a:solidFill>
                  </a:tcPr>
                </a:tc>
              </a:tr>
              <a:tr h="354806">
                <a:tc>
                  <a:txBody>
                    <a:bodyPr/>
                    <a:lstStyle/>
                    <a:p>
                      <a:pPr algn="l"/>
                      <a:r>
                        <a:rPr b="0" sz="1050" i="0" u="none">
                          <a:solidFill>
                            <a:srgbClr val="334155"/>
                          </a:solidFill>
                          <a:latin typeface="DM Sans"/>
                        </a:rPr>
                        <a:t>1 Hour</a:t>
                      </a:r>
                    </a:p>
                  </a:txBody>
                  <a:tcPr anchor="ctr" marL="63500" marR="63500" marT="25400" marB="25400">
                    <a:lnL>
                      <a:noFill/>
                    </a:lnL>
                    <a:lnR>
                      <a:noFill/>
                    </a:lnR>
                    <a:lnT>
                      <a:noFill/>
                    </a:lnT>
                    <a:lnB>
                      <a:noFill/>
                    </a:lnB>
                    <a:solidFill>
                      <a:srgbClr val="FFFFFF"/>
                    </a:solidFill>
                  </a:tcPr>
                </a:tc>
                <a:tc>
                  <a:txBody>
                    <a:bodyPr/>
                    <a:lstStyle/>
                    <a:p>
                      <a:pPr algn="l"/>
                      <a:r>
                        <a:rPr b="1" sz="1050" i="0" u="none">
                          <a:solidFill>
                            <a:srgbClr val="334155"/>
                          </a:solidFill>
                          <a:latin typeface="DM Sans"/>
                        </a:rPr>
                        <a:t>20 Marks</a:t>
                      </a:r>
                    </a:p>
                  </a:txBody>
                  <a:tcPr anchor="ctr" marL="63500" marR="63500" marT="25400" marB="25400">
                    <a:lnL>
                      <a:noFill/>
                    </a:lnL>
                    <a:lnR>
                      <a:noFill/>
                    </a:lnR>
                    <a:lnT>
                      <a:noFill/>
                    </a:lnT>
                    <a:lnB>
                      <a:noFill/>
                    </a:lnB>
                    <a:solidFill>
                      <a:srgbClr val="FFFFFF"/>
                    </a:solidFill>
                  </a:tcPr>
                </a:tc>
              </a:tr>
              <a:tr h="354806">
                <a:tc>
                  <a:txBody>
                    <a:bodyPr/>
                    <a:lstStyle/>
                    <a:p>
                      <a:pPr algn="l"/>
                      <a:r>
                        <a:rPr b="0" sz="1050" i="0" u="none">
                          <a:solidFill>
                            <a:srgbClr val="334155"/>
                          </a:solidFill>
                          <a:latin typeface="DM Sans"/>
                        </a:rPr>
                        <a:t>2 Hours</a:t>
                      </a:r>
                    </a:p>
                  </a:txBody>
                  <a:tcPr anchor="ctr" marL="63500" marR="63500" marT="25400" marB="25400">
                    <a:lnL>
                      <a:noFill/>
                    </a:lnL>
                    <a:lnR>
                      <a:noFill/>
                    </a:lnR>
                    <a:lnT>
                      <a:noFill/>
                    </a:lnT>
                    <a:lnB>
                      <a:noFill/>
                    </a:lnB>
                    <a:solidFill>
                      <a:srgbClr val="F8FAFC"/>
                    </a:solidFill>
                  </a:tcPr>
                </a:tc>
                <a:tc>
                  <a:txBody>
                    <a:bodyPr/>
                    <a:lstStyle/>
                    <a:p>
                      <a:pPr algn="l"/>
                      <a:r>
                        <a:rPr b="1" sz="1050" i="0" u="none">
                          <a:solidFill>
                            <a:srgbClr val="334155"/>
                          </a:solidFill>
                          <a:latin typeface="DM Sans"/>
                        </a:rPr>
                        <a:t>40 Marks</a:t>
                      </a:r>
                    </a:p>
                  </a:txBody>
                  <a:tcPr anchor="ctr" marL="63500" marR="63500" marT="25400" marB="25400">
                    <a:lnL>
                      <a:noFill/>
                    </a:lnL>
                    <a:lnR>
                      <a:noFill/>
                    </a:lnR>
                    <a:lnT>
                      <a:noFill/>
                    </a:lnT>
                    <a:lnB>
                      <a:noFill/>
                    </a:lnB>
                    <a:solidFill>
                      <a:srgbClr val="F8FAFC"/>
                    </a:solidFill>
                  </a:tcPr>
                </a:tc>
              </a:tr>
              <a:tr h="354807">
                <a:tc>
                  <a:txBody>
                    <a:bodyPr/>
                    <a:lstStyle/>
                    <a:p>
                      <a:pPr algn="l"/>
                      <a:r>
                        <a:rPr b="0" sz="1050" i="0" u="none">
                          <a:solidFill>
                            <a:srgbClr val="334155"/>
                          </a:solidFill>
                          <a:latin typeface="DM Sans"/>
                        </a:rPr>
                        <a:t>3 Hours</a:t>
                      </a:r>
                    </a:p>
                  </a:txBody>
                  <a:tcPr anchor="ctr" marL="63500" marR="63500" marT="25400" marB="25400">
                    <a:lnL>
                      <a:noFill/>
                    </a:lnL>
                    <a:lnR>
                      <a:noFill/>
                    </a:lnR>
                    <a:lnT>
                      <a:noFill/>
                    </a:lnT>
                    <a:lnB>
                      <a:noFill/>
                    </a:lnB>
                    <a:solidFill>
                      <a:srgbClr val="FFFFFF"/>
                    </a:solidFill>
                  </a:tcPr>
                </a:tc>
                <a:tc>
                  <a:txBody>
                    <a:bodyPr/>
                    <a:lstStyle/>
                    <a:p>
                      <a:pPr algn="l"/>
                      <a:r>
                        <a:rPr b="1" sz="1050" i="0" u="none">
                          <a:solidFill>
                            <a:srgbClr val="334155"/>
                          </a:solidFill>
                          <a:latin typeface="DM Sans"/>
                        </a:rPr>
                        <a:t>60 Marks</a:t>
                      </a:r>
                    </a:p>
                  </a:txBody>
                  <a:tcPr anchor="ctr" marL="63500" marR="63500" marT="25400" marB="25400">
                    <a:lnL>
                      <a:noFill/>
                    </a:lnL>
                    <a:lnR>
                      <a:noFill/>
                    </a:lnR>
                    <a:lnT>
                      <a:noFill/>
                    </a:lnT>
                    <a:lnB>
                      <a:noFill/>
                    </a:lnB>
                    <a:solidFill>
                      <a:srgbClr val="FFFFFF"/>
                    </a:solidFill>
                  </a:tcPr>
                </a:tc>
              </a:tr>
            </a:tbl>
          </a:graphicData>
        </a:graphic>
      </p:graphicFrame>
      <p:sp>
        <p:nvSpPr>
          <p:cNvPr id="19" name="TextBox 18"/>
          <p:cNvSpPr txBox="1"/>
          <p:nvPr/>
        </p:nvSpPr>
        <p:spPr>
          <a:xfrm>
            <a:off x="962025" y="4163317"/>
            <a:ext cx="1666875" cy="161925"/>
          </a:xfrm>
          <a:prstGeom prst="rect">
            <a:avLst/>
          </a:prstGeom>
          <a:noFill/>
        </p:spPr>
        <p:txBody>
          <a:bodyPr wrap="square" lIns="0" rIns="0" tIns="0" bIns="0" anchor="t">
            <a:spAutoFit/>
          </a:bodyPr>
          <a:lstStyle/>
          <a:p>
            <a:pPr algn="l"/>
            <a:r>
              <a:rPr b="0" sz="975" i="0" u="none">
                <a:solidFill>
                  <a:srgbClr val="0369A1"/>
                </a:solidFill>
                <a:latin typeface="DM Sans SemiBold"/>
              </a:rPr>
              <a:t>Supervised Learning Tasks:</a:t>
            </a:r>
          </a:p>
        </p:txBody>
      </p:sp>
      <p:pic>
        <p:nvPicPr>
          <p:cNvPr id="20" name="Picture 19" descr="image.png"/>
          <p:cNvPicPr>
            <a:picLocks noChangeAspect="1"/>
          </p:cNvPicPr>
          <p:nvPr/>
        </p:nvPicPr>
        <p:blipFill>
          <a:blip r:embed="rId11"/>
          <a:stretch>
            <a:fillRect/>
          </a:stretch>
        </p:blipFill>
        <p:spPr>
          <a:xfrm>
            <a:off x="6486525" y="2020192"/>
            <a:ext cx="180975" cy="161925"/>
          </a:xfrm>
          <a:prstGeom prst="rect">
            <a:avLst/>
          </a:prstGeom>
        </p:spPr>
      </p:pic>
      <p:pic>
        <p:nvPicPr>
          <p:cNvPr id="21" name="Picture 20" descr="image.png"/>
          <p:cNvPicPr>
            <a:picLocks noChangeAspect="1"/>
          </p:cNvPicPr>
          <p:nvPr/>
        </p:nvPicPr>
        <p:blipFill>
          <a:blip r:embed="rId12"/>
          <a:stretch>
            <a:fillRect/>
          </a:stretch>
        </p:blipFill>
        <p:spPr>
          <a:xfrm>
            <a:off x="847725" y="1943992"/>
            <a:ext cx="161925" cy="161925"/>
          </a:xfrm>
          <a:prstGeom prst="rect">
            <a:avLst/>
          </a:prstGeom>
        </p:spPr>
      </p:pic>
      <p:sp>
        <p:nvSpPr>
          <p:cNvPr id="22" name="TextBox 21"/>
          <p:cNvSpPr txBox="1"/>
          <p:nvPr/>
        </p:nvSpPr>
        <p:spPr>
          <a:xfrm>
            <a:off x="1085850" y="4356199"/>
            <a:ext cx="47625" cy="152400"/>
          </a:xfrm>
          <a:prstGeom prst="rect">
            <a:avLst/>
          </a:prstGeom>
          <a:noFill/>
        </p:spPr>
        <p:txBody>
          <a:bodyPr wrap="square" lIns="0" rIns="0" tIns="0" bIns="0" anchor="t">
            <a:spAutoFit/>
          </a:bodyPr>
          <a:lstStyle/>
          <a:p>
            <a:pPr algn="l"/>
            <a:r>
              <a:rPr b="0" sz="937" i="0" u="none">
                <a:solidFill>
                  <a:srgbClr val="0F172A"/>
                </a:solidFill>
                <a:latin typeface="DM Sans"/>
              </a:rPr>
              <a:t>•</a:t>
            </a:r>
          </a:p>
        </p:txBody>
      </p:sp>
      <p:sp>
        <p:nvSpPr>
          <p:cNvPr id="23" name="TextBox 22"/>
          <p:cNvSpPr txBox="1"/>
          <p:nvPr/>
        </p:nvSpPr>
        <p:spPr>
          <a:xfrm>
            <a:off x="1133475" y="4372867"/>
            <a:ext cx="4457700" cy="152400"/>
          </a:xfrm>
          <a:prstGeom prst="rect">
            <a:avLst/>
          </a:prstGeom>
          <a:noFill/>
        </p:spPr>
        <p:txBody>
          <a:bodyPr wrap="square" lIns="47625" rIns="0" tIns="0" bIns="0" anchor="t">
            <a:spAutoFit/>
          </a:bodyPr>
          <a:lstStyle/>
          <a:p>
            <a:pPr algn="l"/>
            <a:r>
              <a:rPr b="1" sz="937" i="0" u="none">
                <a:solidFill>
                  <a:srgbClr val="0F172A"/>
                </a:solidFill>
                <a:latin typeface="DM Sans"/>
              </a:rPr>
              <a:t>Regression:</a:t>
            </a:r>
            <a:r>
              <a:rPr b="0" sz="937" i="0" u="none">
                <a:solidFill>
                  <a:srgbClr val="0F172A"/>
                </a:solidFill>
                <a:latin typeface="DM Sans"/>
              </a:rPr>
              <a:t> Target Y is numerical (e.g., predicting 80 marks).</a:t>
            </a:r>
          </a:p>
        </p:txBody>
      </p:sp>
      <p:sp>
        <p:nvSpPr>
          <p:cNvPr id="24" name="TextBox 23"/>
          <p:cNvSpPr txBox="1"/>
          <p:nvPr/>
        </p:nvSpPr>
        <p:spPr>
          <a:xfrm>
            <a:off x="1085850" y="4508599"/>
            <a:ext cx="47625" cy="152400"/>
          </a:xfrm>
          <a:prstGeom prst="rect">
            <a:avLst/>
          </a:prstGeom>
          <a:noFill/>
        </p:spPr>
        <p:txBody>
          <a:bodyPr wrap="square" lIns="0" rIns="0" tIns="0" bIns="0" anchor="t">
            <a:spAutoFit/>
          </a:bodyPr>
          <a:lstStyle/>
          <a:p>
            <a:pPr algn="l"/>
            <a:r>
              <a:rPr b="0" sz="937" i="0" u="none">
                <a:solidFill>
                  <a:srgbClr val="0F172A"/>
                </a:solidFill>
                <a:latin typeface="DM Sans"/>
              </a:rPr>
              <a:t>•</a:t>
            </a:r>
          </a:p>
        </p:txBody>
      </p:sp>
      <p:sp>
        <p:nvSpPr>
          <p:cNvPr id="25" name="TextBox 24"/>
          <p:cNvSpPr txBox="1"/>
          <p:nvPr/>
        </p:nvSpPr>
        <p:spPr>
          <a:xfrm>
            <a:off x="1133475" y="4525267"/>
            <a:ext cx="4457700" cy="152400"/>
          </a:xfrm>
          <a:prstGeom prst="rect">
            <a:avLst/>
          </a:prstGeom>
          <a:noFill/>
        </p:spPr>
        <p:txBody>
          <a:bodyPr wrap="square" lIns="47625" rIns="0" tIns="0" bIns="0" anchor="t">
            <a:spAutoFit/>
          </a:bodyPr>
          <a:lstStyle/>
          <a:p>
            <a:pPr algn="l"/>
            <a:r>
              <a:rPr b="1" sz="937" i="0" u="none">
                <a:solidFill>
                  <a:srgbClr val="0F172A"/>
                </a:solidFill>
                <a:latin typeface="DM Sans"/>
              </a:rPr>
              <a:t>Classification:</a:t>
            </a:r>
            <a:r>
              <a:rPr b="0" sz="937" i="0" u="none">
                <a:solidFill>
                  <a:srgbClr val="0F172A"/>
                </a:solidFill>
                <a:latin typeface="DM Sans"/>
              </a:rPr>
              <a:t> Target Y is categorical (e.g., Pass vs. Fail).</a:t>
            </a:r>
          </a:p>
        </p:txBody>
      </p:sp>
      <p:pic>
        <p:nvPicPr>
          <p:cNvPr id="26" name="Picture 25" descr="image.png"/>
          <p:cNvPicPr>
            <a:picLocks noChangeAspect="1"/>
          </p:cNvPicPr>
          <p:nvPr/>
        </p:nvPicPr>
        <p:blipFill>
          <a:blip r:embed="rId13"/>
          <a:stretch>
            <a:fillRect/>
          </a:stretch>
        </p:blipFill>
        <p:spPr>
          <a:xfrm>
            <a:off x="7472362" y="2458342"/>
            <a:ext cx="119062" cy="133350"/>
          </a:xfrm>
          <a:prstGeom prst="rect">
            <a:avLst/>
          </a:prstGeom>
        </p:spPr>
      </p:pic>
      <p:pic>
        <p:nvPicPr>
          <p:cNvPr id="27" name="Picture 26" descr="image.png"/>
          <p:cNvPicPr>
            <a:picLocks noChangeAspect="1"/>
          </p:cNvPicPr>
          <p:nvPr/>
        </p:nvPicPr>
        <p:blipFill>
          <a:blip r:embed="rId14"/>
          <a:stretch>
            <a:fillRect/>
          </a:stretch>
        </p:blipFill>
        <p:spPr>
          <a:xfrm>
            <a:off x="8858250" y="2782192"/>
            <a:ext cx="114300" cy="152400"/>
          </a:xfrm>
          <a:prstGeom prst="rect">
            <a:avLst/>
          </a:prstGeom>
        </p:spPr>
      </p:pic>
      <p:pic>
        <p:nvPicPr>
          <p:cNvPr id="28" name="Picture 27" descr="image.png"/>
          <p:cNvPicPr>
            <a:picLocks noChangeAspect="1"/>
          </p:cNvPicPr>
          <p:nvPr/>
        </p:nvPicPr>
        <p:blipFill>
          <a:blip r:embed="rId15"/>
          <a:stretch>
            <a:fillRect/>
          </a:stretch>
        </p:blipFill>
        <p:spPr>
          <a:xfrm>
            <a:off x="7339012" y="3134617"/>
            <a:ext cx="176212" cy="133350"/>
          </a:xfrm>
          <a:prstGeom prst="rect">
            <a:avLst/>
          </a:prstGeom>
        </p:spPr>
      </p:pic>
      <p:pic>
        <p:nvPicPr>
          <p:cNvPr id="29" name="Picture 28" descr="image.png"/>
          <p:cNvPicPr>
            <a:picLocks noChangeAspect="1"/>
          </p:cNvPicPr>
          <p:nvPr/>
        </p:nvPicPr>
        <p:blipFill>
          <a:blip r:embed="rId16"/>
          <a:stretch>
            <a:fillRect/>
          </a:stretch>
        </p:blipFill>
        <p:spPr>
          <a:xfrm>
            <a:off x="8858250" y="3458467"/>
            <a:ext cx="114300" cy="152400"/>
          </a:xfrm>
          <a:prstGeom prst="rect">
            <a:avLst/>
          </a:prstGeom>
        </p:spPr>
      </p:pic>
      <p:pic>
        <p:nvPicPr>
          <p:cNvPr id="30" name="Picture 29" descr="image.png"/>
          <p:cNvPicPr>
            <a:picLocks noChangeAspect="1"/>
          </p:cNvPicPr>
          <p:nvPr/>
        </p:nvPicPr>
        <p:blipFill>
          <a:blip r:embed="rId17"/>
          <a:stretch>
            <a:fillRect/>
          </a:stretch>
        </p:blipFill>
        <p:spPr>
          <a:xfrm>
            <a:off x="7541418" y="3810892"/>
            <a:ext cx="138112" cy="133350"/>
          </a:xfrm>
          <a:prstGeom prst="rect">
            <a:avLst/>
          </a:prstGeom>
        </p:spPr>
      </p:pic>
      <p:pic>
        <p:nvPicPr>
          <p:cNvPr id="31" name="Picture 30" descr="image.png"/>
          <p:cNvPicPr>
            <a:picLocks noChangeAspect="1"/>
          </p:cNvPicPr>
          <p:nvPr/>
        </p:nvPicPr>
        <p:blipFill>
          <a:blip r:embed="rId18"/>
          <a:stretch>
            <a:fillRect/>
          </a:stretch>
        </p:blipFill>
        <p:spPr>
          <a:xfrm>
            <a:off x="8858250" y="4134742"/>
            <a:ext cx="114300" cy="152400"/>
          </a:xfrm>
          <a:prstGeom prst="rect">
            <a:avLst/>
          </a:prstGeom>
        </p:spPr>
      </p:pic>
      <p:pic>
        <p:nvPicPr>
          <p:cNvPr id="32" name="Picture 31" descr="image.png"/>
          <p:cNvPicPr>
            <a:picLocks noChangeAspect="1"/>
          </p:cNvPicPr>
          <p:nvPr/>
        </p:nvPicPr>
        <p:blipFill>
          <a:blip r:embed="rId19"/>
          <a:stretch>
            <a:fillRect/>
          </a:stretch>
        </p:blipFill>
        <p:spPr>
          <a:xfrm>
            <a:off x="7253287" y="4487167"/>
            <a:ext cx="119062" cy="133350"/>
          </a:xfrm>
          <a:prstGeom prst="rect">
            <a:avLst/>
          </a:prstGeom>
        </p:spPr>
      </p:pic>
      <p:sp>
        <p:nvSpPr>
          <p:cNvPr id="33" name="Rectangle 32"/>
          <p:cNvSpPr/>
          <p:nvPr/>
        </p:nvSpPr>
        <p:spPr>
          <a:xfrm>
            <a:off x="847725" y="3187005"/>
            <a:ext cx="210189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949624" y="3187005"/>
            <a:ext cx="27558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47725" y="3539430"/>
            <a:ext cx="210189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949624" y="3539430"/>
            <a:ext cx="27558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7725" y="3891855"/>
            <a:ext cx="210189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949624" y="3891855"/>
            <a:ext cx="27558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09600" y="1705867"/>
            <a:ext cx="5334000" cy="3045767"/>
          </a:xfrm>
          <a:prstGeom prst="rect">
            <a:avLst/>
          </a:prstGeom>
        </p:spPr>
      </p:pic>
      <p:pic>
        <p:nvPicPr>
          <p:cNvPr id="4" name="Picture 3" descr="image.png"/>
          <p:cNvPicPr>
            <a:picLocks noChangeAspect="1"/>
          </p:cNvPicPr>
          <p:nvPr/>
        </p:nvPicPr>
        <p:blipFill>
          <a:blip r:embed="rId4"/>
          <a:stretch>
            <a:fillRect/>
          </a:stretch>
        </p:blipFill>
        <p:spPr>
          <a:xfrm>
            <a:off x="6248400" y="1705867"/>
            <a:ext cx="5334000" cy="3045767"/>
          </a:xfrm>
          <a:prstGeom prst="rect">
            <a:avLst/>
          </a:prstGeom>
        </p:spPr>
      </p:pic>
      <p:pic>
        <p:nvPicPr>
          <p:cNvPr id="5" name="Picture 4" descr="image.png"/>
          <p:cNvPicPr>
            <a:picLocks noChangeAspect="1"/>
          </p:cNvPicPr>
          <p:nvPr/>
        </p:nvPicPr>
        <p:blipFill>
          <a:blip r:embed="rId5"/>
          <a:stretch>
            <a:fillRect/>
          </a:stretch>
        </p:blipFill>
        <p:spPr>
          <a:xfrm>
            <a:off x="847725" y="2904976"/>
            <a:ext cx="4857750" cy="979884"/>
          </a:xfrm>
          <a:prstGeom prst="rect">
            <a:avLst/>
          </a:prstGeom>
        </p:spPr>
      </p:pic>
      <p:pic>
        <p:nvPicPr>
          <p:cNvPr id="6" name="Picture 5" descr="image.png"/>
          <p:cNvPicPr>
            <a:picLocks noChangeAspect="1"/>
          </p:cNvPicPr>
          <p:nvPr/>
        </p:nvPicPr>
        <p:blipFill>
          <a:blip r:embed="rId6"/>
          <a:stretch>
            <a:fillRect/>
          </a:stretch>
        </p:blipFill>
        <p:spPr>
          <a:xfrm>
            <a:off x="847725" y="3999160"/>
            <a:ext cx="4857750" cy="533400"/>
          </a:xfrm>
          <a:prstGeom prst="rect">
            <a:avLst/>
          </a:prstGeom>
        </p:spPr>
      </p:pic>
      <p:pic>
        <p:nvPicPr>
          <p:cNvPr id="7" name="Picture 6" descr="image.png"/>
          <p:cNvPicPr>
            <a:picLocks noChangeAspect="1"/>
          </p:cNvPicPr>
          <p:nvPr/>
        </p:nvPicPr>
        <p:blipFill>
          <a:blip r:embed="rId7"/>
          <a:stretch>
            <a:fillRect/>
          </a:stretch>
        </p:blipFill>
        <p:spPr>
          <a:xfrm>
            <a:off x="6486525" y="2229742"/>
            <a:ext cx="4857750" cy="542925"/>
          </a:xfrm>
          <a:prstGeom prst="rect">
            <a:avLst/>
          </a:prstGeom>
        </p:spPr>
      </p:pic>
      <p:pic>
        <p:nvPicPr>
          <p:cNvPr id="8" name="Picture 7" descr="image.png"/>
          <p:cNvPicPr>
            <a:picLocks noChangeAspect="1"/>
          </p:cNvPicPr>
          <p:nvPr/>
        </p:nvPicPr>
        <p:blipFill>
          <a:blip r:embed="rId8"/>
          <a:stretch>
            <a:fillRect/>
          </a:stretch>
        </p:blipFill>
        <p:spPr>
          <a:xfrm>
            <a:off x="6486525" y="3789610"/>
            <a:ext cx="2390775" cy="333375"/>
          </a:xfrm>
          <a:prstGeom prst="rect">
            <a:avLst/>
          </a:prstGeom>
        </p:spPr>
      </p:pic>
      <p:pic>
        <p:nvPicPr>
          <p:cNvPr id="9" name="Picture 8" descr="image.png"/>
          <p:cNvPicPr>
            <a:picLocks noChangeAspect="1"/>
          </p:cNvPicPr>
          <p:nvPr/>
        </p:nvPicPr>
        <p:blipFill>
          <a:blip r:embed="rId9"/>
          <a:stretch>
            <a:fillRect/>
          </a:stretch>
        </p:blipFill>
        <p:spPr>
          <a:xfrm>
            <a:off x="8953500" y="3789610"/>
            <a:ext cx="2390775" cy="333375"/>
          </a:xfrm>
          <a:prstGeom prst="rect">
            <a:avLst/>
          </a:prstGeom>
        </p:spPr>
      </p:pic>
      <p:pic>
        <p:nvPicPr>
          <p:cNvPr id="10" name="Picture 9" descr="image.png"/>
          <p:cNvPicPr>
            <a:picLocks noChangeAspect="1"/>
          </p:cNvPicPr>
          <p:nvPr/>
        </p:nvPicPr>
        <p:blipFill>
          <a:blip r:embed="rId10"/>
          <a:stretch>
            <a:fillRect/>
          </a:stretch>
        </p:blipFill>
        <p:spPr>
          <a:xfrm>
            <a:off x="6486525" y="4199185"/>
            <a:ext cx="2390775" cy="333375"/>
          </a:xfrm>
          <a:prstGeom prst="rect">
            <a:avLst/>
          </a:prstGeom>
        </p:spPr>
      </p:pic>
      <p:pic>
        <p:nvPicPr>
          <p:cNvPr id="11" name="Picture 10" descr="image.png"/>
          <p:cNvPicPr>
            <a:picLocks noChangeAspect="1"/>
          </p:cNvPicPr>
          <p:nvPr/>
        </p:nvPicPr>
        <p:blipFill>
          <a:blip r:embed="rId11"/>
          <a:stretch>
            <a:fillRect/>
          </a:stretch>
        </p:blipFill>
        <p:spPr>
          <a:xfrm>
            <a:off x="8953500" y="4199185"/>
            <a:ext cx="2390775" cy="333375"/>
          </a:xfrm>
          <a:prstGeom prst="rect">
            <a:avLst/>
          </a:prstGeom>
        </p:spPr>
      </p:pic>
      <p:sp>
        <p:nvSpPr>
          <p:cNvPr id="12" name="TextBox 11"/>
          <p:cNvSpPr txBox="1"/>
          <p:nvPr/>
        </p:nvSpPr>
        <p:spPr>
          <a:xfrm>
            <a:off x="609600" y="533400"/>
            <a:ext cx="10972800" cy="161925"/>
          </a:xfrm>
          <a:prstGeom prst="rect">
            <a:avLst/>
          </a:prstGeom>
          <a:noFill/>
        </p:spPr>
        <p:txBody>
          <a:bodyPr wrap="square" lIns="0" rIns="0" tIns="0" bIns="0" anchor="ctr">
            <a:spAutoFit/>
          </a:bodyPr>
          <a:lstStyle/>
          <a:p>
            <a:pPr algn="l"/>
            <a:r>
              <a:rPr b="1" sz="975" i="0" u="none">
                <a:solidFill>
                  <a:srgbClr val="005088"/>
                </a:solidFill>
                <a:latin typeface="DM Sans"/>
              </a:rPr>
              <a:t>DIMENSION 1 OF 3 • REPRESENTATION</a:t>
            </a:r>
            <a:r>
              <a:rPr b="1" sz="975" i="0" u="none">
                <a:solidFill>
                  <a:srgbClr val="005088"/>
                </a:solidFill>
                <a:latin typeface="DM Sans"/>
              </a:rPr>
              <a:t> </a:t>
            </a:r>
            <a:r>
              <a:rPr b="1" sz="975" i="0" u="none">
                <a:solidFill>
                  <a:srgbClr val="005088"/>
                </a:solidFill>
                <a:latin typeface="DM Sans"/>
              </a:rPr>
              <a:t>SLIDE 3 OF 8</a:t>
            </a:r>
          </a:p>
        </p:txBody>
      </p:sp>
      <p:sp>
        <p:nvSpPr>
          <p:cNvPr id="13" name="TextBox 12"/>
          <p:cNvSpPr txBox="1"/>
          <p:nvPr/>
        </p:nvSpPr>
        <p:spPr>
          <a:xfrm>
            <a:off x="609600" y="733425"/>
            <a:ext cx="11521440" cy="372367"/>
          </a:xfrm>
          <a:prstGeom prst="rect">
            <a:avLst/>
          </a:prstGeom>
          <a:noFill/>
        </p:spPr>
        <p:txBody>
          <a:bodyPr wrap="square" lIns="0" rIns="0" tIns="0" bIns="0" anchor="t">
            <a:spAutoFit/>
          </a:bodyPr>
          <a:lstStyle/>
          <a:p>
            <a:pPr algn="l">
              <a:lnSpc>
                <a:spcPts val="2932"/>
              </a:lnSpc>
            </a:pPr>
            <a:r>
              <a:rPr b="1" sz="2550" i="0" u="none">
                <a:solidFill>
                  <a:srgbClr val="002E4F"/>
                </a:solidFill>
                <a:latin typeface="Merriweather"/>
              </a:rPr>
              <a:t>Dimension 1 — The Model</a:t>
            </a:r>
          </a:p>
        </p:txBody>
      </p:sp>
      <p:sp>
        <p:nvSpPr>
          <p:cNvPr id="14" name="TextBox 13"/>
          <p:cNvSpPr txBox="1"/>
          <p:nvPr/>
        </p:nvSpPr>
        <p:spPr>
          <a:xfrm>
            <a:off x="609600" y="1143892"/>
            <a:ext cx="10972800" cy="200025"/>
          </a:xfrm>
          <a:prstGeom prst="rect">
            <a:avLst/>
          </a:prstGeom>
          <a:noFill/>
        </p:spPr>
        <p:txBody>
          <a:bodyPr wrap="square" lIns="0" rIns="0" tIns="0" bIns="0" anchor="t">
            <a:spAutoFit/>
          </a:bodyPr>
          <a:lstStyle/>
          <a:p>
            <a:pPr algn="l"/>
            <a:r>
              <a:rPr b="0" sz="1200" i="0" u="none">
                <a:solidFill>
                  <a:srgbClr val="475569"/>
                </a:solidFill>
                <a:latin typeface="DM Sans"/>
              </a:rPr>
              <a:t>“What kind of mathematical function or representation should we use to map X to Y?”</a:t>
            </a:r>
          </a:p>
        </p:txBody>
      </p:sp>
      <p:pic>
        <p:nvPicPr>
          <p:cNvPr id="15" name="Picture 14" descr="image.png"/>
          <p:cNvPicPr>
            <a:picLocks noChangeAspect="1"/>
          </p:cNvPicPr>
          <p:nvPr/>
        </p:nvPicPr>
        <p:blipFill>
          <a:blip r:embed="rId12"/>
          <a:stretch>
            <a:fillRect/>
          </a:stretch>
        </p:blipFill>
        <p:spPr>
          <a:xfrm>
            <a:off x="809625" y="5919787"/>
            <a:ext cx="180975" cy="142875"/>
          </a:xfrm>
          <a:prstGeom prst="rect">
            <a:avLst/>
          </a:prstGeom>
        </p:spPr>
      </p:pic>
      <p:sp>
        <p:nvSpPr>
          <p:cNvPr id="16" name="TextBox 15"/>
          <p:cNvSpPr txBox="1"/>
          <p:nvPr/>
        </p:nvSpPr>
        <p:spPr>
          <a:xfrm>
            <a:off x="1104900" y="5891212"/>
            <a:ext cx="10315575" cy="500062"/>
          </a:xfrm>
          <a:prstGeom prst="rect">
            <a:avLst/>
          </a:prstGeom>
          <a:noFill/>
        </p:spPr>
        <p:txBody>
          <a:bodyPr wrap="square" lIns="0" rIns="0" tIns="0" bIns="0" anchor="t">
            <a:spAutoFit/>
          </a:bodyPr>
          <a:lstStyle/>
          <a:p>
            <a:pPr algn="l">
              <a:lnSpc>
                <a:spcPts val="1312"/>
              </a:lnSpc>
            </a:pPr>
            <a:r>
              <a:rPr b="1" sz="937" i="0" u="none">
                <a:solidFill>
                  <a:srgbClr val="00335A"/>
                </a:solidFill>
                <a:latin typeface="DM Sans"/>
              </a:rPr>
              <a:t>Teacher Talk:</a:t>
            </a:r>
            <a:r>
              <a:rPr b="0" sz="937" i="0" u="none">
                <a:solidFill>
                  <a:srgbClr val="1E3A5F"/>
                </a:solidFill>
                <a:latin typeface="DM Sans"/>
              </a:rPr>
              <a:t> “First, the algorithm needs a model. This is like choosing the type of tool before doing a job. If we want to predict salary based on years of experience, we can assume a line: y = wx + b. Notice that 'w' and 'b' are knobs we can turn. Finding the right values for these knobs is what 'learning' means. But how does this choice constrain what the algorithm can learn? Let us look at Hypothesis Space next.”</a:t>
            </a:r>
          </a:p>
        </p:txBody>
      </p:sp>
      <p:sp>
        <p:nvSpPr>
          <p:cNvPr id="17" name="TextBox 16"/>
          <p:cNvSpPr txBox="1"/>
          <p:nvPr/>
        </p:nvSpPr>
        <p:spPr>
          <a:xfrm>
            <a:off x="847725" y="1924942"/>
            <a:ext cx="5100637" cy="209550"/>
          </a:xfrm>
          <a:prstGeom prst="rect">
            <a:avLst/>
          </a:prstGeom>
          <a:noFill/>
        </p:spPr>
        <p:txBody>
          <a:bodyPr wrap="square" lIns="161925" rIns="0" tIns="0" bIns="0" anchor="t">
            <a:spAutoFit/>
          </a:bodyPr>
          <a:lstStyle/>
          <a:p>
            <a:pPr algn="l"/>
            <a:r>
              <a:rPr b="1" sz="1275" i="0" u="none">
                <a:solidFill>
                  <a:srgbClr val="005088"/>
                </a:solidFill>
                <a:latin typeface="DM Sans"/>
              </a:rPr>
              <a:t>What is a Model?</a:t>
            </a:r>
          </a:p>
        </p:txBody>
      </p:sp>
      <p:sp>
        <p:nvSpPr>
          <p:cNvPr id="18" name="TextBox 17"/>
          <p:cNvSpPr txBox="1"/>
          <p:nvPr/>
        </p:nvSpPr>
        <p:spPr>
          <a:xfrm>
            <a:off x="847725" y="2210692"/>
            <a:ext cx="4857750" cy="579983"/>
          </a:xfrm>
          <a:prstGeom prst="rect">
            <a:avLst/>
          </a:prstGeom>
          <a:noFill/>
        </p:spPr>
        <p:txBody>
          <a:bodyPr wrap="square" lIns="0" rIns="0" tIns="0" bIns="0" anchor="t">
            <a:spAutoFit/>
          </a:bodyPr>
          <a:lstStyle/>
          <a:p>
            <a:pPr algn="l">
              <a:lnSpc>
                <a:spcPts val="1522"/>
              </a:lnSpc>
            </a:pPr>
            <a:r>
              <a:rPr b="0" sz="1050" i="0" u="none">
                <a:solidFill>
                  <a:srgbClr val="475569"/>
                </a:solidFill>
                <a:latin typeface="DM Sans"/>
              </a:rPr>
              <a:t>In Ethem Alpaydin's terms, a </a:t>
            </a:r>
            <a:r>
              <a:rPr b="1" sz="1050" i="0" u="none">
                <a:solidFill>
                  <a:srgbClr val="475569"/>
                </a:solidFill>
                <a:latin typeface="DM Sans"/>
              </a:rPr>
              <a:t>model</a:t>
            </a:r>
            <a:r>
              <a:rPr b="0" sz="1050" i="0" u="none">
                <a:solidFill>
                  <a:srgbClr val="475569"/>
                </a:solidFill>
                <a:latin typeface="DM Sans"/>
              </a:rPr>
              <a:t> is the functional representation or structure chosen to approximate the true relationship between input features and target outputs.</a:t>
            </a:r>
          </a:p>
        </p:txBody>
      </p:sp>
      <p:pic>
        <p:nvPicPr>
          <p:cNvPr id="19" name="Picture 18" descr="image.png"/>
          <p:cNvPicPr>
            <a:picLocks noChangeAspect="1"/>
          </p:cNvPicPr>
          <p:nvPr/>
        </p:nvPicPr>
        <p:blipFill>
          <a:blip r:embed="rId13"/>
          <a:stretch>
            <a:fillRect/>
          </a:stretch>
        </p:blipFill>
        <p:spPr>
          <a:xfrm>
            <a:off x="847725" y="1943992"/>
            <a:ext cx="161925" cy="161925"/>
          </a:xfrm>
          <a:prstGeom prst="rect">
            <a:avLst/>
          </a:prstGeom>
        </p:spPr>
      </p:pic>
      <p:sp>
        <p:nvSpPr>
          <p:cNvPr id="20" name="TextBox 19"/>
          <p:cNvSpPr txBox="1"/>
          <p:nvPr/>
        </p:nvSpPr>
        <p:spPr>
          <a:xfrm>
            <a:off x="1076325" y="3271093"/>
            <a:ext cx="1257300" cy="247650"/>
          </a:xfrm>
          <a:prstGeom prst="rect">
            <a:avLst/>
          </a:prstGeom>
          <a:noFill/>
        </p:spPr>
        <p:txBody>
          <a:bodyPr wrap="square" lIns="0" rIns="0" tIns="0" bIns="0" anchor="t">
            <a:spAutoFit/>
          </a:bodyPr>
          <a:lstStyle/>
          <a:p>
            <a:pPr algn="l"/>
            <a:r>
              <a:rPr b="0" sz="1500" i="0" u="none">
                <a:solidFill>
                  <a:srgbClr val="005088"/>
                </a:solidFill>
                <a:latin typeface="Fira Code SemiBold"/>
              </a:rPr>
              <a:t>y = w·x + b</a:t>
            </a:r>
          </a:p>
        </p:txBody>
      </p:sp>
      <p:sp>
        <p:nvSpPr>
          <p:cNvPr id="21" name="TextBox 20"/>
          <p:cNvSpPr txBox="1"/>
          <p:nvPr/>
        </p:nvSpPr>
        <p:spPr>
          <a:xfrm>
            <a:off x="2524125" y="3047851"/>
            <a:ext cx="2371725" cy="694134"/>
          </a:xfrm>
          <a:prstGeom prst="rect">
            <a:avLst/>
          </a:prstGeom>
          <a:noFill/>
        </p:spPr>
        <p:txBody>
          <a:bodyPr wrap="square" lIns="0" rIns="0" tIns="0" bIns="0" anchor="t">
            <a:spAutoFit/>
          </a:bodyPr>
          <a:lstStyle/>
          <a:p>
            <a:pPr algn="l">
              <a:lnSpc>
                <a:spcPts val="1366"/>
              </a:lnSpc>
            </a:pPr>
            <a:r>
              <a:rPr b="1" sz="1012" i="0" u="none">
                <a:solidFill>
                  <a:srgbClr val="475569"/>
                </a:solidFill>
                <a:latin typeface="DM Sans"/>
              </a:rPr>
              <a:t>Linear Regression Model</a:t>
            </a:r>
            <a:r>
              <a:t>
</a:t>
            </a:r>
            <a:r>
              <a:rPr b="0" sz="1012" i="0" u="none">
                <a:solidFill>
                  <a:srgbClr val="475569"/>
                </a:solidFill>
                <a:latin typeface="DM Sans"/>
              </a:rPr>
              <a:t> • </a:t>
            </a:r>
            <a:r>
              <a:rPr b="1" sz="1012" i="0" u="none">
                <a:solidFill>
                  <a:srgbClr val="475569"/>
                </a:solidFill>
                <a:latin typeface="DM Sans"/>
              </a:rPr>
              <a:t>x:</a:t>
            </a:r>
            <a:r>
              <a:rPr b="0" sz="1012" i="0" u="none">
                <a:solidFill>
                  <a:srgbClr val="475569"/>
                </a:solidFill>
                <a:latin typeface="DM Sans"/>
              </a:rPr>
              <a:t> Input feature (e.g., Experience)</a:t>
            </a:r>
            <a:r>
              <a:t>
</a:t>
            </a:r>
            <a:r>
              <a:rPr b="0" sz="1012" i="0" u="none">
                <a:solidFill>
                  <a:srgbClr val="475569"/>
                </a:solidFill>
                <a:latin typeface="DM Sans"/>
              </a:rPr>
              <a:t> • </a:t>
            </a:r>
            <a:r>
              <a:rPr b="1" sz="1012" i="0" u="none">
                <a:solidFill>
                  <a:srgbClr val="475569"/>
                </a:solidFill>
                <a:latin typeface="DM Sans"/>
              </a:rPr>
              <a:t>y:</a:t>
            </a:r>
            <a:r>
              <a:rPr b="0" sz="1012" i="0" u="none">
                <a:solidFill>
                  <a:srgbClr val="475569"/>
                </a:solidFill>
                <a:latin typeface="DM Sans"/>
              </a:rPr>
              <a:t> Predicted output (e.g., Salary)</a:t>
            </a:r>
            <a:r>
              <a:t>
</a:t>
            </a:r>
            <a:r>
              <a:rPr b="0" sz="1012" i="0" u="none">
                <a:solidFill>
                  <a:srgbClr val="475569"/>
                </a:solidFill>
                <a:latin typeface="DM Sans"/>
              </a:rPr>
              <a:t> • </a:t>
            </a:r>
            <a:r>
              <a:rPr b="1" sz="1012" i="0" u="none">
                <a:solidFill>
                  <a:srgbClr val="475569"/>
                </a:solidFill>
                <a:latin typeface="DM Sans"/>
              </a:rPr>
              <a:t>w, b:</a:t>
            </a:r>
            <a:r>
              <a:rPr b="0" sz="1012" i="0" u="none">
                <a:solidFill>
                  <a:srgbClr val="475569"/>
                </a:solidFill>
                <a:latin typeface="DM Sans"/>
              </a:rPr>
              <a:t> Adjustable parameters (Weights)</a:t>
            </a:r>
          </a:p>
        </p:txBody>
      </p:sp>
      <p:sp>
        <p:nvSpPr>
          <p:cNvPr id="22" name="TextBox 21"/>
          <p:cNvSpPr txBox="1"/>
          <p:nvPr/>
        </p:nvSpPr>
        <p:spPr>
          <a:xfrm>
            <a:off x="990600" y="4103935"/>
            <a:ext cx="4572000" cy="323850"/>
          </a:xfrm>
          <a:prstGeom prst="rect">
            <a:avLst/>
          </a:prstGeom>
          <a:noFill/>
        </p:spPr>
        <p:txBody>
          <a:bodyPr wrap="square" lIns="123825" rIns="0" tIns="0" bIns="0" anchor="t">
            <a:spAutoFit/>
          </a:bodyPr>
          <a:lstStyle/>
          <a:p>
            <a:pPr algn="l"/>
            <a:r>
              <a:rPr b="1" sz="975" i="0" u="none">
                <a:solidFill>
                  <a:srgbClr val="166534"/>
                </a:solidFill>
                <a:latin typeface="DM Sans"/>
              </a:rPr>
              <a:t>Core Takeaway:</a:t>
            </a:r>
            <a:r>
              <a:rPr b="0" sz="975" i="0" u="none">
                <a:solidFill>
                  <a:srgbClr val="166534"/>
                </a:solidFill>
                <a:latin typeface="DM Sans"/>
              </a:rPr>
              <a:t> Learning does not build software from scratch; learning means finding the optimal numerical values for </a:t>
            </a:r>
            <a:r>
              <a:rPr b="1" sz="975" i="0" u="none">
                <a:solidFill>
                  <a:srgbClr val="166534"/>
                </a:solidFill>
                <a:latin typeface="DM Sans"/>
              </a:rPr>
              <a:t>w</a:t>
            </a:r>
            <a:r>
              <a:rPr b="0" sz="975" i="0" u="none">
                <a:solidFill>
                  <a:srgbClr val="166534"/>
                </a:solidFill>
                <a:latin typeface="DM Sans"/>
              </a:rPr>
              <a:t> and </a:t>
            </a:r>
            <a:r>
              <a:rPr b="1" sz="975" i="0" u="none">
                <a:solidFill>
                  <a:srgbClr val="166534"/>
                </a:solidFill>
                <a:latin typeface="DM Sans"/>
              </a:rPr>
              <a:t>b</a:t>
            </a:r>
            <a:r>
              <a:rPr b="0" sz="975" i="0" u="none">
                <a:solidFill>
                  <a:srgbClr val="166534"/>
                </a:solidFill>
                <a:latin typeface="DM Sans"/>
              </a:rPr>
              <a:t>.</a:t>
            </a:r>
          </a:p>
        </p:txBody>
      </p:sp>
      <p:sp>
        <p:nvSpPr>
          <p:cNvPr id="23" name="TextBox 22"/>
          <p:cNvSpPr txBox="1"/>
          <p:nvPr/>
        </p:nvSpPr>
        <p:spPr>
          <a:xfrm>
            <a:off x="6486525" y="1924942"/>
            <a:ext cx="5100637" cy="209550"/>
          </a:xfrm>
          <a:prstGeom prst="rect">
            <a:avLst/>
          </a:prstGeom>
          <a:noFill/>
        </p:spPr>
        <p:txBody>
          <a:bodyPr wrap="square" lIns="161925" rIns="0" tIns="0" bIns="0" anchor="t">
            <a:spAutoFit/>
          </a:bodyPr>
          <a:lstStyle/>
          <a:p>
            <a:pPr algn="l"/>
            <a:r>
              <a:rPr b="1" sz="1275" i="0" u="none">
                <a:solidFill>
                  <a:srgbClr val="005088"/>
                </a:solidFill>
                <a:latin typeface="DM Sans"/>
              </a:rPr>
              <a:t>Real-World Predictive Example</a:t>
            </a:r>
          </a:p>
        </p:txBody>
      </p:sp>
      <p:sp>
        <p:nvSpPr>
          <p:cNvPr id="24" name="TextBox 23"/>
          <p:cNvSpPr txBox="1"/>
          <p:nvPr/>
        </p:nvSpPr>
        <p:spPr>
          <a:xfrm>
            <a:off x="6486525" y="3541960"/>
            <a:ext cx="5100637" cy="171450"/>
          </a:xfrm>
          <a:prstGeom prst="rect">
            <a:avLst/>
          </a:prstGeom>
          <a:noFill/>
        </p:spPr>
        <p:txBody>
          <a:bodyPr wrap="square" lIns="0" rIns="0" tIns="0" bIns="0" anchor="t">
            <a:spAutoFit/>
          </a:bodyPr>
          <a:lstStyle/>
          <a:p>
            <a:pPr algn="l"/>
            <a:r>
              <a:rPr b="1" sz="1050" i="0" u="none">
                <a:solidFill>
                  <a:srgbClr val="334155"/>
                </a:solidFill>
                <a:latin typeface="DM Sans"/>
              </a:rPr>
              <a:t>Common Model Families Studied in BCA:</a:t>
            </a:r>
          </a:p>
        </p:txBody>
      </p:sp>
      <p:pic>
        <p:nvPicPr>
          <p:cNvPr id="25" name="Picture 24" descr="image.png"/>
          <p:cNvPicPr>
            <a:picLocks noChangeAspect="1"/>
          </p:cNvPicPr>
          <p:nvPr/>
        </p:nvPicPr>
        <p:blipFill>
          <a:blip r:embed="rId14"/>
          <a:stretch>
            <a:fillRect/>
          </a:stretch>
        </p:blipFill>
        <p:spPr>
          <a:xfrm>
            <a:off x="990600" y="4122985"/>
            <a:ext cx="123825" cy="123825"/>
          </a:xfrm>
          <a:prstGeom prst="rect">
            <a:avLst/>
          </a:prstGeom>
        </p:spPr>
      </p:pic>
      <p:pic>
        <p:nvPicPr>
          <p:cNvPr id="26" name="Picture 25" descr="image.png"/>
          <p:cNvPicPr>
            <a:picLocks noChangeAspect="1"/>
          </p:cNvPicPr>
          <p:nvPr/>
        </p:nvPicPr>
        <p:blipFill>
          <a:blip r:embed="rId15"/>
          <a:stretch>
            <a:fillRect/>
          </a:stretch>
        </p:blipFill>
        <p:spPr>
          <a:xfrm>
            <a:off x="6486525" y="1943992"/>
            <a:ext cx="161925" cy="161925"/>
          </a:xfrm>
          <a:prstGeom prst="rect">
            <a:avLst/>
          </a:prstGeom>
        </p:spPr>
      </p:pic>
      <p:sp>
        <p:nvSpPr>
          <p:cNvPr id="27" name="TextBox 26"/>
          <p:cNvSpPr txBox="1"/>
          <p:nvPr/>
        </p:nvSpPr>
        <p:spPr>
          <a:xfrm>
            <a:off x="6619875" y="2324992"/>
            <a:ext cx="1247775" cy="352425"/>
          </a:xfrm>
          <a:prstGeom prst="rect">
            <a:avLst/>
          </a:prstGeom>
          <a:noFill/>
        </p:spPr>
        <p:txBody>
          <a:bodyPr wrap="square" lIns="0" rIns="0" tIns="0" bIns="0" anchor="ctr">
            <a:spAutoFit/>
          </a:bodyPr>
          <a:lstStyle/>
          <a:p>
            <a:pPr algn="ctr"/>
            <a:r>
              <a:rPr b="1" sz="1200" i="0" u="none">
                <a:solidFill>
                  <a:srgbClr val="0F172A"/>
                </a:solidFill>
                <a:latin typeface="DM Sans"/>
              </a:rPr>
              <a:t>Years Experience (x)</a:t>
            </a:r>
            <a:r>
              <a:rPr b="0" sz="1200" i="0" u="none">
                <a:solidFill>
                  <a:srgbClr val="1E293B"/>
                </a:solidFill>
                <a:latin typeface="DM Sans"/>
              </a:rPr>
              <a:t> </a:t>
            </a:r>
            <a:r>
              <a:rPr b="0" sz="1200" i="0" u="none">
                <a:solidFill>
                  <a:srgbClr val="475569"/>
                </a:solidFill>
                <a:latin typeface="DM Sans Medium"/>
              </a:rPr>
              <a:t>Input Feature</a:t>
            </a:r>
          </a:p>
        </p:txBody>
      </p:sp>
      <p:sp>
        <p:nvSpPr>
          <p:cNvPr id="28" name="TextBox 27"/>
          <p:cNvSpPr txBox="1"/>
          <p:nvPr/>
        </p:nvSpPr>
        <p:spPr>
          <a:xfrm>
            <a:off x="8055768" y="2377380"/>
            <a:ext cx="190500" cy="247650"/>
          </a:xfrm>
          <a:prstGeom prst="rect">
            <a:avLst/>
          </a:prstGeom>
          <a:noFill/>
        </p:spPr>
        <p:txBody>
          <a:bodyPr wrap="square" lIns="0" rIns="0" tIns="0" bIns="0" anchor="t">
            <a:spAutoFit/>
          </a:bodyPr>
          <a:lstStyle/>
          <a:p>
            <a:pPr algn="l"/>
            <a:r>
              <a:rPr b="1" sz="1500" i="0" u="none">
                <a:solidFill>
                  <a:srgbClr val="005088"/>
                </a:solidFill>
                <a:latin typeface="DM Sans"/>
              </a:rPr>
              <a:t>→</a:t>
            </a:r>
          </a:p>
        </p:txBody>
      </p:sp>
      <p:sp>
        <p:nvSpPr>
          <p:cNvPr id="29" name="TextBox 28"/>
          <p:cNvSpPr txBox="1"/>
          <p:nvPr/>
        </p:nvSpPr>
        <p:spPr>
          <a:xfrm>
            <a:off x="8434387" y="2324992"/>
            <a:ext cx="981075" cy="352425"/>
          </a:xfrm>
          <a:prstGeom prst="rect">
            <a:avLst/>
          </a:prstGeom>
          <a:noFill/>
        </p:spPr>
        <p:txBody>
          <a:bodyPr wrap="square" lIns="0" rIns="0" tIns="0" bIns="0" anchor="ctr">
            <a:spAutoFit/>
          </a:bodyPr>
          <a:lstStyle/>
          <a:p>
            <a:pPr algn="ctr"/>
            <a:r>
              <a:rPr b="1" sz="1200" i="0" u="none">
                <a:solidFill>
                  <a:srgbClr val="005088"/>
                </a:solidFill>
                <a:latin typeface="DM Sans"/>
              </a:rPr>
              <a:t>Model (w·x + b)</a:t>
            </a:r>
            <a:r>
              <a:rPr b="0" sz="1200" i="0" u="none">
                <a:solidFill>
                  <a:srgbClr val="1E293B"/>
                </a:solidFill>
                <a:latin typeface="DM Sans"/>
              </a:rPr>
              <a:t> </a:t>
            </a:r>
            <a:r>
              <a:rPr b="0" sz="1200" i="0" u="none">
                <a:solidFill>
                  <a:srgbClr val="475569"/>
                </a:solidFill>
                <a:latin typeface="DM Sans Medium"/>
              </a:rPr>
              <a:t>Mapping Function</a:t>
            </a:r>
          </a:p>
        </p:txBody>
      </p:sp>
      <p:sp>
        <p:nvSpPr>
          <p:cNvPr id="30" name="TextBox 29"/>
          <p:cNvSpPr txBox="1"/>
          <p:nvPr/>
        </p:nvSpPr>
        <p:spPr>
          <a:xfrm>
            <a:off x="9603581" y="2377380"/>
            <a:ext cx="190500" cy="247650"/>
          </a:xfrm>
          <a:prstGeom prst="rect">
            <a:avLst/>
          </a:prstGeom>
          <a:noFill/>
        </p:spPr>
        <p:txBody>
          <a:bodyPr wrap="square" lIns="0" rIns="0" tIns="0" bIns="0" anchor="t">
            <a:spAutoFit/>
          </a:bodyPr>
          <a:lstStyle/>
          <a:p>
            <a:pPr algn="l"/>
            <a:r>
              <a:rPr b="1" sz="1500" i="0" u="none">
                <a:solidFill>
                  <a:srgbClr val="005088"/>
                </a:solidFill>
                <a:latin typeface="DM Sans"/>
              </a:rPr>
              <a:t>→</a:t>
            </a:r>
          </a:p>
        </p:txBody>
      </p:sp>
      <p:sp>
        <p:nvSpPr>
          <p:cNvPr id="31" name="TextBox 30"/>
          <p:cNvSpPr txBox="1"/>
          <p:nvPr/>
        </p:nvSpPr>
        <p:spPr>
          <a:xfrm>
            <a:off x="9982200" y="2324992"/>
            <a:ext cx="1228725" cy="352425"/>
          </a:xfrm>
          <a:prstGeom prst="rect">
            <a:avLst/>
          </a:prstGeom>
          <a:noFill/>
        </p:spPr>
        <p:txBody>
          <a:bodyPr wrap="square" lIns="0" rIns="0" tIns="0" bIns="0" anchor="ctr">
            <a:spAutoFit/>
          </a:bodyPr>
          <a:lstStyle/>
          <a:p>
            <a:pPr algn="ctr"/>
            <a:r>
              <a:rPr b="1" sz="1200" i="0" u="none">
                <a:solidFill>
                  <a:srgbClr val="0D9488"/>
                </a:solidFill>
                <a:latin typeface="DM Sans"/>
              </a:rPr>
              <a:t>Predicted Salary (y)</a:t>
            </a:r>
            <a:r>
              <a:rPr b="0" sz="1200" i="0" u="none">
                <a:solidFill>
                  <a:srgbClr val="1E293B"/>
                </a:solidFill>
                <a:latin typeface="DM Sans"/>
              </a:rPr>
              <a:t> </a:t>
            </a:r>
            <a:r>
              <a:rPr b="0" sz="1200" i="0" u="none">
                <a:solidFill>
                  <a:srgbClr val="475569"/>
                </a:solidFill>
                <a:latin typeface="DM Sans Medium"/>
              </a:rPr>
              <a:t>Output Estimate</a:t>
            </a:r>
          </a:p>
        </p:txBody>
      </p:sp>
      <p:sp>
        <p:nvSpPr>
          <p:cNvPr id="32" name="TextBox 31"/>
          <p:cNvSpPr txBox="1"/>
          <p:nvPr/>
        </p:nvSpPr>
        <p:spPr>
          <a:xfrm>
            <a:off x="6610350" y="3875335"/>
            <a:ext cx="1085850" cy="161925"/>
          </a:xfrm>
          <a:prstGeom prst="rect">
            <a:avLst/>
          </a:prstGeom>
          <a:noFill/>
        </p:spPr>
        <p:txBody>
          <a:bodyPr wrap="square" lIns="0" rIns="0" tIns="0" bIns="0" anchor="t">
            <a:spAutoFit/>
          </a:bodyPr>
          <a:lstStyle/>
          <a:p>
            <a:pPr algn="l"/>
            <a:r>
              <a:rPr b="1" sz="975" i="0" u="none">
                <a:solidFill>
                  <a:srgbClr val="1E293B"/>
                </a:solidFill>
                <a:latin typeface="DM Sans"/>
              </a:rPr>
              <a:t>Linear Regression</a:t>
            </a:r>
          </a:p>
        </p:txBody>
      </p:sp>
      <p:sp>
        <p:nvSpPr>
          <p:cNvPr id="33" name="TextBox 32"/>
          <p:cNvSpPr txBox="1"/>
          <p:nvPr/>
        </p:nvSpPr>
        <p:spPr>
          <a:xfrm>
            <a:off x="9077325" y="3875335"/>
            <a:ext cx="895350" cy="161925"/>
          </a:xfrm>
          <a:prstGeom prst="rect">
            <a:avLst/>
          </a:prstGeom>
          <a:noFill/>
        </p:spPr>
        <p:txBody>
          <a:bodyPr wrap="square" lIns="0" rIns="0" tIns="0" bIns="0" anchor="t">
            <a:spAutoFit/>
          </a:bodyPr>
          <a:lstStyle/>
          <a:p>
            <a:pPr algn="l"/>
            <a:r>
              <a:rPr b="1" sz="975" i="0" u="none">
                <a:solidFill>
                  <a:srgbClr val="1E293B"/>
                </a:solidFill>
                <a:latin typeface="DM Sans"/>
              </a:rPr>
              <a:t>Decision Trees</a:t>
            </a:r>
          </a:p>
        </p:txBody>
      </p:sp>
      <p:sp>
        <p:nvSpPr>
          <p:cNvPr id="34" name="TextBox 33"/>
          <p:cNvSpPr txBox="1"/>
          <p:nvPr/>
        </p:nvSpPr>
        <p:spPr>
          <a:xfrm>
            <a:off x="6610350" y="4284910"/>
            <a:ext cx="1285875" cy="161925"/>
          </a:xfrm>
          <a:prstGeom prst="rect">
            <a:avLst/>
          </a:prstGeom>
          <a:noFill/>
        </p:spPr>
        <p:txBody>
          <a:bodyPr wrap="square" lIns="0" rIns="0" tIns="0" bIns="0" anchor="t">
            <a:spAutoFit/>
          </a:bodyPr>
          <a:lstStyle/>
          <a:p>
            <a:pPr algn="l"/>
            <a:r>
              <a:rPr b="1" sz="975" i="0" u="none">
                <a:solidFill>
                  <a:srgbClr val="1E293B"/>
                </a:solidFill>
                <a:latin typeface="DM Sans"/>
              </a:rPr>
              <a:t>k-Nearest Neighbors</a:t>
            </a:r>
          </a:p>
        </p:txBody>
      </p:sp>
      <p:sp>
        <p:nvSpPr>
          <p:cNvPr id="35" name="TextBox 34"/>
          <p:cNvSpPr txBox="1"/>
          <p:nvPr/>
        </p:nvSpPr>
        <p:spPr>
          <a:xfrm>
            <a:off x="9077325" y="4284910"/>
            <a:ext cx="1009650" cy="161925"/>
          </a:xfrm>
          <a:prstGeom prst="rect">
            <a:avLst/>
          </a:prstGeom>
          <a:noFill/>
        </p:spPr>
        <p:txBody>
          <a:bodyPr wrap="square" lIns="0" rIns="0" tIns="0" bIns="0" anchor="t">
            <a:spAutoFit/>
          </a:bodyPr>
          <a:lstStyle/>
          <a:p>
            <a:pPr algn="l"/>
            <a:r>
              <a:rPr b="1" sz="975" i="0" u="none">
                <a:solidFill>
                  <a:srgbClr val="1E293B"/>
                </a:solidFill>
                <a:latin typeface="DM Sans"/>
              </a:rPr>
              <a:t>Neural Networks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09600" y="1705867"/>
            <a:ext cx="3505200" cy="2945903"/>
          </a:xfrm>
          <a:prstGeom prst="rect">
            <a:avLst/>
          </a:prstGeom>
        </p:spPr>
      </p:pic>
      <p:pic>
        <p:nvPicPr>
          <p:cNvPr id="4" name="Picture 3" descr="image.png"/>
          <p:cNvPicPr>
            <a:picLocks noChangeAspect="1"/>
          </p:cNvPicPr>
          <p:nvPr/>
        </p:nvPicPr>
        <p:blipFill>
          <a:blip r:embed="rId4"/>
          <a:stretch>
            <a:fillRect/>
          </a:stretch>
        </p:blipFill>
        <p:spPr>
          <a:xfrm>
            <a:off x="4343400" y="1705867"/>
            <a:ext cx="3505200" cy="2945903"/>
          </a:xfrm>
          <a:prstGeom prst="rect">
            <a:avLst/>
          </a:prstGeom>
        </p:spPr>
      </p:pic>
      <p:pic>
        <p:nvPicPr>
          <p:cNvPr id="5" name="Picture 4" descr="image.png"/>
          <p:cNvPicPr>
            <a:picLocks noChangeAspect="1"/>
          </p:cNvPicPr>
          <p:nvPr/>
        </p:nvPicPr>
        <p:blipFill>
          <a:blip r:embed="rId5"/>
          <a:stretch>
            <a:fillRect/>
          </a:stretch>
        </p:blipFill>
        <p:spPr>
          <a:xfrm>
            <a:off x="8077200" y="1705867"/>
            <a:ext cx="3505200" cy="2945903"/>
          </a:xfrm>
          <a:prstGeom prst="rect">
            <a:avLst/>
          </a:prstGeom>
        </p:spPr>
      </p:pic>
      <p:pic>
        <p:nvPicPr>
          <p:cNvPr id="6" name="Picture 5" descr="image.png"/>
          <p:cNvPicPr>
            <a:picLocks noChangeAspect="1"/>
          </p:cNvPicPr>
          <p:nvPr/>
        </p:nvPicPr>
        <p:blipFill>
          <a:blip r:embed="rId6"/>
          <a:stretch>
            <a:fillRect/>
          </a:stretch>
        </p:blipFill>
        <p:spPr>
          <a:xfrm>
            <a:off x="809625" y="2448817"/>
            <a:ext cx="790575" cy="238125"/>
          </a:xfrm>
          <a:prstGeom prst="rect">
            <a:avLst/>
          </a:prstGeom>
        </p:spPr>
      </p:pic>
      <p:pic>
        <p:nvPicPr>
          <p:cNvPr id="7" name="Picture 6" descr="image.png"/>
          <p:cNvPicPr>
            <a:picLocks noChangeAspect="1"/>
          </p:cNvPicPr>
          <p:nvPr/>
        </p:nvPicPr>
        <p:blipFill>
          <a:blip r:embed="rId7"/>
          <a:stretch>
            <a:fillRect/>
          </a:stretch>
        </p:blipFill>
        <p:spPr>
          <a:xfrm>
            <a:off x="809625" y="3818483"/>
            <a:ext cx="3105150" cy="476250"/>
          </a:xfrm>
          <a:prstGeom prst="rect">
            <a:avLst/>
          </a:prstGeom>
        </p:spPr>
      </p:pic>
      <p:pic>
        <p:nvPicPr>
          <p:cNvPr id="8" name="Picture 7" descr="image.png"/>
          <p:cNvPicPr>
            <a:picLocks noChangeAspect="1"/>
          </p:cNvPicPr>
          <p:nvPr/>
        </p:nvPicPr>
        <p:blipFill>
          <a:blip r:embed="rId8"/>
          <a:stretch>
            <a:fillRect/>
          </a:stretch>
        </p:blipFill>
        <p:spPr>
          <a:xfrm>
            <a:off x="4543425" y="2448817"/>
            <a:ext cx="1314450" cy="238125"/>
          </a:xfrm>
          <a:prstGeom prst="rect">
            <a:avLst/>
          </a:prstGeom>
        </p:spPr>
      </p:pic>
      <p:pic>
        <p:nvPicPr>
          <p:cNvPr id="9" name="Picture 8" descr="image.png"/>
          <p:cNvPicPr>
            <a:picLocks noChangeAspect="1"/>
          </p:cNvPicPr>
          <p:nvPr/>
        </p:nvPicPr>
        <p:blipFill>
          <a:blip r:embed="rId9"/>
          <a:stretch>
            <a:fillRect/>
          </a:stretch>
        </p:blipFill>
        <p:spPr>
          <a:xfrm>
            <a:off x="4543425" y="3818483"/>
            <a:ext cx="3105150" cy="476250"/>
          </a:xfrm>
          <a:prstGeom prst="rect">
            <a:avLst/>
          </a:prstGeom>
        </p:spPr>
      </p:pic>
      <p:pic>
        <p:nvPicPr>
          <p:cNvPr id="10" name="Picture 9" descr="image.png"/>
          <p:cNvPicPr>
            <a:picLocks noChangeAspect="1"/>
          </p:cNvPicPr>
          <p:nvPr/>
        </p:nvPicPr>
        <p:blipFill>
          <a:blip r:embed="rId10"/>
          <a:stretch>
            <a:fillRect/>
          </a:stretch>
        </p:blipFill>
        <p:spPr>
          <a:xfrm>
            <a:off x="8277225" y="2448817"/>
            <a:ext cx="1228725" cy="238125"/>
          </a:xfrm>
          <a:prstGeom prst="rect">
            <a:avLst/>
          </a:prstGeom>
        </p:spPr>
      </p:pic>
      <p:pic>
        <p:nvPicPr>
          <p:cNvPr id="11" name="Picture 10" descr="image.png"/>
          <p:cNvPicPr>
            <a:picLocks noChangeAspect="1"/>
          </p:cNvPicPr>
          <p:nvPr/>
        </p:nvPicPr>
        <p:blipFill>
          <a:blip r:embed="rId11"/>
          <a:stretch>
            <a:fillRect/>
          </a:stretch>
        </p:blipFill>
        <p:spPr>
          <a:xfrm>
            <a:off x="8277225" y="3618309"/>
            <a:ext cx="3105150" cy="795337"/>
          </a:xfrm>
          <a:prstGeom prst="rect">
            <a:avLst/>
          </a:prstGeom>
        </p:spPr>
      </p:pic>
      <p:sp>
        <p:nvSpPr>
          <p:cNvPr id="12" name="TextBox 11"/>
          <p:cNvSpPr txBox="1"/>
          <p:nvPr/>
        </p:nvSpPr>
        <p:spPr>
          <a:xfrm>
            <a:off x="609600" y="533400"/>
            <a:ext cx="10972800" cy="161925"/>
          </a:xfrm>
          <a:prstGeom prst="rect">
            <a:avLst/>
          </a:prstGeom>
          <a:noFill/>
        </p:spPr>
        <p:txBody>
          <a:bodyPr wrap="square" lIns="0" rIns="0" tIns="0" bIns="0" anchor="ctr">
            <a:spAutoFit/>
          </a:bodyPr>
          <a:lstStyle/>
          <a:p>
            <a:pPr algn="l"/>
            <a:r>
              <a:rPr b="1" sz="975" i="0" u="none">
                <a:solidFill>
                  <a:srgbClr val="005088"/>
                </a:solidFill>
                <a:latin typeface="DM Sans"/>
              </a:rPr>
              <a:t>UNIT-I CONNECTION • THEORETICAL FOUNDATION</a:t>
            </a:r>
            <a:r>
              <a:rPr b="1" sz="975" i="0" u="none">
                <a:solidFill>
                  <a:srgbClr val="005088"/>
                </a:solidFill>
                <a:latin typeface="DM Sans"/>
              </a:rPr>
              <a:t> </a:t>
            </a:r>
            <a:r>
              <a:rPr b="1" sz="975" i="0" u="none">
                <a:solidFill>
                  <a:srgbClr val="005088"/>
                </a:solidFill>
                <a:latin typeface="DM Sans"/>
              </a:rPr>
              <a:t>SLIDE 4 OF 8</a:t>
            </a:r>
          </a:p>
        </p:txBody>
      </p:sp>
      <p:sp>
        <p:nvSpPr>
          <p:cNvPr id="13" name="TextBox 12"/>
          <p:cNvSpPr txBox="1"/>
          <p:nvPr/>
        </p:nvSpPr>
        <p:spPr>
          <a:xfrm>
            <a:off x="609600" y="733425"/>
            <a:ext cx="11521440" cy="372367"/>
          </a:xfrm>
          <a:prstGeom prst="rect">
            <a:avLst/>
          </a:prstGeom>
          <a:noFill/>
        </p:spPr>
        <p:txBody>
          <a:bodyPr wrap="square" lIns="0" rIns="0" tIns="0" bIns="0" anchor="t">
            <a:spAutoFit/>
          </a:bodyPr>
          <a:lstStyle/>
          <a:p>
            <a:pPr algn="l">
              <a:lnSpc>
                <a:spcPts val="2932"/>
              </a:lnSpc>
            </a:pPr>
            <a:r>
              <a:rPr b="1" sz="2550" i="0" u="none">
                <a:solidFill>
                  <a:srgbClr val="002E4F"/>
                </a:solidFill>
                <a:latin typeface="Merriweather"/>
              </a:rPr>
              <a:t>Model → Hypothesis Space → Inductive Bias</a:t>
            </a:r>
          </a:p>
        </p:txBody>
      </p:sp>
      <p:sp>
        <p:nvSpPr>
          <p:cNvPr id="14" name="TextBox 13"/>
          <p:cNvSpPr txBox="1"/>
          <p:nvPr/>
        </p:nvSpPr>
        <p:spPr>
          <a:xfrm>
            <a:off x="609600" y="1143892"/>
            <a:ext cx="10972800" cy="200025"/>
          </a:xfrm>
          <a:prstGeom prst="rect">
            <a:avLst/>
          </a:prstGeom>
          <a:noFill/>
        </p:spPr>
        <p:txBody>
          <a:bodyPr wrap="square" lIns="0" rIns="0" tIns="0" bIns="0" anchor="t">
            <a:spAutoFit/>
          </a:bodyPr>
          <a:lstStyle/>
          <a:p>
            <a:pPr algn="l"/>
            <a:r>
              <a:rPr b="0" sz="1200" i="0" u="none">
                <a:solidFill>
                  <a:srgbClr val="475569"/>
                </a:solidFill>
                <a:latin typeface="DM Sans"/>
              </a:rPr>
              <a:t>Connecting model selection with essential Unit-I concepts from Alpaydin</a:t>
            </a:r>
          </a:p>
        </p:txBody>
      </p:sp>
      <p:pic>
        <p:nvPicPr>
          <p:cNvPr id="15" name="Picture 14" descr="image.png"/>
          <p:cNvPicPr>
            <a:picLocks noChangeAspect="1"/>
          </p:cNvPicPr>
          <p:nvPr/>
        </p:nvPicPr>
        <p:blipFill>
          <a:blip r:embed="rId12"/>
          <a:stretch>
            <a:fillRect/>
          </a:stretch>
        </p:blipFill>
        <p:spPr>
          <a:xfrm>
            <a:off x="809625" y="5919787"/>
            <a:ext cx="180975" cy="142875"/>
          </a:xfrm>
          <a:prstGeom prst="rect">
            <a:avLst/>
          </a:prstGeom>
        </p:spPr>
      </p:pic>
      <p:sp>
        <p:nvSpPr>
          <p:cNvPr id="16" name="TextBox 15"/>
          <p:cNvSpPr txBox="1"/>
          <p:nvPr/>
        </p:nvSpPr>
        <p:spPr>
          <a:xfrm>
            <a:off x="1104900" y="5891212"/>
            <a:ext cx="10315575" cy="500062"/>
          </a:xfrm>
          <a:prstGeom prst="rect">
            <a:avLst/>
          </a:prstGeom>
          <a:noFill/>
        </p:spPr>
        <p:txBody>
          <a:bodyPr wrap="square" lIns="0" rIns="0" tIns="0" bIns="0" anchor="t">
            <a:spAutoFit/>
          </a:bodyPr>
          <a:lstStyle/>
          <a:p>
            <a:pPr algn="l">
              <a:lnSpc>
                <a:spcPts val="1312"/>
              </a:lnSpc>
            </a:pPr>
            <a:r>
              <a:rPr b="1" sz="937" i="0" u="none">
                <a:solidFill>
                  <a:srgbClr val="00335A"/>
                </a:solidFill>
                <a:latin typeface="DM Sans"/>
              </a:rPr>
              <a:t>Teacher Talk:</a:t>
            </a:r>
            <a:r>
              <a:rPr b="0" sz="937" i="0" u="none">
                <a:solidFill>
                  <a:srgbClr val="1E3A5F"/>
                </a:solidFill>
                <a:latin typeface="DM Sans"/>
              </a:rPr>
              <a:t> “Students, remember Unit-I where we defined Hypothesis Space? When we choose Linear Regression, our hypothesis space contains only straight lines. The algorithm cannot output a curve! That assumption is called 'Inductive Bias'. A simple line has high bias and will not overfit easily, whereas a highly complex neural network can draw complicated shapes but risks memorizing noise. Now, once a model is chosen, how do we judge if it is making mistakes? That brings us to Dimension 2: Loss Function.”</a:t>
            </a:r>
          </a:p>
        </p:txBody>
      </p:sp>
      <p:sp>
        <p:nvSpPr>
          <p:cNvPr id="17" name="TextBox 16"/>
          <p:cNvSpPr txBox="1"/>
          <p:nvPr/>
        </p:nvSpPr>
        <p:spPr>
          <a:xfrm>
            <a:off x="809625" y="2801242"/>
            <a:ext cx="3260407" cy="226218"/>
          </a:xfrm>
          <a:prstGeom prst="rect">
            <a:avLst/>
          </a:prstGeom>
          <a:noFill/>
        </p:spPr>
        <p:txBody>
          <a:bodyPr wrap="square" lIns="0" rIns="0" tIns="0" bIns="0" anchor="t">
            <a:spAutoFit/>
          </a:bodyPr>
          <a:lstStyle/>
          <a:p>
            <a:pPr algn="l">
              <a:lnSpc>
                <a:spcPts val="1781"/>
              </a:lnSpc>
            </a:pPr>
            <a:r>
              <a:rPr b="1" sz="1425" i="0" u="none">
                <a:solidFill>
                  <a:srgbClr val="0F172A"/>
                </a:solidFill>
                <a:latin typeface="Merriweather"/>
              </a:rPr>
              <a:t>Hypothesis Space (H)</a:t>
            </a:r>
          </a:p>
        </p:txBody>
      </p:sp>
      <p:sp>
        <p:nvSpPr>
          <p:cNvPr id="18" name="TextBox 17"/>
          <p:cNvSpPr txBox="1"/>
          <p:nvPr/>
        </p:nvSpPr>
        <p:spPr>
          <a:xfrm>
            <a:off x="809625" y="3103661"/>
            <a:ext cx="3105150" cy="600521"/>
          </a:xfrm>
          <a:prstGeom prst="rect">
            <a:avLst/>
          </a:prstGeom>
          <a:noFill/>
        </p:spPr>
        <p:txBody>
          <a:bodyPr wrap="square" lIns="0" rIns="0" tIns="0" bIns="0" anchor="t">
            <a:spAutoFit/>
          </a:bodyPr>
          <a:lstStyle/>
          <a:p>
            <a:pPr algn="l">
              <a:lnSpc>
                <a:spcPts val="1576"/>
              </a:lnSpc>
            </a:pPr>
            <a:r>
              <a:rPr b="0" sz="1087" i="0" u="none">
                <a:solidFill>
                  <a:srgbClr val="475569"/>
                </a:solidFill>
                <a:latin typeface="DM Sans"/>
              </a:rPr>
              <a:t>The complete set of all possible functions or candidate models that the algorithm can explore.</a:t>
            </a:r>
          </a:p>
        </p:txBody>
      </p:sp>
      <p:sp>
        <p:nvSpPr>
          <p:cNvPr id="19" name="TextBox 18"/>
          <p:cNvSpPr txBox="1"/>
          <p:nvPr/>
        </p:nvSpPr>
        <p:spPr>
          <a:xfrm>
            <a:off x="4543425" y="2801242"/>
            <a:ext cx="3260407" cy="226218"/>
          </a:xfrm>
          <a:prstGeom prst="rect">
            <a:avLst/>
          </a:prstGeom>
          <a:noFill/>
        </p:spPr>
        <p:txBody>
          <a:bodyPr wrap="square" lIns="0" rIns="0" tIns="0" bIns="0" anchor="t">
            <a:spAutoFit/>
          </a:bodyPr>
          <a:lstStyle/>
          <a:p>
            <a:pPr algn="l">
              <a:lnSpc>
                <a:spcPts val="1781"/>
              </a:lnSpc>
            </a:pPr>
            <a:r>
              <a:rPr b="1" sz="1425" i="0" u="none">
                <a:solidFill>
                  <a:srgbClr val="0F172A"/>
                </a:solidFill>
                <a:latin typeface="Merriweather"/>
              </a:rPr>
              <a:t>Inductive Bias</a:t>
            </a:r>
          </a:p>
        </p:txBody>
      </p:sp>
      <p:sp>
        <p:nvSpPr>
          <p:cNvPr id="20" name="TextBox 19"/>
          <p:cNvSpPr txBox="1"/>
          <p:nvPr/>
        </p:nvSpPr>
        <p:spPr>
          <a:xfrm>
            <a:off x="4543425" y="3103661"/>
            <a:ext cx="3105150" cy="600521"/>
          </a:xfrm>
          <a:prstGeom prst="rect">
            <a:avLst/>
          </a:prstGeom>
          <a:noFill/>
        </p:spPr>
        <p:txBody>
          <a:bodyPr wrap="square" lIns="0" rIns="0" tIns="0" bIns="0" anchor="t">
            <a:spAutoFit/>
          </a:bodyPr>
          <a:lstStyle/>
          <a:p>
            <a:pPr algn="l">
              <a:lnSpc>
                <a:spcPts val="1576"/>
              </a:lnSpc>
            </a:pPr>
            <a:r>
              <a:rPr b="0" sz="1087" i="0" u="none">
                <a:solidFill>
                  <a:srgbClr val="475569"/>
                </a:solidFill>
                <a:latin typeface="DM Sans"/>
              </a:rPr>
              <a:t>The set of assumptions and preferences the algorithm uses to pick one hypothesis over others to generalize to unseen test data.</a:t>
            </a:r>
          </a:p>
        </p:txBody>
      </p:sp>
      <p:sp>
        <p:nvSpPr>
          <p:cNvPr id="21" name="TextBox 20"/>
          <p:cNvSpPr txBox="1"/>
          <p:nvPr/>
        </p:nvSpPr>
        <p:spPr>
          <a:xfrm>
            <a:off x="8277225" y="2801242"/>
            <a:ext cx="3260407" cy="226218"/>
          </a:xfrm>
          <a:prstGeom prst="rect">
            <a:avLst/>
          </a:prstGeom>
          <a:noFill/>
        </p:spPr>
        <p:txBody>
          <a:bodyPr wrap="square" lIns="0" rIns="0" tIns="0" bIns="0" anchor="t">
            <a:spAutoFit/>
          </a:bodyPr>
          <a:lstStyle/>
          <a:p>
            <a:pPr algn="l">
              <a:lnSpc>
                <a:spcPts val="1781"/>
              </a:lnSpc>
            </a:pPr>
            <a:r>
              <a:rPr b="1" sz="1425" i="0" u="none">
                <a:solidFill>
                  <a:srgbClr val="0F172A"/>
                </a:solidFill>
                <a:latin typeface="Merriweather"/>
              </a:rPr>
              <a:t>Model Complexity</a:t>
            </a:r>
          </a:p>
        </p:txBody>
      </p:sp>
      <p:sp>
        <p:nvSpPr>
          <p:cNvPr id="22" name="TextBox 21"/>
          <p:cNvSpPr txBox="1"/>
          <p:nvPr/>
        </p:nvSpPr>
        <p:spPr>
          <a:xfrm>
            <a:off x="8277225" y="3103661"/>
            <a:ext cx="3105150" cy="400347"/>
          </a:xfrm>
          <a:prstGeom prst="rect">
            <a:avLst/>
          </a:prstGeom>
          <a:noFill/>
        </p:spPr>
        <p:txBody>
          <a:bodyPr wrap="square" lIns="0" rIns="0" tIns="0" bIns="0" anchor="t">
            <a:spAutoFit/>
          </a:bodyPr>
          <a:lstStyle/>
          <a:p>
            <a:pPr algn="l">
              <a:lnSpc>
                <a:spcPts val="1576"/>
              </a:lnSpc>
            </a:pPr>
            <a:r>
              <a:rPr b="0" sz="1087" i="0" u="none">
                <a:solidFill>
                  <a:srgbClr val="475569"/>
                </a:solidFill>
                <a:latin typeface="DM Sans"/>
              </a:rPr>
              <a:t>The delicate balance between simplicity and flexibility when choosing a hypothesis space.</a:t>
            </a:r>
          </a:p>
        </p:txBody>
      </p:sp>
      <p:pic>
        <p:nvPicPr>
          <p:cNvPr id="23" name="Picture 22" descr="image.png"/>
          <p:cNvPicPr>
            <a:picLocks noChangeAspect="1"/>
          </p:cNvPicPr>
          <p:nvPr/>
        </p:nvPicPr>
        <p:blipFill>
          <a:blip r:embed="rId13"/>
          <a:stretch>
            <a:fillRect/>
          </a:stretch>
        </p:blipFill>
        <p:spPr>
          <a:xfrm>
            <a:off x="809625" y="2020192"/>
            <a:ext cx="304800" cy="266700"/>
          </a:xfrm>
          <a:prstGeom prst="rect">
            <a:avLst/>
          </a:prstGeom>
        </p:spPr>
      </p:pic>
      <p:pic>
        <p:nvPicPr>
          <p:cNvPr id="24" name="Picture 23" descr="image.png"/>
          <p:cNvPicPr>
            <a:picLocks noChangeAspect="1"/>
          </p:cNvPicPr>
          <p:nvPr/>
        </p:nvPicPr>
        <p:blipFill>
          <a:blip r:embed="rId14"/>
          <a:stretch>
            <a:fillRect/>
          </a:stretch>
        </p:blipFill>
        <p:spPr>
          <a:xfrm>
            <a:off x="4543425" y="2020192"/>
            <a:ext cx="266700" cy="266700"/>
          </a:xfrm>
          <a:prstGeom prst="rect">
            <a:avLst/>
          </a:prstGeom>
        </p:spPr>
      </p:pic>
      <p:pic>
        <p:nvPicPr>
          <p:cNvPr id="25" name="Picture 24" descr="image.png"/>
          <p:cNvPicPr>
            <a:picLocks noChangeAspect="1"/>
          </p:cNvPicPr>
          <p:nvPr/>
        </p:nvPicPr>
        <p:blipFill>
          <a:blip r:embed="rId15"/>
          <a:stretch>
            <a:fillRect/>
          </a:stretch>
        </p:blipFill>
        <p:spPr>
          <a:xfrm>
            <a:off x="8277225" y="2020192"/>
            <a:ext cx="333375" cy="2667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09600" y="1705867"/>
            <a:ext cx="5334000" cy="3374231"/>
          </a:xfrm>
          <a:prstGeom prst="rect">
            <a:avLst/>
          </a:prstGeom>
        </p:spPr>
      </p:pic>
      <p:pic>
        <p:nvPicPr>
          <p:cNvPr id="4" name="Picture 3" descr="image.png"/>
          <p:cNvPicPr>
            <a:picLocks noChangeAspect="1"/>
          </p:cNvPicPr>
          <p:nvPr/>
        </p:nvPicPr>
        <p:blipFill>
          <a:blip r:embed="rId4"/>
          <a:stretch>
            <a:fillRect/>
          </a:stretch>
        </p:blipFill>
        <p:spPr>
          <a:xfrm>
            <a:off x="6248400" y="1705867"/>
            <a:ext cx="5334000" cy="3374231"/>
          </a:xfrm>
          <a:prstGeom prst="rect">
            <a:avLst/>
          </a:prstGeom>
        </p:spPr>
      </p:pic>
      <p:pic>
        <p:nvPicPr>
          <p:cNvPr id="5" name="Picture 4" descr="image.png"/>
          <p:cNvPicPr>
            <a:picLocks noChangeAspect="1"/>
          </p:cNvPicPr>
          <p:nvPr/>
        </p:nvPicPr>
        <p:blipFill>
          <a:blip r:embed="rId5"/>
          <a:stretch>
            <a:fillRect/>
          </a:stretch>
        </p:blipFill>
        <p:spPr>
          <a:xfrm>
            <a:off x="847725" y="4054673"/>
            <a:ext cx="4857750" cy="806350"/>
          </a:xfrm>
          <a:prstGeom prst="rect">
            <a:avLst/>
          </a:prstGeom>
        </p:spPr>
      </p:pic>
      <p:pic>
        <p:nvPicPr>
          <p:cNvPr id="6" name="Picture 5" descr="image.png"/>
          <p:cNvPicPr>
            <a:picLocks noChangeAspect="1"/>
          </p:cNvPicPr>
          <p:nvPr/>
        </p:nvPicPr>
        <p:blipFill>
          <a:blip r:embed="rId6"/>
          <a:stretch>
            <a:fillRect/>
          </a:stretch>
        </p:blipFill>
        <p:spPr>
          <a:xfrm>
            <a:off x="6486525" y="2248792"/>
            <a:ext cx="4857750" cy="845641"/>
          </a:xfrm>
          <a:prstGeom prst="rect">
            <a:avLst/>
          </a:prstGeom>
        </p:spPr>
      </p:pic>
      <p:pic>
        <p:nvPicPr>
          <p:cNvPr id="7" name="Picture 6" descr="image.png"/>
          <p:cNvPicPr>
            <a:picLocks noChangeAspect="1"/>
          </p:cNvPicPr>
          <p:nvPr/>
        </p:nvPicPr>
        <p:blipFill>
          <a:blip r:embed="rId7"/>
          <a:stretch>
            <a:fillRect/>
          </a:stretch>
        </p:blipFill>
        <p:spPr>
          <a:xfrm>
            <a:off x="6486525" y="3208734"/>
            <a:ext cx="4857750" cy="1205507"/>
          </a:xfrm>
          <a:prstGeom prst="rect">
            <a:avLst/>
          </a:prstGeom>
        </p:spPr>
      </p:pic>
      <p:pic>
        <p:nvPicPr>
          <p:cNvPr id="8" name="Picture 7" descr="image.png"/>
          <p:cNvPicPr>
            <a:picLocks noChangeAspect="1"/>
          </p:cNvPicPr>
          <p:nvPr/>
        </p:nvPicPr>
        <p:blipFill>
          <a:blip r:embed="rId8"/>
          <a:stretch>
            <a:fillRect/>
          </a:stretch>
        </p:blipFill>
        <p:spPr>
          <a:xfrm>
            <a:off x="847725" y="2730698"/>
            <a:ext cx="4857750" cy="1323975"/>
          </a:xfrm>
          <a:prstGeom prst="rect">
            <a:avLst/>
          </a:prstGeom>
        </p:spPr>
      </p:pic>
      <p:pic>
        <p:nvPicPr>
          <p:cNvPr id="9" name="Picture 8" descr="image.png"/>
          <p:cNvPicPr>
            <a:picLocks noChangeAspect="1"/>
          </p:cNvPicPr>
          <p:nvPr/>
        </p:nvPicPr>
        <p:blipFill>
          <a:blip r:embed="rId9"/>
          <a:stretch>
            <a:fillRect/>
          </a:stretch>
        </p:blipFill>
        <p:spPr>
          <a:xfrm>
            <a:off x="990600" y="3568898"/>
            <a:ext cx="4572000" cy="342900"/>
          </a:xfrm>
          <a:prstGeom prst="rect">
            <a:avLst/>
          </a:prstGeom>
        </p:spPr>
      </p:pic>
      <p:pic>
        <p:nvPicPr>
          <p:cNvPr id="10" name="Picture 9" descr="image.png"/>
          <p:cNvPicPr>
            <a:picLocks noChangeAspect="1"/>
          </p:cNvPicPr>
          <p:nvPr/>
        </p:nvPicPr>
        <p:blipFill>
          <a:blip r:embed="rId10"/>
          <a:stretch>
            <a:fillRect/>
          </a:stretch>
        </p:blipFill>
        <p:spPr>
          <a:xfrm>
            <a:off x="1255662" y="2873573"/>
            <a:ext cx="1295400" cy="314325"/>
          </a:xfrm>
          <a:prstGeom prst="rect">
            <a:avLst/>
          </a:prstGeom>
        </p:spPr>
      </p:pic>
      <p:pic>
        <p:nvPicPr>
          <p:cNvPr id="11" name="Picture 10" descr="image.png"/>
          <p:cNvPicPr>
            <a:picLocks noChangeAspect="1"/>
          </p:cNvPicPr>
          <p:nvPr/>
        </p:nvPicPr>
        <p:blipFill>
          <a:blip r:embed="rId11"/>
          <a:stretch>
            <a:fillRect/>
          </a:stretch>
        </p:blipFill>
        <p:spPr>
          <a:xfrm>
            <a:off x="3849439" y="2873573"/>
            <a:ext cx="1447800" cy="314325"/>
          </a:xfrm>
          <a:prstGeom prst="rect">
            <a:avLst/>
          </a:prstGeom>
        </p:spPr>
      </p:pic>
      <p:sp>
        <p:nvSpPr>
          <p:cNvPr id="12" name="TextBox 11"/>
          <p:cNvSpPr txBox="1"/>
          <p:nvPr/>
        </p:nvSpPr>
        <p:spPr>
          <a:xfrm>
            <a:off x="609600" y="533400"/>
            <a:ext cx="10972800" cy="161925"/>
          </a:xfrm>
          <a:prstGeom prst="rect">
            <a:avLst/>
          </a:prstGeom>
          <a:noFill/>
        </p:spPr>
        <p:txBody>
          <a:bodyPr wrap="square" lIns="0" rIns="0" tIns="0" bIns="0" anchor="ctr">
            <a:spAutoFit/>
          </a:bodyPr>
          <a:lstStyle/>
          <a:p>
            <a:pPr algn="l"/>
            <a:r>
              <a:rPr b="1" sz="975" i="0" u="none">
                <a:solidFill>
                  <a:srgbClr val="005088"/>
                </a:solidFill>
                <a:latin typeface="DM Sans"/>
              </a:rPr>
              <a:t>DIMENSION 2 OF 3 • EVALUATION METRIC</a:t>
            </a:r>
            <a:r>
              <a:rPr b="1" sz="975" i="0" u="none">
                <a:solidFill>
                  <a:srgbClr val="005088"/>
                </a:solidFill>
                <a:latin typeface="DM Sans"/>
              </a:rPr>
              <a:t> </a:t>
            </a:r>
            <a:r>
              <a:rPr b="1" sz="975" i="0" u="none">
                <a:solidFill>
                  <a:srgbClr val="005088"/>
                </a:solidFill>
                <a:latin typeface="DM Sans"/>
              </a:rPr>
              <a:t>SLIDE 5 OF 8</a:t>
            </a:r>
          </a:p>
        </p:txBody>
      </p:sp>
      <p:sp>
        <p:nvSpPr>
          <p:cNvPr id="13" name="TextBox 12"/>
          <p:cNvSpPr txBox="1"/>
          <p:nvPr/>
        </p:nvSpPr>
        <p:spPr>
          <a:xfrm>
            <a:off x="609600" y="733425"/>
            <a:ext cx="11521440" cy="372367"/>
          </a:xfrm>
          <a:prstGeom prst="rect">
            <a:avLst/>
          </a:prstGeom>
          <a:noFill/>
        </p:spPr>
        <p:txBody>
          <a:bodyPr wrap="square" lIns="0" rIns="0" tIns="0" bIns="0" anchor="t">
            <a:spAutoFit/>
          </a:bodyPr>
          <a:lstStyle/>
          <a:p>
            <a:pPr algn="l">
              <a:lnSpc>
                <a:spcPts val="2932"/>
              </a:lnSpc>
            </a:pPr>
            <a:r>
              <a:rPr b="1" sz="2550" i="0" u="none">
                <a:solidFill>
                  <a:srgbClr val="002E4F"/>
                </a:solidFill>
                <a:latin typeface="Merriweather"/>
              </a:rPr>
              <a:t>Dimension 2 — Loss Function</a:t>
            </a:r>
          </a:p>
        </p:txBody>
      </p:sp>
      <p:sp>
        <p:nvSpPr>
          <p:cNvPr id="14" name="TextBox 13"/>
          <p:cNvSpPr txBox="1"/>
          <p:nvPr/>
        </p:nvSpPr>
        <p:spPr>
          <a:xfrm>
            <a:off x="609600" y="1143892"/>
            <a:ext cx="10972800" cy="200025"/>
          </a:xfrm>
          <a:prstGeom prst="rect">
            <a:avLst/>
          </a:prstGeom>
          <a:noFill/>
        </p:spPr>
        <p:txBody>
          <a:bodyPr wrap="square" lIns="0" rIns="0" tIns="0" bIns="0" anchor="t">
            <a:spAutoFit/>
          </a:bodyPr>
          <a:lstStyle/>
          <a:p>
            <a:pPr algn="l"/>
            <a:r>
              <a:rPr b="0" sz="1200" i="0" u="none">
                <a:solidFill>
                  <a:srgbClr val="475569"/>
                </a:solidFill>
                <a:latin typeface="DM Sans"/>
              </a:rPr>
              <a:t>“How do we mathematically measure mistakes and quantify prediction error?”</a:t>
            </a:r>
          </a:p>
        </p:txBody>
      </p:sp>
      <p:pic>
        <p:nvPicPr>
          <p:cNvPr id="15" name="Picture 14" descr="image.png"/>
          <p:cNvPicPr>
            <a:picLocks noChangeAspect="1"/>
          </p:cNvPicPr>
          <p:nvPr/>
        </p:nvPicPr>
        <p:blipFill>
          <a:blip r:embed="rId12"/>
          <a:stretch>
            <a:fillRect/>
          </a:stretch>
        </p:blipFill>
        <p:spPr>
          <a:xfrm>
            <a:off x="809625" y="5919787"/>
            <a:ext cx="180975" cy="142875"/>
          </a:xfrm>
          <a:prstGeom prst="rect">
            <a:avLst/>
          </a:prstGeom>
        </p:spPr>
      </p:pic>
      <p:sp>
        <p:nvSpPr>
          <p:cNvPr id="16" name="TextBox 15"/>
          <p:cNvSpPr txBox="1"/>
          <p:nvPr/>
        </p:nvSpPr>
        <p:spPr>
          <a:xfrm>
            <a:off x="1104900" y="5891212"/>
            <a:ext cx="10315575" cy="500062"/>
          </a:xfrm>
          <a:prstGeom prst="rect">
            <a:avLst/>
          </a:prstGeom>
          <a:noFill/>
        </p:spPr>
        <p:txBody>
          <a:bodyPr wrap="square" lIns="0" rIns="0" tIns="0" bIns="0" anchor="t">
            <a:spAutoFit/>
          </a:bodyPr>
          <a:lstStyle/>
          <a:p>
            <a:pPr algn="l">
              <a:lnSpc>
                <a:spcPts val="1312"/>
              </a:lnSpc>
            </a:pPr>
            <a:r>
              <a:rPr b="1" sz="937" i="0" u="none">
                <a:solidFill>
                  <a:srgbClr val="00335A"/>
                </a:solidFill>
                <a:latin typeface="DM Sans"/>
              </a:rPr>
              <a:t>Teacher Talk:</a:t>
            </a:r>
            <a:r>
              <a:rPr b="0" sz="937" i="0" u="none">
                <a:solidFill>
                  <a:srgbClr val="1E3A5F"/>
                </a:solidFill>
                <a:latin typeface="DM Sans"/>
              </a:rPr>
              <a:t> “The model makes a guess, but the computer has no human intuition. It cannot say 'that feels right'. We must give it a mathematical ruler: the Loss Function. If a student actually scored 80 and the model predicted 70, the error is 10. For regression, we often square it, giving a loss of 100. Now, how does the algorithm use this error to improve itself? That is our 3rd Dimension: Optimization!”</a:t>
            </a:r>
          </a:p>
        </p:txBody>
      </p:sp>
      <p:sp>
        <p:nvSpPr>
          <p:cNvPr id="17" name="TextBox 16"/>
          <p:cNvSpPr txBox="1"/>
          <p:nvPr/>
        </p:nvSpPr>
        <p:spPr>
          <a:xfrm>
            <a:off x="6486525" y="1924942"/>
            <a:ext cx="5100637" cy="209550"/>
          </a:xfrm>
          <a:prstGeom prst="rect">
            <a:avLst/>
          </a:prstGeom>
          <a:noFill/>
        </p:spPr>
        <p:txBody>
          <a:bodyPr wrap="square" lIns="161925" rIns="0" tIns="0" bIns="0" anchor="t">
            <a:spAutoFit/>
          </a:bodyPr>
          <a:lstStyle/>
          <a:p>
            <a:pPr algn="l"/>
            <a:r>
              <a:rPr b="1" sz="1275" i="0" u="none">
                <a:solidFill>
                  <a:srgbClr val="005088"/>
                </a:solidFill>
                <a:latin typeface="DM Sans"/>
              </a:rPr>
              <a:t>How Loss Works in Practice</a:t>
            </a:r>
          </a:p>
        </p:txBody>
      </p:sp>
      <p:sp>
        <p:nvSpPr>
          <p:cNvPr id="18" name="TextBox 17"/>
          <p:cNvSpPr txBox="1"/>
          <p:nvPr/>
        </p:nvSpPr>
        <p:spPr>
          <a:xfrm>
            <a:off x="6486525" y="4509492"/>
            <a:ext cx="4857750" cy="304800"/>
          </a:xfrm>
          <a:prstGeom prst="rect">
            <a:avLst/>
          </a:prstGeom>
          <a:noFill/>
        </p:spPr>
        <p:txBody>
          <a:bodyPr wrap="square" lIns="0" rIns="0" tIns="0" bIns="0" anchor="t">
            <a:spAutoFit/>
          </a:bodyPr>
          <a:lstStyle/>
          <a:p>
            <a:pPr algn="l"/>
            <a:r>
              <a:rPr b="0" sz="937" i="1" u="none">
                <a:solidFill>
                  <a:srgbClr val="64748B"/>
                </a:solidFill>
                <a:latin typeface="DM Sans"/>
              </a:rPr>
              <a:t>*Different problems utilize different loss functions (e.g., 0/1 loss, Mean Squared Error, Cross-Entropy).</a:t>
            </a:r>
          </a:p>
        </p:txBody>
      </p:sp>
      <p:sp>
        <p:nvSpPr>
          <p:cNvPr id="19" name="TextBox 18"/>
          <p:cNvSpPr txBox="1"/>
          <p:nvPr/>
        </p:nvSpPr>
        <p:spPr>
          <a:xfrm>
            <a:off x="847725" y="1924942"/>
            <a:ext cx="5100637" cy="209550"/>
          </a:xfrm>
          <a:prstGeom prst="rect">
            <a:avLst/>
          </a:prstGeom>
          <a:noFill/>
        </p:spPr>
        <p:txBody>
          <a:bodyPr wrap="square" lIns="161925" rIns="0" tIns="0" bIns="0" anchor="t">
            <a:spAutoFit/>
          </a:bodyPr>
          <a:lstStyle/>
          <a:p>
            <a:pPr algn="l"/>
            <a:r>
              <a:rPr b="1" sz="1275" i="0" u="none">
                <a:solidFill>
                  <a:srgbClr val="005088"/>
                </a:solidFill>
                <a:latin typeface="DM Sans"/>
              </a:rPr>
              <a:t>Defining Error Quantitatively</a:t>
            </a:r>
          </a:p>
        </p:txBody>
      </p:sp>
      <p:sp>
        <p:nvSpPr>
          <p:cNvPr id="20" name="TextBox 19"/>
          <p:cNvSpPr txBox="1"/>
          <p:nvPr/>
        </p:nvSpPr>
        <p:spPr>
          <a:xfrm>
            <a:off x="847725" y="2210692"/>
            <a:ext cx="4857750" cy="386655"/>
          </a:xfrm>
          <a:prstGeom prst="rect">
            <a:avLst/>
          </a:prstGeom>
          <a:noFill/>
        </p:spPr>
        <p:txBody>
          <a:bodyPr wrap="square" lIns="0" rIns="0" tIns="0" bIns="0" anchor="t">
            <a:spAutoFit/>
          </a:bodyPr>
          <a:lstStyle/>
          <a:p>
            <a:pPr algn="l">
              <a:lnSpc>
                <a:spcPts val="1522"/>
              </a:lnSpc>
            </a:pPr>
            <a:r>
              <a:rPr b="0" sz="1050" i="0" u="none">
                <a:solidFill>
                  <a:srgbClr val="475569"/>
                </a:solidFill>
                <a:latin typeface="DM Sans"/>
              </a:rPr>
              <a:t>A </a:t>
            </a:r>
            <a:r>
              <a:rPr b="1" sz="1050" i="0" u="none">
                <a:solidFill>
                  <a:srgbClr val="475569"/>
                </a:solidFill>
                <a:latin typeface="DM Sans"/>
              </a:rPr>
              <a:t>loss function</a:t>
            </a:r>
            <a:r>
              <a:rPr b="0" sz="1050" i="0" u="none">
                <a:solidFill>
                  <a:srgbClr val="475569"/>
                </a:solidFill>
                <a:latin typeface="DM Sans"/>
              </a:rPr>
              <a:t> (or error function) calculates the penalty for an incorrect prediction on a single training example or across the entire dataset.</a:t>
            </a:r>
          </a:p>
        </p:txBody>
      </p:sp>
      <p:sp>
        <p:nvSpPr>
          <p:cNvPr id="21" name="TextBox 20"/>
          <p:cNvSpPr txBox="1"/>
          <p:nvPr/>
        </p:nvSpPr>
        <p:spPr>
          <a:xfrm>
            <a:off x="1076325" y="4248298"/>
            <a:ext cx="1559569" cy="419100"/>
          </a:xfrm>
          <a:prstGeom prst="rect">
            <a:avLst/>
          </a:prstGeom>
          <a:noFill/>
        </p:spPr>
        <p:txBody>
          <a:bodyPr wrap="square" lIns="0" rIns="0" tIns="0" bIns="0" anchor="t">
            <a:spAutoFit/>
          </a:bodyPr>
          <a:lstStyle/>
          <a:p>
            <a:pPr algn="l"/>
            <a:r>
              <a:rPr b="0" sz="1275" i="0" u="none">
                <a:solidFill>
                  <a:srgbClr val="DC2626"/>
                </a:solidFill>
                <a:latin typeface="Fira Code SemiBold"/>
              </a:rPr>
              <a:t>Loss = (Actual − Predicted)²</a:t>
            </a:r>
          </a:p>
        </p:txBody>
      </p:sp>
      <p:sp>
        <p:nvSpPr>
          <p:cNvPr id="22" name="TextBox 21"/>
          <p:cNvSpPr txBox="1"/>
          <p:nvPr/>
        </p:nvSpPr>
        <p:spPr>
          <a:xfrm>
            <a:off x="2826394" y="4197548"/>
            <a:ext cx="2679055" cy="520600"/>
          </a:xfrm>
          <a:prstGeom prst="rect">
            <a:avLst/>
          </a:prstGeom>
          <a:noFill/>
        </p:spPr>
        <p:txBody>
          <a:bodyPr wrap="square" lIns="0" rIns="0" tIns="0" bIns="0" anchor="t">
            <a:spAutoFit/>
          </a:bodyPr>
          <a:lstStyle/>
          <a:p>
            <a:pPr algn="l">
              <a:lnSpc>
                <a:spcPts val="1366"/>
              </a:lnSpc>
            </a:pPr>
            <a:r>
              <a:rPr b="1" sz="1012" i="0" u="none">
                <a:solidFill>
                  <a:srgbClr val="475569"/>
                </a:solidFill>
                <a:latin typeface="DM Sans"/>
              </a:rPr>
              <a:t>Squared Error Loss (Regression)</a:t>
            </a:r>
            <a:r>
              <a:t>
</a:t>
            </a:r>
            <a:r>
              <a:rPr b="0" sz="1012" i="0" u="none">
                <a:solidFill>
                  <a:srgbClr val="475569"/>
                </a:solidFill>
                <a:latin typeface="DM Sans"/>
              </a:rPr>
              <a:t> Squaring penalizes large mistakes heavily and keeps all error values positive.</a:t>
            </a:r>
          </a:p>
        </p:txBody>
      </p:sp>
      <p:pic>
        <p:nvPicPr>
          <p:cNvPr id="23" name="Picture 22" descr="image.png"/>
          <p:cNvPicPr>
            <a:picLocks noChangeAspect="1"/>
          </p:cNvPicPr>
          <p:nvPr/>
        </p:nvPicPr>
        <p:blipFill>
          <a:blip r:embed="rId13"/>
          <a:stretch>
            <a:fillRect/>
          </a:stretch>
        </p:blipFill>
        <p:spPr>
          <a:xfrm>
            <a:off x="6486525" y="1943992"/>
            <a:ext cx="161925" cy="161925"/>
          </a:xfrm>
          <a:prstGeom prst="rect">
            <a:avLst/>
          </a:prstGeom>
        </p:spPr>
      </p:pic>
      <p:sp>
        <p:nvSpPr>
          <p:cNvPr id="24" name="TextBox 23"/>
          <p:cNvSpPr txBox="1"/>
          <p:nvPr/>
        </p:nvSpPr>
        <p:spPr>
          <a:xfrm>
            <a:off x="6610350" y="2410717"/>
            <a:ext cx="1381125" cy="152400"/>
          </a:xfrm>
          <a:prstGeom prst="rect">
            <a:avLst/>
          </a:prstGeom>
          <a:noFill/>
        </p:spPr>
        <p:txBody>
          <a:bodyPr wrap="square" lIns="0" rIns="0" tIns="0" bIns="0" anchor="t">
            <a:spAutoFit/>
          </a:bodyPr>
          <a:lstStyle/>
          <a:p>
            <a:pPr algn="l"/>
            <a:r>
              <a:rPr b="1" sz="937" i="0" u="none">
                <a:solidFill>
                  <a:srgbClr val="0D9488"/>
                </a:solidFill>
                <a:latin typeface="DM Sans"/>
              </a:rPr>
              <a:t>1. CLASSIFICATION TASK</a:t>
            </a:r>
          </a:p>
        </p:txBody>
      </p:sp>
      <p:sp>
        <p:nvSpPr>
          <p:cNvPr id="25" name="TextBox 24"/>
          <p:cNvSpPr txBox="1"/>
          <p:nvPr/>
        </p:nvSpPr>
        <p:spPr>
          <a:xfrm>
            <a:off x="6610350" y="2610742"/>
            <a:ext cx="4610100" cy="359866"/>
          </a:xfrm>
          <a:prstGeom prst="rect">
            <a:avLst/>
          </a:prstGeom>
          <a:noFill/>
        </p:spPr>
        <p:txBody>
          <a:bodyPr wrap="square" lIns="0" rIns="0" tIns="0" bIns="0" anchor="t">
            <a:spAutoFit/>
          </a:bodyPr>
          <a:lstStyle/>
          <a:p>
            <a:pPr algn="l">
              <a:lnSpc>
                <a:spcPts val="1417"/>
              </a:lnSpc>
            </a:pPr>
            <a:r>
              <a:rPr b="0" sz="1012" i="0" u="none">
                <a:solidFill>
                  <a:srgbClr val="334155"/>
                </a:solidFill>
                <a:latin typeface="DM Sans"/>
              </a:rPr>
              <a:t>• </a:t>
            </a:r>
            <a:r>
              <a:rPr b="1" sz="1012" i="0" u="none">
                <a:solidFill>
                  <a:srgbClr val="334155"/>
                </a:solidFill>
                <a:latin typeface="DM Sans"/>
              </a:rPr>
              <a:t>Actual:</a:t>
            </a:r>
            <a:r>
              <a:rPr b="0" sz="1012" i="0" u="none">
                <a:solidFill>
                  <a:srgbClr val="334155"/>
                </a:solidFill>
                <a:latin typeface="DM Sans"/>
              </a:rPr>
              <a:t> Cat | </a:t>
            </a:r>
            <a:r>
              <a:rPr b="1" sz="1012" i="0" u="none">
                <a:solidFill>
                  <a:srgbClr val="334155"/>
                </a:solidFill>
                <a:latin typeface="DM Sans"/>
              </a:rPr>
              <a:t>Predicted:</a:t>
            </a:r>
            <a:r>
              <a:rPr b="0" sz="1012" i="0" u="none">
                <a:solidFill>
                  <a:srgbClr val="334155"/>
                </a:solidFill>
                <a:latin typeface="DM Sans"/>
              </a:rPr>
              <a:t> Cat → </a:t>
            </a:r>
            <a:r>
              <a:rPr b="0" sz="1012" i="0" u="none">
                <a:solidFill>
                  <a:srgbClr val="16A34A"/>
                </a:solidFill>
                <a:latin typeface="DM Sans SemiBold"/>
              </a:rPr>
              <a:t>Correct (Loss = 0)</a:t>
            </a:r>
            <a:r>
              <a:t>
</a:t>
            </a:r>
            <a:r>
              <a:rPr b="0" sz="1012" i="0" u="none">
                <a:solidFill>
                  <a:srgbClr val="334155"/>
                </a:solidFill>
                <a:latin typeface="DM Sans"/>
              </a:rPr>
              <a:t> • </a:t>
            </a:r>
            <a:r>
              <a:rPr b="1" sz="1012" i="0" u="none">
                <a:solidFill>
                  <a:srgbClr val="334155"/>
                </a:solidFill>
                <a:latin typeface="DM Sans"/>
              </a:rPr>
              <a:t>Actual:</a:t>
            </a:r>
            <a:r>
              <a:rPr b="0" sz="1012" i="0" u="none">
                <a:solidFill>
                  <a:srgbClr val="334155"/>
                </a:solidFill>
                <a:latin typeface="DM Sans"/>
              </a:rPr>
              <a:t> Cat | </a:t>
            </a:r>
            <a:r>
              <a:rPr b="1" sz="1012" i="0" u="none">
                <a:solidFill>
                  <a:srgbClr val="334155"/>
                </a:solidFill>
                <a:latin typeface="DM Sans"/>
              </a:rPr>
              <a:t>Predicted:</a:t>
            </a:r>
            <a:r>
              <a:rPr b="0" sz="1012" i="0" u="none">
                <a:solidFill>
                  <a:srgbClr val="334155"/>
                </a:solidFill>
                <a:latin typeface="DM Sans"/>
              </a:rPr>
              <a:t> Dog → </a:t>
            </a:r>
            <a:r>
              <a:rPr b="0" sz="1012" i="0" u="none">
                <a:solidFill>
                  <a:srgbClr val="DC2626"/>
                </a:solidFill>
                <a:latin typeface="DM Sans SemiBold"/>
              </a:rPr>
              <a:t>Mistake (High Penalty Loss)</a:t>
            </a:r>
          </a:p>
        </p:txBody>
      </p:sp>
      <p:sp>
        <p:nvSpPr>
          <p:cNvPr id="26" name="TextBox 25"/>
          <p:cNvSpPr txBox="1"/>
          <p:nvPr/>
        </p:nvSpPr>
        <p:spPr>
          <a:xfrm>
            <a:off x="6610350" y="3370659"/>
            <a:ext cx="1828800" cy="152400"/>
          </a:xfrm>
          <a:prstGeom prst="rect">
            <a:avLst/>
          </a:prstGeom>
          <a:noFill/>
        </p:spPr>
        <p:txBody>
          <a:bodyPr wrap="square" lIns="0" rIns="0" tIns="0" bIns="0" anchor="t">
            <a:spAutoFit/>
          </a:bodyPr>
          <a:lstStyle/>
          <a:p>
            <a:pPr algn="l"/>
            <a:r>
              <a:rPr b="1" sz="937" i="0" u="none">
                <a:solidFill>
                  <a:srgbClr val="005088"/>
                </a:solidFill>
                <a:latin typeface="DM Sans"/>
              </a:rPr>
              <a:t>2. NUMERICAL MARKS EXAMPLE</a:t>
            </a:r>
          </a:p>
        </p:txBody>
      </p:sp>
      <p:sp>
        <p:nvSpPr>
          <p:cNvPr id="27" name="TextBox 26"/>
          <p:cNvSpPr txBox="1"/>
          <p:nvPr/>
        </p:nvSpPr>
        <p:spPr>
          <a:xfrm>
            <a:off x="6610350" y="3570684"/>
            <a:ext cx="4610100" cy="719732"/>
          </a:xfrm>
          <a:prstGeom prst="rect">
            <a:avLst/>
          </a:prstGeom>
          <a:noFill/>
        </p:spPr>
        <p:txBody>
          <a:bodyPr wrap="square" lIns="0" rIns="0" tIns="0" bIns="0" anchor="t">
            <a:spAutoFit/>
          </a:bodyPr>
          <a:lstStyle/>
          <a:p>
            <a:pPr algn="l">
              <a:lnSpc>
                <a:spcPts val="1417"/>
              </a:lnSpc>
            </a:pPr>
            <a:r>
              <a:rPr b="0" sz="1012" i="0" u="none">
                <a:solidFill>
                  <a:srgbClr val="334155"/>
                </a:solidFill>
                <a:latin typeface="DM Sans"/>
              </a:rPr>
              <a:t>• </a:t>
            </a:r>
            <a:r>
              <a:rPr b="1" sz="1012" i="0" u="none">
                <a:solidFill>
                  <a:srgbClr val="334155"/>
                </a:solidFill>
                <a:latin typeface="DM Sans"/>
              </a:rPr>
              <a:t>Actual Student Marks:</a:t>
            </a:r>
            <a:r>
              <a:rPr b="0" sz="1012" i="0" u="none">
                <a:solidFill>
                  <a:srgbClr val="334155"/>
                </a:solidFill>
                <a:latin typeface="DM Sans"/>
              </a:rPr>
              <a:t> 80</a:t>
            </a:r>
            <a:r>
              <a:t>
</a:t>
            </a:r>
            <a:r>
              <a:rPr b="0" sz="1012" i="0" u="none">
                <a:solidFill>
                  <a:srgbClr val="334155"/>
                </a:solidFill>
                <a:latin typeface="DM Sans"/>
              </a:rPr>
              <a:t> • </a:t>
            </a:r>
            <a:r>
              <a:rPr b="1" sz="1012" i="0" u="none">
                <a:solidFill>
                  <a:srgbClr val="334155"/>
                </a:solidFill>
                <a:latin typeface="DM Sans"/>
              </a:rPr>
              <a:t>Model Prediction:</a:t>
            </a:r>
            <a:r>
              <a:rPr b="0" sz="1012" i="0" u="none">
                <a:solidFill>
                  <a:srgbClr val="334155"/>
                </a:solidFill>
                <a:latin typeface="DM Sans"/>
              </a:rPr>
              <a:t> 70</a:t>
            </a:r>
            <a:r>
              <a:t>
</a:t>
            </a:r>
            <a:r>
              <a:rPr b="0" sz="1012" i="0" u="none">
                <a:solidFill>
                  <a:srgbClr val="334155"/>
                </a:solidFill>
                <a:latin typeface="DM Sans"/>
              </a:rPr>
              <a:t> • </a:t>
            </a:r>
            <a:r>
              <a:rPr b="1" sz="1012" i="0" u="none">
                <a:solidFill>
                  <a:srgbClr val="334155"/>
                </a:solidFill>
                <a:latin typeface="DM Sans"/>
              </a:rPr>
              <a:t>Difference (Error):</a:t>
            </a:r>
            <a:r>
              <a:rPr b="0" sz="1012" i="0" u="none">
                <a:solidFill>
                  <a:srgbClr val="334155"/>
                </a:solidFill>
                <a:latin typeface="DM Sans"/>
              </a:rPr>
              <a:t> 10 marks</a:t>
            </a:r>
            <a:r>
              <a:t>
</a:t>
            </a:r>
            <a:r>
              <a:rPr b="0" sz="1012" i="0" u="none">
                <a:solidFill>
                  <a:srgbClr val="334155"/>
                </a:solidFill>
                <a:latin typeface="DM Sans"/>
              </a:rPr>
              <a:t> • </a:t>
            </a:r>
            <a:r>
              <a:rPr b="1" sz="1012" i="0" u="none">
                <a:solidFill>
                  <a:srgbClr val="334155"/>
                </a:solidFill>
                <a:latin typeface="DM Sans"/>
              </a:rPr>
              <a:t>Squared Loss:</a:t>
            </a:r>
            <a:r>
              <a:rPr b="0" sz="1012" i="0" u="none">
                <a:solidFill>
                  <a:srgbClr val="334155"/>
                </a:solidFill>
                <a:latin typeface="DM Sans"/>
              </a:rPr>
              <a:t> (80 − 70)² = 10² = </a:t>
            </a:r>
            <a:r>
              <a:rPr b="1" sz="1012" i="0" u="none">
                <a:solidFill>
                  <a:srgbClr val="334155"/>
                </a:solidFill>
                <a:latin typeface="DM Sans"/>
              </a:rPr>
              <a:t>100</a:t>
            </a:r>
          </a:p>
        </p:txBody>
      </p:sp>
      <p:pic>
        <p:nvPicPr>
          <p:cNvPr id="28" name="Picture 27" descr="image.png"/>
          <p:cNvPicPr>
            <a:picLocks noChangeAspect="1"/>
          </p:cNvPicPr>
          <p:nvPr/>
        </p:nvPicPr>
        <p:blipFill>
          <a:blip r:embed="rId14"/>
          <a:stretch>
            <a:fillRect/>
          </a:stretch>
        </p:blipFill>
        <p:spPr>
          <a:xfrm>
            <a:off x="847725" y="1943992"/>
            <a:ext cx="161925" cy="161925"/>
          </a:xfrm>
          <a:prstGeom prst="rect">
            <a:avLst/>
          </a:prstGeom>
        </p:spPr>
      </p:pic>
      <p:sp>
        <p:nvSpPr>
          <p:cNvPr id="29" name="TextBox 28"/>
          <p:cNvSpPr txBox="1"/>
          <p:nvPr/>
        </p:nvSpPr>
        <p:spPr>
          <a:xfrm>
            <a:off x="3081188" y="2906910"/>
            <a:ext cx="238125" cy="247650"/>
          </a:xfrm>
          <a:prstGeom prst="rect">
            <a:avLst/>
          </a:prstGeom>
          <a:noFill/>
        </p:spPr>
        <p:txBody>
          <a:bodyPr wrap="square" lIns="0" rIns="0" tIns="0" bIns="0" anchor="t">
            <a:spAutoFit/>
          </a:bodyPr>
          <a:lstStyle/>
          <a:p>
            <a:pPr algn="ctr"/>
            <a:r>
              <a:rPr b="1" sz="1500" i="0" u="none">
                <a:solidFill>
                  <a:srgbClr val="D97706"/>
                </a:solidFill>
                <a:latin typeface="DM Sans"/>
              </a:rPr>
              <a:t>VS</a:t>
            </a:r>
          </a:p>
        </p:txBody>
      </p:sp>
      <p:pic>
        <p:nvPicPr>
          <p:cNvPr id="30" name="Picture 29" descr="image.png"/>
          <p:cNvPicPr>
            <a:picLocks noChangeAspect="1"/>
          </p:cNvPicPr>
          <p:nvPr/>
        </p:nvPicPr>
        <p:blipFill>
          <a:blip r:embed="rId15"/>
          <a:stretch>
            <a:fillRect/>
          </a:stretch>
        </p:blipFill>
        <p:spPr>
          <a:xfrm>
            <a:off x="3209925" y="3311723"/>
            <a:ext cx="133350" cy="17145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09600" y="1705867"/>
            <a:ext cx="5334000" cy="2971800"/>
          </a:xfrm>
          <a:prstGeom prst="rect">
            <a:avLst/>
          </a:prstGeom>
        </p:spPr>
      </p:pic>
      <p:pic>
        <p:nvPicPr>
          <p:cNvPr id="4" name="Picture 3" descr="image.png"/>
          <p:cNvPicPr>
            <a:picLocks noChangeAspect="1"/>
          </p:cNvPicPr>
          <p:nvPr/>
        </p:nvPicPr>
        <p:blipFill>
          <a:blip r:embed="rId4"/>
          <a:stretch>
            <a:fillRect/>
          </a:stretch>
        </p:blipFill>
        <p:spPr>
          <a:xfrm>
            <a:off x="6248400" y="1705867"/>
            <a:ext cx="5334000" cy="2971800"/>
          </a:xfrm>
          <a:prstGeom prst="rect">
            <a:avLst/>
          </a:prstGeom>
        </p:spPr>
      </p:pic>
      <p:pic>
        <p:nvPicPr>
          <p:cNvPr id="5" name="Picture 4" descr="image.png"/>
          <p:cNvPicPr>
            <a:picLocks noChangeAspect="1"/>
          </p:cNvPicPr>
          <p:nvPr/>
        </p:nvPicPr>
        <p:blipFill>
          <a:blip r:embed="rId5"/>
          <a:stretch>
            <a:fillRect/>
          </a:stretch>
        </p:blipFill>
        <p:spPr>
          <a:xfrm>
            <a:off x="847725" y="3424535"/>
            <a:ext cx="4857750" cy="1034057"/>
          </a:xfrm>
          <a:prstGeom prst="rect">
            <a:avLst/>
          </a:prstGeom>
        </p:spPr>
      </p:pic>
      <p:pic>
        <p:nvPicPr>
          <p:cNvPr id="6" name="Picture 5" descr="image.png"/>
          <p:cNvPicPr>
            <a:picLocks noChangeAspect="1"/>
          </p:cNvPicPr>
          <p:nvPr/>
        </p:nvPicPr>
        <p:blipFill>
          <a:blip r:embed="rId6"/>
          <a:stretch>
            <a:fillRect/>
          </a:stretch>
        </p:blipFill>
        <p:spPr>
          <a:xfrm>
            <a:off x="6486525" y="2267842"/>
            <a:ext cx="4857750" cy="333375"/>
          </a:xfrm>
          <a:prstGeom prst="rect">
            <a:avLst/>
          </a:prstGeom>
        </p:spPr>
      </p:pic>
      <p:pic>
        <p:nvPicPr>
          <p:cNvPr id="7" name="Picture 6" descr="image.png"/>
          <p:cNvPicPr>
            <a:picLocks noChangeAspect="1"/>
          </p:cNvPicPr>
          <p:nvPr/>
        </p:nvPicPr>
        <p:blipFill>
          <a:blip r:embed="rId7"/>
          <a:stretch>
            <a:fillRect/>
          </a:stretch>
        </p:blipFill>
        <p:spPr>
          <a:xfrm>
            <a:off x="6486525" y="2867917"/>
            <a:ext cx="4857750" cy="333375"/>
          </a:xfrm>
          <a:prstGeom prst="rect">
            <a:avLst/>
          </a:prstGeom>
        </p:spPr>
      </p:pic>
      <p:pic>
        <p:nvPicPr>
          <p:cNvPr id="8" name="Picture 7" descr="image.png"/>
          <p:cNvPicPr>
            <a:picLocks noChangeAspect="1"/>
          </p:cNvPicPr>
          <p:nvPr/>
        </p:nvPicPr>
        <p:blipFill>
          <a:blip r:embed="rId8"/>
          <a:stretch>
            <a:fillRect/>
          </a:stretch>
        </p:blipFill>
        <p:spPr>
          <a:xfrm>
            <a:off x="6486525" y="3467992"/>
            <a:ext cx="4857750" cy="333375"/>
          </a:xfrm>
          <a:prstGeom prst="rect">
            <a:avLst/>
          </a:prstGeom>
        </p:spPr>
      </p:pic>
      <p:pic>
        <p:nvPicPr>
          <p:cNvPr id="9" name="Picture 8" descr="image.png"/>
          <p:cNvPicPr>
            <a:picLocks noChangeAspect="1"/>
          </p:cNvPicPr>
          <p:nvPr/>
        </p:nvPicPr>
        <p:blipFill>
          <a:blip r:embed="rId9"/>
          <a:stretch>
            <a:fillRect/>
          </a:stretch>
        </p:blipFill>
        <p:spPr>
          <a:xfrm>
            <a:off x="6486525" y="4106167"/>
            <a:ext cx="4857750" cy="352425"/>
          </a:xfrm>
          <a:prstGeom prst="rect">
            <a:avLst/>
          </a:prstGeom>
        </p:spPr>
      </p:pic>
      <p:sp>
        <p:nvSpPr>
          <p:cNvPr id="10" name="TextBox 9"/>
          <p:cNvSpPr txBox="1"/>
          <p:nvPr/>
        </p:nvSpPr>
        <p:spPr>
          <a:xfrm>
            <a:off x="609600" y="533400"/>
            <a:ext cx="10972800" cy="161925"/>
          </a:xfrm>
          <a:prstGeom prst="rect">
            <a:avLst/>
          </a:prstGeom>
          <a:noFill/>
        </p:spPr>
        <p:txBody>
          <a:bodyPr wrap="square" lIns="0" rIns="0" tIns="0" bIns="0" anchor="ctr">
            <a:spAutoFit/>
          </a:bodyPr>
          <a:lstStyle/>
          <a:p>
            <a:pPr algn="l"/>
            <a:r>
              <a:rPr b="1" sz="975" i="0" u="none">
                <a:solidFill>
                  <a:srgbClr val="005088"/>
                </a:solidFill>
                <a:latin typeface="DM Sans"/>
              </a:rPr>
              <a:t>DIMENSION 3 OF 3 • SEARCH ALGORITHM</a:t>
            </a:r>
            <a:r>
              <a:rPr b="1" sz="975" i="0" u="none">
                <a:solidFill>
                  <a:srgbClr val="005088"/>
                </a:solidFill>
                <a:latin typeface="DM Sans"/>
              </a:rPr>
              <a:t> </a:t>
            </a:r>
            <a:r>
              <a:rPr b="1" sz="975" i="0" u="none">
                <a:solidFill>
                  <a:srgbClr val="005088"/>
                </a:solidFill>
                <a:latin typeface="DM Sans"/>
              </a:rPr>
              <a:t>SLIDE 6 OF 8</a:t>
            </a:r>
          </a:p>
        </p:txBody>
      </p:sp>
      <p:sp>
        <p:nvSpPr>
          <p:cNvPr id="11" name="TextBox 10"/>
          <p:cNvSpPr txBox="1"/>
          <p:nvPr/>
        </p:nvSpPr>
        <p:spPr>
          <a:xfrm>
            <a:off x="609600" y="733425"/>
            <a:ext cx="11521440" cy="372367"/>
          </a:xfrm>
          <a:prstGeom prst="rect">
            <a:avLst/>
          </a:prstGeom>
          <a:noFill/>
        </p:spPr>
        <p:txBody>
          <a:bodyPr wrap="square" lIns="0" rIns="0" tIns="0" bIns="0" anchor="t">
            <a:spAutoFit/>
          </a:bodyPr>
          <a:lstStyle/>
          <a:p>
            <a:pPr algn="l">
              <a:lnSpc>
                <a:spcPts val="2932"/>
              </a:lnSpc>
            </a:pPr>
            <a:r>
              <a:rPr b="1" sz="2550" i="0" u="none">
                <a:solidFill>
                  <a:srgbClr val="002E4F"/>
                </a:solidFill>
                <a:latin typeface="Merriweather"/>
              </a:rPr>
              <a:t>Dimension 3 — Optimization Procedure</a:t>
            </a:r>
          </a:p>
        </p:txBody>
      </p:sp>
      <p:sp>
        <p:nvSpPr>
          <p:cNvPr id="12" name="TextBox 11"/>
          <p:cNvSpPr txBox="1"/>
          <p:nvPr/>
        </p:nvSpPr>
        <p:spPr>
          <a:xfrm>
            <a:off x="609600" y="1143892"/>
            <a:ext cx="10972800" cy="200025"/>
          </a:xfrm>
          <a:prstGeom prst="rect">
            <a:avLst/>
          </a:prstGeom>
          <a:noFill/>
        </p:spPr>
        <p:txBody>
          <a:bodyPr wrap="square" lIns="0" rIns="0" tIns="0" bIns="0" anchor="t">
            <a:spAutoFit/>
          </a:bodyPr>
          <a:lstStyle/>
          <a:p>
            <a:pPr algn="l"/>
            <a:r>
              <a:rPr b="0" sz="1200" i="0" u="none">
                <a:solidFill>
                  <a:srgbClr val="475569"/>
                </a:solidFill>
                <a:latin typeface="DM Sans"/>
              </a:rPr>
              <a:t>“How do we systematically search and find the best parameter values to minimize loss?”</a:t>
            </a:r>
          </a:p>
        </p:txBody>
      </p:sp>
      <p:pic>
        <p:nvPicPr>
          <p:cNvPr id="13" name="Picture 12" descr="image.png"/>
          <p:cNvPicPr>
            <a:picLocks noChangeAspect="1"/>
          </p:cNvPicPr>
          <p:nvPr/>
        </p:nvPicPr>
        <p:blipFill>
          <a:blip r:embed="rId10"/>
          <a:stretch>
            <a:fillRect/>
          </a:stretch>
        </p:blipFill>
        <p:spPr>
          <a:xfrm>
            <a:off x="809625" y="5919787"/>
            <a:ext cx="180975" cy="142875"/>
          </a:xfrm>
          <a:prstGeom prst="rect">
            <a:avLst/>
          </a:prstGeom>
        </p:spPr>
      </p:pic>
      <p:sp>
        <p:nvSpPr>
          <p:cNvPr id="14" name="TextBox 13"/>
          <p:cNvSpPr txBox="1"/>
          <p:nvPr/>
        </p:nvSpPr>
        <p:spPr>
          <a:xfrm>
            <a:off x="1104900" y="5891212"/>
            <a:ext cx="10315575" cy="500062"/>
          </a:xfrm>
          <a:prstGeom prst="rect">
            <a:avLst/>
          </a:prstGeom>
          <a:noFill/>
        </p:spPr>
        <p:txBody>
          <a:bodyPr wrap="square" lIns="0" rIns="0" tIns="0" bIns="0" anchor="t">
            <a:spAutoFit/>
          </a:bodyPr>
          <a:lstStyle/>
          <a:p>
            <a:pPr algn="l">
              <a:lnSpc>
                <a:spcPts val="1312"/>
              </a:lnSpc>
            </a:pPr>
            <a:r>
              <a:rPr b="1" sz="937" i="0" u="none">
                <a:solidFill>
                  <a:srgbClr val="00335A"/>
                </a:solidFill>
                <a:latin typeface="DM Sans"/>
              </a:rPr>
              <a:t>Teacher Talk:</a:t>
            </a:r>
            <a:r>
              <a:rPr b="0" sz="937" i="0" u="none">
                <a:solidFill>
                  <a:srgbClr val="1E3A5F"/>
                </a:solidFill>
                <a:latin typeface="DM Sans"/>
              </a:rPr>
              <a:t> “Choosing a model is not enough; it has unknown parameters like 'w' and 'b'. Think of adjusting the focus ring on a DSLR camera: if the picture is blurry, you turn the knob slightly until the picture is crisp. In machine learning, optimization is the mathematical focus ring! It tweaks the weights step-by-step until the loss stops decreasing. Now let us synthesize all three dimensions together on one complete example.”</a:t>
            </a:r>
          </a:p>
        </p:txBody>
      </p:sp>
      <p:sp>
        <p:nvSpPr>
          <p:cNvPr id="15" name="TextBox 14"/>
          <p:cNvSpPr txBox="1"/>
          <p:nvPr/>
        </p:nvSpPr>
        <p:spPr>
          <a:xfrm>
            <a:off x="6486525" y="1924942"/>
            <a:ext cx="5100637" cy="209550"/>
          </a:xfrm>
          <a:prstGeom prst="rect">
            <a:avLst/>
          </a:prstGeom>
          <a:noFill/>
        </p:spPr>
        <p:txBody>
          <a:bodyPr wrap="square" lIns="161925" rIns="0" tIns="0" bIns="0" anchor="t">
            <a:spAutoFit/>
          </a:bodyPr>
          <a:lstStyle/>
          <a:p>
            <a:pPr algn="l"/>
            <a:r>
              <a:rPr b="1" sz="1275" i="0" u="none">
                <a:solidFill>
                  <a:srgbClr val="005088"/>
                </a:solidFill>
                <a:latin typeface="DM Sans"/>
              </a:rPr>
              <a:t>The Optimization Loop</a:t>
            </a:r>
          </a:p>
        </p:txBody>
      </p:sp>
      <p:sp>
        <p:nvSpPr>
          <p:cNvPr id="16" name="TextBox 15"/>
          <p:cNvSpPr txBox="1"/>
          <p:nvPr/>
        </p:nvSpPr>
        <p:spPr>
          <a:xfrm>
            <a:off x="847725" y="1924942"/>
            <a:ext cx="5100637" cy="209550"/>
          </a:xfrm>
          <a:prstGeom prst="rect">
            <a:avLst/>
          </a:prstGeom>
          <a:noFill/>
        </p:spPr>
        <p:txBody>
          <a:bodyPr wrap="square" lIns="161925" rIns="0" tIns="0" bIns="0" anchor="t">
            <a:spAutoFit/>
          </a:bodyPr>
          <a:lstStyle/>
          <a:p>
            <a:pPr algn="l"/>
            <a:r>
              <a:rPr b="1" sz="1275" i="0" u="none">
                <a:solidFill>
                  <a:srgbClr val="005088"/>
                </a:solidFill>
                <a:latin typeface="DM Sans"/>
              </a:rPr>
              <a:t>Searching in Parameter Space</a:t>
            </a:r>
          </a:p>
        </p:txBody>
      </p:sp>
      <p:sp>
        <p:nvSpPr>
          <p:cNvPr id="17" name="TextBox 16"/>
          <p:cNvSpPr txBox="1"/>
          <p:nvPr/>
        </p:nvSpPr>
        <p:spPr>
          <a:xfrm>
            <a:off x="847725" y="2210692"/>
            <a:ext cx="4857750" cy="396180"/>
          </a:xfrm>
          <a:prstGeom prst="rect">
            <a:avLst/>
          </a:prstGeom>
          <a:noFill/>
        </p:spPr>
        <p:txBody>
          <a:bodyPr wrap="square" lIns="0" rIns="0" tIns="0" bIns="0" anchor="t">
            <a:spAutoFit/>
          </a:bodyPr>
          <a:lstStyle/>
          <a:p>
            <a:pPr algn="l">
              <a:lnSpc>
                <a:spcPts val="1522"/>
              </a:lnSpc>
            </a:pPr>
            <a:r>
              <a:rPr b="0" sz="1050" i="0" u="none">
                <a:solidFill>
                  <a:srgbClr val="475569"/>
                </a:solidFill>
                <a:latin typeface="DM Sans"/>
              </a:rPr>
              <a:t>In our model </a:t>
            </a:r>
            <a:r>
              <a:rPr b="0" sz="1050" i="0" u="none">
                <a:solidFill>
                  <a:srgbClr val="005088"/>
                </a:solidFill>
                <a:latin typeface="DM Sans"/>
              </a:rPr>
              <a:t>y = w·x + b</a:t>
            </a:r>
            <a:r>
              <a:rPr b="0" sz="1050" i="0" u="none">
                <a:solidFill>
                  <a:srgbClr val="475569"/>
                </a:solidFill>
                <a:latin typeface="DM Sans"/>
              </a:rPr>
              <a:t>, we do not know the ideal values of </a:t>
            </a:r>
            <a:r>
              <a:rPr b="1" sz="1050" i="0" u="none">
                <a:solidFill>
                  <a:srgbClr val="475569"/>
                </a:solidFill>
                <a:latin typeface="DM Sans"/>
              </a:rPr>
              <a:t>w</a:t>
            </a:r>
            <a:r>
              <a:rPr b="0" sz="1050" i="0" u="none">
                <a:solidFill>
                  <a:srgbClr val="475569"/>
                </a:solidFill>
                <a:latin typeface="DM Sans"/>
              </a:rPr>
              <a:t> and </a:t>
            </a:r>
            <a:r>
              <a:rPr b="1" sz="1050" i="0" u="none">
                <a:solidFill>
                  <a:srgbClr val="475569"/>
                </a:solidFill>
                <a:latin typeface="DM Sans"/>
              </a:rPr>
              <a:t>b</a:t>
            </a:r>
            <a:r>
              <a:rPr b="0" sz="1050" i="0" u="none">
                <a:solidFill>
                  <a:srgbClr val="475569"/>
                </a:solidFill>
                <a:latin typeface="DM Sans"/>
              </a:rPr>
              <a:t> initially.</a:t>
            </a:r>
          </a:p>
        </p:txBody>
      </p:sp>
      <p:sp>
        <p:nvSpPr>
          <p:cNvPr id="18" name="TextBox 17"/>
          <p:cNvSpPr txBox="1"/>
          <p:nvPr/>
        </p:nvSpPr>
        <p:spPr>
          <a:xfrm>
            <a:off x="847725" y="2721173"/>
            <a:ext cx="4857750" cy="386655"/>
          </a:xfrm>
          <a:prstGeom prst="rect">
            <a:avLst/>
          </a:prstGeom>
          <a:noFill/>
        </p:spPr>
        <p:txBody>
          <a:bodyPr wrap="square" lIns="0" rIns="0" tIns="0" bIns="0" anchor="t">
            <a:spAutoFit/>
          </a:bodyPr>
          <a:lstStyle/>
          <a:p>
            <a:pPr algn="l">
              <a:lnSpc>
                <a:spcPts val="1522"/>
              </a:lnSpc>
            </a:pPr>
            <a:r>
              <a:rPr b="1" sz="1050" i="0" u="none">
                <a:solidFill>
                  <a:srgbClr val="475569"/>
                </a:solidFill>
                <a:latin typeface="DM Sans"/>
              </a:rPr>
              <a:t>Optimization</a:t>
            </a:r>
            <a:r>
              <a:rPr b="0" sz="1050" i="0" u="none">
                <a:solidFill>
                  <a:srgbClr val="475569"/>
                </a:solidFill>
                <a:latin typeface="DM Sans"/>
              </a:rPr>
              <a:t> is the algorithmic routine that systematically updates parameters so that the total loss decreases to its smallest possible value.</a:t>
            </a:r>
          </a:p>
        </p:txBody>
      </p:sp>
      <p:sp>
        <p:nvSpPr>
          <p:cNvPr id="19" name="TextBox 18"/>
          <p:cNvSpPr txBox="1"/>
          <p:nvPr/>
        </p:nvSpPr>
        <p:spPr>
          <a:xfrm>
            <a:off x="1019175" y="3796010"/>
            <a:ext cx="4543425" cy="519707"/>
          </a:xfrm>
          <a:prstGeom prst="rect">
            <a:avLst/>
          </a:prstGeom>
          <a:noFill/>
        </p:spPr>
        <p:txBody>
          <a:bodyPr wrap="square" lIns="0" rIns="0" tIns="0" bIns="0" anchor="t">
            <a:spAutoFit/>
          </a:bodyPr>
          <a:lstStyle/>
          <a:p>
            <a:pPr algn="l">
              <a:lnSpc>
                <a:spcPts val="1364"/>
              </a:lnSpc>
            </a:pPr>
            <a:r>
              <a:rPr b="0" sz="975" i="0" u="none">
                <a:solidFill>
                  <a:srgbClr val="78350F"/>
                </a:solidFill>
                <a:latin typeface="DM Sans"/>
              </a:rPr>
              <a:t>“When a photo looks blurry, you rotate the focus ring slightly left or right until the image sharpens. Similarly, optimization adjusts parameters </a:t>
            </a:r>
            <a:r>
              <a:rPr b="0" sz="975" i="1" u="none">
                <a:solidFill>
                  <a:srgbClr val="78350F"/>
                </a:solidFill>
                <a:latin typeface="DM Sans"/>
              </a:rPr>
              <a:t>w</a:t>
            </a:r>
            <a:r>
              <a:rPr b="0" sz="975" i="0" u="none">
                <a:solidFill>
                  <a:srgbClr val="78350F"/>
                </a:solidFill>
                <a:latin typeface="DM Sans"/>
              </a:rPr>
              <a:t> and </a:t>
            </a:r>
            <a:r>
              <a:rPr b="0" sz="975" i="1" u="none">
                <a:solidFill>
                  <a:srgbClr val="78350F"/>
                </a:solidFill>
                <a:latin typeface="DM Sans"/>
              </a:rPr>
              <a:t>b</a:t>
            </a:r>
            <a:r>
              <a:rPr b="0" sz="975" i="0" u="none">
                <a:solidFill>
                  <a:srgbClr val="78350F"/>
                </a:solidFill>
                <a:latin typeface="DM Sans"/>
              </a:rPr>
              <a:t> step-by-step until the prediction error becomes minimal.”</a:t>
            </a:r>
          </a:p>
        </p:txBody>
      </p:sp>
      <p:pic>
        <p:nvPicPr>
          <p:cNvPr id="20" name="Picture 19" descr="image.png"/>
          <p:cNvPicPr>
            <a:picLocks noChangeAspect="1"/>
          </p:cNvPicPr>
          <p:nvPr/>
        </p:nvPicPr>
        <p:blipFill>
          <a:blip r:embed="rId11"/>
          <a:stretch>
            <a:fillRect/>
          </a:stretch>
        </p:blipFill>
        <p:spPr>
          <a:xfrm>
            <a:off x="6486525" y="1943992"/>
            <a:ext cx="161925" cy="161925"/>
          </a:xfrm>
          <a:prstGeom prst="rect">
            <a:avLst/>
          </a:prstGeom>
        </p:spPr>
      </p:pic>
      <p:sp>
        <p:nvSpPr>
          <p:cNvPr id="21" name="TextBox 20"/>
          <p:cNvSpPr txBox="1"/>
          <p:nvPr/>
        </p:nvSpPr>
        <p:spPr>
          <a:xfrm>
            <a:off x="6486525" y="3858517"/>
            <a:ext cx="4857750" cy="152400"/>
          </a:xfrm>
          <a:prstGeom prst="rect">
            <a:avLst/>
          </a:prstGeom>
          <a:noFill/>
        </p:spPr>
        <p:txBody>
          <a:bodyPr wrap="square" lIns="114300" rIns="0" tIns="0" bIns="0" anchor="t">
            <a:spAutoFit/>
          </a:bodyPr>
          <a:lstStyle/>
          <a:p>
            <a:pPr algn="ctr"/>
            <a:r>
              <a:rPr b="0" sz="900" i="0" u="none">
                <a:solidFill>
                  <a:srgbClr val="166534"/>
                </a:solidFill>
                <a:latin typeface="DM Sans"/>
              </a:rPr>
              <a:t>Repeat until converged</a:t>
            </a:r>
          </a:p>
        </p:txBody>
      </p:sp>
      <p:pic>
        <p:nvPicPr>
          <p:cNvPr id="22" name="Picture 21" descr="image.png"/>
          <p:cNvPicPr>
            <a:picLocks noChangeAspect="1"/>
          </p:cNvPicPr>
          <p:nvPr/>
        </p:nvPicPr>
        <p:blipFill>
          <a:blip r:embed="rId12"/>
          <a:stretch>
            <a:fillRect/>
          </a:stretch>
        </p:blipFill>
        <p:spPr>
          <a:xfrm>
            <a:off x="847725" y="1943992"/>
            <a:ext cx="161925" cy="161925"/>
          </a:xfrm>
          <a:prstGeom prst="rect">
            <a:avLst/>
          </a:prstGeom>
        </p:spPr>
      </p:pic>
      <p:pic>
        <p:nvPicPr>
          <p:cNvPr id="23" name="Picture 22" descr="image.png"/>
          <p:cNvPicPr>
            <a:picLocks noChangeAspect="1"/>
          </p:cNvPicPr>
          <p:nvPr/>
        </p:nvPicPr>
        <p:blipFill>
          <a:blip r:embed="rId13"/>
          <a:stretch>
            <a:fillRect/>
          </a:stretch>
        </p:blipFill>
        <p:spPr>
          <a:xfrm>
            <a:off x="1019175" y="3567410"/>
            <a:ext cx="171450" cy="171450"/>
          </a:xfrm>
          <a:prstGeom prst="rect">
            <a:avLst/>
          </a:prstGeom>
        </p:spPr>
      </p:pic>
      <p:sp>
        <p:nvSpPr>
          <p:cNvPr id="24" name="TextBox 23"/>
          <p:cNvSpPr txBox="1"/>
          <p:nvPr/>
        </p:nvSpPr>
        <p:spPr>
          <a:xfrm>
            <a:off x="6629400" y="2353567"/>
            <a:ext cx="1628775" cy="161925"/>
          </a:xfrm>
          <a:prstGeom prst="rect">
            <a:avLst/>
          </a:prstGeom>
          <a:noFill/>
        </p:spPr>
        <p:txBody>
          <a:bodyPr wrap="square" lIns="0" rIns="0" tIns="0" bIns="0" anchor="t">
            <a:spAutoFit/>
          </a:bodyPr>
          <a:lstStyle/>
          <a:p>
            <a:pPr algn="l"/>
            <a:r>
              <a:rPr b="1" sz="1012" i="0" u="none">
                <a:solidFill>
                  <a:srgbClr val="1E293B"/>
                </a:solidFill>
                <a:latin typeface="DM Sans"/>
              </a:rPr>
              <a:t>Step 1:</a:t>
            </a:r>
            <a:r>
              <a:rPr b="0" sz="1012" i="0" u="none">
                <a:solidFill>
                  <a:srgbClr val="1E293B"/>
                </a:solidFill>
                <a:latin typeface="DM Sans"/>
              </a:rPr>
              <a:t> Initialize Parameters</a:t>
            </a:r>
          </a:p>
        </p:txBody>
      </p:sp>
      <p:sp>
        <p:nvSpPr>
          <p:cNvPr id="25" name="TextBox 24"/>
          <p:cNvSpPr txBox="1"/>
          <p:nvPr/>
        </p:nvSpPr>
        <p:spPr>
          <a:xfrm>
            <a:off x="10477500" y="2353567"/>
            <a:ext cx="723900" cy="161925"/>
          </a:xfrm>
          <a:prstGeom prst="rect">
            <a:avLst/>
          </a:prstGeom>
          <a:noFill/>
        </p:spPr>
        <p:txBody>
          <a:bodyPr wrap="square" lIns="0" rIns="0" tIns="0" bIns="0" anchor="t">
            <a:spAutoFit/>
          </a:bodyPr>
          <a:lstStyle/>
          <a:p>
            <a:pPr algn="l"/>
            <a:r>
              <a:rPr b="0" sz="1012" i="0" u="none">
                <a:solidFill>
                  <a:srgbClr val="64748B"/>
                </a:solidFill>
                <a:latin typeface="DM Sans"/>
              </a:rPr>
              <a:t>(Guess w, b)</a:t>
            </a:r>
          </a:p>
        </p:txBody>
      </p:sp>
      <p:pic>
        <p:nvPicPr>
          <p:cNvPr id="26" name="Picture 25" descr="image.png"/>
          <p:cNvPicPr>
            <a:picLocks noChangeAspect="1"/>
          </p:cNvPicPr>
          <p:nvPr/>
        </p:nvPicPr>
        <p:blipFill>
          <a:blip r:embed="rId14"/>
          <a:stretch>
            <a:fillRect/>
          </a:stretch>
        </p:blipFill>
        <p:spPr>
          <a:xfrm>
            <a:off x="8872537" y="2677417"/>
            <a:ext cx="85725" cy="114300"/>
          </a:xfrm>
          <a:prstGeom prst="rect">
            <a:avLst/>
          </a:prstGeom>
        </p:spPr>
      </p:pic>
      <p:sp>
        <p:nvSpPr>
          <p:cNvPr id="27" name="TextBox 26"/>
          <p:cNvSpPr txBox="1"/>
          <p:nvPr/>
        </p:nvSpPr>
        <p:spPr>
          <a:xfrm>
            <a:off x="6629400" y="2953642"/>
            <a:ext cx="2190750" cy="161925"/>
          </a:xfrm>
          <a:prstGeom prst="rect">
            <a:avLst/>
          </a:prstGeom>
          <a:noFill/>
        </p:spPr>
        <p:txBody>
          <a:bodyPr wrap="square" lIns="0" rIns="0" tIns="0" bIns="0" anchor="t">
            <a:spAutoFit/>
          </a:bodyPr>
          <a:lstStyle/>
          <a:p>
            <a:pPr algn="l"/>
            <a:r>
              <a:rPr b="1" sz="1012" i="0" u="none">
                <a:solidFill>
                  <a:srgbClr val="1E293B"/>
                </a:solidFill>
                <a:latin typeface="DM Sans"/>
              </a:rPr>
              <a:t>Step 2:</a:t>
            </a:r>
            <a:r>
              <a:rPr b="0" sz="1012" i="0" u="none">
                <a:solidFill>
                  <a:srgbClr val="1E293B"/>
                </a:solidFill>
                <a:latin typeface="DM Sans"/>
              </a:rPr>
              <a:t> Compute Predictions &amp; Loss</a:t>
            </a:r>
          </a:p>
        </p:txBody>
      </p:sp>
      <p:sp>
        <p:nvSpPr>
          <p:cNvPr id="28" name="TextBox 27"/>
          <p:cNvSpPr txBox="1"/>
          <p:nvPr/>
        </p:nvSpPr>
        <p:spPr>
          <a:xfrm>
            <a:off x="9944100" y="2953642"/>
            <a:ext cx="1257300" cy="161925"/>
          </a:xfrm>
          <a:prstGeom prst="rect">
            <a:avLst/>
          </a:prstGeom>
          <a:noFill/>
        </p:spPr>
        <p:txBody>
          <a:bodyPr wrap="square" lIns="0" rIns="0" tIns="0" bIns="0" anchor="t">
            <a:spAutoFit/>
          </a:bodyPr>
          <a:lstStyle/>
          <a:p>
            <a:pPr algn="l"/>
            <a:r>
              <a:rPr b="0" sz="1012" i="0" u="none">
                <a:solidFill>
                  <a:srgbClr val="DC2626"/>
                </a:solidFill>
                <a:latin typeface="DM Sans"/>
              </a:rPr>
              <a:t>(How wrong are we?)</a:t>
            </a:r>
          </a:p>
        </p:txBody>
      </p:sp>
      <p:pic>
        <p:nvPicPr>
          <p:cNvPr id="29" name="Picture 28" descr="image.png"/>
          <p:cNvPicPr>
            <a:picLocks noChangeAspect="1"/>
          </p:cNvPicPr>
          <p:nvPr/>
        </p:nvPicPr>
        <p:blipFill>
          <a:blip r:embed="rId14"/>
          <a:stretch>
            <a:fillRect/>
          </a:stretch>
        </p:blipFill>
        <p:spPr>
          <a:xfrm>
            <a:off x="8872537" y="3277492"/>
            <a:ext cx="85725" cy="114300"/>
          </a:xfrm>
          <a:prstGeom prst="rect">
            <a:avLst/>
          </a:prstGeom>
        </p:spPr>
      </p:pic>
      <p:sp>
        <p:nvSpPr>
          <p:cNvPr id="30" name="TextBox 29"/>
          <p:cNvSpPr txBox="1"/>
          <p:nvPr/>
        </p:nvSpPr>
        <p:spPr>
          <a:xfrm>
            <a:off x="6629400" y="3553717"/>
            <a:ext cx="2543175" cy="161925"/>
          </a:xfrm>
          <a:prstGeom prst="rect">
            <a:avLst/>
          </a:prstGeom>
          <a:noFill/>
        </p:spPr>
        <p:txBody>
          <a:bodyPr wrap="square" lIns="0" rIns="0" tIns="0" bIns="0" anchor="t">
            <a:spAutoFit/>
          </a:bodyPr>
          <a:lstStyle/>
          <a:p>
            <a:pPr algn="l"/>
            <a:r>
              <a:rPr b="1" sz="1012" i="0" u="none">
                <a:solidFill>
                  <a:srgbClr val="166534"/>
                </a:solidFill>
                <a:latin typeface="DM Sans"/>
              </a:rPr>
              <a:t>Step 3:</a:t>
            </a:r>
            <a:r>
              <a:rPr b="0" sz="1012" i="0" u="none">
                <a:solidFill>
                  <a:srgbClr val="166534"/>
                </a:solidFill>
                <a:latin typeface="DM Sans"/>
              </a:rPr>
              <a:t> Adjust Parameters to Reduce Loss</a:t>
            </a:r>
          </a:p>
        </p:txBody>
      </p:sp>
      <p:sp>
        <p:nvSpPr>
          <p:cNvPr id="31" name="TextBox 30"/>
          <p:cNvSpPr txBox="1"/>
          <p:nvPr/>
        </p:nvSpPr>
        <p:spPr>
          <a:xfrm>
            <a:off x="9963150" y="3553717"/>
            <a:ext cx="1238250" cy="161925"/>
          </a:xfrm>
          <a:prstGeom prst="rect">
            <a:avLst/>
          </a:prstGeom>
          <a:noFill/>
        </p:spPr>
        <p:txBody>
          <a:bodyPr wrap="square" lIns="0" rIns="0" tIns="0" bIns="0" anchor="t">
            <a:spAutoFit/>
          </a:bodyPr>
          <a:lstStyle/>
          <a:p>
            <a:pPr algn="l"/>
            <a:r>
              <a:rPr b="1" sz="1012" i="0" u="none">
                <a:solidFill>
                  <a:srgbClr val="166534"/>
                </a:solidFill>
                <a:latin typeface="DM Sans"/>
              </a:rPr>
              <a:t>(Optimization Step)</a:t>
            </a:r>
          </a:p>
        </p:txBody>
      </p:sp>
      <p:pic>
        <p:nvPicPr>
          <p:cNvPr id="32" name="Picture 31" descr="image.png"/>
          <p:cNvPicPr>
            <a:picLocks noChangeAspect="1"/>
          </p:cNvPicPr>
          <p:nvPr/>
        </p:nvPicPr>
        <p:blipFill>
          <a:blip r:embed="rId15"/>
          <a:stretch>
            <a:fillRect/>
          </a:stretch>
        </p:blipFill>
        <p:spPr>
          <a:xfrm>
            <a:off x="8215312" y="3877567"/>
            <a:ext cx="114300" cy="114300"/>
          </a:xfrm>
          <a:prstGeom prst="rect">
            <a:avLst/>
          </a:prstGeom>
        </p:spPr>
      </p:pic>
      <p:pic>
        <p:nvPicPr>
          <p:cNvPr id="33" name="Picture 32" descr="image.png"/>
          <p:cNvPicPr>
            <a:picLocks noChangeAspect="1"/>
          </p:cNvPicPr>
          <p:nvPr/>
        </p:nvPicPr>
        <p:blipFill>
          <a:blip r:embed="rId16"/>
          <a:stretch>
            <a:fillRect/>
          </a:stretch>
        </p:blipFill>
        <p:spPr>
          <a:xfrm>
            <a:off x="7700962" y="4220467"/>
            <a:ext cx="95250" cy="12858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09600" y="3875186"/>
            <a:ext cx="10972800" cy="1104900"/>
          </a:xfrm>
          <a:prstGeom prst="rect">
            <a:avLst/>
          </a:prstGeom>
        </p:spPr>
      </p:pic>
      <p:pic>
        <p:nvPicPr>
          <p:cNvPr id="4" name="Picture 3" descr="image.png"/>
          <p:cNvPicPr>
            <a:picLocks noChangeAspect="1"/>
          </p:cNvPicPr>
          <p:nvPr/>
        </p:nvPicPr>
        <p:blipFill>
          <a:blip r:embed="rId4"/>
          <a:stretch>
            <a:fillRect/>
          </a:stretch>
        </p:blipFill>
        <p:spPr>
          <a:xfrm>
            <a:off x="609600" y="1705867"/>
            <a:ext cx="3505200" cy="1362967"/>
          </a:xfrm>
          <a:prstGeom prst="rect">
            <a:avLst/>
          </a:prstGeom>
        </p:spPr>
      </p:pic>
      <p:pic>
        <p:nvPicPr>
          <p:cNvPr id="5" name="Picture 4" descr="image.png"/>
          <p:cNvPicPr>
            <a:picLocks noChangeAspect="1"/>
          </p:cNvPicPr>
          <p:nvPr/>
        </p:nvPicPr>
        <p:blipFill>
          <a:blip r:embed="rId5"/>
          <a:stretch>
            <a:fillRect/>
          </a:stretch>
        </p:blipFill>
        <p:spPr>
          <a:xfrm>
            <a:off x="4343400" y="1705867"/>
            <a:ext cx="3505200" cy="1362967"/>
          </a:xfrm>
          <a:prstGeom prst="rect">
            <a:avLst/>
          </a:prstGeom>
        </p:spPr>
      </p:pic>
      <p:pic>
        <p:nvPicPr>
          <p:cNvPr id="6" name="Picture 5" descr="image.png"/>
          <p:cNvPicPr>
            <a:picLocks noChangeAspect="1"/>
          </p:cNvPicPr>
          <p:nvPr/>
        </p:nvPicPr>
        <p:blipFill>
          <a:blip r:embed="rId6"/>
          <a:stretch>
            <a:fillRect/>
          </a:stretch>
        </p:blipFill>
        <p:spPr>
          <a:xfrm>
            <a:off x="8077200" y="1705867"/>
            <a:ext cx="3505200" cy="1362967"/>
          </a:xfrm>
          <a:prstGeom prst="rect">
            <a:avLst/>
          </a:prstGeom>
        </p:spPr>
      </p:pic>
      <p:pic>
        <p:nvPicPr>
          <p:cNvPr id="7" name="Picture 6" descr="image.png"/>
          <p:cNvPicPr>
            <a:picLocks noChangeAspect="1"/>
          </p:cNvPicPr>
          <p:nvPr/>
        </p:nvPicPr>
        <p:blipFill>
          <a:blip r:embed="rId7"/>
          <a:stretch>
            <a:fillRect/>
          </a:stretch>
        </p:blipFill>
        <p:spPr>
          <a:xfrm>
            <a:off x="790575" y="4227611"/>
            <a:ext cx="10610850" cy="628650"/>
          </a:xfrm>
          <a:prstGeom prst="rect">
            <a:avLst/>
          </a:prstGeom>
        </p:spPr>
      </p:pic>
      <p:sp>
        <p:nvSpPr>
          <p:cNvPr id="8" name="TextBox 7"/>
          <p:cNvSpPr txBox="1"/>
          <p:nvPr/>
        </p:nvSpPr>
        <p:spPr>
          <a:xfrm>
            <a:off x="609600" y="533400"/>
            <a:ext cx="10972800" cy="161925"/>
          </a:xfrm>
          <a:prstGeom prst="rect">
            <a:avLst/>
          </a:prstGeom>
          <a:noFill/>
        </p:spPr>
        <p:txBody>
          <a:bodyPr wrap="square" lIns="0" rIns="0" tIns="0" bIns="0" anchor="ctr">
            <a:spAutoFit/>
          </a:bodyPr>
          <a:lstStyle/>
          <a:p>
            <a:pPr algn="l"/>
            <a:r>
              <a:rPr b="1" sz="975" i="0" u="none">
                <a:solidFill>
                  <a:srgbClr val="005088"/>
                </a:solidFill>
                <a:latin typeface="DM Sans"/>
              </a:rPr>
              <a:t>CORE CONCEPT • COMPLETE END-TO-END PIPELINE</a:t>
            </a:r>
            <a:r>
              <a:rPr b="1" sz="975" i="0" u="none">
                <a:solidFill>
                  <a:srgbClr val="005088"/>
                </a:solidFill>
                <a:latin typeface="DM Sans"/>
              </a:rPr>
              <a:t> </a:t>
            </a:r>
            <a:r>
              <a:rPr b="1" sz="975" i="0" u="none">
                <a:solidFill>
                  <a:srgbClr val="005088"/>
                </a:solidFill>
                <a:latin typeface="DM Sans"/>
              </a:rPr>
              <a:t>SLIDE 7 OF 8</a:t>
            </a:r>
          </a:p>
        </p:txBody>
      </p:sp>
      <p:sp>
        <p:nvSpPr>
          <p:cNvPr id="9" name="TextBox 8"/>
          <p:cNvSpPr txBox="1"/>
          <p:nvPr/>
        </p:nvSpPr>
        <p:spPr>
          <a:xfrm>
            <a:off x="609600" y="733425"/>
            <a:ext cx="11521440" cy="372367"/>
          </a:xfrm>
          <a:prstGeom prst="rect">
            <a:avLst/>
          </a:prstGeom>
          <a:noFill/>
        </p:spPr>
        <p:txBody>
          <a:bodyPr wrap="square" lIns="0" rIns="0" tIns="0" bIns="0" anchor="t">
            <a:spAutoFit/>
          </a:bodyPr>
          <a:lstStyle/>
          <a:p>
            <a:pPr algn="l">
              <a:lnSpc>
                <a:spcPts val="2932"/>
              </a:lnSpc>
            </a:pPr>
            <a:r>
              <a:rPr b="1" sz="2550" i="0" u="none">
                <a:solidFill>
                  <a:srgbClr val="002E4F"/>
                </a:solidFill>
                <a:latin typeface="Merriweather"/>
              </a:rPr>
              <a:t>The Three Dimensions Together</a:t>
            </a:r>
          </a:p>
        </p:txBody>
      </p:sp>
      <p:sp>
        <p:nvSpPr>
          <p:cNvPr id="10" name="TextBox 9"/>
          <p:cNvSpPr txBox="1"/>
          <p:nvPr/>
        </p:nvSpPr>
        <p:spPr>
          <a:xfrm>
            <a:off x="609600" y="1143892"/>
            <a:ext cx="10972800" cy="200025"/>
          </a:xfrm>
          <a:prstGeom prst="rect">
            <a:avLst/>
          </a:prstGeom>
          <a:noFill/>
        </p:spPr>
        <p:txBody>
          <a:bodyPr wrap="square" lIns="0" rIns="0" tIns="0" bIns="0" anchor="t">
            <a:spAutoFit/>
          </a:bodyPr>
          <a:lstStyle/>
          <a:p>
            <a:pPr algn="l"/>
            <a:r>
              <a:rPr b="0" sz="1200" i="0" u="none">
                <a:solidFill>
                  <a:srgbClr val="475569"/>
                </a:solidFill>
                <a:latin typeface="DM Sans"/>
              </a:rPr>
              <a:t>Example: Predicting House Price from House Size using all three design pillars</a:t>
            </a:r>
          </a:p>
        </p:txBody>
      </p:sp>
      <p:sp>
        <p:nvSpPr>
          <p:cNvPr id="11" name="TextBox 10"/>
          <p:cNvSpPr txBox="1"/>
          <p:nvPr/>
        </p:nvSpPr>
        <p:spPr>
          <a:xfrm>
            <a:off x="790575" y="3999011"/>
            <a:ext cx="10610850" cy="152400"/>
          </a:xfrm>
          <a:prstGeom prst="rect">
            <a:avLst/>
          </a:prstGeom>
          <a:noFill/>
        </p:spPr>
        <p:txBody>
          <a:bodyPr wrap="square" lIns="0" rIns="0" tIns="0" bIns="0" anchor="t">
            <a:spAutoFit/>
          </a:bodyPr>
          <a:lstStyle/>
          <a:p>
            <a:pPr algn="ctr"/>
            <a:r>
              <a:rPr b="1" sz="900" i="0" u="none">
                <a:solidFill>
                  <a:srgbClr val="475569"/>
                </a:solidFill>
                <a:latin typeface="DM Sans"/>
              </a:rPr>
              <a:t>THE UNIFIED SUPERVISED LEARNING MACHINE</a:t>
            </a:r>
          </a:p>
        </p:txBody>
      </p:sp>
      <p:pic>
        <p:nvPicPr>
          <p:cNvPr id="12" name="Picture 11" descr="image.png"/>
          <p:cNvPicPr>
            <a:picLocks noChangeAspect="1"/>
          </p:cNvPicPr>
          <p:nvPr/>
        </p:nvPicPr>
        <p:blipFill>
          <a:blip r:embed="rId8"/>
          <a:stretch>
            <a:fillRect/>
          </a:stretch>
        </p:blipFill>
        <p:spPr>
          <a:xfrm>
            <a:off x="809625" y="5919787"/>
            <a:ext cx="180975" cy="142875"/>
          </a:xfrm>
          <a:prstGeom prst="rect">
            <a:avLst/>
          </a:prstGeom>
        </p:spPr>
      </p:pic>
      <p:sp>
        <p:nvSpPr>
          <p:cNvPr id="13" name="TextBox 12"/>
          <p:cNvSpPr txBox="1"/>
          <p:nvPr/>
        </p:nvSpPr>
        <p:spPr>
          <a:xfrm>
            <a:off x="1104900" y="5891212"/>
            <a:ext cx="10315575" cy="500062"/>
          </a:xfrm>
          <a:prstGeom prst="rect">
            <a:avLst/>
          </a:prstGeom>
          <a:noFill/>
        </p:spPr>
        <p:txBody>
          <a:bodyPr wrap="square" lIns="0" rIns="0" tIns="0" bIns="0" anchor="t">
            <a:spAutoFit/>
          </a:bodyPr>
          <a:lstStyle/>
          <a:p>
            <a:pPr algn="l">
              <a:lnSpc>
                <a:spcPts val="1312"/>
              </a:lnSpc>
            </a:pPr>
            <a:r>
              <a:rPr b="1" sz="937" i="0" u="none">
                <a:solidFill>
                  <a:srgbClr val="00335A"/>
                </a:solidFill>
                <a:latin typeface="DM Sans"/>
              </a:rPr>
              <a:t>Teacher Talk:</a:t>
            </a:r>
            <a:r>
              <a:rPr b="0" sz="937" i="0" u="none">
                <a:solidFill>
                  <a:srgbClr val="1E3A5F"/>
                </a:solidFill>
                <a:latin typeface="DM Sans"/>
              </a:rPr>
              <a:t> “Students, this is the most critical slide of our lecture! If an interviewer asks you what supervised learning is, do not simply say 'giving data to a computer'. Look at the three pillars: (1) Choose a Model to define what solutions are possible; (2) Use a Loss Function to measure mistakes; (3) Run an Optimization routine to adjust weights until the error is minimal. Every single algorithm—from simple regression to ChatGPT—is built on these same three dimensions!”</a:t>
            </a:r>
          </a:p>
        </p:txBody>
      </p:sp>
      <p:sp>
        <p:nvSpPr>
          <p:cNvPr id="14" name="TextBox 13"/>
          <p:cNvSpPr txBox="1"/>
          <p:nvPr/>
        </p:nvSpPr>
        <p:spPr>
          <a:xfrm>
            <a:off x="771525" y="1905892"/>
            <a:ext cx="3181350" cy="152400"/>
          </a:xfrm>
          <a:prstGeom prst="rect">
            <a:avLst/>
          </a:prstGeom>
          <a:noFill/>
        </p:spPr>
        <p:txBody>
          <a:bodyPr wrap="square" lIns="0" rIns="0" tIns="0" bIns="0" anchor="ctr">
            <a:spAutoFit/>
          </a:bodyPr>
          <a:lstStyle/>
          <a:p>
            <a:pPr algn="l"/>
            <a:r>
              <a:rPr b="1" sz="1200" i="0" u="none">
                <a:solidFill>
                  <a:srgbClr val="005088"/>
                </a:solidFill>
                <a:latin typeface="DM Sans"/>
              </a:rPr>
              <a:t>Dimension 1</a:t>
            </a:r>
          </a:p>
        </p:txBody>
      </p:sp>
      <p:sp>
        <p:nvSpPr>
          <p:cNvPr id="15" name="TextBox 14"/>
          <p:cNvSpPr txBox="1"/>
          <p:nvPr/>
        </p:nvSpPr>
        <p:spPr>
          <a:xfrm>
            <a:off x="771525" y="2115442"/>
            <a:ext cx="3340417" cy="190500"/>
          </a:xfrm>
          <a:prstGeom prst="rect">
            <a:avLst/>
          </a:prstGeom>
          <a:noFill/>
        </p:spPr>
        <p:txBody>
          <a:bodyPr wrap="square" lIns="0" rIns="0" tIns="0" bIns="0" anchor="t">
            <a:spAutoFit/>
          </a:bodyPr>
          <a:lstStyle/>
          <a:p>
            <a:pPr algn="l">
              <a:lnSpc>
                <a:spcPts val="1500"/>
              </a:lnSpc>
            </a:pPr>
            <a:r>
              <a:rPr b="1" sz="1200" i="0" u="none">
                <a:solidFill>
                  <a:srgbClr val="0F172A"/>
                </a:solidFill>
                <a:latin typeface="Merriweather"/>
              </a:rPr>
              <a:t>MODEL</a:t>
            </a:r>
          </a:p>
        </p:txBody>
      </p:sp>
      <p:sp>
        <p:nvSpPr>
          <p:cNvPr id="16" name="TextBox 15"/>
          <p:cNvSpPr txBox="1"/>
          <p:nvPr/>
        </p:nvSpPr>
        <p:spPr>
          <a:xfrm>
            <a:off x="771525" y="2344042"/>
            <a:ext cx="3181350" cy="179486"/>
          </a:xfrm>
          <a:prstGeom prst="rect">
            <a:avLst/>
          </a:prstGeom>
          <a:noFill/>
        </p:spPr>
        <p:txBody>
          <a:bodyPr wrap="square" lIns="0" rIns="0" tIns="0" bIns="0" anchor="t">
            <a:spAutoFit/>
          </a:bodyPr>
          <a:lstStyle/>
          <a:p>
            <a:pPr algn="l">
              <a:lnSpc>
                <a:spcPts val="1413"/>
              </a:lnSpc>
            </a:pPr>
            <a:r>
              <a:rPr b="1" sz="975" i="0" u="none">
                <a:solidFill>
                  <a:srgbClr val="005088"/>
                </a:solidFill>
                <a:latin typeface="DM Sans"/>
              </a:rPr>
              <a:t>“What should I use?”</a:t>
            </a:r>
          </a:p>
        </p:txBody>
      </p:sp>
      <p:sp>
        <p:nvSpPr>
          <p:cNvPr id="17" name="TextBox 16"/>
          <p:cNvSpPr txBox="1"/>
          <p:nvPr/>
        </p:nvSpPr>
        <p:spPr>
          <a:xfrm>
            <a:off x="771525" y="2561629"/>
            <a:ext cx="3181350" cy="172640"/>
          </a:xfrm>
          <a:prstGeom prst="rect">
            <a:avLst/>
          </a:prstGeom>
          <a:noFill/>
        </p:spPr>
        <p:txBody>
          <a:bodyPr wrap="square" lIns="0" rIns="0" tIns="0" bIns="0" anchor="t">
            <a:spAutoFit/>
          </a:bodyPr>
          <a:lstStyle/>
          <a:p>
            <a:pPr algn="l">
              <a:lnSpc>
                <a:spcPts val="1359"/>
              </a:lnSpc>
            </a:pPr>
            <a:r>
              <a:rPr b="0" sz="937" i="0" u="none">
                <a:solidFill>
                  <a:srgbClr val="475569"/>
                </a:solidFill>
                <a:latin typeface="DM Sans"/>
              </a:rPr>
              <a:t>Linear function: </a:t>
            </a:r>
            <a:r>
              <a:rPr b="1" sz="937" i="0" u="none">
                <a:solidFill>
                  <a:srgbClr val="475569"/>
                </a:solidFill>
                <a:latin typeface="DM Sans"/>
              </a:rPr>
              <a:t>Price = w · Size + b</a:t>
            </a:r>
          </a:p>
        </p:txBody>
      </p:sp>
      <p:sp>
        <p:nvSpPr>
          <p:cNvPr id="18" name="TextBox 17"/>
          <p:cNvSpPr txBox="1"/>
          <p:nvPr/>
        </p:nvSpPr>
        <p:spPr>
          <a:xfrm>
            <a:off x="4505325" y="1905892"/>
            <a:ext cx="3181350" cy="152400"/>
          </a:xfrm>
          <a:prstGeom prst="rect">
            <a:avLst/>
          </a:prstGeom>
          <a:noFill/>
        </p:spPr>
        <p:txBody>
          <a:bodyPr wrap="square" lIns="0" rIns="0" tIns="0" bIns="0" anchor="ctr">
            <a:spAutoFit/>
          </a:bodyPr>
          <a:lstStyle/>
          <a:p>
            <a:pPr algn="l"/>
            <a:r>
              <a:rPr b="1" sz="1200" i="0" u="none">
                <a:solidFill>
                  <a:srgbClr val="0D9488"/>
                </a:solidFill>
                <a:latin typeface="DM Sans"/>
              </a:rPr>
              <a:t>Dimension 2</a:t>
            </a:r>
          </a:p>
        </p:txBody>
      </p:sp>
      <p:sp>
        <p:nvSpPr>
          <p:cNvPr id="19" name="TextBox 18"/>
          <p:cNvSpPr txBox="1"/>
          <p:nvPr/>
        </p:nvSpPr>
        <p:spPr>
          <a:xfrm>
            <a:off x="4505325" y="2115442"/>
            <a:ext cx="3340417" cy="190500"/>
          </a:xfrm>
          <a:prstGeom prst="rect">
            <a:avLst/>
          </a:prstGeom>
          <a:noFill/>
        </p:spPr>
        <p:txBody>
          <a:bodyPr wrap="square" lIns="0" rIns="0" tIns="0" bIns="0" anchor="t">
            <a:spAutoFit/>
          </a:bodyPr>
          <a:lstStyle/>
          <a:p>
            <a:pPr algn="l">
              <a:lnSpc>
                <a:spcPts val="1500"/>
              </a:lnSpc>
            </a:pPr>
            <a:r>
              <a:rPr b="1" sz="1200" i="0" u="none">
                <a:solidFill>
                  <a:srgbClr val="0F172A"/>
                </a:solidFill>
                <a:latin typeface="Merriweather"/>
              </a:rPr>
              <a:t>LOSS FUNCTION</a:t>
            </a:r>
          </a:p>
        </p:txBody>
      </p:sp>
      <p:sp>
        <p:nvSpPr>
          <p:cNvPr id="20" name="TextBox 19"/>
          <p:cNvSpPr txBox="1"/>
          <p:nvPr/>
        </p:nvSpPr>
        <p:spPr>
          <a:xfrm>
            <a:off x="4505325" y="2344042"/>
            <a:ext cx="3181350" cy="179486"/>
          </a:xfrm>
          <a:prstGeom prst="rect">
            <a:avLst/>
          </a:prstGeom>
          <a:noFill/>
        </p:spPr>
        <p:txBody>
          <a:bodyPr wrap="square" lIns="0" rIns="0" tIns="0" bIns="0" anchor="t">
            <a:spAutoFit/>
          </a:bodyPr>
          <a:lstStyle/>
          <a:p>
            <a:pPr algn="l">
              <a:lnSpc>
                <a:spcPts val="1413"/>
              </a:lnSpc>
            </a:pPr>
            <a:r>
              <a:rPr b="1" sz="975" i="0" u="none">
                <a:solidFill>
                  <a:srgbClr val="0D9488"/>
                </a:solidFill>
                <a:latin typeface="DM Sans"/>
              </a:rPr>
              <a:t>“How wrong am I?”</a:t>
            </a:r>
          </a:p>
        </p:txBody>
      </p:sp>
      <p:sp>
        <p:nvSpPr>
          <p:cNvPr id="21" name="TextBox 20"/>
          <p:cNvSpPr txBox="1"/>
          <p:nvPr/>
        </p:nvSpPr>
        <p:spPr>
          <a:xfrm>
            <a:off x="4505325" y="2561629"/>
            <a:ext cx="3181350" cy="345281"/>
          </a:xfrm>
          <a:prstGeom prst="rect">
            <a:avLst/>
          </a:prstGeom>
          <a:noFill/>
        </p:spPr>
        <p:txBody>
          <a:bodyPr wrap="square" lIns="0" rIns="0" tIns="0" bIns="0" anchor="t">
            <a:spAutoFit/>
          </a:bodyPr>
          <a:lstStyle/>
          <a:p>
            <a:pPr algn="l">
              <a:lnSpc>
                <a:spcPts val="1359"/>
              </a:lnSpc>
            </a:pPr>
            <a:r>
              <a:rPr b="0" sz="937" i="0" u="none">
                <a:solidFill>
                  <a:srgbClr val="475569"/>
                </a:solidFill>
                <a:latin typeface="DM Sans"/>
              </a:rPr>
              <a:t>Actual: ₹50L | Predicted: ₹45L</a:t>
            </a:r>
            <a:r>
              <a:t>
</a:t>
            </a:r>
            <a:r>
              <a:rPr b="1" sz="937" i="0" u="none">
                <a:solidFill>
                  <a:srgbClr val="475569"/>
                </a:solidFill>
                <a:latin typeface="DM Sans"/>
              </a:rPr>
              <a:t>Error = ₹5 Lakh</a:t>
            </a:r>
          </a:p>
        </p:txBody>
      </p:sp>
      <p:sp>
        <p:nvSpPr>
          <p:cNvPr id="22" name="TextBox 21"/>
          <p:cNvSpPr txBox="1"/>
          <p:nvPr/>
        </p:nvSpPr>
        <p:spPr>
          <a:xfrm>
            <a:off x="8239125" y="1905892"/>
            <a:ext cx="3181350" cy="152400"/>
          </a:xfrm>
          <a:prstGeom prst="rect">
            <a:avLst/>
          </a:prstGeom>
          <a:noFill/>
        </p:spPr>
        <p:txBody>
          <a:bodyPr wrap="square" lIns="0" rIns="0" tIns="0" bIns="0" anchor="ctr">
            <a:spAutoFit/>
          </a:bodyPr>
          <a:lstStyle/>
          <a:p>
            <a:pPr algn="l"/>
            <a:r>
              <a:rPr b="1" sz="1200" i="0" u="none">
                <a:solidFill>
                  <a:srgbClr val="D97706"/>
                </a:solidFill>
                <a:latin typeface="DM Sans"/>
              </a:rPr>
              <a:t>Dimension 3</a:t>
            </a:r>
          </a:p>
        </p:txBody>
      </p:sp>
      <p:sp>
        <p:nvSpPr>
          <p:cNvPr id="23" name="TextBox 22"/>
          <p:cNvSpPr txBox="1"/>
          <p:nvPr/>
        </p:nvSpPr>
        <p:spPr>
          <a:xfrm>
            <a:off x="8239125" y="2115442"/>
            <a:ext cx="3340417" cy="190500"/>
          </a:xfrm>
          <a:prstGeom prst="rect">
            <a:avLst/>
          </a:prstGeom>
          <a:noFill/>
        </p:spPr>
        <p:txBody>
          <a:bodyPr wrap="square" lIns="0" rIns="0" tIns="0" bIns="0" anchor="t">
            <a:spAutoFit/>
          </a:bodyPr>
          <a:lstStyle/>
          <a:p>
            <a:pPr algn="l">
              <a:lnSpc>
                <a:spcPts val="1500"/>
              </a:lnSpc>
            </a:pPr>
            <a:r>
              <a:rPr b="1" sz="1200" i="0" u="none">
                <a:solidFill>
                  <a:srgbClr val="0F172A"/>
                </a:solidFill>
                <a:latin typeface="Merriweather"/>
              </a:rPr>
              <a:t>OPTIMIZATION</a:t>
            </a:r>
          </a:p>
        </p:txBody>
      </p:sp>
      <p:sp>
        <p:nvSpPr>
          <p:cNvPr id="24" name="TextBox 23"/>
          <p:cNvSpPr txBox="1"/>
          <p:nvPr/>
        </p:nvSpPr>
        <p:spPr>
          <a:xfrm>
            <a:off x="8239125" y="2344042"/>
            <a:ext cx="3181350" cy="179486"/>
          </a:xfrm>
          <a:prstGeom prst="rect">
            <a:avLst/>
          </a:prstGeom>
          <a:noFill/>
        </p:spPr>
        <p:txBody>
          <a:bodyPr wrap="square" lIns="0" rIns="0" tIns="0" bIns="0" anchor="t">
            <a:spAutoFit/>
          </a:bodyPr>
          <a:lstStyle/>
          <a:p>
            <a:pPr algn="l">
              <a:lnSpc>
                <a:spcPts val="1413"/>
              </a:lnSpc>
            </a:pPr>
            <a:r>
              <a:rPr b="1" sz="975" i="0" u="none">
                <a:solidFill>
                  <a:srgbClr val="D97706"/>
                </a:solidFill>
                <a:latin typeface="DM Sans"/>
              </a:rPr>
              <a:t>“How do I improve?”</a:t>
            </a:r>
          </a:p>
        </p:txBody>
      </p:sp>
      <p:sp>
        <p:nvSpPr>
          <p:cNvPr id="25" name="TextBox 24"/>
          <p:cNvSpPr txBox="1"/>
          <p:nvPr/>
        </p:nvSpPr>
        <p:spPr>
          <a:xfrm>
            <a:off x="8239125" y="2561629"/>
            <a:ext cx="3181350" cy="172640"/>
          </a:xfrm>
          <a:prstGeom prst="rect">
            <a:avLst/>
          </a:prstGeom>
          <a:noFill/>
        </p:spPr>
        <p:txBody>
          <a:bodyPr wrap="square" lIns="0" rIns="0" tIns="0" bIns="0" anchor="t">
            <a:spAutoFit/>
          </a:bodyPr>
          <a:lstStyle/>
          <a:p>
            <a:pPr algn="l">
              <a:lnSpc>
                <a:spcPts val="1359"/>
              </a:lnSpc>
            </a:pPr>
            <a:r>
              <a:rPr b="0" sz="937" i="0" u="none">
                <a:solidFill>
                  <a:srgbClr val="475569"/>
                </a:solidFill>
                <a:latin typeface="DM Sans"/>
              </a:rPr>
              <a:t>Update </a:t>
            </a:r>
            <a:r>
              <a:rPr b="1" sz="937" i="0" u="none">
                <a:solidFill>
                  <a:srgbClr val="475569"/>
                </a:solidFill>
                <a:latin typeface="DM Sans"/>
              </a:rPr>
              <a:t>w</a:t>
            </a:r>
            <a:r>
              <a:rPr b="0" sz="937" i="0" u="none">
                <a:solidFill>
                  <a:srgbClr val="475569"/>
                </a:solidFill>
                <a:latin typeface="DM Sans"/>
              </a:rPr>
              <a:t> and </a:t>
            </a:r>
            <a:r>
              <a:rPr b="1" sz="937" i="0" u="none">
                <a:solidFill>
                  <a:srgbClr val="475569"/>
                </a:solidFill>
                <a:latin typeface="DM Sans"/>
              </a:rPr>
              <a:t>b</a:t>
            </a:r>
            <a:r>
              <a:rPr b="0" sz="937" i="0" u="none">
                <a:solidFill>
                  <a:srgbClr val="475569"/>
                </a:solidFill>
                <a:latin typeface="DM Sans"/>
              </a:rPr>
              <a:t> to push error towards zero.</a:t>
            </a:r>
          </a:p>
        </p:txBody>
      </p:sp>
      <p:sp>
        <p:nvSpPr>
          <p:cNvPr id="26" name="TextBox 25"/>
          <p:cNvSpPr txBox="1"/>
          <p:nvPr/>
        </p:nvSpPr>
        <p:spPr>
          <a:xfrm>
            <a:off x="990600" y="4370486"/>
            <a:ext cx="1209675" cy="342900"/>
          </a:xfrm>
          <a:prstGeom prst="rect">
            <a:avLst/>
          </a:prstGeom>
          <a:noFill/>
        </p:spPr>
        <p:txBody>
          <a:bodyPr wrap="square" lIns="0" rIns="0" tIns="0" bIns="0" anchor="ctr">
            <a:spAutoFit/>
          </a:bodyPr>
          <a:lstStyle/>
          <a:p>
            <a:pPr algn="ctr"/>
            <a:r>
              <a:rPr b="1" sz="1200" i="0" u="none">
                <a:solidFill>
                  <a:srgbClr val="0F172A"/>
                </a:solidFill>
                <a:latin typeface="DM Sans"/>
              </a:rPr>
              <a:t>Training Data</a:t>
            </a:r>
            <a:r>
              <a:rPr b="0" sz="1200" i="0" u="none">
                <a:solidFill>
                  <a:srgbClr val="1E293B"/>
                </a:solidFill>
                <a:latin typeface="DM Sans"/>
              </a:rPr>
              <a:t> </a:t>
            </a:r>
            <a:r>
              <a:rPr b="0" sz="1200" i="0" u="none">
                <a:solidFill>
                  <a:srgbClr val="475569"/>
                </a:solidFill>
                <a:latin typeface="DM Sans Medium"/>
              </a:rPr>
              <a:t>(House Sizes &amp; Prices)</a:t>
            </a:r>
          </a:p>
        </p:txBody>
      </p:sp>
      <p:sp>
        <p:nvSpPr>
          <p:cNvPr id="27" name="TextBox 26"/>
          <p:cNvSpPr txBox="1"/>
          <p:nvPr/>
        </p:nvSpPr>
        <p:spPr>
          <a:xfrm>
            <a:off x="2753915" y="4418111"/>
            <a:ext cx="190500" cy="247650"/>
          </a:xfrm>
          <a:prstGeom prst="rect">
            <a:avLst/>
          </a:prstGeom>
          <a:noFill/>
        </p:spPr>
        <p:txBody>
          <a:bodyPr wrap="square" lIns="0" rIns="0" tIns="0" bIns="0" anchor="t">
            <a:spAutoFit/>
          </a:bodyPr>
          <a:lstStyle/>
          <a:p>
            <a:pPr algn="l"/>
            <a:r>
              <a:rPr b="1" sz="1500" i="0" u="none">
                <a:solidFill>
                  <a:srgbClr val="005088"/>
                </a:solidFill>
                <a:latin typeface="DM Sans"/>
              </a:rPr>
              <a:t>→</a:t>
            </a:r>
          </a:p>
        </p:txBody>
      </p:sp>
      <p:sp>
        <p:nvSpPr>
          <p:cNvPr id="28" name="TextBox 27"/>
          <p:cNvSpPr txBox="1"/>
          <p:nvPr/>
        </p:nvSpPr>
        <p:spPr>
          <a:xfrm>
            <a:off x="3498056" y="4370486"/>
            <a:ext cx="847725" cy="342900"/>
          </a:xfrm>
          <a:prstGeom prst="rect">
            <a:avLst/>
          </a:prstGeom>
          <a:noFill/>
        </p:spPr>
        <p:txBody>
          <a:bodyPr wrap="square" lIns="0" rIns="0" tIns="0" bIns="0" anchor="ctr">
            <a:spAutoFit/>
          </a:bodyPr>
          <a:lstStyle/>
          <a:p>
            <a:pPr algn="ctr"/>
            <a:r>
              <a:rPr b="1" sz="1200" i="0" u="none">
                <a:solidFill>
                  <a:srgbClr val="005088"/>
                </a:solidFill>
                <a:latin typeface="DM Sans"/>
              </a:rPr>
              <a:t>Choose Model</a:t>
            </a:r>
            <a:r>
              <a:rPr b="0" sz="1200" i="0" u="none">
                <a:solidFill>
                  <a:srgbClr val="1E293B"/>
                </a:solidFill>
                <a:latin typeface="DM Sans"/>
              </a:rPr>
              <a:t> </a:t>
            </a:r>
            <a:r>
              <a:rPr b="0" sz="1200" i="0" u="none">
                <a:solidFill>
                  <a:srgbClr val="475569"/>
                </a:solidFill>
                <a:latin typeface="DM Sans Medium"/>
              </a:rPr>
              <a:t>y = w·x + b</a:t>
            </a:r>
          </a:p>
        </p:txBody>
      </p:sp>
      <p:sp>
        <p:nvSpPr>
          <p:cNvPr id="29" name="TextBox 28"/>
          <p:cNvSpPr txBox="1"/>
          <p:nvPr/>
        </p:nvSpPr>
        <p:spPr>
          <a:xfrm>
            <a:off x="4899421" y="4418111"/>
            <a:ext cx="190500" cy="247650"/>
          </a:xfrm>
          <a:prstGeom prst="rect">
            <a:avLst/>
          </a:prstGeom>
          <a:noFill/>
        </p:spPr>
        <p:txBody>
          <a:bodyPr wrap="square" lIns="0" rIns="0" tIns="0" bIns="0" anchor="t">
            <a:spAutoFit/>
          </a:bodyPr>
          <a:lstStyle/>
          <a:p>
            <a:pPr algn="l"/>
            <a:r>
              <a:rPr b="1" sz="1500" i="0" u="none">
                <a:solidFill>
                  <a:srgbClr val="005088"/>
                </a:solidFill>
                <a:latin typeface="DM Sans"/>
              </a:rPr>
              <a:t>→</a:t>
            </a:r>
          </a:p>
        </p:txBody>
      </p:sp>
      <p:sp>
        <p:nvSpPr>
          <p:cNvPr id="30" name="TextBox 29"/>
          <p:cNvSpPr txBox="1"/>
          <p:nvPr/>
        </p:nvSpPr>
        <p:spPr>
          <a:xfrm>
            <a:off x="5643562" y="4370486"/>
            <a:ext cx="857250" cy="342900"/>
          </a:xfrm>
          <a:prstGeom prst="rect">
            <a:avLst/>
          </a:prstGeom>
          <a:noFill/>
        </p:spPr>
        <p:txBody>
          <a:bodyPr wrap="square" lIns="0" rIns="0" tIns="0" bIns="0" anchor="ctr">
            <a:spAutoFit/>
          </a:bodyPr>
          <a:lstStyle/>
          <a:p>
            <a:pPr algn="ctr"/>
            <a:r>
              <a:rPr b="1" sz="1200" i="0" u="none">
                <a:solidFill>
                  <a:srgbClr val="DC2626"/>
                </a:solidFill>
                <a:latin typeface="DM Sans"/>
              </a:rPr>
              <a:t>Calculate Loss</a:t>
            </a:r>
            <a:r>
              <a:rPr b="0" sz="1200" i="0" u="none">
                <a:solidFill>
                  <a:srgbClr val="1E293B"/>
                </a:solidFill>
                <a:latin typeface="DM Sans"/>
              </a:rPr>
              <a:t> </a:t>
            </a:r>
            <a:r>
              <a:rPr b="0" sz="1200" i="0" u="none">
                <a:solidFill>
                  <a:srgbClr val="475569"/>
                </a:solidFill>
                <a:latin typeface="DM Sans Medium"/>
              </a:rPr>
              <a:t>(Difference)</a:t>
            </a:r>
          </a:p>
        </p:txBody>
      </p:sp>
      <p:sp>
        <p:nvSpPr>
          <p:cNvPr id="31" name="TextBox 30"/>
          <p:cNvSpPr txBox="1"/>
          <p:nvPr/>
        </p:nvSpPr>
        <p:spPr>
          <a:xfrm>
            <a:off x="7054453" y="4418111"/>
            <a:ext cx="190500" cy="247650"/>
          </a:xfrm>
          <a:prstGeom prst="rect">
            <a:avLst/>
          </a:prstGeom>
          <a:noFill/>
        </p:spPr>
        <p:txBody>
          <a:bodyPr wrap="square" lIns="0" rIns="0" tIns="0" bIns="0" anchor="t">
            <a:spAutoFit/>
          </a:bodyPr>
          <a:lstStyle/>
          <a:p>
            <a:pPr algn="l"/>
            <a:r>
              <a:rPr b="1" sz="1500" i="0" u="none">
                <a:solidFill>
                  <a:srgbClr val="005088"/>
                </a:solidFill>
                <a:latin typeface="DM Sans"/>
              </a:rPr>
              <a:t>→</a:t>
            </a:r>
          </a:p>
        </p:txBody>
      </p:sp>
      <p:sp>
        <p:nvSpPr>
          <p:cNvPr id="32" name="TextBox 31"/>
          <p:cNvSpPr txBox="1"/>
          <p:nvPr/>
        </p:nvSpPr>
        <p:spPr>
          <a:xfrm>
            <a:off x="7798593" y="4370486"/>
            <a:ext cx="876300" cy="342900"/>
          </a:xfrm>
          <a:prstGeom prst="rect">
            <a:avLst/>
          </a:prstGeom>
          <a:noFill/>
        </p:spPr>
        <p:txBody>
          <a:bodyPr wrap="square" lIns="0" rIns="0" tIns="0" bIns="0" anchor="ctr">
            <a:spAutoFit/>
          </a:bodyPr>
          <a:lstStyle/>
          <a:p>
            <a:pPr algn="ctr"/>
            <a:r>
              <a:rPr b="1" sz="1200" i="0" u="none">
                <a:solidFill>
                  <a:srgbClr val="D97706"/>
                </a:solidFill>
                <a:latin typeface="DM Sans"/>
              </a:rPr>
              <a:t>Optimize w, b</a:t>
            </a:r>
            <a:r>
              <a:rPr b="0" sz="1200" i="0" u="none">
                <a:solidFill>
                  <a:srgbClr val="1E293B"/>
                </a:solidFill>
                <a:latin typeface="DM Sans"/>
              </a:rPr>
              <a:t> </a:t>
            </a:r>
            <a:r>
              <a:rPr b="0" sz="1200" i="0" u="none">
                <a:solidFill>
                  <a:srgbClr val="475569"/>
                </a:solidFill>
                <a:latin typeface="DM Sans Medium"/>
              </a:rPr>
              <a:t>(Minimize Error)</a:t>
            </a:r>
          </a:p>
        </p:txBody>
      </p:sp>
      <p:sp>
        <p:nvSpPr>
          <p:cNvPr id="33" name="TextBox 32"/>
          <p:cNvSpPr txBox="1"/>
          <p:nvPr/>
        </p:nvSpPr>
        <p:spPr>
          <a:xfrm>
            <a:off x="9228534" y="4418111"/>
            <a:ext cx="190500" cy="247650"/>
          </a:xfrm>
          <a:prstGeom prst="rect">
            <a:avLst/>
          </a:prstGeom>
          <a:noFill/>
        </p:spPr>
        <p:txBody>
          <a:bodyPr wrap="square" lIns="0" rIns="0" tIns="0" bIns="0" anchor="t">
            <a:spAutoFit/>
          </a:bodyPr>
          <a:lstStyle/>
          <a:p>
            <a:pPr algn="l"/>
            <a:r>
              <a:rPr b="1" sz="1500" i="0" u="none">
                <a:solidFill>
                  <a:srgbClr val="005088"/>
                </a:solidFill>
                <a:latin typeface="DM Sans"/>
              </a:rPr>
              <a:t>→</a:t>
            </a:r>
          </a:p>
        </p:txBody>
      </p:sp>
      <p:sp>
        <p:nvSpPr>
          <p:cNvPr id="34" name="TextBox 33"/>
          <p:cNvSpPr txBox="1"/>
          <p:nvPr/>
        </p:nvSpPr>
        <p:spPr>
          <a:xfrm>
            <a:off x="9972675" y="4370486"/>
            <a:ext cx="1228725" cy="342900"/>
          </a:xfrm>
          <a:prstGeom prst="rect">
            <a:avLst/>
          </a:prstGeom>
          <a:noFill/>
        </p:spPr>
        <p:txBody>
          <a:bodyPr wrap="square" lIns="0" rIns="0" tIns="0" bIns="0" anchor="ctr">
            <a:spAutoFit/>
          </a:bodyPr>
          <a:lstStyle/>
          <a:p>
            <a:pPr algn="ctr"/>
            <a:r>
              <a:rPr b="1" sz="1200" i="0" u="none">
                <a:solidFill>
                  <a:srgbClr val="16A34A"/>
                </a:solidFill>
                <a:latin typeface="DM Sans"/>
              </a:rPr>
              <a:t>Learned Model</a:t>
            </a:r>
            <a:r>
              <a:rPr b="0" sz="1200" i="0" u="none">
                <a:solidFill>
                  <a:srgbClr val="1E293B"/>
                </a:solidFill>
                <a:latin typeface="DM Sans"/>
              </a:rPr>
              <a:t> </a:t>
            </a:r>
            <a:r>
              <a:rPr b="0" sz="1200" i="0" u="none">
                <a:solidFill>
                  <a:srgbClr val="475569"/>
                </a:solidFill>
                <a:latin typeface="DM Sans Medium"/>
              </a:rPr>
              <a:t>Deploy for New Houses</a:t>
            </a:r>
          </a:p>
        </p:txBody>
      </p:sp>
      <p:pic>
        <p:nvPicPr>
          <p:cNvPr id="35" name="Picture 34" descr="image.png"/>
          <p:cNvPicPr>
            <a:picLocks noChangeAspect="1"/>
          </p:cNvPicPr>
          <p:nvPr/>
        </p:nvPicPr>
        <p:blipFill>
          <a:blip r:embed="rId9"/>
          <a:stretch>
            <a:fillRect/>
          </a:stretch>
        </p:blipFill>
        <p:spPr>
          <a:xfrm>
            <a:off x="3800475" y="1905892"/>
            <a:ext cx="152400" cy="152400"/>
          </a:xfrm>
          <a:prstGeom prst="rect">
            <a:avLst/>
          </a:prstGeom>
        </p:spPr>
      </p:pic>
      <p:pic>
        <p:nvPicPr>
          <p:cNvPr id="36" name="Picture 35" descr="image.png"/>
          <p:cNvPicPr>
            <a:picLocks noChangeAspect="1"/>
          </p:cNvPicPr>
          <p:nvPr/>
        </p:nvPicPr>
        <p:blipFill>
          <a:blip r:embed="rId10"/>
          <a:stretch>
            <a:fillRect/>
          </a:stretch>
        </p:blipFill>
        <p:spPr>
          <a:xfrm>
            <a:off x="7534275" y="1905892"/>
            <a:ext cx="152400" cy="152400"/>
          </a:xfrm>
          <a:prstGeom prst="rect">
            <a:avLst/>
          </a:prstGeom>
        </p:spPr>
      </p:pic>
      <p:pic>
        <p:nvPicPr>
          <p:cNvPr id="37" name="Picture 36" descr="image.png"/>
          <p:cNvPicPr>
            <a:picLocks noChangeAspect="1"/>
          </p:cNvPicPr>
          <p:nvPr/>
        </p:nvPicPr>
        <p:blipFill>
          <a:blip r:embed="rId11"/>
          <a:stretch>
            <a:fillRect/>
          </a:stretch>
        </p:blipFill>
        <p:spPr>
          <a:xfrm>
            <a:off x="11229975" y="1905892"/>
            <a:ext cx="190500" cy="1524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09600" y="1705867"/>
            <a:ext cx="5334000" cy="3133725"/>
          </a:xfrm>
          <a:prstGeom prst="rect">
            <a:avLst/>
          </a:prstGeom>
        </p:spPr>
      </p:pic>
      <p:pic>
        <p:nvPicPr>
          <p:cNvPr id="4" name="Picture 3" descr="image.png"/>
          <p:cNvPicPr>
            <a:picLocks noChangeAspect="1"/>
          </p:cNvPicPr>
          <p:nvPr/>
        </p:nvPicPr>
        <p:blipFill>
          <a:blip r:embed="rId4"/>
          <a:stretch>
            <a:fillRect/>
          </a:stretch>
        </p:blipFill>
        <p:spPr>
          <a:xfrm>
            <a:off x="6248400" y="1705867"/>
            <a:ext cx="5334000" cy="3133725"/>
          </a:xfrm>
          <a:prstGeom prst="rect">
            <a:avLst/>
          </a:prstGeom>
        </p:spPr>
      </p:pic>
      <p:pic>
        <p:nvPicPr>
          <p:cNvPr id="5" name="Picture 4" descr="image.png"/>
          <p:cNvPicPr>
            <a:picLocks noChangeAspect="1"/>
          </p:cNvPicPr>
          <p:nvPr/>
        </p:nvPicPr>
        <p:blipFill>
          <a:blip r:embed="rId5"/>
          <a:stretch>
            <a:fillRect/>
          </a:stretch>
        </p:blipFill>
        <p:spPr>
          <a:xfrm>
            <a:off x="6496050" y="4268092"/>
            <a:ext cx="4838700" cy="342900"/>
          </a:xfrm>
          <a:prstGeom prst="rect">
            <a:avLst/>
          </a:prstGeom>
        </p:spPr>
      </p:pic>
      <p:pic>
        <p:nvPicPr>
          <p:cNvPr id="6" name="Picture 5" descr="image.png"/>
          <p:cNvPicPr>
            <a:picLocks noChangeAspect="1"/>
          </p:cNvPicPr>
          <p:nvPr/>
        </p:nvPicPr>
        <p:blipFill>
          <a:blip r:embed="rId6"/>
          <a:stretch>
            <a:fillRect/>
          </a:stretch>
        </p:blipFill>
        <p:spPr>
          <a:xfrm>
            <a:off x="847725" y="2229742"/>
            <a:ext cx="4857750" cy="733425"/>
          </a:xfrm>
          <a:prstGeom prst="rect">
            <a:avLst/>
          </a:prstGeom>
        </p:spPr>
      </p:pic>
      <p:pic>
        <p:nvPicPr>
          <p:cNvPr id="7" name="Picture 6" descr="image.png"/>
          <p:cNvPicPr>
            <a:picLocks noChangeAspect="1"/>
          </p:cNvPicPr>
          <p:nvPr/>
        </p:nvPicPr>
        <p:blipFill>
          <a:blip r:embed="rId7"/>
          <a:stretch>
            <a:fillRect/>
          </a:stretch>
        </p:blipFill>
        <p:spPr>
          <a:xfrm>
            <a:off x="847725" y="3058417"/>
            <a:ext cx="4857750" cy="733425"/>
          </a:xfrm>
          <a:prstGeom prst="rect">
            <a:avLst/>
          </a:prstGeom>
        </p:spPr>
      </p:pic>
      <p:pic>
        <p:nvPicPr>
          <p:cNvPr id="8" name="Picture 7" descr="image.png"/>
          <p:cNvPicPr>
            <a:picLocks noChangeAspect="1"/>
          </p:cNvPicPr>
          <p:nvPr/>
        </p:nvPicPr>
        <p:blipFill>
          <a:blip r:embed="rId7"/>
          <a:stretch>
            <a:fillRect/>
          </a:stretch>
        </p:blipFill>
        <p:spPr>
          <a:xfrm>
            <a:off x="847725" y="3887092"/>
            <a:ext cx="4857750" cy="733425"/>
          </a:xfrm>
          <a:prstGeom prst="rect">
            <a:avLst/>
          </a:prstGeom>
        </p:spPr>
      </p:pic>
      <p:pic>
        <p:nvPicPr>
          <p:cNvPr id="9" name="Picture 8" descr="image.png"/>
          <p:cNvPicPr>
            <a:picLocks noChangeAspect="1"/>
          </p:cNvPicPr>
          <p:nvPr/>
        </p:nvPicPr>
        <p:blipFill>
          <a:blip r:embed="rId8"/>
          <a:stretch>
            <a:fillRect/>
          </a:stretch>
        </p:blipFill>
        <p:spPr>
          <a:xfrm>
            <a:off x="6496050" y="2496442"/>
            <a:ext cx="4838700" cy="371475"/>
          </a:xfrm>
          <a:prstGeom prst="rect">
            <a:avLst/>
          </a:prstGeom>
        </p:spPr>
      </p:pic>
      <p:pic>
        <p:nvPicPr>
          <p:cNvPr id="10" name="Picture 9" descr="image.png"/>
          <p:cNvPicPr>
            <a:picLocks noChangeAspect="1"/>
          </p:cNvPicPr>
          <p:nvPr/>
        </p:nvPicPr>
        <p:blipFill>
          <a:blip r:embed="rId8"/>
          <a:stretch>
            <a:fillRect/>
          </a:stretch>
        </p:blipFill>
        <p:spPr>
          <a:xfrm>
            <a:off x="6496050" y="2944117"/>
            <a:ext cx="4838700" cy="371475"/>
          </a:xfrm>
          <a:prstGeom prst="rect">
            <a:avLst/>
          </a:prstGeom>
        </p:spPr>
      </p:pic>
      <p:pic>
        <p:nvPicPr>
          <p:cNvPr id="11" name="Picture 10" descr="image.png"/>
          <p:cNvPicPr>
            <a:picLocks noChangeAspect="1"/>
          </p:cNvPicPr>
          <p:nvPr/>
        </p:nvPicPr>
        <p:blipFill>
          <a:blip r:embed="rId8"/>
          <a:stretch>
            <a:fillRect/>
          </a:stretch>
        </p:blipFill>
        <p:spPr>
          <a:xfrm>
            <a:off x="6496050" y="3391792"/>
            <a:ext cx="4838700" cy="371475"/>
          </a:xfrm>
          <a:prstGeom prst="rect">
            <a:avLst/>
          </a:prstGeom>
        </p:spPr>
      </p:pic>
      <p:sp>
        <p:nvSpPr>
          <p:cNvPr id="12" name="TextBox 11"/>
          <p:cNvSpPr txBox="1"/>
          <p:nvPr/>
        </p:nvSpPr>
        <p:spPr>
          <a:xfrm>
            <a:off x="609600" y="533400"/>
            <a:ext cx="10972800" cy="161925"/>
          </a:xfrm>
          <a:prstGeom prst="rect">
            <a:avLst/>
          </a:prstGeom>
          <a:noFill/>
        </p:spPr>
        <p:txBody>
          <a:bodyPr wrap="square" lIns="0" rIns="0" tIns="0" bIns="0" anchor="ctr">
            <a:spAutoFit/>
          </a:bodyPr>
          <a:lstStyle/>
          <a:p>
            <a:pPr algn="l"/>
            <a:r>
              <a:rPr b="1" sz="975" i="0" u="none">
                <a:solidFill>
                  <a:srgbClr val="005088"/>
                </a:solidFill>
                <a:latin typeface="DM Sans"/>
              </a:rPr>
              <a:t>SUMMARY • ALPAYDIN TEXTBOOK CRITERIA</a:t>
            </a:r>
            <a:r>
              <a:rPr b="1" sz="975" i="0" u="none">
                <a:solidFill>
                  <a:srgbClr val="005088"/>
                </a:solidFill>
                <a:latin typeface="DM Sans"/>
              </a:rPr>
              <a:t> </a:t>
            </a:r>
            <a:r>
              <a:rPr b="1" sz="975" i="0" u="none">
                <a:solidFill>
                  <a:srgbClr val="005088"/>
                </a:solidFill>
                <a:latin typeface="DM Sans"/>
              </a:rPr>
              <a:t>SLIDE 8 OF 8</a:t>
            </a:r>
          </a:p>
        </p:txBody>
      </p:sp>
      <p:sp>
        <p:nvSpPr>
          <p:cNvPr id="13" name="TextBox 12"/>
          <p:cNvSpPr txBox="1"/>
          <p:nvPr/>
        </p:nvSpPr>
        <p:spPr>
          <a:xfrm>
            <a:off x="609600" y="733425"/>
            <a:ext cx="11521440" cy="372367"/>
          </a:xfrm>
          <a:prstGeom prst="rect">
            <a:avLst/>
          </a:prstGeom>
          <a:noFill/>
        </p:spPr>
        <p:txBody>
          <a:bodyPr wrap="square" lIns="0" rIns="0" tIns="0" bIns="0" anchor="t">
            <a:spAutoFit/>
          </a:bodyPr>
          <a:lstStyle/>
          <a:p>
            <a:pPr algn="l">
              <a:lnSpc>
                <a:spcPts val="2932"/>
              </a:lnSpc>
            </a:pPr>
            <a:r>
              <a:rPr b="1" sz="2550" i="0" u="none">
                <a:solidFill>
                  <a:srgbClr val="002E4F"/>
                </a:solidFill>
                <a:latin typeface="Merriweather"/>
              </a:rPr>
              <a:t>What Makes Learning Successful?</a:t>
            </a:r>
          </a:p>
        </p:txBody>
      </p:sp>
      <p:sp>
        <p:nvSpPr>
          <p:cNvPr id="14" name="TextBox 13"/>
          <p:cNvSpPr txBox="1"/>
          <p:nvPr/>
        </p:nvSpPr>
        <p:spPr>
          <a:xfrm>
            <a:off x="609600" y="1143892"/>
            <a:ext cx="10972800" cy="200025"/>
          </a:xfrm>
          <a:prstGeom prst="rect">
            <a:avLst/>
          </a:prstGeom>
          <a:noFill/>
        </p:spPr>
        <p:txBody>
          <a:bodyPr wrap="square" lIns="0" rIns="0" tIns="0" bIns="0" anchor="t">
            <a:spAutoFit/>
          </a:bodyPr>
          <a:lstStyle/>
          <a:p>
            <a:pPr algn="l"/>
            <a:r>
              <a:rPr b="0" sz="1200" i="0" u="none">
                <a:solidFill>
                  <a:srgbClr val="475569"/>
                </a:solidFill>
                <a:latin typeface="DM Sans"/>
              </a:rPr>
              <a:t>Three prerequisites for generalization and the final conceptual summary</a:t>
            </a:r>
          </a:p>
        </p:txBody>
      </p:sp>
      <p:pic>
        <p:nvPicPr>
          <p:cNvPr id="15" name="Picture 14" descr="image.png"/>
          <p:cNvPicPr>
            <a:picLocks noChangeAspect="1"/>
          </p:cNvPicPr>
          <p:nvPr/>
        </p:nvPicPr>
        <p:blipFill>
          <a:blip r:embed="rId9"/>
          <a:stretch>
            <a:fillRect/>
          </a:stretch>
        </p:blipFill>
        <p:spPr>
          <a:xfrm>
            <a:off x="809625" y="5919787"/>
            <a:ext cx="180975" cy="142875"/>
          </a:xfrm>
          <a:prstGeom prst="rect">
            <a:avLst/>
          </a:prstGeom>
        </p:spPr>
      </p:pic>
      <p:sp>
        <p:nvSpPr>
          <p:cNvPr id="16" name="TextBox 15"/>
          <p:cNvSpPr txBox="1"/>
          <p:nvPr/>
        </p:nvSpPr>
        <p:spPr>
          <a:xfrm>
            <a:off x="1104900" y="5891212"/>
            <a:ext cx="10315575" cy="500062"/>
          </a:xfrm>
          <a:prstGeom prst="rect">
            <a:avLst/>
          </a:prstGeom>
          <a:noFill/>
        </p:spPr>
        <p:txBody>
          <a:bodyPr wrap="square" lIns="0" rIns="0" tIns="0" bIns="0" anchor="t">
            <a:spAutoFit/>
          </a:bodyPr>
          <a:lstStyle/>
          <a:p>
            <a:pPr algn="l">
              <a:lnSpc>
                <a:spcPts val="1312"/>
              </a:lnSpc>
            </a:pPr>
            <a:r>
              <a:rPr b="1" sz="937" i="0" u="none">
                <a:solidFill>
                  <a:srgbClr val="00335A"/>
                </a:solidFill>
                <a:latin typeface="DM Sans"/>
              </a:rPr>
              <a:t>Teacher Talk:</a:t>
            </a:r>
            <a:r>
              <a:rPr b="0" sz="937" i="0" u="none">
                <a:solidFill>
                  <a:srgbClr val="1E3A5F"/>
                </a:solidFill>
                <a:latin typeface="DM Sans"/>
              </a:rPr>
              <a:t> “To wrap up our class: if someone asks you in your lab viva or semester exam, 'What are the dimensions of a supervised learning algorithm?', your instant answer is Model, Loss Function, and Optimization. Alpaydin reminds us that successful machine learning requires all three: a suitable model structure, enough training examples, and an optimizer that can navigate to low error. Thank you, class! Are there any questions?”</a:t>
            </a:r>
          </a:p>
        </p:txBody>
      </p:sp>
      <p:sp>
        <p:nvSpPr>
          <p:cNvPr id="17" name="TextBox 16"/>
          <p:cNvSpPr txBox="1"/>
          <p:nvPr/>
        </p:nvSpPr>
        <p:spPr>
          <a:xfrm>
            <a:off x="847725" y="1924942"/>
            <a:ext cx="5100637" cy="209550"/>
          </a:xfrm>
          <a:prstGeom prst="rect">
            <a:avLst/>
          </a:prstGeom>
          <a:noFill/>
        </p:spPr>
        <p:txBody>
          <a:bodyPr wrap="square" lIns="123825" rIns="0" tIns="0" bIns="0" anchor="t">
            <a:spAutoFit/>
          </a:bodyPr>
          <a:lstStyle/>
          <a:p>
            <a:pPr algn="l"/>
            <a:r>
              <a:rPr b="1" sz="1275" i="0" u="none">
                <a:solidFill>
                  <a:srgbClr val="005088"/>
                </a:solidFill>
                <a:latin typeface="DM Sans"/>
              </a:rPr>
              <a:t>Three Prerequisites for Success</a:t>
            </a:r>
          </a:p>
        </p:txBody>
      </p:sp>
      <p:pic>
        <p:nvPicPr>
          <p:cNvPr id="18" name="Picture 17" descr="image.png"/>
          <p:cNvPicPr>
            <a:picLocks noChangeAspect="1"/>
          </p:cNvPicPr>
          <p:nvPr/>
        </p:nvPicPr>
        <p:blipFill>
          <a:blip r:embed="rId10"/>
          <a:stretch>
            <a:fillRect/>
          </a:stretch>
        </p:blipFill>
        <p:spPr>
          <a:xfrm>
            <a:off x="847725" y="1943992"/>
            <a:ext cx="123825" cy="161925"/>
          </a:xfrm>
          <a:prstGeom prst="rect">
            <a:avLst/>
          </a:prstGeom>
        </p:spPr>
      </p:pic>
      <p:sp>
        <p:nvSpPr>
          <p:cNvPr id="19" name="TextBox 18"/>
          <p:cNvSpPr txBox="1"/>
          <p:nvPr/>
        </p:nvSpPr>
        <p:spPr>
          <a:xfrm>
            <a:off x="6496050" y="1934467"/>
            <a:ext cx="5080635" cy="209550"/>
          </a:xfrm>
          <a:prstGeom prst="rect">
            <a:avLst/>
          </a:prstGeom>
          <a:noFill/>
        </p:spPr>
        <p:txBody>
          <a:bodyPr wrap="square" lIns="200025" rIns="0" tIns="0" bIns="0" anchor="t">
            <a:spAutoFit/>
          </a:bodyPr>
          <a:lstStyle/>
          <a:p>
            <a:pPr algn="l"/>
            <a:r>
              <a:rPr b="1" sz="1275" i="0" u="none">
                <a:solidFill>
                  <a:srgbClr val="002E4F"/>
                </a:solidFill>
                <a:latin typeface="DM Sans"/>
              </a:rPr>
              <a:t>Semester Exam Quick Recap</a:t>
            </a:r>
          </a:p>
        </p:txBody>
      </p:sp>
      <p:sp>
        <p:nvSpPr>
          <p:cNvPr id="20" name="TextBox 19"/>
          <p:cNvSpPr txBox="1"/>
          <p:nvPr/>
        </p:nvSpPr>
        <p:spPr>
          <a:xfrm>
            <a:off x="6496050" y="2220217"/>
            <a:ext cx="4838700" cy="161925"/>
          </a:xfrm>
          <a:prstGeom prst="rect">
            <a:avLst/>
          </a:prstGeom>
          <a:noFill/>
        </p:spPr>
        <p:txBody>
          <a:bodyPr wrap="square" lIns="0" rIns="0" tIns="0" bIns="0" anchor="t">
            <a:spAutoFit/>
          </a:bodyPr>
          <a:lstStyle/>
          <a:p>
            <a:pPr algn="l"/>
            <a:r>
              <a:rPr b="0" sz="975" i="0" u="none">
                <a:solidFill>
                  <a:srgbClr val="64748B"/>
                </a:solidFill>
                <a:latin typeface="DM Sans"/>
              </a:rPr>
              <a:t>The 3 Dimensions you must write in your BCA examination:</a:t>
            </a:r>
          </a:p>
        </p:txBody>
      </p:sp>
      <p:sp>
        <p:nvSpPr>
          <p:cNvPr id="21" name="TextBox 20"/>
          <p:cNvSpPr txBox="1"/>
          <p:nvPr/>
        </p:nvSpPr>
        <p:spPr>
          <a:xfrm>
            <a:off x="1019175" y="2363092"/>
            <a:ext cx="1771650" cy="161925"/>
          </a:xfrm>
          <a:prstGeom prst="rect">
            <a:avLst/>
          </a:prstGeom>
          <a:noFill/>
        </p:spPr>
        <p:txBody>
          <a:bodyPr wrap="square" lIns="0" rIns="0" tIns="0" bIns="0" anchor="t">
            <a:spAutoFit/>
          </a:bodyPr>
          <a:lstStyle/>
          <a:p>
            <a:pPr algn="l"/>
            <a:r>
              <a:rPr b="1" sz="1012" i="0" u="none">
                <a:solidFill>
                  <a:srgbClr val="005088"/>
                </a:solidFill>
                <a:latin typeface="DM Sans"/>
              </a:rPr>
              <a:t>1. Suitable Model (Capacity):</a:t>
            </a:r>
          </a:p>
        </p:txBody>
      </p:sp>
      <p:sp>
        <p:nvSpPr>
          <p:cNvPr id="22" name="TextBox 21"/>
          <p:cNvSpPr txBox="1"/>
          <p:nvPr/>
        </p:nvSpPr>
        <p:spPr>
          <a:xfrm>
            <a:off x="1019175" y="2553592"/>
            <a:ext cx="4543425" cy="304800"/>
          </a:xfrm>
          <a:prstGeom prst="rect">
            <a:avLst/>
          </a:prstGeom>
          <a:noFill/>
        </p:spPr>
        <p:txBody>
          <a:bodyPr wrap="square" lIns="0" rIns="0" tIns="0" bIns="0" anchor="t">
            <a:spAutoFit/>
          </a:bodyPr>
          <a:lstStyle/>
          <a:p>
            <a:pPr algn="l"/>
            <a:r>
              <a:rPr b="0" sz="937" i="0" u="none">
                <a:solidFill>
                  <a:srgbClr val="475569"/>
                </a:solidFill>
                <a:latin typeface="DM Sans"/>
              </a:rPr>
              <a:t>The hypothesis space must be expressive enough to capture the real relationship without underfitting or severe overfitting.</a:t>
            </a:r>
          </a:p>
        </p:txBody>
      </p:sp>
      <p:sp>
        <p:nvSpPr>
          <p:cNvPr id="23" name="TextBox 22"/>
          <p:cNvSpPr txBox="1"/>
          <p:nvPr/>
        </p:nvSpPr>
        <p:spPr>
          <a:xfrm>
            <a:off x="1019175" y="3191767"/>
            <a:ext cx="1590675" cy="161925"/>
          </a:xfrm>
          <a:prstGeom prst="rect">
            <a:avLst/>
          </a:prstGeom>
          <a:noFill/>
        </p:spPr>
        <p:txBody>
          <a:bodyPr wrap="square" lIns="0" rIns="0" tIns="0" bIns="0" anchor="t">
            <a:spAutoFit/>
          </a:bodyPr>
          <a:lstStyle/>
          <a:p>
            <a:pPr algn="l"/>
            <a:r>
              <a:rPr b="1" sz="1012" i="0" u="none">
                <a:solidFill>
                  <a:srgbClr val="0D9488"/>
                </a:solidFill>
                <a:latin typeface="DM Sans"/>
              </a:rPr>
              <a:t>2. Sufficient Quality Data:</a:t>
            </a:r>
          </a:p>
        </p:txBody>
      </p:sp>
      <p:sp>
        <p:nvSpPr>
          <p:cNvPr id="24" name="TextBox 23"/>
          <p:cNvSpPr txBox="1"/>
          <p:nvPr/>
        </p:nvSpPr>
        <p:spPr>
          <a:xfrm>
            <a:off x="1019175" y="3382267"/>
            <a:ext cx="4543425" cy="304800"/>
          </a:xfrm>
          <a:prstGeom prst="rect">
            <a:avLst/>
          </a:prstGeom>
          <a:noFill/>
        </p:spPr>
        <p:txBody>
          <a:bodyPr wrap="square" lIns="0" rIns="0" tIns="0" bIns="0" anchor="t">
            <a:spAutoFit/>
          </a:bodyPr>
          <a:lstStyle/>
          <a:p>
            <a:pPr algn="l"/>
            <a:r>
              <a:rPr b="0" sz="937" i="0" u="none">
                <a:solidFill>
                  <a:srgbClr val="475569"/>
                </a:solidFill>
                <a:latin typeface="DM Sans"/>
              </a:rPr>
              <a:t>Enough diverse training examples to learn true underlying patterns rather than memorizing noise.</a:t>
            </a:r>
          </a:p>
        </p:txBody>
      </p:sp>
      <p:sp>
        <p:nvSpPr>
          <p:cNvPr id="25" name="TextBox 24"/>
          <p:cNvSpPr txBox="1"/>
          <p:nvPr/>
        </p:nvSpPr>
        <p:spPr>
          <a:xfrm>
            <a:off x="1019175" y="4020442"/>
            <a:ext cx="1600200" cy="161925"/>
          </a:xfrm>
          <a:prstGeom prst="rect">
            <a:avLst/>
          </a:prstGeom>
          <a:noFill/>
        </p:spPr>
        <p:txBody>
          <a:bodyPr wrap="square" lIns="0" rIns="0" tIns="0" bIns="0" anchor="t">
            <a:spAutoFit/>
          </a:bodyPr>
          <a:lstStyle/>
          <a:p>
            <a:pPr algn="l"/>
            <a:r>
              <a:rPr b="1" sz="1012" i="0" u="none">
                <a:solidFill>
                  <a:srgbClr val="D97706"/>
                </a:solidFill>
                <a:latin typeface="DM Sans"/>
              </a:rPr>
              <a:t>3. Effective Optimization:</a:t>
            </a:r>
          </a:p>
        </p:txBody>
      </p:sp>
      <p:sp>
        <p:nvSpPr>
          <p:cNvPr id="26" name="TextBox 25"/>
          <p:cNvSpPr txBox="1"/>
          <p:nvPr/>
        </p:nvSpPr>
        <p:spPr>
          <a:xfrm>
            <a:off x="1019175" y="4210942"/>
            <a:ext cx="4543425" cy="304800"/>
          </a:xfrm>
          <a:prstGeom prst="rect">
            <a:avLst/>
          </a:prstGeom>
          <a:noFill/>
        </p:spPr>
        <p:txBody>
          <a:bodyPr wrap="square" lIns="0" rIns="0" tIns="0" bIns="0" anchor="t">
            <a:spAutoFit/>
          </a:bodyPr>
          <a:lstStyle/>
          <a:p>
            <a:pPr algn="l"/>
            <a:r>
              <a:rPr b="0" sz="937" i="0" u="none">
                <a:solidFill>
                  <a:srgbClr val="475569"/>
                </a:solidFill>
                <a:latin typeface="DM Sans"/>
              </a:rPr>
              <a:t>An efficient search method capable of navigating the loss landscape to find good parameter values.</a:t>
            </a:r>
          </a:p>
        </p:txBody>
      </p:sp>
      <p:pic>
        <p:nvPicPr>
          <p:cNvPr id="27" name="Picture 26" descr="image.png"/>
          <p:cNvPicPr>
            <a:picLocks noChangeAspect="1"/>
          </p:cNvPicPr>
          <p:nvPr/>
        </p:nvPicPr>
        <p:blipFill>
          <a:blip r:embed="rId11"/>
          <a:stretch>
            <a:fillRect/>
          </a:stretch>
        </p:blipFill>
        <p:spPr>
          <a:xfrm>
            <a:off x="6496050" y="1953517"/>
            <a:ext cx="200025" cy="161925"/>
          </a:xfrm>
          <a:prstGeom prst="rect">
            <a:avLst/>
          </a:prstGeom>
        </p:spPr>
      </p:pic>
      <p:sp>
        <p:nvSpPr>
          <p:cNvPr id="28" name="TextBox 27"/>
          <p:cNvSpPr txBox="1"/>
          <p:nvPr/>
        </p:nvSpPr>
        <p:spPr>
          <a:xfrm>
            <a:off x="6619875" y="2610742"/>
            <a:ext cx="600075" cy="161925"/>
          </a:xfrm>
          <a:prstGeom prst="rect">
            <a:avLst/>
          </a:prstGeom>
          <a:noFill/>
        </p:spPr>
        <p:txBody>
          <a:bodyPr wrap="square" lIns="0" rIns="0" tIns="0" bIns="0" anchor="t">
            <a:spAutoFit/>
          </a:bodyPr>
          <a:lstStyle/>
          <a:p>
            <a:pPr algn="l"/>
            <a:r>
              <a:rPr b="1" sz="1012" i="0" u="none">
                <a:solidFill>
                  <a:srgbClr val="005088"/>
                </a:solidFill>
                <a:latin typeface="DM Sans"/>
              </a:rPr>
              <a:t>1. MODEL:</a:t>
            </a:r>
          </a:p>
        </p:txBody>
      </p:sp>
      <p:sp>
        <p:nvSpPr>
          <p:cNvPr id="29" name="TextBox 28"/>
          <p:cNvSpPr txBox="1"/>
          <p:nvPr/>
        </p:nvSpPr>
        <p:spPr>
          <a:xfrm>
            <a:off x="7258050" y="2610742"/>
            <a:ext cx="2819400" cy="161925"/>
          </a:xfrm>
          <a:prstGeom prst="rect">
            <a:avLst/>
          </a:prstGeom>
          <a:noFill/>
        </p:spPr>
        <p:txBody>
          <a:bodyPr wrap="square" lIns="0" rIns="0" tIns="0" bIns="0" anchor="t">
            <a:spAutoFit/>
          </a:bodyPr>
          <a:lstStyle/>
          <a:p>
            <a:pPr algn="l"/>
            <a:r>
              <a:rPr b="0" sz="975" i="0" u="none">
                <a:solidFill>
                  <a:srgbClr val="334155"/>
                </a:solidFill>
                <a:latin typeface="DM Sans"/>
              </a:rPr>
              <a:t>What solution family can the algorithm represent?</a:t>
            </a:r>
          </a:p>
        </p:txBody>
      </p:sp>
      <p:sp>
        <p:nvSpPr>
          <p:cNvPr id="30" name="TextBox 29"/>
          <p:cNvSpPr txBox="1"/>
          <p:nvPr/>
        </p:nvSpPr>
        <p:spPr>
          <a:xfrm>
            <a:off x="6619875" y="3058417"/>
            <a:ext cx="1181100" cy="161925"/>
          </a:xfrm>
          <a:prstGeom prst="rect">
            <a:avLst/>
          </a:prstGeom>
          <a:noFill/>
        </p:spPr>
        <p:txBody>
          <a:bodyPr wrap="square" lIns="0" rIns="0" tIns="0" bIns="0" anchor="t">
            <a:spAutoFit/>
          </a:bodyPr>
          <a:lstStyle/>
          <a:p>
            <a:pPr algn="l"/>
            <a:r>
              <a:rPr b="1" sz="1012" i="0" u="none">
                <a:solidFill>
                  <a:srgbClr val="0D9488"/>
                </a:solidFill>
                <a:latin typeface="DM Sans"/>
              </a:rPr>
              <a:t>2. LOSS FUNCTION:</a:t>
            </a:r>
          </a:p>
        </p:txBody>
      </p:sp>
      <p:sp>
        <p:nvSpPr>
          <p:cNvPr id="31" name="TextBox 30"/>
          <p:cNvSpPr txBox="1"/>
          <p:nvPr/>
        </p:nvSpPr>
        <p:spPr>
          <a:xfrm>
            <a:off x="7839075" y="3058417"/>
            <a:ext cx="2105025" cy="161925"/>
          </a:xfrm>
          <a:prstGeom prst="rect">
            <a:avLst/>
          </a:prstGeom>
          <a:noFill/>
        </p:spPr>
        <p:txBody>
          <a:bodyPr wrap="square" lIns="0" rIns="0" tIns="0" bIns="0" anchor="t">
            <a:spAutoFit/>
          </a:bodyPr>
          <a:lstStyle/>
          <a:p>
            <a:pPr algn="l"/>
            <a:r>
              <a:rPr b="0" sz="975" i="0" u="none">
                <a:solidFill>
                  <a:srgbClr val="334155"/>
                </a:solidFill>
                <a:latin typeface="DM Sans"/>
              </a:rPr>
              <a:t>How do we quantify prediction error?</a:t>
            </a:r>
          </a:p>
        </p:txBody>
      </p:sp>
      <p:sp>
        <p:nvSpPr>
          <p:cNvPr id="32" name="TextBox 31"/>
          <p:cNvSpPr txBox="1"/>
          <p:nvPr/>
        </p:nvSpPr>
        <p:spPr>
          <a:xfrm>
            <a:off x="6619875" y="3506092"/>
            <a:ext cx="1085850" cy="161925"/>
          </a:xfrm>
          <a:prstGeom prst="rect">
            <a:avLst/>
          </a:prstGeom>
          <a:noFill/>
        </p:spPr>
        <p:txBody>
          <a:bodyPr wrap="square" lIns="0" rIns="0" tIns="0" bIns="0" anchor="t">
            <a:spAutoFit/>
          </a:bodyPr>
          <a:lstStyle/>
          <a:p>
            <a:pPr algn="l"/>
            <a:r>
              <a:rPr b="1" sz="1012" i="0" u="none">
                <a:solidFill>
                  <a:srgbClr val="D97706"/>
                </a:solidFill>
                <a:latin typeface="DM Sans"/>
              </a:rPr>
              <a:t>3. OPTIMIZATION:</a:t>
            </a:r>
          </a:p>
        </p:txBody>
      </p:sp>
      <p:sp>
        <p:nvSpPr>
          <p:cNvPr id="33" name="TextBox 32"/>
          <p:cNvSpPr txBox="1"/>
          <p:nvPr/>
        </p:nvSpPr>
        <p:spPr>
          <a:xfrm>
            <a:off x="7743825" y="3506092"/>
            <a:ext cx="2419350" cy="161925"/>
          </a:xfrm>
          <a:prstGeom prst="rect">
            <a:avLst/>
          </a:prstGeom>
          <a:noFill/>
        </p:spPr>
        <p:txBody>
          <a:bodyPr wrap="square" lIns="0" rIns="0" tIns="0" bIns="0" anchor="t">
            <a:spAutoFit/>
          </a:bodyPr>
          <a:lstStyle/>
          <a:p>
            <a:pPr algn="l"/>
            <a:r>
              <a:rPr b="0" sz="975" i="0" u="none">
                <a:solidFill>
                  <a:srgbClr val="334155"/>
                </a:solidFill>
                <a:latin typeface="DM Sans"/>
              </a:rPr>
              <a:t>How do we search and adjust parameters?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